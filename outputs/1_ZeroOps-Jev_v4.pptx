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discussion document, not an investment request. One example of a decision model, TypeSafe's Jev, makes the idea concrete; the argument is about the decision layer, not the vendor.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Vendor-reported examples, to show the direction of travel, not to rank products. Interpretation is moving into the tools already in the estate.</a:t>
            </a:r>
          </a:p>
          <a:p/>
          <a:p>
            <a:r>
              <a:t>ServiceNow · ITOM agentic workflows: https://www.servicenow.com/docs/r/it-operations-management/now-assist-for-it-operations-management/now-assist-itom-ai-agent-workflows.html</a:t>
            </a:r>
          </a:p>
          <a:p>
            <a:r>
              <a:t>Datadog · Building Bits AI SRE: https://www.datadoghq.com/blog/building-bits-ai-sre/</a:t>
            </a:r>
          </a:p>
          <a:p>
            <a:r>
              <a:t>AWS · DevOps Agent general availability: https://aws.amazon.com/about-aws/whats-new/2026/03/aws-devops-agent-generally-available/</a:t>
            </a:r>
          </a:p>
          <a:p>
            <a:r>
              <a:t>Dynatrace · Multicloud SRE agents: https://www.dynatrace.com/news/blog/orchestrate-multicloud-ai-agents-for-autonomous-incident-resolution/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illustrative market map, not a ranking. ServiceNow is placed as the broadest single platform; the note on cost and customisation is widely reported and worth testing against the licence in place.</a:t>
            </a:r>
          </a:p>
          <a:p/>
          <a:p>
            <a:r>
              <a:t>ServiceNow · ITOM agentic workflows: https://www.servicenow.com/docs/r/it-operations-management/now-assist-for-it-operations-management/now-assist-itom-ai-agent-workflows.html</a:t>
            </a:r>
          </a:p>
          <a:p>
            <a:r>
              <a:t>Datadog · Building Bits AI SRE: https://www.datadoghq.com/blog/building-bits-ai-sre/</a:t>
            </a:r>
          </a:p>
          <a:p>
            <a:r>
              <a:t>AWS · DevOps Agent general availability: https://aws.amazon.com/about-aws/whats-new/2026/03/aws-devops-agent-generally-available/</a:t>
            </a:r>
          </a:p>
          <a:p>
            <a:r>
              <a:t>Dynatrace · Multicloud SRE agents: https://www.dynatrace.com/news/blog/orchestrate-multicloud-ai-agents-for-autonomous-incident-resolution/</a:t>
            </a:r>
          </a:p>
          <a:p>
            <a:r>
              <a:t>Resolve AI · AI SRE platform: https://resolve.ai/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conceptual simplification, not a claim that every workflow is linear. Rule-based detection and numerical checks remain valuable. The proposal is interpretation of supplied context at the decision links only.</a:t>
            </a:r>
          </a:p>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case for a test, not a claim of superiority. The model answers what it is asked; it does not discover telemetry. Choice and Score expose confidence and probability distributions, which need evaluation on the task. Compare against current rules and simple alternatives.</a:t>
            </a:r>
          </a:p>
          <a:p/>
          <a:p>
            <a:r>
              <a:t>TypeSafe · Jev introduction: https://docs.typesafe.ai/introduction</a:t>
            </a:r>
          </a:p>
          <a:p>
            <a:r>
              <a:t>TypeSafe · API reference: https://docs.typesafe.ai/api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manual column is a description of common practice, not a measurement. The decision step does not remove the engineer; it removes the repeated reading and judging, and leaves the judgement calls it is not sure about to a person.</a:t>
            </a:r>
          </a:p>
          <a:p/>
          <a:p>
            <a:r>
              <a:t>TypeSafe · Jev introduction: https://docs.typesafe.ai/introduction</a:t>
            </a:r>
          </a:p>
          <a:p>
            <a:r>
              <a:t>TypeSafe · API reference: https://docs.typesafe.ai/api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Network incidents are reported by tools like F5 in several common shapes: a pool member failing its health check, a virtual server unreachable, a certificate expiring on a VIP, or an HA failover. The example here uses a name-resolution failure (a service unreachable) because it is text-rich and decision-friendly; a certificate expiry is the same four calls. In practice the platform's own checks and topology stay where they are; the model only answers the typed questions from the text it is given.</a:t>
            </a:r>
          </a:p>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request returns every answer; adding questions adds little latency. This is why a network incident and an application incident can share one decision step: the questions are fixed and the context varies. Each answer carries a probability, so the gate can act, ask a person, or log.</a:t>
            </a:r>
          </a:p>
          <a:p/>
          <a:p>
            <a:r>
              <a:t>TypeSafe · Jev introduction: https://docs.typesafe.ai/introduction</a:t>
            </a:r>
          </a:p>
          <a:p>
            <a:r>
              <a:t>TypeSafe · API reference: https://docs.typesafe.ai/api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the embedded video (2:03) in the slide. It walks one request through the call, the three primitives (Choice, Score, Noul), and the gate that turns a typed answer and a threshold into an action. It is the technical counterpart to the example slides, not a summary.</a:t>
            </a:r>
          </a:p>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caveats with the table: the 56 incidents reduce to 14 templates; root cause scored high because the clues are explicit; the acceptable-action list was written after the first run; and 16 of the proposed actions were rollback, the first option offered, against 4 labels. Accuracy and margins on real tickets are untested.</a:t>
            </a:r>
          </a:p>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Latency inside that stack, under rate limits and during an incident storm, is untested. The enterprise keeps its connectors, data access and execution controls; the model is a bounded call inside the existing workflow.</a:t>
            </a:r>
          </a:p>
          <a:p/>
          <a:p>
            <a:r>
              <a:t>TypeSafe · Jev introduction: https://docs.typesafe.ai/introduction</a:t>
            </a:r>
          </a:p>
          <a:p>
            <a:r>
              <a:t>TypeSafe · API reference: https://docs.typesafe.ai/api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properties of the approach, not measured business results. Low inference cost does not remove integration, evaluation and maintenance work, and a shared component needs a named owner.</a:t>
            </a:r>
          </a:p>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Durations and criteria are judgement, not measured results. The harness runs any model, so the choice of tool stays with the organisation. Thresholds should not be tuned on the data used to claim final performance.</a:t>
            </a:r>
          </a:p>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Supporting detail: full results, the considerations, the component map, risks, the open questions, the model comparison and the sources.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Kev and Laya ran on one local GPU; their latency is not a tuned deployment. Native API cost is estimated.</a:t>
            </a:r>
          </a:p>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text, sources and labels for each consideration are in the questions document; this is a reference for diligence.</a:t>
            </a:r>
          </a:p>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the project's research synthesis; see inputs/research/ for provenance. The strongest fit is a recurring question with usable context and a clear consequence for the answer.</a:t>
            </a:r>
          </a:p>
          <a:p/>
          <a:p>
            <a:r>
              <a:t>ServiceNow · ITOM agentic workflows: https://www.servicenow.com/docs/r/it-operations-management/now-assist-for-it-operations-management/now-assist-itom-ai-agent-workflows.html</a:t>
            </a:r>
          </a:p>
          <a:p>
            <a:r>
              <a:t>TypeSafe · Jev introduction: https://docs.typesafe.ai/introduction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EU AI Act duties depend on how each use is classified; the general case in the research overstates it, so check current guidance. The independent review documents injection and option-order effects; severity depends on the task.</a:t>
            </a:r>
          </a:p>
          <a:p/>
          <a:p>
            <a:r>
              <a:t>TypeSafe · Jev introduction: https://docs.typesafe.ai/introduction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question lists why it matters, what evidence would settle it, and whether the example shows it (for most, it does not). Use it to scope a real test.</a:t>
            </a:r>
          </a:p>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balanced view on purpose: hosted options are fast and low-effort, open options give control and privacy at the cost of operations and tuning. Neither is claimed to be more accurate in general.</a:t>
            </a:r>
          </a:p>
          <a:p/>
          <a:p>
            <a:r>
              <a:t>TypeSafe · Jev introduction: https://docs.typesafe.ai/introduction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Vendor-reported facts, not independently audited. No named production IT-operations customer was found in the research; treat availability, rate limits and compliance terms as unsettled and confirm them with the vendor before any real ticket is sent.</a:t>
            </a:r>
          </a:p>
          <a:p/>
          <a:p>
            <a:r>
              <a:t>TypeSafe · Jev introduction: https://docs.typesafe.ai/introduction</a:t>
            </a:r>
          </a:p>
          <a:p>
            <a:r>
              <a:t>TypeSafe · API reference: https://docs.typesafe.ai/api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establish product direction and documented interfaces, not independently audited production outcomes. No market-size estimates, customer-savings figures or unverified adoption forecasts are used.</a:t>
            </a:r>
          </a:p>
          <a:p/>
          <a:p>
            <a:r>
              <a:t>ServiceNow · ITOM agentic workflows: https://www.servicenow.com/docs/r/it-operations-management/now-assist-for-it-operations-management/now-assist-itom-ai-agent-workflows.html</a:t>
            </a:r>
          </a:p>
          <a:p>
            <a:r>
              <a:t>Datadog · Building Bits AI SRE: https://www.datadoghq.com/blog/building-bits-ai-sre/</a:t>
            </a:r>
          </a:p>
          <a:p>
            <a:r>
              <a:t>AWS · DevOps Agent general availability: https://aws.amazon.com/about-aws/whats-new/2026/03/aws-devops-agent-generally-available/</a:t>
            </a:r>
          </a:p>
          <a:p>
            <a:r>
              <a:t>Dynatrace · Multicloud SRE agents: https://www.dynatrace.com/news/blog/orchestrate-multicloud-ai-agents-for-autonomous-incident-resolution/</a:t>
            </a:r>
          </a:p>
          <a:p>
            <a:r>
              <a:t>Resolve AI · AI SRE platform: https://resolve.ai/</a:t>
            </a:r>
          </a:p>
          <a:p>
            <a:r>
              <a:t>TypeSafe · Jev introduction: https://docs.typesafe.ai/introduction</a:t>
            </a:r>
          </a:p>
          <a:p>
            <a:r>
              <a:t>TypeSafe · API reference: https://docs.typesafe.ai/api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dynatrace.com/news/blog/orchestrate-multicloud-ai-agents-for-autonomous-incident-resolution/" TargetMode="External"/><Relationship Id="rId4" Type="http://schemas.openxmlformats.org/officeDocument/2006/relationships/hyperlink" Target="https://aws.amazon.com/about-aws/whats-new/2026/03/aws-devops-agent-generally-available/" TargetMode="External"/><Relationship Id="rId5" Type="http://schemas.openxmlformats.org/officeDocument/2006/relationships/hyperlink" Target="https://www.datadoghq.com/blog/building-bits-ai-sre/" TargetMode="External"/><Relationship Id="rId6" Type="http://schemas.openxmlformats.org/officeDocument/2006/relationships/hyperlink" Target="https://www.servicenow.com/docs/r/it-operations-management/now-assist-for-it-operations-management/now-assist-itom-ai-agent-workflows.html" TargetMode="Externa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resolve.ai/" TargetMode="External"/><Relationship Id="rId4" Type="http://schemas.openxmlformats.org/officeDocument/2006/relationships/hyperlink" Target="https://www.dynatrace.com/news/blog/orchestrate-multicloud-ai-agents-for-autonomous-incident-resolution/" TargetMode="External"/><Relationship Id="rId5" Type="http://schemas.openxmlformats.org/officeDocument/2006/relationships/hyperlink" Target="https://aws.amazon.com/about-aws/whats-new/2026/03/aws-devops-agent-generally-available/" TargetMode="External"/><Relationship Id="rId6" Type="http://schemas.openxmlformats.org/officeDocument/2006/relationships/hyperlink" Target="https://www.datadoghq.com/blog/building-bits-ai-sre/" TargetMode="External"/><Relationship Id="rId7" Type="http://schemas.openxmlformats.org/officeDocument/2006/relationships/hyperlink" Target="https://www.servicenow.com/docs/r/it-operations-management/now-assist-for-it-operations-management/now-assist-itom-ai-agent-workflows.html" TargetMode="Externa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docs.typesafe.ai/api" TargetMode="External"/><Relationship Id="rId4" Type="http://schemas.openxmlformats.org/officeDocument/2006/relationships/hyperlink" Target="https://docs.typesafe.ai/introduction" TargetMode="Externa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hyperlink" Target="https://docs.typesafe.ai/api" TargetMode="External"/><Relationship Id="rId4" Type="http://schemas.openxmlformats.org/officeDocument/2006/relationships/hyperlink" Target="https://docs.typesafe.ai/introduction" TargetMode="Externa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hyperlink" Target="https://docs.typesafe.ai/api" TargetMode="External"/><Relationship Id="rId4" Type="http://schemas.openxmlformats.org/officeDocument/2006/relationships/hyperlink" Target="https://docs.typesafe.ai/introduction" TargetMode="Externa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6.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hyperlink" Target="https://docs.typesafe.ai/api" TargetMode="External"/><Relationship Id="rId4" Type="http://schemas.openxmlformats.org/officeDocument/2006/relationships/hyperlink" Target="https://docs.typesafe.ai/introduction" TargetMode="Externa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hyperlink" Target="https://docs.typesafe.ai/introduction" TargetMode="External"/><Relationship Id="rId4" Type="http://schemas.openxmlformats.org/officeDocument/2006/relationships/hyperlink" Target="https://www.servicenow.com/docs/r/it-operations-management/now-assist-for-it-operations-management/now-assist-itom-ai-agent-workflows.html" TargetMode="Externa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hyperlink" Target="https://docs.typesafe.ai/introduction" TargetMode="Externa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hyperlink" Target="https://docs.typesafe.ai/introduction" TargetMode="Externa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hyperlink" Target="https://docs.typesafe.ai/api" TargetMode="External"/><Relationship Id="rId4" Type="http://schemas.openxmlformats.org/officeDocument/2006/relationships/hyperlink" Target="https://docs.typesafe.ai/introduction" TargetMode="Externa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hyperlink" Target="https://www.servicenow.com/docs/r/it-operations-management/now-assist-for-it-operations-management/now-assist-itom-ai-agent-workflows.html" TargetMode="External"/><Relationship Id="rId4" Type="http://schemas.openxmlformats.org/officeDocument/2006/relationships/hyperlink" Target="https://www.datadoghq.com/blog/building-bits-ai-sre/" TargetMode="External"/><Relationship Id="rId5" Type="http://schemas.openxmlformats.org/officeDocument/2006/relationships/hyperlink" Target="https://aws.amazon.com/about-aws/whats-new/2026/03/aws-devops-agent-generally-available/" TargetMode="External"/><Relationship Id="rId6" Type="http://schemas.openxmlformats.org/officeDocument/2006/relationships/hyperlink" Target="https://www.dynatrace.com/news/blog/orchestrate-multicloud-ai-agents-for-autonomous-incident-resolution/" TargetMode="External"/><Relationship Id="rId7" Type="http://schemas.openxmlformats.org/officeDocument/2006/relationships/hyperlink" Target="https://resolve.ai/" TargetMode="External"/><Relationship Id="rId8" Type="http://schemas.openxmlformats.org/officeDocument/2006/relationships/hyperlink" Target="https://docs.typesafe.ai/introduction" TargetMode="External"/><Relationship Id="rId9" Type="http://schemas.openxmlformats.org/officeDocument/2006/relationships/hyperlink" Target="https://docs.typesafe.ai/api" TargetMode="External"/><Relationship Id="rId10"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E42"/>
          </a:solidFill>
          <a:ln>
            <a:noFill/>
          </a:ln>
          <a:effectLst/>
        </p:spPr>
        <p:txBody>
          <a:bodyPr rtlCol="0" anchor="ctr"/>
          <a:lstStyle/>
          <a:p>
            <a:pPr algn="ctr"/>
          </a:p>
        </p:txBody>
      </p:sp>
      <p:sp>
        <p:nvSpPr>
          <p:cNvPr id="3" name="Rectangle 2"/>
          <p:cNvSpPr/>
          <p:nvPr/>
        </p:nvSpPr>
        <p:spPr>
          <a:xfrm>
            <a:off x="0" y="0"/>
            <a:ext cx="12191695" cy="73152"/>
          </a:xfrm>
          <a:prstGeom prst="rect">
            <a:avLst/>
          </a:prstGeom>
          <a:solidFill>
            <a:srgbClr val="007F82"/>
          </a:solidFill>
          <a:ln>
            <a:noFill/>
          </a:ln>
          <a:effectLst/>
        </p:spPr>
        <p:txBody>
          <a:bodyPr rtlCol="0" anchor="ctr"/>
          <a:lstStyle/>
          <a:p>
            <a:pPr algn="ctr"/>
          </a:p>
        </p:txBody>
      </p:sp>
      <p:sp>
        <p:nvSpPr>
          <p:cNvPr id="4" name="TextBox 3"/>
          <p:cNvSpPr txBox="1"/>
          <p:nvPr/>
        </p:nvSpPr>
        <p:spPr>
          <a:xfrm>
            <a:off x="822960" y="658368"/>
            <a:ext cx="10972800" cy="274320"/>
          </a:xfrm>
          <a:prstGeom prst="rect">
            <a:avLst/>
          </a:prstGeom>
          <a:noFill/>
        </p:spPr>
        <p:txBody>
          <a:bodyPr wrap="square" lIns="0" rIns="0" tIns="0" bIns="0">
            <a:spAutoFit/>
          </a:bodyPr>
          <a:lstStyle/>
          <a:p>
            <a:pPr>
              <a:spcAft>
                <a:spcPts val="300"/>
              </a:spcAft>
              <a:defRPr sz="1200" b="1">
                <a:solidFill>
                  <a:srgbClr val="8BCCD0"/>
                </a:solidFill>
                <a:latin typeface="Aptos"/>
              </a:defRPr>
            </a:pPr>
            <a:r>
              <a:t>IT OPERATIONS  /  CIO DISCUSSION  /  OCTOBER 2026</a:t>
            </a:r>
          </a:p>
        </p:txBody>
      </p:sp>
      <p:sp>
        <p:nvSpPr>
          <p:cNvPr id="5" name="TextBox 4"/>
          <p:cNvSpPr txBox="1"/>
          <p:nvPr/>
        </p:nvSpPr>
        <p:spPr>
          <a:xfrm>
            <a:off x="822960" y="3111500"/>
            <a:ext cx="10424160" cy="728979"/>
          </a:xfrm>
          <a:prstGeom prst="rect">
            <a:avLst/>
          </a:prstGeom>
          <a:noFill/>
        </p:spPr>
        <p:txBody>
          <a:bodyPr wrap="square" lIns="0" rIns="0" tIns="0" bIns="0">
            <a:spAutoFit/>
          </a:bodyPr>
          <a:lstStyle/>
          <a:p>
            <a:pPr>
              <a:spcAft>
                <a:spcPts val="300"/>
              </a:spcAft>
              <a:defRPr sz="4000" b="1">
                <a:solidFill>
                  <a:srgbClr val="FFFFFF"/>
                </a:solidFill>
                <a:latin typeface="Aptos"/>
              </a:defRPr>
            </a:pPr>
            <a:r>
              <a:t>AI in IT operations</a:t>
            </a:r>
          </a:p>
        </p:txBody>
      </p:sp>
      <p:sp>
        <p:nvSpPr>
          <p:cNvPr id="6" name="Rectangle 5"/>
          <p:cNvSpPr/>
          <p:nvPr/>
        </p:nvSpPr>
        <p:spPr>
          <a:xfrm>
            <a:off x="822960" y="4069080"/>
            <a:ext cx="1097280" cy="54864"/>
          </a:xfrm>
          <a:prstGeom prst="rect">
            <a:avLst/>
          </a:prstGeom>
          <a:solidFill>
            <a:srgbClr val="007F82"/>
          </a:solidFill>
          <a:ln>
            <a:noFill/>
          </a:ln>
          <a:effectLst/>
        </p:spPr>
        <p:txBody>
          <a:bodyPr rtlCol="0" anchor="ctr"/>
          <a:lstStyle/>
          <a:p>
            <a:pPr algn="ctr"/>
          </a:p>
        </p:txBody>
      </p:sp>
      <p:sp>
        <p:nvSpPr>
          <p:cNvPr id="7" name="TextBox 6"/>
          <p:cNvSpPr txBox="1"/>
          <p:nvPr/>
        </p:nvSpPr>
        <p:spPr>
          <a:xfrm>
            <a:off x="822960" y="4315968"/>
            <a:ext cx="9509760" cy="731520"/>
          </a:xfrm>
          <a:prstGeom prst="rect">
            <a:avLst/>
          </a:prstGeom>
          <a:noFill/>
        </p:spPr>
        <p:txBody>
          <a:bodyPr wrap="square" lIns="0" rIns="0" tIns="0" bIns="0">
            <a:spAutoFit/>
          </a:bodyPr>
          <a:lstStyle/>
          <a:p>
            <a:pPr>
              <a:spcAft>
                <a:spcPts val="300"/>
              </a:spcAft>
              <a:defRPr sz="2000" b="0">
                <a:solidFill>
                  <a:srgbClr val="C7D6DE"/>
                </a:solidFill>
                <a:latin typeface="Aptos"/>
              </a:defRPr>
            </a:pPr>
            <a:r>
              <a:t>The emerging role of a decision model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7F82"/>
          </a:solidFill>
          <a:ln>
            <a:noFill/>
          </a:ln>
          <a:effectLst/>
        </p:spPr>
        <p:txBody>
          <a:bodyPr rtlCol="0" anchor="ctr"/>
          <a:lstStyle/>
          <a:p>
            <a:pPr algn="ctr"/>
          </a:p>
        </p:txBody>
      </p:sp>
      <p:sp>
        <p:nvSpPr>
          <p:cNvPr id="3" name="TextBox 2"/>
          <p:cNvSpPr txBox="1"/>
          <p:nvPr/>
        </p:nvSpPr>
        <p:spPr>
          <a:xfrm>
            <a:off x="548640" y="310896"/>
            <a:ext cx="9144000" cy="201168"/>
          </a:xfrm>
          <a:prstGeom prst="rect">
            <a:avLst/>
          </a:prstGeom>
          <a:noFill/>
        </p:spPr>
        <p:txBody>
          <a:bodyPr wrap="square" lIns="0" rIns="0" tIns="0" bIns="0">
            <a:spAutoFit/>
          </a:bodyPr>
          <a:lstStyle/>
          <a:p>
            <a:pPr>
              <a:spcAft>
                <a:spcPts val="300"/>
              </a:spcAft>
              <a:defRPr sz="1000" b="1">
                <a:solidFill>
                  <a:srgbClr val="007F82"/>
                </a:solidFill>
                <a:latin typeface="Aptos"/>
              </a:defRPr>
            </a:pPr>
            <a:r>
              <a:t>THE INDUSTRY</a:t>
            </a:r>
          </a:p>
        </p:txBody>
      </p:sp>
      <p:sp>
        <p:nvSpPr>
          <p:cNvPr id="4" name="TextBox 3"/>
          <p:cNvSpPr txBox="1"/>
          <p:nvPr/>
        </p:nvSpPr>
        <p:spPr>
          <a:xfrm>
            <a:off x="548640" y="566928"/>
            <a:ext cx="10149840" cy="469899"/>
          </a:xfrm>
          <a:prstGeom prst="rect">
            <a:avLst/>
          </a:prstGeom>
          <a:noFill/>
        </p:spPr>
        <p:txBody>
          <a:bodyPr wrap="square" lIns="0" rIns="0" tIns="0" bIns="0">
            <a:spAutoFit/>
          </a:bodyPr>
          <a:lstStyle/>
          <a:p>
            <a:pPr>
              <a:spcAft>
                <a:spcPts val="300"/>
              </a:spcAft>
              <a:defRPr sz="2500" b="1">
                <a:solidFill>
                  <a:srgbClr val="142E42"/>
                </a:solidFill>
                <a:latin typeface="Aptos"/>
              </a:defRPr>
            </a:pPr>
            <a:r>
              <a:t>AI is entering incident work, one capability at a time</a:t>
            </a:r>
          </a:p>
        </p:txBody>
      </p:sp>
      <p:sp>
        <p:nvSpPr>
          <p:cNvPr id="5" name="TextBox 4"/>
          <p:cNvSpPr txBox="1"/>
          <p:nvPr/>
        </p:nvSpPr>
        <p:spPr>
          <a:xfrm>
            <a:off x="548640" y="1073404"/>
            <a:ext cx="10149840" cy="279908"/>
          </a:xfrm>
          <a:prstGeom prst="rect">
            <a:avLst/>
          </a:prstGeom>
          <a:noFill/>
        </p:spPr>
        <p:txBody>
          <a:bodyPr wrap="square" lIns="0" rIns="0" tIns="0" bIns="0">
            <a:spAutoFit/>
          </a:bodyPr>
          <a:lstStyle/>
          <a:p>
            <a:pPr>
              <a:spcAft>
                <a:spcPts val="300"/>
              </a:spcAft>
              <a:defRPr sz="1400" b="0">
                <a:solidFill>
                  <a:srgbClr val="596A76"/>
                </a:solidFill>
                <a:latin typeface="Aptos"/>
              </a:defRPr>
            </a:pPr>
            <a:r>
              <a:t>Applications already interpret, coordinate and connect context; the decision is what remains</a:t>
            </a:r>
          </a:p>
        </p:txBody>
      </p:sp>
      <p:sp>
        <p:nvSpPr>
          <p:cNvPr id="6" name="Rectangle 5"/>
          <p:cNvSpPr/>
          <p:nvPr/>
        </p:nvSpPr>
        <p:spPr>
          <a:xfrm>
            <a:off x="10929823" y="274320"/>
            <a:ext cx="713232" cy="713232"/>
          </a:xfrm>
          <a:prstGeom prst="rect">
            <a:avLst/>
          </a:prstGeom>
          <a:solidFill>
            <a:srgbClr val="EFF4F6"/>
          </a:solidFill>
          <a:ln>
            <a:noFill/>
          </a:ln>
          <a:effectLst/>
        </p:spPr>
        <p:txBody>
          <a:bodyPr rtlCol="0" anchor="ctr"/>
          <a:lstStyle/>
          <a:p>
            <a:pPr algn="ctr"/>
          </a:p>
        </p:txBody>
      </p:sp>
      <p:pic>
        <p:nvPicPr>
          <p:cNvPr id="7" name="Picture 6" descr="network.png"/>
          <p:cNvPicPr>
            <a:picLocks noChangeAspect="1"/>
          </p:cNvPicPr>
          <p:nvPr/>
        </p:nvPicPr>
        <p:blipFill>
          <a:blip r:embed="rId2"/>
          <a:stretch>
            <a:fillRect/>
          </a:stretch>
        </p:blipFill>
        <p:spPr>
          <a:xfrm>
            <a:off x="11021263" y="365760"/>
            <a:ext cx="530352" cy="530352"/>
          </a:xfrm>
          <a:prstGeom prst="rect">
            <a:avLst/>
          </a:prstGeom>
        </p:spPr>
      </p:pic>
      <p:sp>
        <p:nvSpPr>
          <p:cNvPr id="8" name="Rectangle 7"/>
          <p:cNvSpPr/>
          <p:nvPr/>
        </p:nvSpPr>
        <p:spPr>
          <a:xfrm>
            <a:off x="548640" y="1700784"/>
            <a:ext cx="3515258" cy="3064256"/>
          </a:xfrm>
          <a:prstGeom prst="rect">
            <a:avLst/>
          </a:prstGeom>
          <a:solidFill>
            <a:srgbClr val="EFF4F6"/>
          </a:solidFill>
          <a:ln>
            <a:noFill/>
          </a:ln>
          <a:effectLst/>
        </p:spPr>
        <p:txBody>
          <a:bodyPr rtlCol="0" anchor="ctr"/>
          <a:lstStyle/>
          <a:p>
            <a:pPr algn="ctr"/>
          </a:p>
        </p:txBody>
      </p:sp>
      <p:sp>
        <p:nvSpPr>
          <p:cNvPr id="9" name="Rectangle 8"/>
          <p:cNvSpPr/>
          <p:nvPr/>
        </p:nvSpPr>
        <p:spPr>
          <a:xfrm>
            <a:off x="548640" y="1700784"/>
            <a:ext cx="3515258" cy="45720"/>
          </a:xfrm>
          <a:prstGeom prst="rect">
            <a:avLst/>
          </a:prstGeom>
          <a:solidFill>
            <a:srgbClr val="007F82"/>
          </a:solidFill>
          <a:ln>
            <a:noFill/>
          </a:ln>
          <a:effectLst/>
        </p:spPr>
        <p:txBody>
          <a:bodyPr rtlCol="0" anchor="ctr"/>
          <a:lstStyle/>
          <a:p>
            <a:pPr algn="ctr"/>
          </a:p>
        </p:txBody>
      </p:sp>
      <p:sp>
        <p:nvSpPr>
          <p:cNvPr id="10" name="TextBox 9"/>
          <p:cNvSpPr txBox="1"/>
          <p:nvPr/>
        </p:nvSpPr>
        <p:spPr>
          <a:xfrm>
            <a:off x="777240" y="1975103"/>
            <a:ext cx="3058058" cy="655828"/>
          </a:xfrm>
          <a:prstGeom prst="rect">
            <a:avLst/>
          </a:prstGeom>
          <a:noFill/>
        </p:spPr>
        <p:txBody>
          <a:bodyPr wrap="square" lIns="0" rIns="0" tIns="0" bIns="0">
            <a:spAutoFit/>
          </a:bodyPr>
          <a:lstStyle/>
          <a:p>
            <a:pPr>
              <a:spcAft>
                <a:spcPts val="300"/>
              </a:spcAft>
              <a:defRPr sz="1900" b="1">
                <a:solidFill>
                  <a:srgbClr val="142E42"/>
                </a:solidFill>
                <a:latin typeface="Aptos"/>
              </a:defRPr>
            </a:pPr>
            <a:r>
              <a:t>Interpret the incident</a:t>
            </a:r>
          </a:p>
        </p:txBody>
      </p:sp>
      <p:sp>
        <p:nvSpPr>
          <p:cNvPr id="11" name="TextBox 10"/>
          <p:cNvSpPr txBox="1"/>
          <p:nvPr/>
        </p:nvSpPr>
        <p:spPr>
          <a:xfrm>
            <a:off x="777240" y="2758947"/>
            <a:ext cx="3058058" cy="1777492"/>
          </a:xfrm>
          <a:prstGeom prst="rect">
            <a:avLst/>
          </a:prstGeom>
          <a:noFill/>
        </p:spPr>
        <p:txBody>
          <a:bodyPr wrap="square" lIns="0" rIns="0" tIns="0" bIns="0">
            <a:spAutoFit/>
          </a:bodyPr>
          <a:lstStyle/>
          <a:p>
            <a:pPr>
              <a:spcAft>
                <a:spcPts val="300"/>
              </a:spcAft>
              <a:defRPr sz="1600" b="0">
                <a:solidFill>
                  <a:srgbClr val="233B4D"/>
                </a:solidFill>
                <a:latin typeface="Aptos"/>
              </a:defRPr>
            </a:pPr>
            <a:r>
              <a:t>Observability platforms already interpret signals: Dynatrace's Davis correlates anomalies and points to a root cause, and Datadog's Bits AI SRE investigates incidents from operational evidence.</a:t>
            </a:r>
          </a:p>
        </p:txBody>
      </p:sp>
      <p:sp>
        <p:nvSpPr>
          <p:cNvPr id="12" name="Rectangle 11"/>
          <p:cNvSpPr/>
          <p:nvPr/>
        </p:nvSpPr>
        <p:spPr>
          <a:xfrm>
            <a:off x="4338218" y="1700784"/>
            <a:ext cx="3515258" cy="3064256"/>
          </a:xfrm>
          <a:prstGeom prst="rect">
            <a:avLst/>
          </a:prstGeom>
          <a:solidFill>
            <a:srgbClr val="EFF4F6"/>
          </a:solidFill>
          <a:ln>
            <a:noFill/>
          </a:ln>
          <a:effectLst/>
        </p:spPr>
        <p:txBody>
          <a:bodyPr rtlCol="0" anchor="ctr"/>
          <a:lstStyle/>
          <a:p>
            <a:pPr algn="ctr"/>
          </a:p>
        </p:txBody>
      </p:sp>
      <p:sp>
        <p:nvSpPr>
          <p:cNvPr id="13" name="Rectangle 12"/>
          <p:cNvSpPr/>
          <p:nvPr/>
        </p:nvSpPr>
        <p:spPr>
          <a:xfrm>
            <a:off x="4338218" y="1700784"/>
            <a:ext cx="3515258" cy="45720"/>
          </a:xfrm>
          <a:prstGeom prst="rect">
            <a:avLst/>
          </a:prstGeom>
          <a:solidFill>
            <a:srgbClr val="007F82"/>
          </a:solidFill>
          <a:ln>
            <a:noFill/>
          </a:ln>
          <a:effectLst/>
        </p:spPr>
        <p:txBody>
          <a:bodyPr rtlCol="0" anchor="ctr"/>
          <a:lstStyle/>
          <a:p>
            <a:pPr algn="ctr"/>
          </a:p>
        </p:txBody>
      </p:sp>
      <p:sp>
        <p:nvSpPr>
          <p:cNvPr id="14" name="TextBox 13"/>
          <p:cNvSpPr txBox="1"/>
          <p:nvPr/>
        </p:nvSpPr>
        <p:spPr>
          <a:xfrm>
            <a:off x="4566818" y="1975103"/>
            <a:ext cx="3058058" cy="655828"/>
          </a:xfrm>
          <a:prstGeom prst="rect">
            <a:avLst/>
          </a:prstGeom>
          <a:noFill/>
        </p:spPr>
        <p:txBody>
          <a:bodyPr wrap="square" lIns="0" rIns="0" tIns="0" bIns="0">
            <a:spAutoFit/>
          </a:bodyPr>
          <a:lstStyle/>
          <a:p>
            <a:pPr>
              <a:spcAft>
                <a:spcPts val="300"/>
              </a:spcAft>
              <a:defRPr sz="1900" b="1">
                <a:solidFill>
                  <a:srgbClr val="142E42"/>
                </a:solidFill>
                <a:latin typeface="Aptos"/>
              </a:defRPr>
            </a:pPr>
            <a:r>
              <a:t>Coordinate the response</a:t>
            </a:r>
          </a:p>
        </p:txBody>
      </p:sp>
      <p:sp>
        <p:nvSpPr>
          <p:cNvPr id="15" name="TextBox 14"/>
          <p:cNvSpPr txBox="1"/>
          <p:nvPr/>
        </p:nvSpPr>
        <p:spPr>
          <a:xfrm>
            <a:off x="4566818" y="2758947"/>
            <a:ext cx="3058058" cy="1777492"/>
          </a:xfrm>
          <a:prstGeom prst="rect">
            <a:avLst/>
          </a:prstGeom>
          <a:noFill/>
        </p:spPr>
        <p:txBody>
          <a:bodyPr wrap="square" lIns="0" rIns="0" tIns="0" bIns="0">
            <a:spAutoFit/>
          </a:bodyPr>
          <a:lstStyle/>
          <a:p>
            <a:pPr>
              <a:spcAft>
                <a:spcPts val="300"/>
              </a:spcAft>
              <a:defRPr sz="1600" b="0">
                <a:solidFill>
                  <a:srgbClr val="233B4D"/>
                </a:solidFill>
                <a:latin typeface="Aptos"/>
              </a:defRPr>
            </a:pPr>
            <a:r>
              <a:t>Service-management platforms coordinate the workflow: ServiceNow documents agents for alert assignment, analysis and verification.</a:t>
            </a:r>
          </a:p>
        </p:txBody>
      </p:sp>
      <p:sp>
        <p:nvSpPr>
          <p:cNvPr id="16" name="Rectangle 15"/>
          <p:cNvSpPr/>
          <p:nvPr/>
        </p:nvSpPr>
        <p:spPr>
          <a:xfrm>
            <a:off x="8127796" y="1700784"/>
            <a:ext cx="3515258" cy="3064256"/>
          </a:xfrm>
          <a:prstGeom prst="rect">
            <a:avLst/>
          </a:prstGeom>
          <a:solidFill>
            <a:srgbClr val="EFF4F6"/>
          </a:solidFill>
          <a:ln>
            <a:noFill/>
          </a:ln>
          <a:effectLst/>
        </p:spPr>
        <p:txBody>
          <a:bodyPr rtlCol="0" anchor="ctr"/>
          <a:lstStyle/>
          <a:p>
            <a:pPr algn="ctr"/>
          </a:p>
        </p:txBody>
      </p:sp>
      <p:sp>
        <p:nvSpPr>
          <p:cNvPr id="17" name="Rectangle 16"/>
          <p:cNvSpPr/>
          <p:nvPr/>
        </p:nvSpPr>
        <p:spPr>
          <a:xfrm>
            <a:off x="8127796" y="1700784"/>
            <a:ext cx="3515258" cy="45720"/>
          </a:xfrm>
          <a:prstGeom prst="rect">
            <a:avLst/>
          </a:prstGeom>
          <a:solidFill>
            <a:srgbClr val="007F82"/>
          </a:solidFill>
          <a:ln>
            <a:noFill/>
          </a:ln>
          <a:effectLst/>
        </p:spPr>
        <p:txBody>
          <a:bodyPr rtlCol="0" anchor="ctr"/>
          <a:lstStyle/>
          <a:p>
            <a:pPr algn="ctr"/>
          </a:p>
        </p:txBody>
      </p:sp>
      <p:sp>
        <p:nvSpPr>
          <p:cNvPr id="18" name="TextBox 17"/>
          <p:cNvSpPr txBox="1"/>
          <p:nvPr/>
        </p:nvSpPr>
        <p:spPr>
          <a:xfrm>
            <a:off x="8356396" y="1975103"/>
            <a:ext cx="3058058" cy="655828"/>
          </a:xfrm>
          <a:prstGeom prst="rect">
            <a:avLst/>
          </a:prstGeom>
          <a:noFill/>
        </p:spPr>
        <p:txBody>
          <a:bodyPr wrap="square" lIns="0" rIns="0" tIns="0" bIns="0">
            <a:spAutoFit/>
          </a:bodyPr>
          <a:lstStyle/>
          <a:p>
            <a:pPr>
              <a:spcAft>
                <a:spcPts val="300"/>
              </a:spcAft>
              <a:defRPr sz="1900" b="1">
                <a:solidFill>
                  <a:srgbClr val="142E42"/>
                </a:solidFill>
                <a:latin typeface="Aptos"/>
              </a:defRPr>
            </a:pPr>
            <a:r>
              <a:t>Connect context to action</a:t>
            </a:r>
          </a:p>
        </p:txBody>
      </p:sp>
      <p:sp>
        <p:nvSpPr>
          <p:cNvPr id="19" name="TextBox 18"/>
          <p:cNvSpPr txBox="1"/>
          <p:nvPr/>
        </p:nvSpPr>
        <p:spPr>
          <a:xfrm>
            <a:off x="8356396" y="2758947"/>
            <a:ext cx="3058058" cy="1777492"/>
          </a:xfrm>
          <a:prstGeom prst="rect">
            <a:avLst/>
          </a:prstGeom>
          <a:noFill/>
        </p:spPr>
        <p:txBody>
          <a:bodyPr wrap="square" lIns="0" rIns="0" tIns="0" bIns="0">
            <a:spAutoFit/>
          </a:bodyPr>
          <a:lstStyle/>
          <a:p>
            <a:pPr>
              <a:spcAft>
                <a:spcPts val="300"/>
              </a:spcAft>
              <a:defRPr sz="1600" b="0">
                <a:solidFill>
                  <a:srgbClr val="233B4D"/>
                </a:solidFill>
                <a:latin typeface="Aptos"/>
              </a:defRPr>
            </a:pPr>
            <a:r>
              <a:t>Cloud and network tooling connect context to response: AWS DevOps Agent draws on telemetry, code and deployment data, while F5 exposes device, VIP and pool context.</a:t>
            </a:r>
          </a:p>
        </p:txBody>
      </p:sp>
      <p:sp>
        <p:nvSpPr>
          <p:cNvPr id="20" name="Rectangle 19"/>
          <p:cNvSpPr/>
          <p:nvPr/>
        </p:nvSpPr>
        <p:spPr>
          <a:xfrm>
            <a:off x="548640" y="6309360"/>
            <a:ext cx="11094415" cy="10972"/>
          </a:xfrm>
          <a:prstGeom prst="rect">
            <a:avLst/>
          </a:prstGeom>
          <a:solidFill>
            <a:srgbClr val="CCD7DD"/>
          </a:solidFill>
          <a:ln>
            <a:noFill/>
          </a:ln>
          <a:effectLst/>
        </p:spPr>
        <p:txBody>
          <a:bodyPr rtlCol="0" anchor="ctr"/>
          <a:lstStyle/>
          <a:p>
            <a:pPr algn="ctr"/>
          </a:p>
        </p:txBody>
      </p:sp>
      <p:sp>
        <p:nvSpPr>
          <p:cNvPr id="21" name="TextBox 20"/>
          <p:cNvSpPr txBox="1"/>
          <p:nvPr/>
        </p:nvSpPr>
        <p:spPr>
          <a:xfrm>
            <a:off x="548640" y="6400800"/>
            <a:ext cx="4572000" cy="201168"/>
          </a:xfrm>
          <a:prstGeom prst="rect">
            <a:avLst/>
          </a:prstGeom>
          <a:noFill/>
        </p:spPr>
        <p:txBody>
          <a:bodyPr wrap="square" lIns="0" rIns="0" tIns="0" bIns="0">
            <a:spAutoFit/>
          </a:bodyPr>
          <a:lstStyle/>
          <a:p>
            <a:pPr>
              <a:spcAft>
                <a:spcPts val="300"/>
              </a:spcAft>
              <a:defRPr sz="900" b="0">
                <a:solidFill>
                  <a:srgbClr val="596A76"/>
                </a:solidFill>
                <a:latin typeface="Aptos"/>
              </a:defRPr>
            </a:pPr>
            <a:r>
              <a:t>For discussion · October 2026</a:t>
            </a:r>
          </a:p>
        </p:txBody>
      </p:sp>
      <p:sp>
        <p:nvSpPr>
          <p:cNvPr id="22" name="TextBox 21"/>
          <p:cNvSpPr txBox="1"/>
          <p:nvPr/>
        </p:nvSpPr>
        <p:spPr>
          <a:xfrm>
            <a:off x="10929480" y="6400800"/>
            <a:ext cx="164934" cy="201168"/>
          </a:xfrm>
          <a:prstGeom prst="rect">
            <a:avLst/>
          </a:prstGeom>
          <a:noFill/>
        </p:spPr>
        <p:txBody>
          <a:bodyPr wrap="square" lIns="0" rIns="0" tIns="0" bIns="0">
            <a:spAutoFit/>
          </a:bodyPr>
          <a:lstStyle/>
          <a:p>
            <a:pPr>
              <a:spcAft>
                <a:spcPts val="300"/>
              </a:spcAft>
              <a:defRPr sz="900" b="1">
                <a:solidFill>
                  <a:srgbClr val="007F82"/>
                </a:solidFill>
                <a:latin typeface="Aptos"/>
              </a:defRPr>
            </a:pPr>
            <a:r>
              <a:rPr>
                <a:hlinkClick r:id="rId3"/>
              </a:rPr>
              <a:t>S4</a:t>
            </a:r>
          </a:p>
        </p:txBody>
      </p:sp>
      <p:sp>
        <p:nvSpPr>
          <p:cNvPr id="23" name="TextBox 22"/>
          <p:cNvSpPr txBox="1"/>
          <p:nvPr/>
        </p:nvSpPr>
        <p:spPr>
          <a:xfrm>
            <a:off x="10783176" y="6400800"/>
            <a:ext cx="91440" cy="201168"/>
          </a:xfrm>
          <a:prstGeom prst="rect">
            <a:avLst/>
          </a:prstGeom>
          <a:noFill/>
        </p:spPr>
        <p:txBody>
          <a:bodyPr wrap="square" lIns="0" rIns="0" tIns="0" bIns="0">
            <a:spAutoFit/>
          </a:bodyPr>
          <a:lstStyle/>
          <a:p>
            <a:pPr algn="ctr">
              <a:spcAft>
                <a:spcPts val="300"/>
              </a:spcAft>
              <a:defRPr sz="900" b="0">
                <a:solidFill>
                  <a:srgbClr val="596A76"/>
                </a:solidFill>
                <a:latin typeface="Aptos"/>
              </a:defRPr>
            </a:pPr>
            <a:r>
              <a:t>·</a:t>
            </a:r>
          </a:p>
        </p:txBody>
      </p:sp>
      <p:sp>
        <p:nvSpPr>
          <p:cNvPr id="24" name="TextBox 23"/>
          <p:cNvSpPr txBox="1"/>
          <p:nvPr/>
        </p:nvSpPr>
        <p:spPr>
          <a:xfrm>
            <a:off x="10618241" y="6400800"/>
            <a:ext cx="164934" cy="201168"/>
          </a:xfrm>
          <a:prstGeom prst="rect">
            <a:avLst/>
          </a:prstGeom>
          <a:noFill/>
        </p:spPr>
        <p:txBody>
          <a:bodyPr wrap="square" lIns="0" rIns="0" tIns="0" bIns="0">
            <a:spAutoFit/>
          </a:bodyPr>
          <a:lstStyle/>
          <a:p>
            <a:pPr>
              <a:spcAft>
                <a:spcPts val="300"/>
              </a:spcAft>
              <a:defRPr sz="900" b="1">
                <a:solidFill>
                  <a:srgbClr val="007F82"/>
                </a:solidFill>
                <a:latin typeface="Aptos"/>
              </a:defRPr>
            </a:pPr>
            <a:r>
              <a:rPr>
                <a:hlinkClick r:id="rId4"/>
              </a:rPr>
              <a:t>S3</a:t>
            </a:r>
          </a:p>
        </p:txBody>
      </p:sp>
      <p:sp>
        <p:nvSpPr>
          <p:cNvPr id="25" name="TextBox 24"/>
          <p:cNvSpPr txBox="1"/>
          <p:nvPr/>
        </p:nvSpPr>
        <p:spPr>
          <a:xfrm>
            <a:off x="10471937" y="6400800"/>
            <a:ext cx="91440" cy="201168"/>
          </a:xfrm>
          <a:prstGeom prst="rect">
            <a:avLst/>
          </a:prstGeom>
          <a:noFill/>
        </p:spPr>
        <p:txBody>
          <a:bodyPr wrap="square" lIns="0" rIns="0" tIns="0" bIns="0">
            <a:spAutoFit/>
          </a:bodyPr>
          <a:lstStyle/>
          <a:p>
            <a:pPr algn="ctr">
              <a:spcAft>
                <a:spcPts val="300"/>
              </a:spcAft>
              <a:defRPr sz="900" b="0">
                <a:solidFill>
                  <a:srgbClr val="596A76"/>
                </a:solidFill>
                <a:latin typeface="Aptos"/>
              </a:defRPr>
            </a:pPr>
            <a:r>
              <a:t>·</a:t>
            </a:r>
          </a:p>
        </p:txBody>
      </p:sp>
      <p:sp>
        <p:nvSpPr>
          <p:cNvPr id="26" name="TextBox 25"/>
          <p:cNvSpPr txBox="1"/>
          <p:nvPr/>
        </p:nvSpPr>
        <p:spPr>
          <a:xfrm>
            <a:off x="10307002" y="6400800"/>
            <a:ext cx="164934" cy="201168"/>
          </a:xfrm>
          <a:prstGeom prst="rect">
            <a:avLst/>
          </a:prstGeom>
          <a:noFill/>
        </p:spPr>
        <p:txBody>
          <a:bodyPr wrap="square" lIns="0" rIns="0" tIns="0" bIns="0">
            <a:spAutoFit/>
          </a:bodyPr>
          <a:lstStyle/>
          <a:p>
            <a:pPr>
              <a:spcAft>
                <a:spcPts val="300"/>
              </a:spcAft>
              <a:defRPr sz="900" b="1">
                <a:solidFill>
                  <a:srgbClr val="007F82"/>
                </a:solidFill>
                <a:latin typeface="Aptos"/>
              </a:defRPr>
            </a:pPr>
            <a:r>
              <a:rPr>
                <a:hlinkClick r:id="rId5"/>
              </a:rPr>
              <a:t>S2</a:t>
            </a:r>
          </a:p>
        </p:txBody>
      </p:sp>
      <p:sp>
        <p:nvSpPr>
          <p:cNvPr id="27" name="TextBox 26"/>
          <p:cNvSpPr txBox="1"/>
          <p:nvPr/>
        </p:nvSpPr>
        <p:spPr>
          <a:xfrm>
            <a:off x="10160698" y="6400800"/>
            <a:ext cx="91440" cy="201168"/>
          </a:xfrm>
          <a:prstGeom prst="rect">
            <a:avLst/>
          </a:prstGeom>
          <a:noFill/>
        </p:spPr>
        <p:txBody>
          <a:bodyPr wrap="square" lIns="0" rIns="0" tIns="0" bIns="0">
            <a:spAutoFit/>
          </a:bodyPr>
          <a:lstStyle/>
          <a:p>
            <a:pPr algn="ctr">
              <a:spcAft>
                <a:spcPts val="300"/>
              </a:spcAft>
              <a:defRPr sz="900" b="0">
                <a:solidFill>
                  <a:srgbClr val="596A76"/>
                </a:solidFill>
                <a:latin typeface="Aptos"/>
              </a:defRPr>
            </a:pPr>
            <a:r>
              <a:t>·</a:t>
            </a:r>
          </a:p>
        </p:txBody>
      </p:sp>
      <p:sp>
        <p:nvSpPr>
          <p:cNvPr id="28" name="TextBox 27"/>
          <p:cNvSpPr txBox="1"/>
          <p:nvPr/>
        </p:nvSpPr>
        <p:spPr>
          <a:xfrm>
            <a:off x="9995763" y="6400800"/>
            <a:ext cx="164934" cy="201168"/>
          </a:xfrm>
          <a:prstGeom prst="rect">
            <a:avLst/>
          </a:prstGeom>
          <a:noFill/>
        </p:spPr>
        <p:txBody>
          <a:bodyPr wrap="square" lIns="0" rIns="0" tIns="0" bIns="0">
            <a:spAutoFit/>
          </a:bodyPr>
          <a:lstStyle/>
          <a:p>
            <a:pPr>
              <a:spcAft>
                <a:spcPts val="300"/>
              </a:spcAft>
              <a:defRPr sz="900" b="1">
                <a:solidFill>
                  <a:srgbClr val="007F82"/>
                </a:solidFill>
                <a:latin typeface="Aptos"/>
              </a:defRPr>
            </a:pPr>
            <a:r>
              <a:rPr>
                <a:hlinkClick r:id="rId6"/>
              </a:rPr>
              <a:t>S1</a:t>
            </a:r>
          </a:p>
        </p:txBody>
      </p:sp>
      <p:sp>
        <p:nvSpPr>
          <p:cNvPr id="29" name="TextBox 28"/>
          <p:cNvSpPr txBox="1"/>
          <p:nvPr/>
        </p:nvSpPr>
        <p:spPr>
          <a:xfrm>
            <a:off x="9447123" y="6400800"/>
            <a:ext cx="493776" cy="201168"/>
          </a:xfrm>
          <a:prstGeom prst="rect">
            <a:avLst/>
          </a:prstGeom>
          <a:noFill/>
        </p:spPr>
        <p:txBody>
          <a:bodyPr wrap="square" lIns="0" rIns="0" tIns="0" bIns="0">
            <a:spAutoFit/>
          </a:bodyPr>
          <a:lstStyle/>
          <a:p>
            <a:pPr algn="r">
              <a:spcAft>
                <a:spcPts val="300"/>
              </a:spcAft>
              <a:defRPr sz="900" b="0">
                <a:solidFill>
                  <a:srgbClr val="596A76"/>
                </a:solidFill>
                <a:latin typeface="Aptos"/>
              </a:defRPr>
            </a:pPr>
            <a:r>
              <a:t>Sources</a:t>
            </a:r>
          </a:p>
        </p:txBody>
      </p:sp>
      <p:sp>
        <p:nvSpPr>
          <p:cNvPr id="30" name="TextBox 29"/>
          <p:cNvSpPr txBox="1"/>
          <p:nvPr/>
        </p:nvSpPr>
        <p:spPr>
          <a:xfrm>
            <a:off x="11185855" y="6400800"/>
            <a:ext cx="457200" cy="201168"/>
          </a:xfrm>
          <a:prstGeom prst="rect">
            <a:avLst/>
          </a:prstGeom>
          <a:noFill/>
        </p:spPr>
        <p:txBody>
          <a:bodyPr wrap="square" lIns="0" rIns="0" tIns="0" bIns="0">
            <a:spAutoFit/>
          </a:bodyPr>
          <a:lstStyle/>
          <a:p>
            <a:pPr algn="r">
              <a:spcAft>
                <a:spcPts val="300"/>
              </a:spcAft>
              <a:defRPr sz="900" b="0">
                <a:solidFill>
                  <a:srgbClr val="596A76"/>
                </a:solidFill>
                <a:latin typeface="Aptos"/>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7F82"/>
          </a:solidFill>
          <a:ln>
            <a:noFill/>
          </a:ln>
          <a:effectLst/>
        </p:spPr>
        <p:txBody>
          <a:bodyPr rtlCol="0" anchor="ctr"/>
          <a:lstStyle/>
          <a:p>
            <a:pPr algn="ctr"/>
          </a:p>
        </p:txBody>
      </p:sp>
      <p:sp>
        <p:nvSpPr>
          <p:cNvPr id="3" name="TextBox 2"/>
          <p:cNvSpPr txBox="1"/>
          <p:nvPr/>
        </p:nvSpPr>
        <p:spPr>
          <a:xfrm>
            <a:off x="548640" y="310896"/>
            <a:ext cx="9144000" cy="201168"/>
          </a:xfrm>
          <a:prstGeom prst="rect">
            <a:avLst/>
          </a:prstGeom>
          <a:noFill/>
        </p:spPr>
        <p:txBody>
          <a:bodyPr wrap="square" lIns="0" rIns="0" tIns="0" bIns="0">
            <a:spAutoFit/>
          </a:bodyPr>
          <a:lstStyle/>
          <a:p>
            <a:pPr>
              <a:spcAft>
                <a:spcPts val="300"/>
              </a:spcAft>
              <a:defRPr sz="1000" b="1">
                <a:solidFill>
                  <a:srgbClr val="007F82"/>
                </a:solidFill>
                <a:latin typeface="Aptos"/>
              </a:defRPr>
            </a:pPr>
            <a:r>
              <a:t>THE INDUSTRY</a:t>
            </a:r>
          </a:p>
        </p:txBody>
      </p:sp>
      <p:sp>
        <p:nvSpPr>
          <p:cNvPr id="4" name="TextBox 3"/>
          <p:cNvSpPr txBox="1"/>
          <p:nvPr/>
        </p:nvSpPr>
        <p:spPr>
          <a:xfrm>
            <a:off x="548640" y="566928"/>
            <a:ext cx="10149840" cy="850899"/>
          </a:xfrm>
          <a:prstGeom prst="rect">
            <a:avLst/>
          </a:prstGeom>
          <a:noFill/>
        </p:spPr>
        <p:txBody>
          <a:bodyPr wrap="square" lIns="0" rIns="0" tIns="0" bIns="0">
            <a:spAutoFit/>
          </a:bodyPr>
          <a:lstStyle/>
          <a:p>
            <a:pPr>
              <a:spcAft>
                <a:spcPts val="300"/>
              </a:spcAft>
              <a:defRPr sz="2500" b="1">
                <a:solidFill>
                  <a:srgbClr val="142E42"/>
                </a:solidFill>
                <a:latin typeface="Aptos"/>
              </a:defRPr>
            </a:pPr>
            <a:r>
              <a:t>Each platform starts from a different position, and none completes the cycle</a:t>
            </a:r>
          </a:p>
        </p:txBody>
      </p:sp>
      <p:sp>
        <p:nvSpPr>
          <p:cNvPr id="5" name="TextBox 4"/>
          <p:cNvSpPr txBox="1"/>
          <p:nvPr/>
        </p:nvSpPr>
        <p:spPr>
          <a:xfrm>
            <a:off x="548640" y="1454404"/>
            <a:ext cx="10149840" cy="279908"/>
          </a:xfrm>
          <a:prstGeom prst="rect">
            <a:avLst/>
          </a:prstGeom>
          <a:noFill/>
        </p:spPr>
        <p:txBody>
          <a:bodyPr wrap="square" lIns="0" rIns="0" tIns="0" bIns="0">
            <a:spAutoFit/>
          </a:bodyPr>
          <a:lstStyle/>
          <a:p>
            <a:pPr>
              <a:spcAft>
                <a:spcPts val="300"/>
              </a:spcAft>
              <a:defRPr sz="1400" b="0">
                <a:solidFill>
                  <a:srgbClr val="596A76"/>
                </a:solidFill>
                <a:latin typeface="Aptos"/>
              </a:defRPr>
            </a:pPr>
            <a:r>
              <a:t>Selected examples; the categories overlap</a:t>
            </a:r>
          </a:p>
        </p:txBody>
      </p:sp>
      <p:sp>
        <p:nvSpPr>
          <p:cNvPr id="6" name="Rectangle 5"/>
          <p:cNvSpPr/>
          <p:nvPr/>
        </p:nvSpPr>
        <p:spPr>
          <a:xfrm>
            <a:off x="10929823" y="274320"/>
            <a:ext cx="713232" cy="713232"/>
          </a:xfrm>
          <a:prstGeom prst="rect">
            <a:avLst/>
          </a:prstGeom>
          <a:solidFill>
            <a:srgbClr val="EFF4F6"/>
          </a:solidFill>
          <a:ln>
            <a:noFill/>
          </a:ln>
          <a:effectLst/>
        </p:spPr>
        <p:txBody>
          <a:bodyPr rtlCol="0" anchor="ctr"/>
          <a:lstStyle/>
          <a:p>
            <a:pPr algn="ctr"/>
          </a:p>
        </p:txBody>
      </p:sp>
      <p:pic>
        <p:nvPicPr>
          <p:cNvPr id="7" name="Picture 6" descr="network.png"/>
          <p:cNvPicPr>
            <a:picLocks noChangeAspect="1"/>
          </p:cNvPicPr>
          <p:nvPr/>
        </p:nvPicPr>
        <p:blipFill>
          <a:blip r:embed="rId2"/>
          <a:stretch>
            <a:fillRect/>
          </a:stretch>
        </p:blipFill>
        <p:spPr>
          <a:xfrm>
            <a:off x="11021263" y="365760"/>
            <a:ext cx="530352" cy="530352"/>
          </a:xfrm>
          <a:prstGeom prst="rect">
            <a:avLst/>
          </a:prstGeom>
        </p:spPr>
      </p:pic>
      <p:sp>
        <p:nvSpPr>
          <p:cNvPr id="8" name="Rectangle 7"/>
          <p:cNvSpPr/>
          <p:nvPr/>
        </p:nvSpPr>
        <p:spPr>
          <a:xfrm>
            <a:off x="548640" y="2081783"/>
            <a:ext cx="2740582" cy="363220"/>
          </a:xfrm>
          <a:prstGeom prst="rect">
            <a:avLst/>
          </a:prstGeom>
          <a:solidFill>
            <a:srgbClr val="142E42"/>
          </a:solidFill>
          <a:ln>
            <a:noFill/>
          </a:ln>
          <a:effectLst/>
        </p:spPr>
        <p:txBody>
          <a:bodyPr rtlCol="0" anchor="ctr"/>
          <a:lstStyle/>
          <a:p>
            <a:pPr algn="ctr"/>
          </a:p>
        </p:txBody>
      </p:sp>
      <p:sp>
        <p:nvSpPr>
          <p:cNvPr id="9" name="TextBox 8"/>
          <p:cNvSpPr txBox="1"/>
          <p:nvPr/>
        </p:nvSpPr>
        <p:spPr>
          <a:xfrm>
            <a:off x="658368" y="2081783"/>
            <a:ext cx="2521126" cy="363220"/>
          </a:xfrm>
          <a:prstGeom prst="rect">
            <a:avLst/>
          </a:prstGeom>
          <a:noFill/>
        </p:spPr>
        <p:txBody>
          <a:bodyPr wrap="square" lIns="0" rIns="0" tIns="0" bIns="0" anchor="ctr">
            <a:spAutoFit/>
          </a:bodyPr>
          <a:lstStyle/>
          <a:p>
            <a:pPr>
              <a:spcAft>
                <a:spcPts val="300"/>
              </a:spcAft>
              <a:defRPr sz="1300" b="1">
                <a:solidFill>
                  <a:srgbClr val="FFFFFF"/>
                </a:solidFill>
                <a:latin typeface="Aptos"/>
              </a:defRPr>
            </a:pPr>
            <a:r>
              <a:t>Starting point</a:t>
            </a:r>
          </a:p>
        </p:txBody>
      </p:sp>
      <p:sp>
        <p:nvSpPr>
          <p:cNvPr id="10" name="Rectangle 9"/>
          <p:cNvSpPr/>
          <p:nvPr/>
        </p:nvSpPr>
        <p:spPr>
          <a:xfrm>
            <a:off x="3316654" y="2081783"/>
            <a:ext cx="2460324" cy="363220"/>
          </a:xfrm>
          <a:prstGeom prst="rect">
            <a:avLst/>
          </a:prstGeom>
          <a:solidFill>
            <a:srgbClr val="142E42"/>
          </a:solidFill>
          <a:ln>
            <a:noFill/>
          </a:ln>
          <a:effectLst/>
        </p:spPr>
        <p:txBody>
          <a:bodyPr rtlCol="0" anchor="ctr"/>
          <a:lstStyle/>
          <a:p>
            <a:pPr algn="ctr"/>
          </a:p>
        </p:txBody>
      </p:sp>
      <p:sp>
        <p:nvSpPr>
          <p:cNvPr id="11" name="TextBox 10"/>
          <p:cNvSpPr txBox="1"/>
          <p:nvPr/>
        </p:nvSpPr>
        <p:spPr>
          <a:xfrm>
            <a:off x="3426382" y="2081783"/>
            <a:ext cx="2240868" cy="363220"/>
          </a:xfrm>
          <a:prstGeom prst="rect">
            <a:avLst/>
          </a:prstGeom>
          <a:noFill/>
        </p:spPr>
        <p:txBody>
          <a:bodyPr wrap="square" lIns="0" rIns="0" tIns="0" bIns="0" anchor="ctr">
            <a:spAutoFit/>
          </a:bodyPr>
          <a:lstStyle/>
          <a:p>
            <a:pPr>
              <a:spcAft>
                <a:spcPts val="300"/>
              </a:spcAft>
              <a:defRPr sz="1300" b="1">
                <a:solidFill>
                  <a:srgbClr val="FFFFFF"/>
                </a:solidFill>
                <a:latin typeface="Aptos"/>
              </a:defRPr>
            </a:pPr>
            <a:r>
              <a:t>Examples</a:t>
            </a:r>
          </a:p>
        </p:txBody>
      </p:sp>
      <p:sp>
        <p:nvSpPr>
          <p:cNvPr id="12" name="Rectangle 11"/>
          <p:cNvSpPr/>
          <p:nvPr/>
        </p:nvSpPr>
        <p:spPr>
          <a:xfrm>
            <a:off x="5804410" y="2081783"/>
            <a:ext cx="5811212" cy="363220"/>
          </a:xfrm>
          <a:prstGeom prst="rect">
            <a:avLst/>
          </a:prstGeom>
          <a:solidFill>
            <a:srgbClr val="142E42"/>
          </a:solidFill>
          <a:ln>
            <a:noFill/>
          </a:ln>
          <a:effectLst/>
        </p:spPr>
        <p:txBody>
          <a:bodyPr rtlCol="0" anchor="ctr"/>
          <a:lstStyle/>
          <a:p>
            <a:pPr algn="ctr"/>
          </a:p>
        </p:txBody>
      </p:sp>
      <p:sp>
        <p:nvSpPr>
          <p:cNvPr id="13" name="TextBox 12"/>
          <p:cNvSpPr txBox="1"/>
          <p:nvPr/>
        </p:nvSpPr>
        <p:spPr>
          <a:xfrm>
            <a:off x="5914138" y="2081783"/>
            <a:ext cx="5591756" cy="363220"/>
          </a:xfrm>
          <a:prstGeom prst="rect">
            <a:avLst/>
          </a:prstGeom>
          <a:noFill/>
        </p:spPr>
        <p:txBody>
          <a:bodyPr wrap="square" lIns="0" rIns="0" tIns="0" bIns="0" anchor="ctr">
            <a:spAutoFit/>
          </a:bodyPr>
          <a:lstStyle/>
          <a:p>
            <a:pPr>
              <a:spcAft>
                <a:spcPts val="300"/>
              </a:spcAft>
              <a:defRPr sz="1300" b="1">
                <a:solidFill>
                  <a:srgbClr val="FFFFFF"/>
                </a:solidFill>
                <a:latin typeface="Aptos"/>
              </a:defRPr>
            </a:pPr>
            <a:r>
              <a:t>What it brings to the workflow</a:t>
            </a:r>
          </a:p>
        </p:txBody>
      </p:sp>
      <p:sp>
        <p:nvSpPr>
          <p:cNvPr id="14" name="Rectangle 13"/>
          <p:cNvSpPr/>
          <p:nvPr/>
        </p:nvSpPr>
        <p:spPr>
          <a:xfrm>
            <a:off x="548640" y="2472436"/>
            <a:ext cx="2740582" cy="539496"/>
          </a:xfrm>
          <a:prstGeom prst="rect">
            <a:avLst/>
          </a:prstGeom>
          <a:solidFill>
            <a:srgbClr val="EFF4F6"/>
          </a:solidFill>
          <a:ln>
            <a:noFill/>
          </a:ln>
          <a:effectLst/>
        </p:spPr>
        <p:txBody>
          <a:bodyPr rtlCol="0" anchor="ctr"/>
          <a:lstStyle/>
          <a:p>
            <a:pPr algn="ctr"/>
          </a:p>
        </p:txBody>
      </p:sp>
      <p:sp>
        <p:nvSpPr>
          <p:cNvPr id="15" name="TextBox 14"/>
          <p:cNvSpPr txBox="1"/>
          <p:nvPr/>
        </p:nvSpPr>
        <p:spPr>
          <a:xfrm>
            <a:off x="658368" y="2472436"/>
            <a:ext cx="2521126" cy="539496"/>
          </a:xfrm>
          <a:prstGeom prst="rect">
            <a:avLst/>
          </a:prstGeom>
          <a:noFill/>
        </p:spPr>
        <p:txBody>
          <a:bodyPr wrap="square" lIns="0" rIns="0" tIns="0" bIns="0" anchor="ctr">
            <a:spAutoFit/>
          </a:bodyPr>
          <a:lstStyle/>
          <a:p>
            <a:pPr>
              <a:spcAft>
                <a:spcPts val="300"/>
              </a:spcAft>
              <a:defRPr sz="1500" b="1">
                <a:solidFill>
                  <a:srgbClr val="233B4D"/>
                </a:solidFill>
                <a:latin typeface="Aptos"/>
              </a:defRPr>
            </a:pPr>
            <a:r>
              <a:t>Service management</a:t>
            </a:r>
          </a:p>
        </p:txBody>
      </p:sp>
      <p:sp>
        <p:nvSpPr>
          <p:cNvPr id="16" name="Rectangle 15"/>
          <p:cNvSpPr/>
          <p:nvPr/>
        </p:nvSpPr>
        <p:spPr>
          <a:xfrm>
            <a:off x="3316654" y="2472436"/>
            <a:ext cx="2460324" cy="539496"/>
          </a:xfrm>
          <a:prstGeom prst="rect">
            <a:avLst/>
          </a:prstGeom>
          <a:solidFill>
            <a:srgbClr val="EFF4F6"/>
          </a:solidFill>
          <a:ln>
            <a:noFill/>
          </a:ln>
          <a:effectLst/>
        </p:spPr>
        <p:txBody>
          <a:bodyPr rtlCol="0" anchor="ctr"/>
          <a:lstStyle/>
          <a:p>
            <a:pPr algn="ctr"/>
          </a:p>
        </p:txBody>
      </p:sp>
      <p:sp>
        <p:nvSpPr>
          <p:cNvPr id="17" name="TextBox 16"/>
          <p:cNvSpPr txBox="1"/>
          <p:nvPr/>
        </p:nvSpPr>
        <p:spPr>
          <a:xfrm>
            <a:off x="3426382" y="2472436"/>
            <a:ext cx="2240868" cy="539496"/>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ServiceNow</a:t>
            </a:r>
          </a:p>
        </p:txBody>
      </p:sp>
      <p:sp>
        <p:nvSpPr>
          <p:cNvPr id="18" name="Rectangle 17"/>
          <p:cNvSpPr/>
          <p:nvPr/>
        </p:nvSpPr>
        <p:spPr>
          <a:xfrm>
            <a:off x="5804410" y="2472436"/>
            <a:ext cx="5811212" cy="539496"/>
          </a:xfrm>
          <a:prstGeom prst="rect">
            <a:avLst/>
          </a:prstGeom>
          <a:solidFill>
            <a:srgbClr val="EFF4F6"/>
          </a:solidFill>
          <a:ln>
            <a:noFill/>
          </a:ln>
          <a:effectLst/>
        </p:spPr>
        <p:txBody>
          <a:bodyPr rtlCol="0" anchor="ctr"/>
          <a:lstStyle/>
          <a:p>
            <a:pPr algn="ctr"/>
          </a:p>
        </p:txBody>
      </p:sp>
      <p:sp>
        <p:nvSpPr>
          <p:cNvPr id="19" name="TextBox 18"/>
          <p:cNvSpPr txBox="1"/>
          <p:nvPr/>
        </p:nvSpPr>
        <p:spPr>
          <a:xfrm>
            <a:off x="5914138" y="2472436"/>
            <a:ext cx="5591756" cy="539496"/>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Tickets, ownership, process; the broadest coverage</a:t>
            </a:r>
          </a:p>
        </p:txBody>
      </p:sp>
      <p:sp>
        <p:nvSpPr>
          <p:cNvPr id="20" name="Rectangle 19"/>
          <p:cNvSpPr/>
          <p:nvPr/>
        </p:nvSpPr>
        <p:spPr>
          <a:xfrm>
            <a:off x="548640" y="3039364"/>
            <a:ext cx="2740582" cy="539496"/>
          </a:xfrm>
          <a:prstGeom prst="rect">
            <a:avLst/>
          </a:prstGeom>
          <a:solidFill>
            <a:srgbClr val="F8FAFB"/>
          </a:solidFill>
          <a:ln>
            <a:noFill/>
          </a:ln>
          <a:effectLst/>
        </p:spPr>
        <p:txBody>
          <a:bodyPr rtlCol="0" anchor="ctr"/>
          <a:lstStyle/>
          <a:p>
            <a:pPr algn="ctr"/>
          </a:p>
        </p:txBody>
      </p:sp>
      <p:sp>
        <p:nvSpPr>
          <p:cNvPr id="21" name="TextBox 20"/>
          <p:cNvSpPr txBox="1"/>
          <p:nvPr/>
        </p:nvSpPr>
        <p:spPr>
          <a:xfrm>
            <a:off x="658368" y="3039364"/>
            <a:ext cx="2521126" cy="539496"/>
          </a:xfrm>
          <a:prstGeom prst="rect">
            <a:avLst/>
          </a:prstGeom>
          <a:noFill/>
        </p:spPr>
        <p:txBody>
          <a:bodyPr wrap="square" lIns="0" rIns="0" tIns="0" bIns="0" anchor="ctr">
            <a:spAutoFit/>
          </a:bodyPr>
          <a:lstStyle/>
          <a:p>
            <a:pPr>
              <a:spcAft>
                <a:spcPts val="300"/>
              </a:spcAft>
              <a:defRPr sz="1500" b="1">
                <a:solidFill>
                  <a:srgbClr val="233B4D"/>
                </a:solidFill>
                <a:latin typeface="Aptos"/>
              </a:defRPr>
            </a:pPr>
            <a:r>
              <a:t>Observability</a:t>
            </a:r>
          </a:p>
        </p:txBody>
      </p:sp>
      <p:sp>
        <p:nvSpPr>
          <p:cNvPr id="22" name="Rectangle 21"/>
          <p:cNvSpPr/>
          <p:nvPr/>
        </p:nvSpPr>
        <p:spPr>
          <a:xfrm>
            <a:off x="3316654" y="3039364"/>
            <a:ext cx="2460324" cy="539496"/>
          </a:xfrm>
          <a:prstGeom prst="rect">
            <a:avLst/>
          </a:prstGeom>
          <a:solidFill>
            <a:srgbClr val="F8FAFB"/>
          </a:solidFill>
          <a:ln>
            <a:noFill/>
          </a:ln>
          <a:effectLst/>
        </p:spPr>
        <p:txBody>
          <a:bodyPr rtlCol="0" anchor="ctr"/>
          <a:lstStyle/>
          <a:p>
            <a:pPr algn="ctr"/>
          </a:p>
        </p:txBody>
      </p:sp>
      <p:sp>
        <p:nvSpPr>
          <p:cNvPr id="23" name="TextBox 22"/>
          <p:cNvSpPr txBox="1"/>
          <p:nvPr/>
        </p:nvSpPr>
        <p:spPr>
          <a:xfrm>
            <a:off x="3426382" y="3039364"/>
            <a:ext cx="2240868" cy="539496"/>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Dynatrace; Datadog</a:t>
            </a:r>
          </a:p>
        </p:txBody>
      </p:sp>
      <p:sp>
        <p:nvSpPr>
          <p:cNvPr id="24" name="Rectangle 23"/>
          <p:cNvSpPr/>
          <p:nvPr/>
        </p:nvSpPr>
        <p:spPr>
          <a:xfrm>
            <a:off x="5804410" y="3039364"/>
            <a:ext cx="5811212" cy="539496"/>
          </a:xfrm>
          <a:prstGeom prst="rect">
            <a:avLst/>
          </a:prstGeom>
          <a:solidFill>
            <a:srgbClr val="F8FAFB"/>
          </a:solidFill>
          <a:ln>
            <a:noFill/>
          </a:ln>
          <a:effectLst/>
        </p:spPr>
        <p:txBody>
          <a:bodyPr rtlCol="0" anchor="ctr"/>
          <a:lstStyle/>
          <a:p>
            <a:pPr algn="ctr"/>
          </a:p>
        </p:txBody>
      </p:sp>
      <p:sp>
        <p:nvSpPr>
          <p:cNvPr id="25" name="TextBox 24"/>
          <p:cNvSpPr txBox="1"/>
          <p:nvPr/>
        </p:nvSpPr>
        <p:spPr>
          <a:xfrm>
            <a:off x="5914138" y="3039364"/>
            <a:ext cx="5591756" cy="539496"/>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Signals, topology, service context</a:t>
            </a:r>
          </a:p>
        </p:txBody>
      </p:sp>
      <p:sp>
        <p:nvSpPr>
          <p:cNvPr id="26" name="Rectangle 25"/>
          <p:cNvSpPr/>
          <p:nvPr/>
        </p:nvSpPr>
        <p:spPr>
          <a:xfrm>
            <a:off x="548640" y="3606292"/>
            <a:ext cx="2740582" cy="539496"/>
          </a:xfrm>
          <a:prstGeom prst="rect">
            <a:avLst/>
          </a:prstGeom>
          <a:solidFill>
            <a:srgbClr val="EFF4F6"/>
          </a:solidFill>
          <a:ln>
            <a:noFill/>
          </a:ln>
          <a:effectLst/>
        </p:spPr>
        <p:txBody>
          <a:bodyPr rtlCol="0" anchor="ctr"/>
          <a:lstStyle/>
          <a:p>
            <a:pPr algn="ctr"/>
          </a:p>
        </p:txBody>
      </p:sp>
      <p:sp>
        <p:nvSpPr>
          <p:cNvPr id="27" name="TextBox 26"/>
          <p:cNvSpPr txBox="1"/>
          <p:nvPr/>
        </p:nvSpPr>
        <p:spPr>
          <a:xfrm>
            <a:off x="658368" y="3606292"/>
            <a:ext cx="2521126" cy="539496"/>
          </a:xfrm>
          <a:prstGeom prst="rect">
            <a:avLst/>
          </a:prstGeom>
          <a:noFill/>
        </p:spPr>
        <p:txBody>
          <a:bodyPr wrap="square" lIns="0" rIns="0" tIns="0" bIns="0" anchor="ctr">
            <a:spAutoFit/>
          </a:bodyPr>
          <a:lstStyle/>
          <a:p>
            <a:pPr>
              <a:spcAft>
                <a:spcPts val="300"/>
              </a:spcAft>
              <a:defRPr sz="1500" b="1">
                <a:solidFill>
                  <a:srgbClr val="233B4D"/>
                </a:solidFill>
                <a:latin typeface="Aptos"/>
              </a:defRPr>
            </a:pPr>
            <a:r>
              <a:t>Cloud operations</a:t>
            </a:r>
          </a:p>
        </p:txBody>
      </p:sp>
      <p:sp>
        <p:nvSpPr>
          <p:cNvPr id="28" name="Rectangle 27"/>
          <p:cNvSpPr/>
          <p:nvPr/>
        </p:nvSpPr>
        <p:spPr>
          <a:xfrm>
            <a:off x="3316654" y="3606292"/>
            <a:ext cx="2460324" cy="539496"/>
          </a:xfrm>
          <a:prstGeom prst="rect">
            <a:avLst/>
          </a:prstGeom>
          <a:solidFill>
            <a:srgbClr val="EFF4F6"/>
          </a:solidFill>
          <a:ln>
            <a:noFill/>
          </a:ln>
          <a:effectLst/>
        </p:spPr>
        <p:txBody>
          <a:bodyPr rtlCol="0" anchor="ctr"/>
          <a:lstStyle/>
          <a:p>
            <a:pPr algn="ctr"/>
          </a:p>
        </p:txBody>
      </p:sp>
      <p:sp>
        <p:nvSpPr>
          <p:cNvPr id="29" name="TextBox 28"/>
          <p:cNvSpPr txBox="1"/>
          <p:nvPr/>
        </p:nvSpPr>
        <p:spPr>
          <a:xfrm>
            <a:off x="3426382" y="3606292"/>
            <a:ext cx="2240868" cy="539496"/>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AWS DevOps Agent</a:t>
            </a:r>
          </a:p>
        </p:txBody>
      </p:sp>
      <p:sp>
        <p:nvSpPr>
          <p:cNvPr id="30" name="Rectangle 29"/>
          <p:cNvSpPr/>
          <p:nvPr/>
        </p:nvSpPr>
        <p:spPr>
          <a:xfrm>
            <a:off x="5804410" y="3606292"/>
            <a:ext cx="5811212" cy="539496"/>
          </a:xfrm>
          <a:prstGeom prst="rect">
            <a:avLst/>
          </a:prstGeom>
          <a:solidFill>
            <a:srgbClr val="EFF4F6"/>
          </a:solidFill>
          <a:ln>
            <a:noFill/>
          </a:ln>
          <a:effectLst/>
        </p:spPr>
        <p:txBody>
          <a:bodyPr rtlCol="0" anchor="ctr"/>
          <a:lstStyle/>
          <a:p>
            <a:pPr algn="ctr"/>
          </a:p>
        </p:txBody>
      </p:sp>
      <p:sp>
        <p:nvSpPr>
          <p:cNvPr id="31" name="TextBox 30"/>
          <p:cNvSpPr txBox="1"/>
          <p:nvPr/>
        </p:nvSpPr>
        <p:spPr>
          <a:xfrm>
            <a:off x="5914138" y="3606292"/>
            <a:ext cx="5591756" cy="539496"/>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Infrastructure and cloud context</a:t>
            </a:r>
          </a:p>
        </p:txBody>
      </p:sp>
      <p:sp>
        <p:nvSpPr>
          <p:cNvPr id="32" name="Rectangle 31"/>
          <p:cNvSpPr/>
          <p:nvPr/>
        </p:nvSpPr>
        <p:spPr>
          <a:xfrm>
            <a:off x="548640" y="4173220"/>
            <a:ext cx="2740582" cy="539496"/>
          </a:xfrm>
          <a:prstGeom prst="rect">
            <a:avLst/>
          </a:prstGeom>
          <a:solidFill>
            <a:srgbClr val="F8FAFB"/>
          </a:solidFill>
          <a:ln>
            <a:noFill/>
          </a:ln>
          <a:effectLst/>
        </p:spPr>
        <p:txBody>
          <a:bodyPr rtlCol="0" anchor="ctr"/>
          <a:lstStyle/>
          <a:p>
            <a:pPr algn="ctr"/>
          </a:p>
        </p:txBody>
      </p:sp>
      <p:sp>
        <p:nvSpPr>
          <p:cNvPr id="33" name="TextBox 32"/>
          <p:cNvSpPr txBox="1"/>
          <p:nvPr/>
        </p:nvSpPr>
        <p:spPr>
          <a:xfrm>
            <a:off x="658368" y="4173220"/>
            <a:ext cx="2521126" cy="539496"/>
          </a:xfrm>
          <a:prstGeom prst="rect">
            <a:avLst/>
          </a:prstGeom>
          <a:noFill/>
        </p:spPr>
        <p:txBody>
          <a:bodyPr wrap="square" lIns="0" rIns="0" tIns="0" bIns="0" anchor="ctr">
            <a:spAutoFit/>
          </a:bodyPr>
          <a:lstStyle/>
          <a:p>
            <a:pPr>
              <a:spcAft>
                <a:spcPts val="300"/>
              </a:spcAft>
              <a:defRPr sz="1500" b="1">
                <a:solidFill>
                  <a:srgbClr val="233B4D"/>
                </a:solidFill>
                <a:latin typeface="Aptos"/>
              </a:defRPr>
            </a:pPr>
            <a:r>
              <a:t>Specialist AI SRE</a:t>
            </a:r>
          </a:p>
        </p:txBody>
      </p:sp>
      <p:sp>
        <p:nvSpPr>
          <p:cNvPr id="34" name="Rectangle 33"/>
          <p:cNvSpPr/>
          <p:nvPr/>
        </p:nvSpPr>
        <p:spPr>
          <a:xfrm>
            <a:off x="3316654" y="4173220"/>
            <a:ext cx="2460324" cy="539496"/>
          </a:xfrm>
          <a:prstGeom prst="rect">
            <a:avLst/>
          </a:prstGeom>
          <a:solidFill>
            <a:srgbClr val="F8FAFB"/>
          </a:solidFill>
          <a:ln>
            <a:noFill/>
          </a:ln>
          <a:effectLst/>
        </p:spPr>
        <p:txBody>
          <a:bodyPr rtlCol="0" anchor="ctr"/>
          <a:lstStyle/>
          <a:p>
            <a:pPr algn="ctr"/>
          </a:p>
        </p:txBody>
      </p:sp>
      <p:sp>
        <p:nvSpPr>
          <p:cNvPr id="35" name="TextBox 34"/>
          <p:cNvSpPr txBox="1"/>
          <p:nvPr/>
        </p:nvSpPr>
        <p:spPr>
          <a:xfrm>
            <a:off x="3426382" y="4173220"/>
            <a:ext cx="2240868" cy="539496"/>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Resolve AI</a:t>
            </a:r>
          </a:p>
        </p:txBody>
      </p:sp>
      <p:sp>
        <p:nvSpPr>
          <p:cNvPr id="36" name="Rectangle 35"/>
          <p:cNvSpPr/>
          <p:nvPr/>
        </p:nvSpPr>
        <p:spPr>
          <a:xfrm>
            <a:off x="5804410" y="4173220"/>
            <a:ext cx="5811212" cy="539496"/>
          </a:xfrm>
          <a:prstGeom prst="rect">
            <a:avLst/>
          </a:prstGeom>
          <a:solidFill>
            <a:srgbClr val="F8FAFB"/>
          </a:solidFill>
          <a:ln>
            <a:noFill/>
          </a:ln>
          <a:effectLst/>
        </p:spPr>
        <p:txBody>
          <a:bodyPr rtlCol="0" anchor="ctr"/>
          <a:lstStyle/>
          <a:p>
            <a:pPr algn="ctr"/>
          </a:p>
        </p:txBody>
      </p:sp>
      <p:sp>
        <p:nvSpPr>
          <p:cNvPr id="37" name="TextBox 36"/>
          <p:cNvSpPr txBox="1"/>
          <p:nvPr/>
        </p:nvSpPr>
        <p:spPr>
          <a:xfrm>
            <a:off x="5914138" y="4173220"/>
            <a:ext cx="5591756" cy="539496"/>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Investigation and on-call work</a:t>
            </a:r>
          </a:p>
        </p:txBody>
      </p:sp>
      <p:sp>
        <p:nvSpPr>
          <p:cNvPr id="38" name="Rectangle 37"/>
          <p:cNvSpPr/>
          <p:nvPr/>
        </p:nvSpPr>
        <p:spPr>
          <a:xfrm>
            <a:off x="548640" y="4923028"/>
            <a:ext cx="11094415" cy="749300"/>
          </a:xfrm>
          <a:prstGeom prst="rect">
            <a:avLst/>
          </a:prstGeom>
          <a:solidFill>
            <a:srgbClr val="142E42"/>
          </a:solidFill>
          <a:ln>
            <a:noFill/>
          </a:ln>
          <a:effectLst/>
        </p:spPr>
        <p:txBody>
          <a:bodyPr rtlCol="0" anchor="ctr"/>
          <a:lstStyle/>
          <a:p>
            <a:pPr algn="ctr"/>
          </a:p>
        </p:txBody>
      </p:sp>
      <p:sp>
        <p:nvSpPr>
          <p:cNvPr id="39" name="TextBox 38"/>
          <p:cNvSpPr txBox="1"/>
          <p:nvPr/>
        </p:nvSpPr>
        <p:spPr>
          <a:xfrm>
            <a:off x="777240" y="4923028"/>
            <a:ext cx="10637215" cy="749300"/>
          </a:xfrm>
          <a:prstGeom prst="rect">
            <a:avLst/>
          </a:prstGeom>
          <a:noFill/>
        </p:spPr>
        <p:txBody>
          <a:bodyPr wrap="square" lIns="0" rIns="0" tIns="0" bIns="0" anchor="ctr">
            <a:spAutoFit/>
          </a:bodyPr>
          <a:lstStyle/>
          <a:p>
            <a:pPr>
              <a:spcAft>
                <a:spcPts val="300"/>
              </a:spcAft>
              <a:defRPr sz="1400" b="1">
                <a:solidFill>
                  <a:srgbClr val="FFFFFF"/>
                </a:solidFill>
                <a:latin typeface="Aptos"/>
              </a:defRPr>
            </a:pPr>
            <a:r>
              <a:t>ServiceNow covers the most of the cycle, but it can be expensive and slow to customise - which is where lighter, specialised components earn a place.</a:t>
            </a:r>
          </a:p>
        </p:txBody>
      </p:sp>
      <p:sp>
        <p:nvSpPr>
          <p:cNvPr id="40" name="Rectangle 39"/>
          <p:cNvSpPr/>
          <p:nvPr/>
        </p:nvSpPr>
        <p:spPr>
          <a:xfrm>
            <a:off x="548640" y="6309360"/>
            <a:ext cx="11094415" cy="10972"/>
          </a:xfrm>
          <a:prstGeom prst="rect">
            <a:avLst/>
          </a:prstGeom>
          <a:solidFill>
            <a:srgbClr val="CCD7DD"/>
          </a:solidFill>
          <a:ln>
            <a:noFill/>
          </a:ln>
          <a:effectLst/>
        </p:spPr>
        <p:txBody>
          <a:bodyPr rtlCol="0" anchor="ctr"/>
          <a:lstStyle/>
          <a:p>
            <a:pPr algn="ctr"/>
          </a:p>
        </p:txBody>
      </p:sp>
      <p:sp>
        <p:nvSpPr>
          <p:cNvPr id="41" name="TextBox 40"/>
          <p:cNvSpPr txBox="1"/>
          <p:nvPr/>
        </p:nvSpPr>
        <p:spPr>
          <a:xfrm>
            <a:off x="548640" y="6400800"/>
            <a:ext cx="4572000" cy="201168"/>
          </a:xfrm>
          <a:prstGeom prst="rect">
            <a:avLst/>
          </a:prstGeom>
          <a:noFill/>
        </p:spPr>
        <p:txBody>
          <a:bodyPr wrap="square" lIns="0" rIns="0" tIns="0" bIns="0">
            <a:spAutoFit/>
          </a:bodyPr>
          <a:lstStyle/>
          <a:p>
            <a:pPr>
              <a:spcAft>
                <a:spcPts val="300"/>
              </a:spcAft>
              <a:defRPr sz="900" b="0">
                <a:solidFill>
                  <a:srgbClr val="596A76"/>
                </a:solidFill>
                <a:latin typeface="Aptos"/>
              </a:defRPr>
            </a:pPr>
            <a:r>
              <a:t>For discussion · October 2026</a:t>
            </a:r>
          </a:p>
        </p:txBody>
      </p:sp>
      <p:sp>
        <p:nvSpPr>
          <p:cNvPr id="42" name="TextBox 41"/>
          <p:cNvSpPr txBox="1"/>
          <p:nvPr/>
        </p:nvSpPr>
        <p:spPr>
          <a:xfrm>
            <a:off x="10929480" y="6400800"/>
            <a:ext cx="164934" cy="201168"/>
          </a:xfrm>
          <a:prstGeom prst="rect">
            <a:avLst/>
          </a:prstGeom>
          <a:noFill/>
        </p:spPr>
        <p:txBody>
          <a:bodyPr wrap="square" lIns="0" rIns="0" tIns="0" bIns="0">
            <a:spAutoFit/>
          </a:bodyPr>
          <a:lstStyle/>
          <a:p>
            <a:pPr>
              <a:spcAft>
                <a:spcPts val="300"/>
              </a:spcAft>
              <a:defRPr sz="900" b="1">
                <a:solidFill>
                  <a:srgbClr val="007F82"/>
                </a:solidFill>
                <a:latin typeface="Aptos"/>
              </a:defRPr>
            </a:pPr>
            <a:r>
              <a:rPr>
                <a:hlinkClick r:id="rId3"/>
              </a:rPr>
              <a:t>S5</a:t>
            </a:r>
          </a:p>
        </p:txBody>
      </p:sp>
      <p:sp>
        <p:nvSpPr>
          <p:cNvPr id="43" name="TextBox 42"/>
          <p:cNvSpPr txBox="1"/>
          <p:nvPr/>
        </p:nvSpPr>
        <p:spPr>
          <a:xfrm>
            <a:off x="10783176" y="6400800"/>
            <a:ext cx="91440" cy="201168"/>
          </a:xfrm>
          <a:prstGeom prst="rect">
            <a:avLst/>
          </a:prstGeom>
          <a:noFill/>
        </p:spPr>
        <p:txBody>
          <a:bodyPr wrap="square" lIns="0" rIns="0" tIns="0" bIns="0">
            <a:spAutoFit/>
          </a:bodyPr>
          <a:lstStyle/>
          <a:p>
            <a:pPr algn="ctr">
              <a:spcAft>
                <a:spcPts val="300"/>
              </a:spcAft>
              <a:defRPr sz="900" b="0">
                <a:solidFill>
                  <a:srgbClr val="596A76"/>
                </a:solidFill>
                <a:latin typeface="Aptos"/>
              </a:defRPr>
            </a:pPr>
            <a:r>
              <a:t>·</a:t>
            </a:r>
          </a:p>
        </p:txBody>
      </p:sp>
      <p:sp>
        <p:nvSpPr>
          <p:cNvPr id="44" name="TextBox 43"/>
          <p:cNvSpPr txBox="1"/>
          <p:nvPr/>
        </p:nvSpPr>
        <p:spPr>
          <a:xfrm>
            <a:off x="10618241" y="6400800"/>
            <a:ext cx="164934" cy="201168"/>
          </a:xfrm>
          <a:prstGeom prst="rect">
            <a:avLst/>
          </a:prstGeom>
          <a:noFill/>
        </p:spPr>
        <p:txBody>
          <a:bodyPr wrap="square" lIns="0" rIns="0" tIns="0" bIns="0">
            <a:spAutoFit/>
          </a:bodyPr>
          <a:lstStyle/>
          <a:p>
            <a:pPr>
              <a:spcAft>
                <a:spcPts val="300"/>
              </a:spcAft>
              <a:defRPr sz="900" b="1">
                <a:solidFill>
                  <a:srgbClr val="007F82"/>
                </a:solidFill>
                <a:latin typeface="Aptos"/>
              </a:defRPr>
            </a:pPr>
            <a:r>
              <a:rPr>
                <a:hlinkClick r:id="rId4"/>
              </a:rPr>
              <a:t>S4</a:t>
            </a:r>
          </a:p>
        </p:txBody>
      </p:sp>
      <p:sp>
        <p:nvSpPr>
          <p:cNvPr id="45" name="TextBox 44"/>
          <p:cNvSpPr txBox="1"/>
          <p:nvPr/>
        </p:nvSpPr>
        <p:spPr>
          <a:xfrm>
            <a:off x="10471937" y="6400800"/>
            <a:ext cx="91440" cy="201168"/>
          </a:xfrm>
          <a:prstGeom prst="rect">
            <a:avLst/>
          </a:prstGeom>
          <a:noFill/>
        </p:spPr>
        <p:txBody>
          <a:bodyPr wrap="square" lIns="0" rIns="0" tIns="0" bIns="0">
            <a:spAutoFit/>
          </a:bodyPr>
          <a:lstStyle/>
          <a:p>
            <a:pPr algn="ctr">
              <a:spcAft>
                <a:spcPts val="300"/>
              </a:spcAft>
              <a:defRPr sz="900" b="0">
                <a:solidFill>
                  <a:srgbClr val="596A76"/>
                </a:solidFill>
                <a:latin typeface="Aptos"/>
              </a:defRPr>
            </a:pPr>
            <a:r>
              <a:t>·</a:t>
            </a:r>
          </a:p>
        </p:txBody>
      </p:sp>
      <p:sp>
        <p:nvSpPr>
          <p:cNvPr id="46" name="TextBox 45"/>
          <p:cNvSpPr txBox="1"/>
          <p:nvPr/>
        </p:nvSpPr>
        <p:spPr>
          <a:xfrm>
            <a:off x="10307002" y="6400800"/>
            <a:ext cx="164934" cy="201168"/>
          </a:xfrm>
          <a:prstGeom prst="rect">
            <a:avLst/>
          </a:prstGeom>
          <a:noFill/>
        </p:spPr>
        <p:txBody>
          <a:bodyPr wrap="square" lIns="0" rIns="0" tIns="0" bIns="0">
            <a:spAutoFit/>
          </a:bodyPr>
          <a:lstStyle/>
          <a:p>
            <a:pPr>
              <a:spcAft>
                <a:spcPts val="300"/>
              </a:spcAft>
              <a:defRPr sz="900" b="1">
                <a:solidFill>
                  <a:srgbClr val="007F82"/>
                </a:solidFill>
                <a:latin typeface="Aptos"/>
              </a:defRPr>
            </a:pPr>
            <a:r>
              <a:rPr>
                <a:hlinkClick r:id="rId5"/>
              </a:rPr>
              <a:t>S3</a:t>
            </a:r>
          </a:p>
        </p:txBody>
      </p:sp>
      <p:sp>
        <p:nvSpPr>
          <p:cNvPr id="47" name="TextBox 46"/>
          <p:cNvSpPr txBox="1"/>
          <p:nvPr/>
        </p:nvSpPr>
        <p:spPr>
          <a:xfrm>
            <a:off x="10160698" y="6400800"/>
            <a:ext cx="91440" cy="201168"/>
          </a:xfrm>
          <a:prstGeom prst="rect">
            <a:avLst/>
          </a:prstGeom>
          <a:noFill/>
        </p:spPr>
        <p:txBody>
          <a:bodyPr wrap="square" lIns="0" rIns="0" tIns="0" bIns="0">
            <a:spAutoFit/>
          </a:bodyPr>
          <a:lstStyle/>
          <a:p>
            <a:pPr algn="ctr">
              <a:spcAft>
                <a:spcPts val="300"/>
              </a:spcAft>
              <a:defRPr sz="900" b="0">
                <a:solidFill>
                  <a:srgbClr val="596A76"/>
                </a:solidFill>
                <a:latin typeface="Aptos"/>
              </a:defRPr>
            </a:pPr>
            <a:r>
              <a:t>·</a:t>
            </a:r>
          </a:p>
        </p:txBody>
      </p:sp>
      <p:sp>
        <p:nvSpPr>
          <p:cNvPr id="48" name="TextBox 47"/>
          <p:cNvSpPr txBox="1"/>
          <p:nvPr/>
        </p:nvSpPr>
        <p:spPr>
          <a:xfrm>
            <a:off x="9995763" y="6400800"/>
            <a:ext cx="164934" cy="201168"/>
          </a:xfrm>
          <a:prstGeom prst="rect">
            <a:avLst/>
          </a:prstGeom>
          <a:noFill/>
        </p:spPr>
        <p:txBody>
          <a:bodyPr wrap="square" lIns="0" rIns="0" tIns="0" bIns="0">
            <a:spAutoFit/>
          </a:bodyPr>
          <a:lstStyle/>
          <a:p>
            <a:pPr>
              <a:spcAft>
                <a:spcPts val="300"/>
              </a:spcAft>
              <a:defRPr sz="900" b="1">
                <a:solidFill>
                  <a:srgbClr val="007F82"/>
                </a:solidFill>
                <a:latin typeface="Aptos"/>
              </a:defRPr>
            </a:pPr>
            <a:r>
              <a:rPr>
                <a:hlinkClick r:id="rId6"/>
              </a:rPr>
              <a:t>S2</a:t>
            </a:r>
          </a:p>
        </p:txBody>
      </p:sp>
      <p:sp>
        <p:nvSpPr>
          <p:cNvPr id="49" name="TextBox 48"/>
          <p:cNvSpPr txBox="1"/>
          <p:nvPr/>
        </p:nvSpPr>
        <p:spPr>
          <a:xfrm>
            <a:off x="9849459" y="6400800"/>
            <a:ext cx="91440" cy="201168"/>
          </a:xfrm>
          <a:prstGeom prst="rect">
            <a:avLst/>
          </a:prstGeom>
          <a:noFill/>
        </p:spPr>
        <p:txBody>
          <a:bodyPr wrap="square" lIns="0" rIns="0" tIns="0" bIns="0">
            <a:spAutoFit/>
          </a:bodyPr>
          <a:lstStyle/>
          <a:p>
            <a:pPr algn="ctr">
              <a:spcAft>
                <a:spcPts val="300"/>
              </a:spcAft>
              <a:defRPr sz="900" b="0">
                <a:solidFill>
                  <a:srgbClr val="596A76"/>
                </a:solidFill>
                <a:latin typeface="Aptos"/>
              </a:defRPr>
            </a:pPr>
            <a:r>
              <a:t>·</a:t>
            </a:r>
          </a:p>
        </p:txBody>
      </p:sp>
      <p:sp>
        <p:nvSpPr>
          <p:cNvPr id="50" name="TextBox 49"/>
          <p:cNvSpPr txBox="1"/>
          <p:nvPr/>
        </p:nvSpPr>
        <p:spPr>
          <a:xfrm>
            <a:off x="9684524" y="6400800"/>
            <a:ext cx="164934" cy="201168"/>
          </a:xfrm>
          <a:prstGeom prst="rect">
            <a:avLst/>
          </a:prstGeom>
          <a:noFill/>
        </p:spPr>
        <p:txBody>
          <a:bodyPr wrap="square" lIns="0" rIns="0" tIns="0" bIns="0">
            <a:spAutoFit/>
          </a:bodyPr>
          <a:lstStyle/>
          <a:p>
            <a:pPr>
              <a:spcAft>
                <a:spcPts val="300"/>
              </a:spcAft>
              <a:defRPr sz="900" b="1">
                <a:solidFill>
                  <a:srgbClr val="007F82"/>
                </a:solidFill>
                <a:latin typeface="Aptos"/>
              </a:defRPr>
            </a:pPr>
            <a:r>
              <a:rPr>
                <a:hlinkClick r:id="rId7"/>
              </a:rPr>
              <a:t>S1</a:t>
            </a:r>
          </a:p>
        </p:txBody>
      </p:sp>
      <p:sp>
        <p:nvSpPr>
          <p:cNvPr id="51" name="TextBox 50"/>
          <p:cNvSpPr txBox="1"/>
          <p:nvPr/>
        </p:nvSpPr>
        <p:spPr>
          <a:xfrm>
            <a:off x="9135884" y="6400800"/>
            <a:ext cx="493776" cy="201168"/>
          </a:xfrm>
          <a:prstGeom prst="rect">
            <a:avLst/>
          </a:prstGeom>
          <a:noFill/>
        </p:spPr>
        <p:txBody>
          <a:bodyPr wrap="square" lIns="0" rIns="0" tIns="0" bIns="0">
            <a:spAutoFit/>
          </a:bodyPr>
          <a:lstStyle/>
          <a:p>
            <a:pPr algn="r">
              <a:spcAft>
                <a:spcPts val="300"/>
              </a:spcAft>
              <a:defRPr sz="900" b="0">
                <a:solidFill>
                  <a:srgbClr val="596A76"/>
                </a:solidFill>
                <a:latin typeface="Aptos"/>
              </a:defRPr>
            </a:pPr>
            <a:r>
              <a:t>Sources</a:t>
            </a:r>
          </a:p>
        </p:txBody>
      </p:sp>
      <p:sp>
        <p:nvSpPr>
          <p:cNvPr id="52" name="TextBox 51"/>
          <p:cNvSpPr txBox="1"/>
          <p:nvPr/>
        </p:nvSpPr>
        <p:spPr>
          <a:xfrm>
            <a:off x="11185855" y="6400800"/>
            <a:ext cx="457200" cy="201168"/>
          </a:xfrm>
          <a:prstGeom prst="rect">
            <a:avLst/>
          </a:prstGeom>
          <a:noFill/>
        </p:spPr>
        <p:txBody>
          <a:bodyPr wrap="square" lIns="0" rIns="0" tIns="0" bIns="0">
            <a:spAutoFit/>
          </a:bodyPr>
          <a:lstStyle/>
          <a:p>
            <a:pPr algn="r">
              <a:spcAft>
                <a:spcPts val="300"/>
              </a:spcAft>
              <a:defRPr sz="900" b="0">
                <a:solidFill>
                  <a:srgbClr val="596A76"/>
                </a:solidFill>
                <a:latin typeface="Aptos"/>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7F82"/>
          </a:solidFill>
          <a:ln>
            <a:noFill/>
          </a:ln>
          <a:effectLst/>
        </p:spPr>
        <p:txBody>
          <a:bodyPr rtlCol="0" anchor="ctr"/>
          <a:lstStyle/>
          <a:p>
            <a:pPr algn="ctr"/>
          </a:p>
        </p:txBody>
      </p:sp>
      <p:sp>
        <p:nvSpPr>
          <p:cNvPr id="3" name="TextBox 2"/>
          <p:cNvSpPr txBox="1"/>
          <p:nvPr/>
        </p:nvSpPr>
        <p:spPr>
          <a:xfrm>
            <a:off x="548640" y="310896"/>
            <a:ext cx="9144000" cy="201168"/>
          </a:xfrm>
          <a:prstGeom prst="rect">
            <a:avLst/>
          </a:prstGeom>
          <a:noFill/>
        </p:spPr>
        <p:txBody>
          <a:bodyPr wrap="square" lIns="0" rIns="0" tIns="0" bIns="0">
            <a:spAutoFit/>
          </a:bodyPr>
          <a:lstStyle/>
          <a:p>
            <a:pPr>
              <a:spcAft>
                <a:spcPts val="300"/>
              </a:spcAft>
              <a:defRPr sz="1000" b="1">
                <a:solidFill>
                  <a:srgbClr val="007F82"/>
                </a:solidFill>
                <a:latin typeface="Aptos"/>
              </a:defRPr>
            </a:pPr>
            <a:r>
              <a:t>THE GAP</a:t>
            </a:r>
          </a:p>
        </p:txBody>
      </p:sp>
      <p:sp>
        <p:nvSpPr>
          <p:cNvPr id="4" name="TextBox 3"/>
          <p:cNvSpPr txBox="1"/>
          <p:nvPr/>
        </p:nvSpPr>
        <p:spPr>
          <a:xfrm>
            <a:off x="548640" y="566928"/>
            <a:ext cx="10149840" cy="850899"/>
          </a:xfrm>
          <a:prstGeom prst="rect">
            <a:avLst/>
          </a:prstGeom>
          <a:noFill/>
        </p:spPr>
        <p:txBody>
          <a:bodyPr wrap="square" lIns="0" rIns="0" tIns="0" bIns="0">
            <a:spAutoFit/>
          </a:bodyPr>
          <a:lstStyle/>
          <a:p>
            <a:pPr>
              <a:spcAft>
                <a:spcPts val="300"/>
              </a:spcAft>
              <a:defRPr sz="2500" b="1">
                <a:solidFill>
                  <a:srgbClr val="142E42"/>
                </a:solidFill>
                <a:latin typeface="Aptos"/>
              </a:defRPr>
            </a:pPr>
            <a:r>
              <a:t>Think end to end: the cycle from Detect to Learn, and where custom components fit</a:t>
            </a:r>
          </a:p>
        </p:txBody>
      </p:sp>
      <p:sp>
        <p:nvSpPr>
          <p:cNvPr id="5" name="TextBox 4"/>
          <p:cNvSpPr txBox="1"/>
          <p:nvPr/>
        </p:nvSpPr>
        <p:spPr>
          <a:xfrm>
            <a:off x="548640" y="1454404"/>
            <a:ext cx="10149840" cy="279908"/>
          </a:xfrm>
          <a:prstGeom prst="rect">
            <a:avLst/>
          </a:prstGeom>
          <a:noFill/>
        </p:spPr>
        <p:txBody>
          <a:bodyPr wrap="square" lIns="0" rIns="0" tIns="0" bIns="0">
            <a:spAutoFit/>
          </a:bodyPr>
          <a:lstStyle/>
          <a:p>
            <a:pPr>
              <a:spcAft>
                <a:spcPts val="300"/>
              </a:spcAft>
              <a:defRPr sz="1400" b="0">
                <a:solidFill>
                  <a:srgbClr val="596A76"/>
                </a:solidFill>
                <a:latin typeface="Aptos"/>
              </a:defRPr>
            </a:pPr>
            <a:r>
              <a:t>A conceptual view of the workflow</a:t>
            </a:r>
          </a:p>
        </p:txBody>
      </p:sp>
      <p:sp>
        <p:nvSpPr>
          <p:cNvPr id="6" name="Rectangle 5"/>
          <p:cNvSpPr/>
          <p:nvPr/>
        </p:nvSpPr>
        <p:spPr>
          <a:xfrm>
            <a:off x="10929823" y="274320"/>
            <a:ext cx="713232" cy="713232"/>
          </a:xfrm>
          <a:prstGeom prst="rect">
            <a:avLst/>
          </a:prstGeom>
          <a:solidFill>
            <a:srgbClr val="EFF4F6"/>
          </a:solidFill>
          <a:ln>
            <a:noFill/>
          </a:ln>
          <a:effectLst/>
        </p:spPr>
        <p:txBody>
          <a:bodyPr rtlCol="0" anchor="ctr"/>
          <a:lstStyle/>
          <a:p>
            <a:pPr algn="ctr"/>
          </a:p>
        </p:txBody>
      </p:sp>
      <p:pic>
        <p:nvPicPr>
          <p:cNvPr id="7" name="Picture 6" descr="flow.png"/>
          <p:cNvPicPr>
            <a:picLocks noChangeAspect="1"/>
          </p:cNvPicPr>
          <p:nvPr/>
        </p:nvPicPr>
        <p:blipFill>
          <a:blip r:embed="rId2"/>
          <a:stretch>
            <a:fillRect/>
          </a:stretch>
        </p:blipFill>
        <p:spPr>
          <a:xfrm>
            <a:off x="11021263" y="365760"/>
            <a:ext cx="530352" cy="530352"/>
          </a:xfrm>
          <a:prstGeom prst="rect">
            <a:avLst/>
          </a:prstGeom>
        </p:spPr>
      </p:pic>
      <p:sp>
        <p:nvSpPr>
          <p:cNvPr id="8" name="Rectangle 7"/>
          <p:cNvSpPr/>
          <p:nvPr/>
        </p:nvSpPr>
        <p:spPr>
          <a:xfrm>
            <a:off x="548640" y="2081783"/>
            <a:ext cx="1926275" cy="1550415"/>
          </a:xfrm>
          <a:prstGeom prst="rect">
            <a:avLst/>
          </a:prstGeom>
          <a:solidFill>
            <a:srgbClr val="EFF4F6"/>
          </a:solidFill>
          <a:ln>
            <a:noFill/>
          </a:ln>
          <a:effectLst/>
        </p:spPr>
        <p:txBody>
          <a:bodyPr rtlCol="0" anchor="ctr"/>
          <a:lstStyle/>
          <a:p>
            <a:pPr algn="ctr"/>
          </a:p>
        </p:txBody>
      </p:sp>
      <p:sp>
        <p:nvSpPr>
          <p:cNvPr id="9" name="TextBox 8"/>
          <p:cNvSpPr txBox="1"/>
          <p:nvPr/>
        </p:nvSpPr>
        <p:spPr>
          <a:xfrm>
            <a:off x="731520" y="2356103"/>
            <a:ext cx="1560515" cy="366267"/>
          </a:xfrm>
          <a:prstGeom prst="rect">
            <a:avLst/>
          </a:prstGeom>
          <a:noFill/>
        </p:spPr>
        <p:txBody>
          <a:bodyPr wrap="square" lIns="0" rIns="0" tIns="0" bIns="0">
            <a:spAutoFit/>
          </a:bodyPr>
          <a:lstStyle/>
          <a:p>
            <a:pPr>
              <a:spcAft>
                <a:spcPts val="300"/>
              </a:spcAft>
              <a:defRPr sz="1900" b="1">
                <a:solidFill>
                  <a:srgbClr val="007F82"/>
                </a:solidFill>
                <a:latin typeface="Aptos"/>
              </a:defRPr>
            </a:pPr>
            <a:r>
              <a:t>Detect</a:t>
            </a:r>
          </a:p>
        </p:txBody>
      </p:sp>
      <p:sp>
        <p:nvSpPr>
          <p:cNvPr id="10" name="TextBox 9"/>
          <p:cNvSpPr txBox="1"/>
          <p:nvPr/>
        </p:nvSpPr>
        <p:spPr>
          <a:xfrm>
            <a:off x="731520" y="2832099"/>
            <a:ext cx="1560515" cy="525780"/>
          </a:xfrm>
          <a:prstGeom prst="rect">
            <a:avLst/>
          </a:prstGeom>
          <a:noFill/>
        </p:spPr>
        <p:txBody>
          <a:bodyPr wrap="square" lIns="0" rIns="0" tIns="0" bIns="0">
            <a:spAutoFit/>
          </a:bodyPr>
          <a:lstStyle/>
          <a:p>
            <a:pPr>
              <a:spcAft>
                <a:spcPts val="300"/>
              </a:spcAft>
              <a:defRPr sz="1500" b="0">
                <a:solidFill>
                  <a:srgbClr val="233B4D"/>
                </a:solidFill>
                <a:latin typeface="Aptos"/>
              </a:defRPr>
            </a:pPr>
            <a:r>
              <a:t>An alert or ticket</a:t>
            </a:r>
          </a:p>
        </p:txBody>
      </p:sp>
      <p:sp>
        <p:nvSpPr>
          <p:cNvPr id="11" name="Chevron 10"/>
          <p:cNvSpPr/>
          <p:nvPr/>
        </p:nvSpPr>
        <p:spPr>
          <a:xfrm>
            <a:off x="2593787" y="2738119"/>
            <a:ext cx="128016" cy="237744"/>
          </a:xfrm>
          <a:prstGeom prst="chevron">
            <a:avLst/>
          </a:prstGeom>
          <a:solidFill>
            <a:srgbClr val="596A76"/>
          </a:solidFill>
          <a:ln>
            <a:noFill/>
          </a:ln>
          <a:effectLst/>
        </p:spPr>
        <p:txBody>
          <a:bodyPr rtlCol="0" anchor="ctr"/>
          <a:lstStyle/>
          <a:p>
            <a:pPr algn="ctr"/>
          </a:p>
        </p:txBody>
      </p:sp>
      <p:sp>
        <p:nvSpPr>
          <p:cNvPr id="12" name="Rectangle 11"/>
          <p:cNvSpPr/>
          <p:nvPr/>
        </p:nvSpPr>
        <p:spPr>
          <a:xfrm>
            <a:off x="2840675" y="2081783"/>
            <a:ext cx="1926275" cy="1550415"/>
          </a:xfrm>
          <a:prstGeom prst="rect">
            <a:avLst/>
          </a:prstGeom>
          <a:solidFill>
            <a:srgbClr val="007F82"/>
          </a:solidFill>
          <a:ln>
            <a:noFill/>
          </a:ln>
          <a:effectLst/>
        </p:spPr>
        <p:txBody>
          <a:bodyPr rtlCol="0" anchor="ctr"/>
          <a:lstStyle/>
          <a:p>
            <a:pPr algn="ctr"/>
          </a:p>
        </p:txBody>
      </p:sp>
      <p:sp>
        <p:nvSpPr>
          <p:cNvPr id="13" name="TextBox 12"/>
          <p:cNvSpPr txBox="1"/>
          <p:nvPr/>
        </p:nvSpPr>
        <p:spPr>
          <a:xfrm>
            <a:off x="3023555" y="2356103"/>
            <a:ext cx="1560515" cy="366267"/>
          </a:xfrm>
          <a:prstGeom prst="rect">
            <a:avLst/>
          </a:prstGeom>
          <a:noFill/>
        </p:spPr>
        <p:txBody>
          <a:bodyPr wrap="square" lIns="0" rIns="0" tIns="0" bIns="0">
            <a:spAutoFit/>
          </a:bodyPr>
          <a:lstStyle/>
          <a:p>
            <a:pPr>
              <a:spcAft>
                <a:spcPts val="300"/>
              </a:spcAft>
              <a:defRPr sz="1900" b="1">
                <a:solidFill>
                  <a:srgbClr val="FFFFFF"/>
                </a:solidFill>
                <a:latin typeface="Aptos"/>
              </a:defRPr>
            </a:pPr>
            <a:r>
              <a:t>Interpret</a:t>
            </a:r>
          </a:p>
        </p:txBody>
      </p:sp>
      <p:sp>
        <p:nvSpPr>
          <p:cNvPr id="14" name="TextBox 13"/>
          <p:cNvSpPr txBox="1"/>
          <p:nvPr/>
        </p:nvSpPr>
        <p:spPr>
          <a:xfrm>
            <a:off x="3023555" y="2832099"/>
            <a:ext cx="1560515" cy="525780"/>
          </a:xfrm>
          <a:prstGeom prst="rect">
            <a:avLst/>
          </a:prstGeom>
          <a:noFill/>
        </p:spPr>
        <p:txBody>
          <a:bodyPr wrap="square" lIns="0" rIns="0" tIns="0" bIns="0">
            <a:spAutoFit/>
          </a:bodyPr>
          <a:lstStyle/>
          <a:p>
            <a:pPr>
              <a:spcAft>
                <a:spcPts val="300"/>
              </a:spcAft>
              <a:defRPr sz="1500" b="0">
                <a:solidFill>
                  <a:srgbClr val="FFFFFF"/>
                </a:solidFill>
                <a:latin typeface="Aptos"/>
              </a:defRPr>
            </a:pPr>
            <a:r>
              <a:t>What is happening?</a:t>
            </a:r>
          </a:p>
        </p:txBody>
      </p:sp>
      <p:sp>
        <p:nvSpPr>
          <p:cNvPr id="15" name="Chevron 14"/>
          <p:cNvSpPr/>
          <p:nvPr/>
        </p:nvSpPr>
        <p:spPr>
          <a:xfrm>
            <a:off x="4885822" y="2738119"/>
            <a:ext cx="128016" cy="237744"/>
          </a:xfrm>
          <a:prstGeom prst="chevron">
            <a:avLst/>
          </a:prstGeom>
          <a:solidFill>
            <a:srgbClr val="596A76"/>
          </a:solidFill>
          <a:ln>
            <a:noFill/>
          </a:ln>
          <a:effectLst/>
        </p:spPr>
        <p:txBody>
          <a:bodyPr rtlCol="0" anchor="ctr"/>
          <a:lstStyle/>
          <a:p>
            <a:pPr algn="ctr"/>
          </a:p>
        </p:txBody>
      </p:sp>
      <p:sp>
        <p:nvSpPr>
          <p:cNvPr id="16" name="Rectangle 15"/>
          <p:cNvSpPr/>
          <p:nvPr/>
        </p:nvSpPr>
        <p:spPr>
          <a:xfrm>
            <a:off x="5132710" y="2081783"/>
            <a:ext cx="1926275" cy="1550415"/>
          </a:xfrm>
          <a:prstGeom prst="rect">
            <a:avLst/>
          </a:prstGeom>
          <a:solidFill>
            <a:srgbClr val="007F82"/>
          </a:solidFill>
          <a:ln>
            <a:noFill/>
          </a:ln>
          <a:effectLst/>
        </p:spPr>
        <p:txBody>
          <a:bodyPr rtlCol="0" anchor="ctr"/>
          <a:lstStyle/>
          <a:p>
            <a:pPr algn="ctr"/>
          </a:p>
        </p:txBody>
      </p:sp>
      <p:sp>
        <p:nvSpPr>
          <p:cNvPr id="17" name="TextBox 16"/>
          <p:cNvSpPr txBox="1"/>
          <p:nvPr/>
        </p:nvSpPr>
        <p:spPr>
          <a:xfrm>
            <a:off x="5315590" y="2356103"/>
            <a:ext cx="1560515" cy="366267"/>
          </a:xfrm>
          <a:prstGeom prst="rect">
            <a:avLst/>
          </a:prstGeom>
          <a:noFill/>
        </p:spPr>
        <p:txBody>
          <a:bodyPr wrap="square" lIns="0" rIns="0" tIns="0" bIns="0">
            <a:spAutoFit/>
          </a:bodyPr>
          <a:lstStyle/>
          <a:p>
            <a:pPr>
              <a:spcAft>
                <a:spcPts val="300"/>
              </a:spcAft>
              <a:defRPr sz="1900" b="1">
                <a:solidFill>
                  <a:srgbClr val="FFFFFF"/>
                </a:solidFill>
                <a:latin typeface="Aptos"/>
              </a:defRPr>
            </a:pPr>
            <a:r>
              <a:t>Direct</a:t>
            </a:r>
          </a:p>
        </p:txBody>
      </p:sp>
      <p:sp>
        <p:nvSpPr>
          <p:cNvPr id="18" name="TextBox 17"/>
          <p:cNvSpPr txBox="1"/>
          <p:nvPr/>
        </p:nvSpPr>
        <p:spPr>
          <a:xfrm>
            <a:off x="5315590" y="2832099"/>
            <a:ext cx="1560515" cy="525780"/>
          </a:xfrm>
          <a:prstGeom prst="rect">
            <a:avLst/>
          </a:prstGeom>
          <a:noFill/>
        </p:spPr>
        <p:txBody>
          <a:bodyPr wrap="square" lIns="0" rIns="0" tIns="0" bIns="0">
            <a:spAutoFit/>
          </a:bodyPr>
          <a:lstStyle/>
          <a:p>
            <a:pPr>
              <a:spcAft>
                <a:spcPts val="300"/>
              </a:spcAft>
              <a:defRPr sz="1500" b="0">
                <a:solidFill>
                  <a:srgbClr val="FFFFFF"/>
                </a:solidFill>
                <a:latin typeface="Aptos"/>
              </a:defRPr>
            </a:pPr>
            <a:r>
              <a:t>Who should handle it?</a:t>
            </a:r>
          </a:p>
        </p:txBody>
      </p:sp>
      <p:sp>
        <p:nvSpPr>
          <p:cNvPr id="19" name="Chevron 18"/>
          <p:cNvSpPr/>
          <p:nvPr/>
        </p:nvSpPr>
        <p:spPr>
          <a:xfrm>
            <a:off x="7177857" y="2738119"/>
            <a:ext cx="128016" cy="237744"/>
          </a:xfrm>
          <a:prstGeom prst="chevron">
            <a:avLst/>
          </a:prstGeom>
          <a:solidFill>
            <a:srgbClr val="596A76"/>
          </a:solidFill>
          <a:ln>
            <a:noFill/>
          </a:ln>
          <a:effectLst/>
        </p:spPr>
        <p:txBody>
          <a:bodyPr rtlCol="0" anchor="ctr"/>
          <a:lstStyle/>
          <a:p>
            <a:pPr algn="ctr"/>
          </a:p>
        </p:txBody>
      </p:sp>
      <p:sp>
        <p:nvSpPr>
          <p:cNvPr id="20" name="Rectangle 19"/>
          <p:cNvSpPr/>
          <p:nvPr/>
        </p:nvSpPr>
        <p:spPr>
          <a:xfrm>
            <a:off x="7424745" y="2081783"/>
            <a:ext cx="1926275" cy="1550415"/>
          </a:xfrm>
          <a:prstGeom prst="rect">
            <a:avLst/>
          </a:prstGeom>
          <a:solidFill>
            <a:srgbClr val="007F82"/>
          </a:solidFill>
          <a:ln>
            <a:noFill/>
          </a:ln>
          <a:effectLst/>
        </p:spPr>
        <p:txBody>
          <a:bodyPr rtlCol="0" anchor="ctr"/>
          <a:lstStyle/>
          <a:p>
            <a:pPr algn="ctr"/>
          </a:p>
        </p:txBody>
      </p:sp>
      <p:sp>
        <p:nvSpPr>
          <p:cNvPr id="21" name="TextBox 20"/>
          <p:cNvSpPr txBox="1"/>
          <p:nvPr/>
        </p:nvSpPr>
        <p:spPr>
          <a:xfrm>
            <a:off x="7607625" y="2356103"/>
            <a:ext cx="1560515" cy="366267"/>
          </a:xfrm>
          <a:prstGeom prst="rect">
            <a:avLst/>
          </a:prstGeom>
          <a:noFill/>
        </p:spPr>
        <p:txBody>
          <a:bodyPr wrap="square" lIns="0" rIns="0" tIns="0" bIns="0">
            <a:spAutoFit/>
          </a:bodyPr>
          <a:lstStyle/>
          <a:p>
            <a:pPr>
              <a:spcAft>
                <a:spcPts val="300"/>
              </a:spcAft>
              <a:defRPr sz="1900" b="1">
                <a:solidFill>
                  <a:srgbClr val="FFFFFF"/>
                </a:solidFill>
                <a:latin typeface="Aptos"/>
              </a:defRPr>
            </a:pPr>
            <a:r>
              <a:t>Respond</a:t>
            </a:r>
          </a:p>
        </p:txBody>
      </p:sp>
      <p:sp>
        <p:nvSpPr>
          <p:cNvPr id="22" name="TextBox 21"/>
          <p:cNvSpPr txBox="1"/>
          <p:nvPr/>
        </p:nvSpPr>
        <p:spPr>
          <a:xfrm>
            <a:off x="7607625" y="2832099"/>
            <a:ext cx="1560515" cy="525780"/>
          </a:xfrm>
          <a:prstGeom prst="rect">
            <a:avLst/>
          </a:prstGeom>
          <a:noFill/>
        </p:spPr>
        <p:txBody>
          <a:bodyPr wrap="square" lIns="0" rIns="0" tIns="0" bIns="0">
            <a:spAutoFit/>
          </a:bodyPr>
          <a:lstStyle/>
          <a:p>
            <a:pPr>
              <a:spcAft>
                <a:spcPts val="300"/>
              </a:spcAft>
              <a:defRPr sz="1500" b="0">
                <a:solidFill>
                  <a:srgbClr val="FFFFFF"/>
                </a:solidFill>
                <a:latin typeface="Aptos"/>
              </a:defRPr>
            </a:pPr>
            <a:r>
              <a:t>What next?</a:t>
            </a:r>
          </a:p>
        </p:txBody>
      </p:sp>
      <p:sp>
        <p:nvSpPr>
          <p:cNvPr id="23" name="Chevron 22"/>
          <p:cNvSpPr/>
          <p:nvPr/>
        </p:nvSpPr>
        <p:spPr>
          <a:xfrm>
            <a:off x="9469892" y="2738119"/>
            <a:ext cx="128016" cy="237744"/>
          </a:xfrm>
          <a:prstGeom prst="chevron">
            <a:avLst/>
          </a:prstGeom>
          <a:solidFill>
            <a:srgbClr val="596A76"/>
          </a:solidFill>
          <a:ln>
            <a:noFill/>
          </a:ln>
          <a:effectLst/>
        </p:spPr>
        <p:txBody>
          <a:bodyPr rtlCol="0" anchor="ctr"/>
          <a:lstStyle/>
          <a:p>
            <a:pPr algn="ctr"/>
          </a:p>
        </p:txBody>
      </p:sp>
      <p:sp>
        <p:nvSpPr>
          <p:cNvPr id="24" name="Rectangle 23"/>
          <p:cNvSpPr/>
          <p:nvPr/>
        </p:nvSpPr>
        <p:spPr>
          <a:xfrm>
            <a:off x="9716780" y="2081783"/>
            <a:ext cx="1926275" cy="1550415"/>
          </a:xfrm>
          <a:prstGeom prst="rect">
            <a:avLst/>
          </a:prstGeom>
          <a:solidFill>
            <a:srgbClr val="EFF4F6"/>
          </a:solidFill>
          <a:ln>
            <a:noFill/>
          </a:ln>
          <a:effectLst/>
        </p:spPr>
        <p:txBody>
          <a:bodyPr rtlCol="0" anchor="ctr"/>
          <a:lstStyle/>
          <a:p>
            <a:pPr algn="ctr"/>
          </a:p>
        </p:txBody>
      </p:sp>
      <p:sp>
        <p:nvSpPr>
          <p:cNvPr id="25" name="TextBox 24"/>
          <p:cNvSpPr txBox="1"/>
          <p:nvPr/>
        </p:nvSpPr>
        <p:spPr>
          <a:xfrm>
            <a:off x="9899660" y="2356103"/>
            <a:ext cx="1560515" cy="366267"/>
          </a:xfrm>
          <a:prstGeom prst="rect">
            <a:avLst/>
          </a:prstGeom>
          <a:noFill/>
        </p:spPr>
        <p:txBody>
          <a:bodyPr wrap="square" lIns="0" rIns="0" tIns="0" bIns="0">
            <a:spAutoFit/>
          </a:bodyPr>
          <a:lstStyle/>
          <a:p>
            <a:pPr>
              <a:spcAft>
                <a:spcPts val="300"/>
              </a:spcAft>
              <a:defRPr sz="1900" b="1">
                <a:solidFill>
                  <a:srgbClr val="007F82"/>
                </a:solidFill>
                <a:latin typeface="Aptos"/>
              </a:defRPr>
            </a:pPr>
            <a:r>
              <a:t>Learn</a:t>
            </a:r>
          </a:p>
        </p:txBody>
      </p:sp>
      <p:sp>
        <p:nvSpPr>
          <p:cNvPr id="26" name="TextBox 25"/>
          <p:cNvSpPr txBox="1"/>
          <p:nvPr/>
        </p:nvSpPr>
        <p:spPr>
          <a:xfrm>
            <a:off x="9899660" y="2832099"/>
            <a:ext cx="1560515" cy="525780"/>
          </a:xfrm>
          <a:prstGeom prst="rect">
            <a:avLst/>
          </a:prstGeom>
          <a:noFill/>
        </p:spPr>
        <p:txBody>
          <a:bodyPr wrap="square" lIns="0" rIns="0" tIns="0" bIns="0">
            <a:spAutoFit/>
          </a:bodyPr>
          <a:lstStyle/>
          <a:p>
            <a:pPr>
              <a:spcAft>
                <a:spcPts val="300"/>
              </a:spcAft>
              <a:defRPr sz="1500" b="0">
                <a:solidFill>
                  <a:srgbClr val="233B4D"/>
                </a:solidFill>
                <a:latin typeface="Aptos"/>
              </a:defRPr>
            </a:pPr>
            <a:r>
              <a:t>What should change?</a:t>
            </a:r>
          </a:p>
        </p:txBody>
      </p:sp>
      <p:sp>
        <p:nvSpPr>
          <p:cNvPr id="27" name="TextBox 26"/>
          <p:cNvSpPr txBox="1"/>
          <p:nvPr/>
        </p:nvSpPr>
        <p:spPr>
          <a:xfrm>
            <a:off x="548640" y="3997959"/>
            <a:ext cx="11094415" cy="897635"/>
          </a:xfrm>
          <a:prstGeom prst="rect">
            <a:avLst/>
          </a:prstGeom>
          <a:noFill/>
        </p:spPr>
        <p:txBody>
          <a:bodyPr wrap="square" lIns="0" rIns="0" tIns="0" bIns="0">
            <a:spAutoFit/>
          </a:bodyPr>
          <a:lstStyle/>
          <a:p>
            <a:pPr>
              <a:spcAft>
                <a:spcPts val="300"/>
              </a:spcAft>
              <a:defRPr sz="1800" b="0">
                <a:solidFill>
                  <a:srgbClr val="233B4D"/>
                </a:solidFill>
                <a:latin typeface="Aptos"/>
              </a:defRPr>
            </a:pPr>
            <a:r>
              <a:t>Platforms and tools already automate detection, correlation, execution and record-keeping well. The links in the middle - interpretation, ownership, severity, and the act-or-page call - are where a small custom decision component can fit, without replacing anything around it.</a:t>
            </a:r>
          </a:p>
        </p:txBody>
      </p:sp>
      <p:sp>
        <p:nvSpPr>
          <p:cNvPr id="28" name="Rectangle 27"/>
          <p:cNvSpPr/>
          <p:nvPr/>
        </p:nvSpPr>
        <p:spPr>
          <a:xfrm>
            <a:off x="548640" y="6309360"/>
            <a:ext cx="11094415" cy="10972"/>
          </a:xfrm>
          <a:prstGeom prst="rect">
            <a:avLst/>
          </a:prstGeom>
          <a:solidFill>
            <a:srgbClr val="CCD7DD"/>
          </a:solidFill>
          <a:ln>
            <a:noFill/>
          </a:ln>
          <a:effectLst/>
        </p:spPr>
        <p:txBody>
          <a:bodyPr rtlCol="0" anchor="ctr"/>
          <a:lstStyle/>
          <a:p>
            <a:pPr algn="ctr"/>
          </a:p>
        </p:txBody>
      </p:sp>
      <p:sp>
        <p:nvSpPr>
          <p:cNvPr id="29" name="TextBox 28"/>
          <p:cNvSpPr txBox="1"/>
          <p:nvPr/>
        </p:nvSpPr>
        <p:spPr>
          <a:xfrm>
            <a:off x="548640" y="6400800"/>
            <a:ext cx="4572000" cy="201168"/>
          </a:xfrm>
          <a:prstGeom prst="rect">
            <a:avLst/>
          </a:prstGeom>
          <a:noFill/>
        </p:spPr>
        <p:txBody>
          <a:bodyPr wrap="square" lIns="0" rIns="0" tIns="0" bIns="0">
            <a:spAutoFit/>
          </a:bodyPr>
          <a:lstStyle/>
          <a:p>
            <a:pPr>
              <a:spcAft>
                <a:spcPts val="300"/>
              </a:spcAft>
              <a:defRPr sz="900" b="0">
                <a:solidFill>
                  <a:srgbClr val="596A76"/>
                </a:solidFill>
                <a:latin typeface="Aptos"/>
              </a:defRPr>
            </a:pPr>
            <a:r>
              <a:t>For discussion · October 2026</a:t>
            </a:r>
          </a:p>
        </p:txBody>
      </p:sp>
      <p:sp>
        <p:nvSpPr>
          <p:cNvPr id="30" name="TextBox 29"/>
          <p:cNvSpPr txBox="1"/>
          <p:nvPr/>
        </p:nvSpPr>
        <p:spPr>
          <a:xfrm>
            <a:off x="11185855" y="6400800"/>
            <a:ext cx="457200" cy="201168"/>
          </a:xfrm>
          <a:prstGeom prst="rect">
            <a:avLst/>
          </a:prstGeom>
          <a:noFill/>
        </p:spPr>
        <p:txBody>
          <a:bodyPr wrap="square" lIns="0" rIns="0" tIns="0" bIns="0">
            <a:spAutoFit/>
          </a:bodyPr>
          <a:lstStyle/>
          <a:p>
            <a:pPr algn="r">
              <a:spcAft>
                <a:spcPts val="300"/>
              </a:spcAft>
              <a:defRPr sz="900" b="0">
                <a:solidFill>
                  <a:srgbClr val="596A76"/>
                </a:solidFill>
                <a:latin typeface="Aptos"/>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7F82"/>
          </a:solidFill>
          <a:ln>
            <a:noFill/>
          </a:ln>
          <a:effectLst/>
        </p:spPr>
        <p:txBody>
          <a:bodyPr rtlCol="0" anchor="ctr"/>
          <a:lstStyle/>
          <a:p>
            <a:pPr algn="ctr"/>
          </a:p>
        </p:txBody>
      </p:sp>
      <p:sp>
        <p:nvSpPr>
          <p:cNvPr id="3" name="TextBox 2"/>
          <p:cNvSpPr txBox="1"/>
          <p:nvPr/>
        </p:nvSpPr>
        <p:spPr>
          <a:xfrm>
            <a:off x="548640" y="310896"/>
            <a:ext cx="9144000" cy="201168"/>
          </a:xfrm>
          <a:prstGeom prst="rect">
            <a:avLst/>
          </a:prstGeom>
          <a:noFill/>
        </p:spPr>
        <p:txBody>
          <a:bodyPr wrap="square" lIns="0" rIns="0" tIns="0" bIns="0">
            <a:spAutoFit/>
          </a:bodyPr>
          <a:lstStyle/>
          <a:p>
            <a:pPr>
              <a:spcAft>
                <a:spcPts val="300"/>
              </a:spcAft>
              <a:defRPr sz="1000" b="1">
                <a:solidFill>
                  <a:srgbClr val="007F82"/>
                </a:solidFill>
                <a:latin typeface="Aptos"/>
              </a:defRPr>
            </a:pPr>
            <a:r>
              <a:t>THE OPPORTUNITY</a:t>
            </a:r>
          </a:p>
        </p:txBody>
      </p:sp>
      <p:sp>
        <p:nvSpPr>
          <p:cNvPr id="4" name="TextBox 3"/>
          <p:cNvSpPr txBox="1"/>
          <p:nvPr/>
        </p:nvSpPr>
        <p:spPr>
          <a:xfrm>
            <a:off x="548640" y="566928"/>
            <a:ext cx="10149840" cy="469899"/>
          </a:xfrm>
          <a:prstGeom prst="rect">
            <a:avLst/>
          </a:prstGeom>
          <a:noFill/>
        </p:spPr>
        <p:txBody>
          <a:bodyPr wrap="square" lIns="0" rIns="0" tIns="0" bIns="0">
            <a:spAutoFit/>
          </a:bodyPr>
          <a:lstStyle/>
          <a:p>
            <a:pPr>
              <a:spcAft>
                <a:spcPts val="300"/>
              </a:spcAft>
              <a:defRPr sz="2500" b="1">
                <a:solidFill>
                  <a:srgbClr val="142E42"/>
                </a:solidFill>
                <a:latin typeface="Aptos"/>
              </a:defRPr>
            </a:pPr>
            <a:r>
              <a:t>The Jev opportunity: a decision model that fits those links</a:t>
            </a:r>
          </a:p>
        </p:txBody>
      </p:sp>
      <p:sp>
        <p:nvSpPr>
          <p:cNvPr id="5" name="TextBox 4"/>
          <p:cNvSpPr txBox="1"/>
          <p:nvPr/>
        </p:nvSpPr>
        <p:spPr>
          <a:xfrm>
            <a:off x="548640" y="1073404"/>
            <a:ext cx="10149840" cy="279908"/>
          </a:xfrm>
          <a:prstGeom prst="rect">
            <a:avLst/>
          </a:prstGeom>
          <a:noFill/>
        </p:spPr>
        <p:txBody>
          <a:bodyPr wrap="square" lIns="0" rIns="0" tIns="0" bIns="0">
            <a:spAutoFit/>
          </a:bodyPr>
          <a:lstStyle/>
          <a:p>
            <a:pPr>
              <a:spcAft>
                <a:spcPts val="300"/>
              </a:spcAft>
              <a:defRPr sz="1400" b="0">
                <a:solidFill>
                  <a:srgbClr val="596A76"/>
                </a:solidFill>
                <a:latin typeface="Aptos"/>
              </a:defRPr>
            </a:pPr>
            <a:r>
              <a:t>What it is, and why it is worth a look</a:t>
            </a:r>
          </a:p>
        </p:txBody>
      </p:sp>
      <p:sp>
        <p:nvSpPr>
          <p:cNvPr id="6" name="Rectangle 5"/>
          <p:cNvSpPr/>
          <p:nvPr/>
        </p:nvSpPr>
        <p:spPr>
          <a:xfrm>
            <a:off x="10929823" y="274320"/>
            <a:ext cx="713232" cy="713232"/>
          </a:xfrm>
          <a:prstGeom prst="rect">
            <a:avLst/>
          </a:prstGeom>
          <a:solidFill>
            <a:srgbClr val="EFF4F6"/>
          </a:solidFill>
          <a:ln>
            <a:noFill/>
          </a:ln>
          <a:effectLst/>
        </p:spPr>
        <p:txBody>
          <a:bodyPr rtlCol="0" anchor="ctr"/>
          <a:lstStyle/>
          <a:p>
            <a:pPr algn="ctr"/>
          </a:p>
        </p:txBody>
      </p:sp>
      <p:pic>
        <p:nvPicPr>
          <p:cNvPr id="7" name="Picture 6" descr="target.png"/>
          <p:cNvPicPr>
            <a:picLocks noChangeAspect="1"/>
          </p:cNvPicPr>
          <p:nvPr/>
        </p:nvPicPr>
        <p:blipFill>
          <a:blip r:embed="rId2"/>
          <a:stretch>
            <a:fillRect/>
          </a:stretch>
        </p:blipFill>
        <p:spPr>
          <a:xfrm>
            <a:off x="11021263" y="365760"/>
            <a:ext cx="530352" cy="530352"/>
          </a:xfrm>
          <a:prstGeom prst="rect">
            <a:avLst/>
          </a:prstGeom>
        </p:spPr>
      </p:pic>
      <p:sp>
        <p:nvSpPr>
          <p:cNvPr id="8" name="Rectangle 7"/>
          <p:cNvSpPr/>
          <p:nvPr/>
        </p:nvSpPr>
        <p:spPr>
          <a:xfrm>
            <a:off x="548640" y="1700784"/>
            <a:ext cx="5364327" cy="3359911"/>
          </a:xfrm>
          <a:prstGeom prst="rect">
            <a:avLst/>
          </a:prstGeom>
          <a:solidFill>
            <a:srgbClr val="EFF4F6"/>
          </a:solidFill>
          <a:ln>
            <a:noFill/>
          </a:ln>
          <a:effectLst/>
        </p:spPr>
        <p:txBody>
          <a:bodyPr rtlCol="0" anchor="ctr"/>
          <a:lstStyle/>
          <a:p>
            <a:pPr algn="ctr"/>
          </a:p>
        </p:txBody>
      </p:sp>
      <p:sp>
        <p:nvSpPr>
          <p:cNvPr id="9" name="Rectangle 8"/>
          <p:cNvSpPr/>
          <p:nvPr/>
        </p:nvSpPr>
        <p:spPr>
          <a:xfrm>
            <a:off x="548640" y="1700784"/>
            <a:ext cx="5364327" cy="45720"/>
          </a:xfrm>
          <a:prstGeom prst="rect">
            <a:avLst/>
          </a:prstGeom>
          <a:solidFill>
            <a:srgbClr val="007F82"/>
          </a:solidFill>
          <a:ln>
            <a:noFill/>
          </a:ln>
          <a:effectLst/>
        </p:spPr>
        <p:txBody>
          <a:bodyPr rtlCol="0" anchor="ctr"/>
          <a:lstStyle/>
          <a:p>
            <a:pPr algn="ctr"/>
          </a:p>
        </p:txBody>
      </p:sp>
      <p:sp>
        <p:nvSpPr>
          <p:cNvPr id="10" name="TextBox 9"/>
          <p:cNvSpPr txBox="1"/>
          <p:nvPr/>
        </p:nvSpPr>
        <p:spPr>
          <a:xfrm>
            <a:off x="868680" y="2066543"/>
            <a:ext cx="4724247" cy="400812"/>
          </a:xfrm>
          <a:prstGeom prst="rect">
            <a:avLst/>
          </a:prstGeom>
          <a:noFill/>
        </p:spPr>
        <p:txBody>
          <a:bodyPr wrap="square" lIns="0" rIns="0" tIns="0" bIns="0">
            <a:spAutoFit/>
          </a:bodyPr>
          <a:lstStyle/>
          <a:p>
            <a:pPr>
              <a:spcAft>
                <a:spcPts val="300"/>
              </a:spcAft>
              <a:defRPr sz="2100" b="1">
                <a:solidFill>
                  <a:srgbClr val="142E42"/>
                </a:solidFill>
                <a:latin typeface="Aptos"/>
              </a:defRPr>
            </a:pPr>
            <a:r>
              <a:t>What it is</a:t>
            </a:r>
          </a:p>
        </p:txBody>
      </p:sp>
      <p:sp>
        <p:nvSpPr>
          <p:cNvPr id="11" name="TextBox 10"/>
          <p:cNvSpPr txBox="1"/>
          <p:nvPr/>
        </p:nvSpPr>
        <p:spPr>
          <a:xfrm>
            <a:off x="868680" y="2595371"/>
            <a:ext cx="4724247" cy="2145283"/>
          </a:xfrm>
          <a:prstGeom prst="rect">
            <a:avLst/>
          </a:prstGeom>
          <a:noFill/>
        </p:spPr>
        <p:txBody>
          <a:bodyPr wrap="square" lIns="0" rIns="0" tIns="0" bIns="0">
            <a:spAutoFit/>
          </a:bodyPr>
          <a:lstStyle/>
          <a:p>
            <a:pPr>
              <a:spcAft>
                <a:spcPts val="300"/>
              </a:spcAft>
              <a:defRPr sz="1700" b="0">
                <a:solidFill>
                  <a:srgbClr val="233B4D"/>
                </a:solidFill>
                <a:latin typeface="Aptos"/>
              </a:defRPr>
            </a:pPr>
            <a:r>
              <a:t>TypeSafe's Jev is a 'System One' decision model, not a chat model. You send one request with a state - the alert and its context - and a set of typed questions, and it returns a typed answer with a probability on each. Three question types: Choice (pick from a list), Score (place on a scale) and Noul (the probability that a statement is true).</a:t>
            </a:r>
          </a:p>
        </p:txBody>
      </p:sp>
      <p:sp>
        <p:nvSpPr>
          <p:cNvPr id="12" name="Rectangle 11"/>
          <p:cNvSpPr/>
          <p:nvPr/>
        </p:nvSpPr>
        <p:spPr>
          <a:xfrm>
            <a:off x="6278727" y="1700784"/>
            <a:ext cx="5364327" cy="3359911"/>
          </a:xfrm>
          <a:prstGeom prst="rect">
            <a:avLst/>
          </a:prstGeom>
          <a:solidFill>
            <a:srgbClr val="EFF4F6"/>
          </a:solidFill>
          <a:ln>
            <a:noFill/>
          </a:ln>
          <a:effectLst/>
        </p:spPr>
        <p:txBody>
          <a:bodyPr rtlCol="0" anchor="ctr"/>
          <a:lstStyle/>
          <a:p>
            <a:pPr algn="ctr"/>
          </a:p>
        </p:txBody>
      </p:sp>
      <p:sp>
        <p:nvSpPr>
          <p:cNvPr id="13" name="Rectangle 12"/>
          <p:cNvSpPr/>
          <p:nvPr/>
        </p:nvSpPr>
        <p:spPr>
          <a:xfrm>
            <a:off x="6278727" y="1700784"/>
            <a:ext cx="5364327" cy="45720"/>
          </a:xfrm>
          <a:prstGeom prst="rect">
            <a:avLst/>
          </a:prstGeom>
          <a:solidFill>
            <a:srgbClr val="007F82"/>
          </a:solidFill>
          <a:ln>
            <a:noFill/>
          </a:ln>
          <a:effectLst/>
        </p:spPr>
        <p:txBody>
          <a:bodyPr rtlCol="0" anchor="ctr"/>
          <a:lstStyle/>
          <a:p>
            <a:pPr algn="ctr"/>
          </a:p>
        </p:txBody>
      </p:sp>
      <p:sp>
        <p:nvSpPr>
          <p:cNvPr id="14" name="TextBox 13"/>
          <p:cNvSpPr txBox="1"/>
          <p:nvPr/>
        </p:nvSpPr>
        <p:spPr>
          <a:xfrm>
            <a:off x="6598767" y="2066543"/>
            <a:ext cx="4724247" cy="400812"/>
          </a:xfrm>
          <a:prstGeom prst="rect">
            <a:avLst/>
          </a:prstGeom>
          <a:noFill/>
        </p:spPr>
        <p:txBody>
          <a:bodyPr wrap="square" lIns="0" rIns="0" tIns="0" bIns="0">
            <a:spAutoFit/>
          </a:bodyPr>
          <a:lstStyle/>
          <a:p>
            <a:pPr>
              <a:spcAft>
                <a:spcPts val="300"/>
              </a:spcAft>
              <a:defRPr sz="2100" b="1">
                <a:solidFill>
                  <a:srgbClr val="142E42"/>
                </a:solidFill>
                <a:latin typeface="Aptos"/>
              </a:defRPr>
            </a:pPr>
            <a:r>
              <a:t>Why it is worth a look</a:t>
            </a:r>
          </a:p>
        </p:txBody>
      </p:sp>
      <p:sp>
        <p:nvSpPr>
          <p:cNvPr id="15" name="TextBox 14"/>
          <p:cNvSpPr txBox="1"/>
          <p:nvPr/>
        </p:nvSpPr>
        <p:spPr>
          <a:xfrm>
            <a:off x="6598767" y="2595371"/>
            <a:ext cx="4724247" cy="2145283"/>
          </a:xfrm>
          <a:prstGeom prst="rect">
            <a:avLst/>
          </a:prstGeom>
          <a:noFill/>
        </p:spPr>
        <p:txBody>
          <a:bodyPr wrap="square" lIns="0" rIns="0" tIns="0" bIns="0">
            <a:spAutoFit/>
          </a:bodyPr>
          <a:lstStyle/>
          <a:p>
            <a:pPr>
              <a:spcAft>
                <a:spcPts val="300"/>
              </a:spcAft>
              <a:defRPr sz="1700" b="0">
                <a:solidFill>
                  <a:srgbClr val="233B4D"/>
                </a:solidFill>
                <a:latin typeface="Aptos"/>
              </a:defRPr>
            </a:pPr>
            <a:r>
              <a:t>The questions are yours and the thresholds are yours; ordinary code compares the probabilities with those thresholds and decides what happens. One call answers many questions in milliseconds, at a fraction of a cent of inference, and every call can be logged. Whether the answers are accurate enough on your tickets is the open question.</a:t>
            </a:r>
          </a:p>
        </p:txBody>
      </p:sp>
      <p:sp>
        <p:nvSpPr>
          <p:cNvPr id="16" name="Rectangle 15"/>
          <p:cNvSpPr/>
          <p:nvPr/>
        </p:nvSpPr>
        <p:spPr>
          <a:xfrm>
            <a:off x="548640" y="6309360"/>
            <a:ext cx="11094415" cy="10972"/>
          </a:xfrm>
          <a:prstGeom prst="rect">
            <a:avLst/>
          </a:prstGeom>
          <a:solidFill>
            <a:srgbClr val="CCD7DD"/>
          </a:solidFill>
          <a:ln>
            <a:noFill/>
          </a:ln>
          <a:effectLst/>
        </p:spPr>
        <p:txBody>
          <a:bodyPr rtlCol="0" anchor="ctr"/>
          <a:lstStyle/>
          <a:p>
            <a:pPr algn="ctr"/>
          </a:p>
        </p:txBody>
      </p:sp>
      <p:sp>
        <p:nvSpPr>
          <p:cNvPr id="17" name="TextBox 16"/>
          <p:cNvSpPr txBox="1"/>
          <p:nvPr/>
        </p:nvSpPr>
        <p:spPr>
          <a:xfrm>
            <a:off x="548640" y="6400800"/>
            <a:ext cx="4572000" cy="201168"/>
          </a:xfrm>
          <a:prstGeom prst="rect">
            <a:avLst/>
          </a:prstGeom>
          <a:noFill/>
        </p:spPr>
        <p:txBody>
          <a:bodyPr wrap="square" lIns="0" rIns="0" tIns="0" bIns="0">
            <a:spAutoFit/>
          </a:bodyPr>
          <a:lstStyle/>
          <a:p>
            <a:pPr>
              <a:spcAft>
                <a:spcPts val="300"/>
              </a:spcAft>
              <a:defRPr sz="900" b="0">
                <a:solidFill>
                  <a:srgbClr val="596A76"/>
                </a:solidFill>
                <a:latin typeface="Aptos"/>
              </a:defRPr>
            </a:pPr>
            <a:r>
              <a:t>For discussion · October 2026</a:t>
            </a:r>
          </a:p>
        </p:txBody>
      </p:sp>
      <p:sp>
        <p:nvSpPr>
          <p:cNvPr id="18" name="TextBox 17"/>
          <p:cNvSpPr txBox="1"/>
          <p:nvPr/>
        </p:nvSpPr>
        <p:spPr>
          <a:xfrm>
            <a:off x="10929480" y="6400800"/>
            <a:ext cx="164934" cy="201168"/>
          </a:xfrm>
          <a:prstGeom prst="rect">
            <a:avLst/>
          </a:prstGeom>
          <a:noFill/>
        </p:spPr>
        <p:txBody>
          <a:bodyPr wrap="square" lIns="0" rIns="0" tIns="0" bIns="0">
            <a:spAutoFit/>
          </a:bodyPr>
          <a:lstStyle/>
          <a:p>
            <a:pPr>
              <a:spcAft>
                <a:spcPts val="300"/>
              </a:spcAft>
              <a:defRPr sz="900" b="1">
                <a:solidFill>
                  <a:srgbClr val="007F82"/>
                </a:solidFill>
                <a:latin typeface="Aptos"/>
              </a:defRPr>
            </a:pPr>
            <a:r>
              <a:rPr>
                <a:hlinkClick r:id="rId3"/>
              </a:rPr>
              <a:t>S7</a:t>
            </a:r>
          </a:p>
        </p:txBody>
      </p:sp>
      <p:sp>
        <p:nvSpPr>
          <p:cNvPr id="19" name="TextBox 18"/>
          <p:cNvSpPr txBox="1"/>
          <p:nvPr/>
        </p:nvSpPr>
        <p:spPr>
          <a:xfrm>
            <a:off x="10783176" y="6400800"/>
            <a:ext cx="91440" cy="201168"/>
          </a:xfrm>
          <a:prstGeom prst="rect">
            <a:avLst/>
          </a:prstGeom>
          <a:noFill/>
        </p:spPr>
        <p:txBody>
          <a:bodyPr wrap="square" lIns="0" rIns="0" tIns="0" bIns="0">
            <a:spAutoFit/>
          </a:bodyPr>
          <a:lstStyle/>
          <a:p>
            <a:pPr algn="ctr">
              <a:spcAft>
                <a:spcPts val="300"/>
              </a:spcAft>
              <a:defRPr sz="900" b="0">
                <a:solidFill>
                  <a:srgbClr val="596A76"/>
                </a:solidFill>
                <a:latin typeface="Aptos"/>
              </a:defRPr>
            </a:pPr>
            <a:r>
              <a:t>·</a:t>
            </a:r>
          </a:p>
        </p:txBody>
      </p:sp>
      <p:sp>
        <p:nvSpPr>
          <p:cNvPr id="20" name="TextBox 19"/>
          <p:cNvSpPr txBox="1"/>
          <p:nvPr/>
        </p:nvSpPr>
        <p:spPr>
          <a:xfrm>
            <a:off x="10618241" y="6400800"/>
            <a:ext cx="164934" cy="201168"/>
          </a:xfrm>
          <a:prstGeom prst="rect">
            <a:avLst/>
          </a:prstGeom>
          <a:noFill/>
        </p:spPr>
        <p:txBody>
          <a:bodyPr wrap="square" lIns="0" rIns="0" tIns="0" bIns="0">
            <a:spAutoFit/>
          </a:bodyPr>
          <a:lstStyle/>
          <a:p>
            <a:pPr>
              <a:spcAft>
                <a:spcPts val="300"/>
              </a:spcAft>
              <a:defRPr sz="900" b="1">
                <a:solidFill>
                  <a:srgbClr val="007F82"/>
                </a:solidFill>
                <a:latin typeface="Aptos"/>
              </a:defRPr>
            </a:pPr>
            <a:r>
              <a:rPr>
                <a:hlinkClick r:id="rId4"/>
              </a:rPr>
              <a:t>S6</a:t>
            </a:r>
          </a:p>
        </p:txBody>
      </p:sp>
      <p:sp>
        <p:nvSpPr>
          <p:cNvPr id="21" name="TextBox 20"/>
          <p:cNvSpPr txBox="1"/>
          <p:nvPr/>
        </p:nvSpPr>
        <p:spPr>
          <a:xfrm>
            <a:off x="10069601" y="6400800"/>
            <a:ext cx="493776" cy="201168"/>
          </a:xfrm>
          <a:prstGeom prst="rect">
            <a:avLst/>
          </a:prstGeom>
          <a:noFill/>
        </p:spPr>
        <p:txBody>
          <a:bodyPr wrap="square" lIns="0" rIns="0" tIns="0" bIns="0">
            <a:spAutoFit/>
          </a:bodyPr>
          <a:lstStyle/>
          <a:p>
            <a:pPr algn="r">
              <a:spcAft>
                <a:spcPts val="300"/>
              </a:spcAft>
              <a:defRPr sz="900" b="0">
                <a:solidFill>
                  <a:srgbClr val="596A76"/>
                </a:solidFill>
                <a:latin typeface="Aptos"/>
              </a:defRPr>
            </a:pPr>
            <a:r>
              <a:t>Sources</a:t>
            </a:r>
          </a:p>
        </p:txBody>
      </p:sp>
      <p:sp>
        <p:nvSpPr>
          <p:cNvPr id="22" name="TextBox 21"/>
          <p:cNvSpPr txBox="1"/>
          <p:nvPr/>
        </p:nvSpPr>
        <p:spPr>
          <a:xfrm>
            <a:off x="11185855" y="6400800"/>
            <a:ext cx="457200" cy="201168"/>
          </a:xfrm>
          <a:prstGeom prst="rect">
            <a:avLst/>
          </a:prstGeom>
          <a:noFill/>
        </p:spPr>
        <p:txBody>
          <a:bodyPr wrap="square" lIns="0" rIns="0" tIns="0" bIns="0">
            <a:spAutoFit/>
          </a:bodyPr>
          <a:lstStyle/>
          <a:p>
            <a:pPr algn="r">
              <a:spcAft>
                <a:spcPts val="300"/>
              </a:spcAft>
              <a:defRPr sz="900" b="0">
                <a:solidFill>
                  <a:srgbClr val="596A76"/>
                </a:solidFill>
                <a:latin typeface="Aptos"/>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7F82"/>
          </a:solidFill>
          <a:ln>
            <a:noFill/>
          </a:ln>
          <a:effectLst/>
        </p:spPr>
        <p:txBody>
          <a:bodyPr rtlCol="0" anchor="ctr"/>
          <a:lstStyle/>
          <a:p>
            <a:pPr algn="ctr"/>
          </a:p>
        </p:txBody>
      </p:sp>
      <p:sp>
        <p:nvSpPr>
          <p:cNvPr id="3" name="TextBox 2"/>
          <p:cNvSpPr txBox="1"/>
          <p:nvPr/>
        </p:nvSpPr>
        <p:spPr>
          <a:xfrm>
            <a:off x="548640" y="310896"/>
            <a:ext cx="9144000" cy="201168"/>
          </a:xfrm>
          <a:prstGeom prst="rect">
            <a:avLst/>
          </a:prstGeom>
          <a:noFill/>
        </p:spPr>
        <p:txBody>
          <a:bodyPr wrap="square" lIns="0" rIns="0" tIns="0" bIns="0">
            <a:spAutoFit/>
          </a:bodyPr>
          <a:lstStyle/>
          <a:p>
            <a:pPr>
              <a:spcAft>
                <a:spcPts val="300"/>
              </a:spcAft>
              <a:defRPr sz="1000" b="1">
                <a:solidFill>
                  <a:srgbClr val="007F82"/>
                </a:solidFill>
                <a:latin typeface="Aptos"/>
              </a:defRPr>
            </a:pPr>
            <a:r>
              <a:t>AN EXAMPLE</a:t>
            </a:r>
          </a:p>
        </p:txBody>
      </p:sp>
      <p:sp>
        <p:nvSpPr>
          <p:cNvPr id="4" name="TextBox 3"/>
          <p:cNvSpPr txBox="1"/>
          <p:nvPr/>
        </p:nvSpPr>
        <p:spPr>
          <a:xfrm>
            <a:off x="548640" y="566928"/>
            <a:ext cx="10149840" cy="469899"/>
          </a:xfrm>
          <a:prstGeom prst="rect">
            <a:avLst/>
          </a:prstGeom>
          <a:noFill/>
        </p:spPr>
        <p:txBody>
          <a:bodyPr wrap="square" lIns="0" rIns="0" tIns="0" bIns="0">
            <a:spAutoFit/>
          </a:bodyPr>
          <a:lstStyle/>
          <a:p>
            <a:pPr>
              <a:spcAft>
                <a:spcPts val="300"/>
              </a:spcAft>
              <a:defRPr sz="2500" b="1">
                <a:solidFill>
                  <a:srgbClr val="142E42"/>
                </a:solidFill>
                <a:latin typeface="Aptos"/>
              </a:defRPr>
            </a:pPr>
            <a:r>
              <a:t>How this looks today, by hand - and with a decision step</a:t>
            </a:r>
          </a:p>
        </p:txBody>
      </p:sp>
      <p:sp>
        <p:nvSpPr>
          <p:cNvPr id="5" name="TextBox 4"/>
          <p:cNvSpPr txBox="1"/>
          <p:nvPr/>
        </p:nvSpPr>
        <p:spPr>
          <a:xfrm>
            <a:off x="548640" y="1073404"/>
            <a:ext cx="10149840" cy="279908"/>
          </a:xfrm>
          <a:prstGeom prst="rect">
            <a:avLst/>
          </a:prstGeom>
          <a:noFill/>
        </p:spPr>
        <p:txBody>
          <a:bodyPr wrap="square" lIns="0" rIns="0" tIns="0" bIns="0">
            <a:spAutoFit/>
          </a:bodyPr>
          <a:lstStyle/>
          <a:p>
            <a:pPr>
              <a:spcAft>
                <a:spcPts val="300"/>
              </a:spcAft>
              <a:defRPr sz="1400" b="0">
                <a:solidFill>
                  <a:srgbClr val="596A76"/>
                </a:solidFill>
                <a:latin typeface="Aptos"/>
              </a:defRPr>
            </a:pPr>
            <a:r>
              <a:t>The same incident, before and after</a:t>
            </a:r>
          </a:p>
        </p:txBody>
      </p:sp>
      <p:sp>
        <p:nvSpPr>
          <p:cNvPr id="6" name="Rectangle 5"/>
          <p:cNvSpPr/>
          <p:nvPr/>
        </p:nvSpPr>
        <p:spPr>
          <a:xfrm>
            <a:off x="10929823" y="274320"/>
            <a:ext cx="713232" cy="713232"/>
          </a:xfrm>
          <a:prstGeom prst="rect">
            <a:avLst/>
          </a:prstGeom>
          <a:solidFill>
            <a:srgbClr val="EFF4F6"/>
          </a:solidFill>
          <a:ln>
            <a:noFill/>
          </a:ln>
          <a:effectLst/>
        </p:spPr>
        <p:txBody>
          <a:bodyPr rtlCol="0" anchor="ctr"/>
          <a:lstStyle/>
          <a:p>
            <a:pPr algn="ctr"/>
          </a:p>
        </p:txBody>
      </p:sp>
      <p:pic>
        <p:nvPicPr>
          <p:cNvPr id="7" name="Picture 6" descr="alert.png"/>
          <p:cNvPicPr>
            <a:picLocks noChangeAspect="1"/>
          </p:cNvPicPr>
          <p:nvPr/>
        </p:nvPicPr>
        <p:blipFill>
          <a:blip r:embed="rId2"/>
          <a:stretch>
            <a:fillRect/>
          </a:stretch>
        </p:blipFill>
        <p:spPr>
          <a:xfrm>
            <a:off x="11021263" y="365760"/>
            <a:ext cx="530352" cy="530352"/>
          </a:xfrm>
          <a:prstGeom prst="rect">
            <a:avLst/>
          </a:prstGeom>
        </p:spPr>
      </p:pic>
      <p:sp>
        <p:nvSpPr>
          <p:cNvPr id="8" name="Rectangle 7"/>
          <p:cNvSpPr/>
          <p:nvPr/>
        </p:nvSpPr>
        <p:spPr>
          <a:xfrm>
            <a:off x="548640" y="1700784"/>
            <a:ext cx="5364327" cy="3100831"/>
          </a:xfrm>
          <a:prstGeom prst="rect">
            <a:avLst/>
          </a:prstGeom>
          <a:solidFill>
            <a:srgbClr val="EFF4F6"/>
          </a:solidFill>
          <a:ln>
            <a:noFill/>
          </a:ln>
          <a:effectLst/>
        </p:spPr>
        <p:txBody>
          <a:bodyPr rtlCol="0" anchor="ctr"/>
          <a:lstStyle/>
          <a:p>
            <a:pPr algn="ctr"/>
          </a:p>
        </p:txBody>
      </p:sp>
      <p:sp>
        <p:nvSpPr>
          <p:cNvPr id="9" name="Rectangle 8"/>
          <p:cNvSpPr/>
          <p:nvPr/>
        </p:nvSpPr>
        <p:spPr>
          <a:xfrm>
            <a:off x="548640" y="1700784"/>
            <a:ext cx="5364327" cy="45720"/>
          </a:xfrm>
          <a:prstGeom prst="rect">
            <a:avLst/>
          </a:prstGeom>
          <a:solidFill>
            <a:srgbClr val="007F82"/>
          </a:solidFill>
          <a:ln>
            <a:noFill/>
          </a:ln>
          <a:effectLst/>
        </p:spPr>
        <p:txBody>
          <a:bodyPr rtlCol="0" anchor="ctr"/>
          <a:lstStyle/>
          <a:p>
            <a:pPr algn="ctr"/>
          </a:p>
        </p:txBody>
      </p:sp>
      <p:sp>
        <p:nvSpPr>
          <p:cNvPr id="10" name="TextBox 9"/>
          <p:cNvSpPr txBox="1"/>
          <p:nvPr/>
        </p:nvSpPr>
        <p:spPr>
          <a:xfrm>
            <a:off x="868680" y="2066543"/>
            <a:ext cx="4724247" cy="400812"/>
          </a:xfrm>
          <a:prstGeom prst="rect">
            <a:avLst/>
          </a:prstGeom>
          <a:noFill/>
        </p:spPr>
        <p:txBody>
          <a:bodyPr wrap="square" lIns="0" rIns="0" tIns="0" bIns="0">
            <a:spAutoFit/>
          </a:bodyPr>
          <a:lstStyle/>
          <a:p>
            <a:pPr>
              <a:spcAft>
                <a:spcPts val="300"/>
              </a:spcAft>
              <a:defRPr sz="2100" b="1">
                <a:solidFill>
                  <a:srgbClr val="142E42"/>
                </a:solidFill>
                <a:latin typeface="Aptos"/>
              </a:defRPr>
            </a:pPr>
            <a:r>
              <a:t>Today, by hand</a:t>
            </a:r>
          </a:p>
        </p:txBody>
      </p:sp>
      <p:sp>
        <p:nvSpPr>
          <p:cNvPr id="11" name="TextBox 10"/>
          <p:cNvSpPr txBox="1"/>
          <p:nvPr/>
        </p:nvSpPr>
        <p:spPr>
          <a:xfrm>
            <a:off x="868680" y="2595371"/>
            <a:ext cx="4724247" cy="1886204"/>
          </a:xfrm>
          <a:prstGeom prst="rect">
            <a:avLst/>
          </a:prstGeom>
          <a:noFill/>
        </p:spPr>
        <p:txBody>
          <a:bodyPr wrap="square" lIns="0" rIns="0" tIns="0" bIns="0">
            <a:spAutoFit/>
          </a:bodyPr>
          <a:lstStyle/>
          <a:p>
            <a:pPr>
              <a:spcAft>
                <a:spcPts val="300"/>
              </a:spcAft>
              <a:defRPr sz="1700" b="0">
                <a:solidFill>
                  <a:srgbClr val="233B4D"/>
                </a:solidFill>
                <a:latin typeface="Aptos"/>
              </a:defRPr>
            </a:pPr>
            <a:r>
              <a:t>An engineer reads the alert, opens the dashboards and the logs, looks for a recent change, judges how bad it is and whether to act, and pages whoever owns the service. It takes minutes to hours, and the answer depends on who is on call and how busy the shift is.</a:t>
            </a:r>
          </a:p>
        </p:txBody>
      </p:sp>
      <p:sp>
        <p:nvSpPr>
          <p:cNvPr id="12" name="Rectangle 11"/>
          <p:cNvSpPr/>
          <p:nvPr/>
        </p:nvSpPr>
        <p:spPr>
          <a:xfrm>
            <a:off x="6278727" y="1700784"/>
            <a:ext cx="5364327" cy="3100831"/>
          </a:xfrm>
          <a:prstGeom prst="rect">
            <a:avLst/>
          </a:prstGeom>
          <a:solidFill>
            <a:srgbClr val="EFF4F6"/>
          </a:solidFill>
          <a:ln>
            <a:noFill/>
          </a:ln>
          <a:effectLst/>
        </p:spPr>
        <p:txBody>
          <a:bodyPr rtlCol="0" anchor="ctr"/>
          <a:lstStyle/>
          <a:p>
            <a:pPr algn="ctr"/>
          </a:p>
        </p:txBody>
      </p:sp>
      <p:sp>
        <p:nvSpPr>
          <p:cNvPr id="13" name="Rectangle 12"/>
          <p:cNvSpPr/>
          <p:nvPr/>
        </p:nvSpPr>
        <p:spPr>
          <a:xfrm>
            <a:off x="6278727" y="1700784"/>
            <a:ext cx="5364327" cy="45720"/>
          </a:xfrm>
          <a:prstGeom prst="rect">
            <a:avLst/>
          </a:prstGeom>
          <a:solidFill>
            <a:srgbClr val="007F82"/>
          </a:solidFill>
          <a:ln>
            <a:noFill/>
          </a:ln>
          <a:effectLst/>
        </p:spPr>
        <p:txBody>
          <a:bodyPr rtlCol="0" anchor="ctr"/>
          <a:lstStyle/>
          <a:p>
            <a:pPr algn="ctr"/>
          </a:p>
        </p:txBody>
      </p:sp>
      <p:sp>
        <p:nvSpPr>
          <p:cNvPr id="14" name="TextBox 13"/>
          <p:cNvSpPr txBox="1"/>
          <p:nvPr/>
        </p:nvSpPr>
        <p:spPr>
          <a:xfrm>
            <a:off x="6598767" y="2066543"/>
            <a:ext cx="4724247" cy="400812"/>
          </a:xfrm>
          <a:prstGeom prst="rect">
            <a:avLst/>
          </a:prstGeom>
          <a:noFill/>
        </p:spPr>
        <p:txBody>
          <a:bodyPr wrap="square" lIns="0" rIns="0" tIns="0" bIns="0">
            <a:spAutoFit/>
          </a:bodyPr>
          <a:lstStyle/>
          <a:p>
            <a:pPr>
              <a:spcAft>
                <a:spcPts val="300"/>
              </a:spcAft>
              <a:defRPr sz="2100" b="1">
                <a:solidFill>
                  <a:srgbClr val="142E42"/>
                </a:solidFill>
                <a:latin typeface="Aptos"/>
              </a:defRPr>
            </a:pPr>
            <a:r>
              <a:t>With a decision step</a:t>
            </a:r>
          </a:p>
        </p:txBody>
      </p:sp>
      <p:sp>
        <p:nvSpPr>
          <p:cNvPr id="15" name="TextBox 14"/>
          <p:cNvSpPr txBox="1"/>
          <p:nvPr/>
        </p:nvSpPr>
        <p:spPr>
          <a:xfrm>
            <a:off x="6598767" y="2595371"/>
            <a:ext cx="4724247" cy="1886204"/>
          </a:xfrm>
          <a:prstGeom prst="rect">
            <a:avLst/>
          </a:prstGeom>
          <a:noFill/>
        </p:spPr>
        <p:txBody>
          <a:bodyPr wrap="square" lIns="0" rIns="0" tIns="0" bIns="0">
            <a:spAutoFit/>
          </a:bodyPr>
          <a:lstStyle/>
          <a:p>
            <a:pPr>
              <a:spcAft>
                <a:spcPts val="300"/>
              </a:spcAft>
              <a:defRPr sz="1700" b="0">
                <a:solidFill>
                  <a:srgbClr val="233B4D"/>
                </a:solidFill>
                <a:latin typeface="Aptos"/>
              </a:defRPr>
            </a:pPr>
            <a:r>
              <a:t>The platform sends the alert and its context to one call, which returns the classification, the severity and a proposed action, each with a probability. Ordinary code applies thresholds you own and either acts or asks a person - the same questions, answered the same way, every time.</a:t>
            </a:r>
          </a:p>
        </p:txBody>
      </p:sp>
      <p:sp>
        <p:nvSpPr>
          <p:cNvPr id="16" name="Rectangle 15"/>
          <p:cNvSpPr/>
          <p:nvPr/>
        </p:nvSpPr>
        <p:spPr>
          <a:xfrm>
            <a:off x="548640" y="6309360"/>
            <a:ext cx="11094415" cy="10972"/>
          </a:xfrm>
          <a:prstGeom prst="rect">
            <a:avLst/>
          </a:prstGeom>
          <a:solidFill>
            <a:srgbClr val="CCD7DD"/>
          </a:solidFill>
          <a:ln>
            <a:noFill/>
          </a:ln>
          <a:effectLst/>
        </p:spPr>
        <p:txBody>
          <a:bodyPr rtlCol="0" anchor="ctr"/>
          <a:lstStyle/>
          <a:p>
            <a:pPr algn="ctr"/>
          </a:p>
        </p:txBody>
      </p:sp>
      <p:sp>
        <p:nvSpPr>
          <p:cNvPr id="17" name="TextBox 16"/>
          <p:cNvSpPr txBox="1"/>
          <p:nvPr/>
        </p:nvSpPr>
        <p:spPr>
          <a:xfrm>
            <a:off x="548640" y="6400800"/>
            <a:ext cx="4572000" cy="201168"/>
          </a:xfrm>
          <a:prstGeom prst="rect">
            <a:avLst/>
          </a:prstGeom>
          <a:noFill/>
        </p:spPr>
        <p:txBody>
          <a:bodyPr wrap="square" lIns="0" rIns="0" tIns="0" bIns="0">
            <a:spAutoFit/>
          </a:bodyPr>
          <a:lstStyle/>
          <a:p>
            <a:pPr>
              <a:spcAft>
                <a:spcPts val="300"/>
              </a:spcAft>
              <a:defRPr sz="900" b="0">
                <a:solidFill>
                  <a:srgbClr val="596A76"/>
                </a:solidFill>
                <a:latin typeface="Aptos"/>
              </a:defRPr>
            </a:pPr>
            <a:r>
              <a:t>For discussion · October 2026</a:t>
            </a:r>
          </a:p>
        </p:txBody>
      </p:sp>
      <p:sp>
        <p:nvSpPr>
          <p:cNvPr id="18" name="TextBox 17"/>
          <p:cNvSpPr txBox="1"/>
          <p:nvPr/>
        </p:nvSpPr>
        <p:spPr>
          <a:xfrm>
            <a:off x="10929480" y="6400800"/>
            <a:ext cx="164934" cy="201168"/>
          </a:xfrm>
          <a:prstGeom prst="rect">
            <a:avLst/>
          </a:prstGeom>
          <a:noFill/>
        </p:spPr>
        <p:txBody>
          <a:bodyPr wrap="square" lIns="0" rIns="0" tIns="0" bIns="0">
            <a:spAutoFit/>
          </a:bodyPr>
          <a:lstStyle/>
          <a:p>
            <a:pPr>
              <a:spcAft>
                <a:spcPts val="300"/>
              </a:spcAft>
              <a:defRPr sz="900" b="1">
                <a:solidFill>
                  <a:srgbClr val="007F82"/>
                </a:solidFill>
                <a:latin typeface="Aptos"/>
              </a:defRPr>
            </a:pPr>
            <a:r>
              <a:rPr>
                <a:hlinkClick r:id="rId3"/>
              </a:rPr>
              <a:t>S7</a:t>
            </a:r>
          </a:p>
        </p:txBody>
      </p:sp>
      <p:sp>
        <p:nvSpPr>
          <p:cNvPr id="19" name="TextBox 18"/>
          <p:cNvSpPr txBox="1"/>
          <p:nvPr/>
        </p:nvSpPr>
        <p:spPr>
          <a:xfrm>
            <a:off x="10783176" y="6400800"/>
            <a:ext cx="91440" cy="201168"/>
          </a:xfrm>
          <a:prstGeom prst="rect">
            <a:avLst/>
          </a:prstGeom>
          <a:noFill/>
        </p:spPr>
        <p:txBody>
          <a:bodyPr wrap="square" lIns="0" rIns="0" tIns="0" bIns="0">
            <a:spAutoFit/>
          </a:bodyPr>
          <a:lstStyle/>
          <a:p>
            <a:pPr algn="ctr">
              <a:spcAft>
                <a:spcPts val="300"/>
              </a:spcAft>
              <a:defRPr sz="900" b="0">
                <a:solidFill>
                  <a:srgbClr val="596A76"/>
                </a:solidFill>
                <a:latin typeface="Aptos"/>
              </a:defRPr>
            </a:pPr>
            <a:r>
              <a:t>·</a:t>
            </a:r>
          </a:p>
        </p:txBody>
      </p:sp>
      <p:sp>
        <p:nvSpPr>
          <p:cNvPr id="20" name="TextBox 19"/>
          <p:cNvSpPr txBox="1"/>
          <p:nvPr/>
        </p:nvSpPr>
        <p:spPr>
          <a:xfrm>
            <a:off x="10618241" y="6400800"/>
            <a:ext cx="164934" cy="201168"/>
          </a:xfrm>
          <a:prstGeom prst="rect">
            <a:avLst/>
          </a:prstGeom>
          <a:noFill/>
        </p:spPr>
        <p:txBody>
          <a:bodyPr wrap="square" lIns="0" rIns="0" tIns="0" bIns="0">
            <a:spAutoFit/>
          </a:bodyPr>
          <a:lstStyle/>
          <a:p>
            <a:pPr>
              <a:spcAft>
                <a:spcPts val="300"/>
              </a:spcAft>
              <a:defRPr sz="900" b="1">
                <a:solidFill>
                  <a:srgbClr val="007F82"/>
                </a:solidFill>
                <a:latin typeface="Aptos"/>
              </a:defRPr>
            </a:pPr>
            <a:r>
              <a:rPr>
                <a:hlinkClick r:id="rId4"/>
              </a:rPr>
              <a:t>S6</a:t>
            </a:r>
          </a:p>
        </p:txBody>
      </p:sp>
      <p:sp>
        <p:nvSpPr>
          <p:cNvPr id="21" name="TextBox 20"/>
          <p:cNvSpPr txBox="1"/>
          <p:nvPr/>
        </p:nvSpPr>
        <p:spPr>
          <a:xfrm>
            <a:off x="10069601" y="6400800"/>
            <a:ext cx="493776" cy="201168"/>
          </a:xfrm>
          <a:prstGeom prst="rect">
            <a:avLst/>
          </a:prstGeom>
          <a:noFill/>
        </p:spPr>
        <p:txBody>
          <a:bodyPr wrap="square" lIns="0" rIns="0" tIns="0" bIns="0">
            <a:spAutoFit/>
          </a:bodyPr>
          <a:lstStyle/>
          <a:p>
            <a:pPr algn="r">
              <a:spcAft>
                <a:spcPts val="300"/>
              </a:spcAft>
              <a:defRPr sz="900" b="0">
                <a:solidFill>
                  <a:srgbClr val="596A76"/>
                </a:solidFill>
                <a:latin typeface="Aptos"/>
              </a:defRPr>
            </a:pPr>
            <a:r>
              <a:t>Sources</a:t>
            </a:r>
          </a:p>
        </p:txBody>
      </p:sp>
      <p:sp>
        <p:nvSpPr>
          <p:cNvPr id="22" name="TextBox 21"/>
          <p:cNvSpPr txBox="1"/>
          <p:nvPr/>
        </p:nvSpPr>
        <p:spPr>
          <a:xfrm>
            <a:off x="11185855" y="6400800"/>
            <a:ext cx="457200" cy="201168"/>
          </a:xfrm>
          <a:prstGeom prst="rect">
            <a:avLst/>
          </a:prstGeom>
          <a:noFill/>
        </p:spPr>
        <p:txBody>
          <a:bodyPr wrap="square" lIns="0" rIns="0" tIns="0" bIns="0">
            <a:spAutoFit/>
          </a:bodyPr>
          <a:lstStyle/>
          <a:p>
            <a:pPr algn="r">
              <a:spcAft>
                <a:spcPts val="300"/>
              </a:spcAft>
              <a:defRPr sz="900" b="0">
                <a:solidFill>
                  <a:srgbClr val="596A76"/>
                </a:solidFill>
                <a:latin typeface="Aptos"/>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7F82"/>
          </a:solidFill>
          <a:ln>
            <a:noFill/>
          </a:ln>
          <a:effectLst/>
        </p:spPr>
        <p:txBody>
          <a:bodyPr rtlCol="0" anchor="ctr"/>
          <a:lstStyle/>
          <a:p>
            <a:pPr algn="ctr"/>
          </a:p>
        </p:txBody>
      </p:sp>
      <p:sp>
        <p:nvSpPr>
          <p:cNvPr id="3" name="TextBox 2"/>
          <p:cNvSpPr txBox="1"/>
          <p:nvPr/>
        </p:nvSpPr>
        <p:spPr>
          <a:xfrm>
            <a:off x="548640" y="310896"/>
            <a:ext cx="9144000" cy="201168"/>
          </a:xfrm>
          <a:prstGeom prst="rect">
            <a:avLst/>
          </a:prstGeom>
          <a:noFill/>
        </p:spPr>
        <p:txBody>
          <a:bodyPr wrap="square" lIns="0" rIns="0" tIns="0" bIns="0">
            <a:spAutoFit/>
          </a:bodyPr>
          <a:lstStyle/>
          <a:p>
            <a:pPr>
              <a:spcAft>
                <a:spcPts val="300"/>
              </a:spcAft>
              <a:defRPr sz="1000" b="1">
                <a:solidFill>
                  <a:srgbClr val="007F82"/>
                </a:solidFill>
                <a:latin typeface="Aptos"/>
              </a:defRPr>
            </a:pPr>
            <a:r>
              <a:t>AN EXAMPLE</a:t>
            </a:r>
          </a:p>
        </p:txBody>
      </p:sp>
      <p:sp>
        <p:nvSpPr>
          <p:cNvPr id="4" name="TextBox 3"/>
          <p:cNvSpPr txBox="1"/>
          <p:nvPr/>
        </p:nvSpPr>
        <p:spPr>
          <a:xfrm>
            <a:off x="548640" y="566928"/>
            <a:ext cx="10149840" cy="469899"/>
          </a:xfrm>
          <a:prstGeom prst="rect">
            <a:avLst/>
          </a:prstGeom>
          <a:noFill/>
        </p:spPr>
        <p:txBody>
          <a:bodyPr wrap="square" lIns="0" rIns="0" tIns="0" bIns="0">
            <a:spAutoFit/>
          </a:bodyPr>
          <a:lstStyle/>
          <a:p>
            <a:pPr>
              <a:spcAft>
                <a:spcPts val="300"/>
              </a:spcAft>
              <a:defRPr sz="2500" b="1">
                <a:solidFill>
                  <a:srgbClr val="142E42"/>
                </a:solidFill>
                <a:latin typeface="Aptos"/>
              </a:defRPr>
            </a:pPr>
            <a:r>
              <a:t>An example, end to end: a service becomes unreachable</a:t>
            </a:r>
          </a:p>
        </p:txBody>
      </p:sp>
      <p:sp>
        <p:nvSpPr>
          <p:cNvPr id="5" name="TextBox 4"/>
          <p:cNvSpPr txBox="1"/>
          <p:nvPr/>
        </p:nvSpPr>
        <p:spPr>
          <a:xfrm>
            <a:off x="548640" y="1073404"/>
            <a:ext cx="10149840" cy="279908"/>
          </a:xfrm>
          <a:prstGeom prst="rect">
            <a:avLst/>
          </a:prstGeom>
          <a:noFill/>
        </p:spPr>
        <p:txBody>
          <a:bodyPr wrap="square" lIns="0" rIns="0" tIns="0" bIns="0">
            <a:spAutoFit/>
          </a:bodyPr>
          <a:lstStyle/>
          <a:p>
            <a:pPr>
              <a:spcAft>
                <a:spcPts val="300"/>
              </a:spcAft>
              <a:defRPr sz="1400" b="0">
                <a:solidFill>
                  <a:srgbClr val="596A76"/>
                </a:solidFill>
                <a:latin typeface="Aptos"/>
              </a:defRPr>
            </a:pPr>
            <a:r>
              <a:t>One recorded example from the project's set; the gate's checks with signed margins</a:t>
            </a:r>
          </a:p>
        </p:txBody>
      </p:sp>
      <p:sp>
        <p:nvSpPr>
          <p:cNvPr id="6" name="Rectangle 5"/>
          <p:cNvSpPr/>
          <p:nvPr/>
        </p:nvSpPr>
        <p:spPr>
          <a:xfrm>
            <a:off x="10929823" y="274320"/>
            <a:ext cx="713232" cy="713232"/>
          </a:xfrm>
          <a:prstGeom prst="rect">
            <a:avLst/>
          </a:prstGeom>
          <a:solidFill>
            <a:srgbClr val="EFF4F6"/>
          </a:solidFill>
          <a:ln>
            <a:noFill/>
          </a:ln>
          <a:effectLst/>
        </p:spPr>
        <p:txBody>
          <a:bodyPr rtlCol="0" anchor="ctr"/>
          <a:lstStyle/>
          <a:p>
            <a:pPr algn="ctr"/>
          </a:p>
        </p:txBody>
      </p:sp>
      <p:pic>
        <p:nvPicPr>
          <p:cNvPr id="7" name="Picture 6" descr="alert.png"/>
          <p:cNvPicPr>
            <a:picLocks noChangeAspect="1"/>
          </p:cNvPicPr>
          <p:nvPr/>
        </p:nvPicPr>
        <p:blipFill>
          <a:blip r:embed="rId2"/>
          <a:stretch>
            <a:fillRect/>
          </a:stretch>
        </p:blipFill>
        <p:spPr>
          <a:xfrm>
            <a:off x="11021263" y="365760"/>
            <a:ext cx="530352" cy="530352"/>
          </a:xfrm>
          <a:prstGeom prst="rect">
            <a:avLst/>
          </a:prstGeom>
        </p:spPr>
      </p:pic>
      <p:sp>
        <p:nvSpPr>
          <p:cNvPr id="8" name="TextBox 7"/>
          <p:cNvSpPr txBox="1"/>
          <p:nvPr/>
        </p:nvSpPr>
        <p:spPr>
          <a:xfrm>
            <a:off x="548640" y="1700784"/>
            <a:ext cx="7315200" cy="292608"/>
          </a:xfrm>
          <a:prstGeom prst="rect">
            <a:avLst/>
          </a:prstGeom>
          <a:noFill/>
        </p:spPr>
        <p:txBody>
          <a:bodyPr wrap="square" lIns="0" rIns="0" tIns="0" bIns="0">
            <a:spAutoFit/>
          </a:bodyPr>
          <a:lstStyle/>
          <a:p>
            <a:pPr>
              <a:spcAft>
                <a:spcPts val="300"/>
              </a:spcAft>
              <a:defRPr sz="1600" b="1">
                <a:solidFill>
                  <a:srgbClr val="142E42"/>
                </a:solidFill>
                <a:latin typeface="Aptos"/>
              </a:defRPr>
            </a:pPr>
            <a:r>
              <a:t>INC-0007 · dns failure · AUTO</a:t>
            </a:r>
          </a:p>
        </p:txBody>
      </p:sp>
      <p:sp>
        <p:nvSpPr>
          <p:cNvPr id="9" name="Rectangle 8"/>
          <p:cNvSpPr/>
          <p:nvPr/>
        </p:nvSpPr>
        <p:spPr>
          <a:xfrm>
            <a:off x="548640" y="2139696"/>
            <a:ext cx="2990088" cy="363220"/>
          </a:xfrm>
          <a:prstGeom prst="rect">
            <a:avLst/>
          </a:prstGeom>
          <a:solidFill>
            <a:srgbClr val="142E42"/>
          </a:solidFill>
          <a:ln>
            <a:noFill/>
          </a:ln>
          <a:effectLst/>
        </p:spPr>
        <p:txBody>
          <a:bodyPr rtlCol="0" anchor="ctr"/>
          <a:lstStyle/>
          <a:p>
            <a:pPr algn="ctr"/>
          </a:p>
        </p:txBody>
      </p:sp>
      <p:sp>
        <p:nvSpPr>
          <p:cNvPr id="10" name="TextBox 9"/>
          <p:cNvSpPr txBox="1"/>
          <p:nvPr/>
        </p:nvSpPr>
        <p:spPr>
          <a:xfrm>
            <a:off x="658368" y="2139696"/>
            <a:ext cx="2770632" cy="363220"/>
          </a:xfrm>
          <a:prstGeom prst="rect">
            <a:avLst/>
          </a:prstGeom>
          <a:noFill/>
        </p:spPr>
        <p:txBody>
          <a:bodyPr wrap="square" lIns="0" rIns="0" tIns="0" bIns="0" anchor="ctr">
            <a:spAutoFit/>
          </a:bodyPr>
          <a:lstStyle/>
          <a:p>
            <a:pPr>
              <a:spcAft>
                <a:spcPts val="300"/>
              </a:spcAft>
              <a:defRPr sz="1300" b="1">
                <a:solidFill>
                  <a:srgbClr val="FFFFFF"/>
                </a:solidFill>
                <a:latin typeface="Aptos"/>
              </a:defRPr>
            </a:pPr>
            <a:r>
              <a:t>Check</a:t>
            </a:r>
          </a:p>
        </p:txBody>
      </p:sp>
      <p:sp>
        <p:nvSpPr>
          <p:cNvPr id="11" name="Rectangle 10"/>
          <p:cNvSpPr/>
          <p:nvPr/>
        </p:nvSpPr>
        <p:spPr>
          <a:xfrm>
            <a:off x="3566160" y="2139696"/>
            <a:ext cx="2075688" cy="363220"/>
          </a:xfrm>
          <a:prstGeom prst="rect">
            <a:avLst/>
          </a:prstGeom>
          <a:solidFill>
            <a:srgbClr val="142E42"/>
          </a:solidFill>
          <a:ln>
            <a:noFill/>
          </a:ln>
          <a:effectLst/>
        </p:spPr>
        <p:txBody>
          <a:bodyPr rtlCol="0" anchor="ctr"/>
          <a:lstStyle/>
          <a:p>
            <a:pPr algn="ctr"/>
          </a:p>
        </p:txBody>
      </p:sp>
      <p:sp>
        <p:nvSpPr>
          <p:cNvPr id="12" name="TextBox 11"/>
          <p:cNvSpPr txBox="1"/>
          <p:nvPr/>
        </p:nvSpPr>
        <p:spPr>
          <a:xfrm>
            <a:off x="3675887" y="2139696"/>
            <a:ext cx="1856232" cy="363220"/>
          </a:xfrm>
          <a:prstGeom prst="rect">
            <a:avLst/>
          </a:prstGeom>
          <a:noFill/>
        </p:spPr>
        <p:txBody>
          <a:bodyPr wrap="square" lIns="0" rIns="0" tIns="0" bIns="0" anchor="ctr">
            <a:spAutoFit/>
          </a:bodyPr>
          <a:lstStyle/>
          <a:p>
            <a:pPr>
              <a:spcAft>
                <a:spcPts val="300"/>
              </a:spcAft>
              <a:defRPr sz="1300" b="1">
                <a:solidFill>
                  <a:srgbClr val="FFFFFF"/>
                </a:solidFill>
                <a:latin typeface="Aptos"/>
              </a:defRPr>
            </a:pPr>
            <a:r>
              <a:t>Value / rule</a:t>
            </a:r>
          </a:p>
        </p:txBody>
      </p:sp>
      <p:sp>
        <p:nvSpPr>
          <p:cNvPr id="13" name="Rectangle 12"/>
          <p:cNvSpPr/>
          <p:nvPr/>
        </p:nvSpPr>
        <p:spPr>
          <a:xfrm>
            <a:off x="5669279" y="2139696"/>
            <a:ext cx="2075688" cy="363220"/>
          </a:xfrm>
          <a:prstGeom prst="rect">
            <a:avLst/>
          </a:prstGeom>
          <a:solidFill>
            <a:srgbClr val="142E42"/>
          </a:solidFill>
          <a:ln>
            <a:noFill/>
          </a:ln>
          <a:effectLst/>
        </p:spPr>
        <p:txBody>
          <a:bodyPr rtlCol="0" anchor="ctr"/>
          <a:lstStyle/>
          <a:p>
            <a:pPr algn="ctr"/>
          </a:p>
        </p:txBody>
      </p:sp>
      <p:sp>
        <p:nvSpPr>
          <p:cNvPr id="14" name="TextBox 13"/>
          <p:cNvSpPr txBox="1"/>
          <p:nvPr/>
        </p:nvSpPr>
        <p:spPr>
          <a:xfrm>
            <a:off x="5779007" y="2139696"/>
            <a:ext cx="1856232" cy="363220"/>
          </a:xfrm>
          <a:prstGeom prst="rect">
            <a:avLst/>
          </a:prstGeom>
          <a:noFill/>
        </p:spPr>
        <p:txBody>
          <a:bodyPr wrap="square" lIns="0" rIns="0" tIns="0" bIns="0" anchor="ctr">
            <a:spAutoFit/>
          </a:bodyPr>
          <a:lstStyle/>
          <a:p>
            <a:pPr>
              <a:spcAft>
                <a:spcPts val="300"/>
              </a:spcAft>
              <a:defRPr sz="1300" b="1">
                <a:solidFill>
                  <a:srgbClr val="FFFFFF"/>
                </a:solidFill>
                <a:latin typeface="Aptos"/>
              </a:defRPr>
            </a:pPr>
            <a:r>
              <a:t>Margin / result</a:t>
            </a:r>
          </a:p>
        </p:txBody>
      </p:sp>
      <p:sp>
        <p:nvSpPr>
          <p:cNvPr id="15" name="Rectangle 14"/>
          <p:cNvSpPr/>
          <p:nvPr/>
        </p:nvSpPr>
        <p:spPr>
          <a:xfrm>
            <a:off x="548640" y="2530348"/>
            <a:ext cx="2990088" cy="381507"/>
          </a:xfrm>
          <a:prstGeom prst="rect">
            <a:avLst/>
          </a:prstGeom>
          <a:solidFill>
            <a:srgbClr val="EFF4F6"/>
          </a:solidFill>
          <a:ln>
            <a:noFill/>
          </a:ln>
          <a:effectLst/>
        </p:spPr>
        <p:txBody>
          <a:bodyPr rtlCol="0" anchor="ctr"/>
          <a:lstStyle/>
          <a:p>
            <a:pPr algn="ctr"/>
          </a:p>
        </p:txBody>
      </p:sp>
      <p:sp>
        <p:nvSpPr>
          <p:cNvPr id="16" name="TextBox 15"/>
          <p:cNvSpPr txBox="1"/>
          <p:nvPr/>
        </p:nvSpPr>
        <p:spPr>
          <a:xfrm>
            <a:off x="658368" y="2530348"/>
            <a:ext cx="2770632" cy="381507"/>
          </a:xfrm>
          <a:prstGeom prst="rect">
            <a:avLst/>
          </a:prstGeom>
          <a:noFill/>
        </p:spPr>
        <p:txBody>
          <a:bodyPr wrap="square" lIns="0" rIns="0" tIns="0" bIns="0" anchor="ctr">
            <a:spAutoFit/>
          </a:bodyPr>
          <a:lstStyle/>
          <a:p>
            <a:pPr>
              <a:spcAft>
                <a:spcPts val="300"/>
              </a:spcAft>
              <a:defRPr sz="1300" b="1">
                <a:solidFill>
                  <a:srgbClr val="233B4D"/>
                </a:solidFill>
                <a:latin typeface="Aptos"/>
              </a:defRPr>
            </a:pPr>
            <a:r>
              <a:t>Page a person</a:t>
            </a:r>
          </a:p>
        </p:txBody>
      </p:sp>
      <p:sp>
        <p:nvSpPr>
          <p:cNvPr id="17" name="Rectangle 16"/>
          <p:cNvSpPr/>
          <p:nvPr/>
        </p:nvSpPr>
        <p:spPr>
          <a:xfrm>
            <a:off x="3566160" y="2530348"/>
            <a:ext cx="2075688" cy="381507"/>
          </a:xfrm>
          <a:prstGeom prst="rect">
            <a:avLst/>
          </a:prstGeom>
          <a:solidFill>
            <a:srgbClr val="EFF4F6"/>
          </a:solidFill>
          <a:ln>
            <a:noFill/>
          </a:ln>
          <a:effectLst/>
        </p:spPr>
        <p:txBody>
          <a:bodyPr rtlCol="0" anchor="ctr"/>
          <a:lstStyle/>
          <a:p>
            <a:pPr algn="ctr"/>
          </a:p>
        </p:txBody>
      </p:sp>
      <p:sp>
        <p:nvSpPr>
          <p:cNvPr id="18" name="TextBox 17"/>
          <p:cNvSpPr txBox="1"/>
          <p:nvPr/>
        </p:nvSpPr>
        <p:spPr>
          <a:xfrm>
            <a:off x="3675887" y="2530348"/>
            <a:ext cx="1856232" cy="381507"/>
          </a:xfrm>
          <a:prstGeom prst="rect">
            <a:avLst/>
          </a:prstGeom>
          <a:noFill/>
        </p:spPr>
        <p:txBody>
          <a:bodyPr wrap="square" lIns="0" rIns="0" tIns="0" bIns="0" anchor="ctr">
            <a:spAutoFit/>
          </a:bodyPr>
          <a:lstStyle/>
          <a:p>
            <a:pPr>
              <a:spcAft>
                <a:spcPts val="300"/>
              </a:spcAft>
              <a:defRPr sz="1300" b="0">
                <a:solidFill>
                  <a:srgbClr val="233B4D"/>
                </a:solidFill>
                <a:latin typeface="Aptos"/>
              </a:defRPr>
            </a:pPr>
            <a:r>
              <a:t>0.77 &lt; 0.90</a:t>
            </a:r>
          </a:p>
        </p:txBody>
      </p:sp>
      <p:sp>
        <p:nvSpPr>
          <p:cNvPr id="19" name="Rectangle 18"/>
          <p:cNvSpPr/>
          <p:nvPr/>
        </p:nvSpPr>
        <p:spPr>
          <a:xfrm>
            <a:off x="5669279" y="2530348"/>
            <a:ext cx="2075688" cy="381507"/>
          </a:xfrm>
          <a:prstGeom prst="rect">
            <a:avLst/>
          </a:prstGeom>
          <a:solidFill>
            <a:srgbClr val="EFF4F6"/>
          </a:solidFill>
          <a:ln>
            <a:noFill/>
          </a:ln>
          <a:effectLst/>
        </p:spPr>
        <p:txBody>
          <a:bodyPr rtlCol="0" anchor="ctr"/>
          <a:lstStyle/>
          <a:p>
            <a:pPr algn="ctr"/>
          </a:p>
        </p:txBody>
      </p:sp>
      <p:sp>
        <p:nvSpPr>
          <p:cNvPr id="20" name="TextBox 19"/>
          <p:cNvSpPr txBox="1"/>
          <p:nvPr/>
        </p:nvSpPr>
        <p:spPr>
          <a:xfrm>
            <a:off x="5779007" y="2530348"/>
            <a:ext cx="1856232" cy="381507"/>
          </a:xfrm>
          <a:prstGeom prst="rect">
            <a:avLst/>
          </a:prstGeom>
          <a:noFill/>
        </p:spPr>
        <p:txBody>
          <a:bodyPr wrap="square" lIns="0" rIns="0" tIns="0" bIns="0" anchor="ctr">
            <a:spAutoFit/>
          </a:bodyPr>
          <a:lstStyle/>
          <a:p>
            <a:pPr>
              <a:spcAft>
                <a:spcPts val="300"/>
              </a:spcAft>
              <a:defRPr sz="1300" b="0">
                <a:solidFill>
                  <a:srgbClr val="233B4D"/>
                </a:solidFill>
                <a:latin typeface="Aptos"/>
              </a:defRPr>
            </a:pPr>
            <a:r>
              <a:t>+0.13 / pass</a:t>
            </a:r>
          </a:p>
        </p:txBody>
      </p:sp>
      <p:sp>
        <p:nvSpPr>
          <p:cNvPr id="21" name="Rectangle 20"/>
          <p:cNvSpPr/>
          <p:nvPr/>
        </p:nvSpPr>
        <p:spPr>
          <a:xfrm>
            <a:off x="548640" y="2939288"/>
            <a:ext cx="2990088" cy="381507"/>
          </a:xfrm>
          <a:prstGeom prst="rect">
            <a:avLst/>
          </a:prstGeom>
          <a:solidFill>
            <a:srgbClr val="F8FAFB"/>
          </a:solidFill>
          <a:ln>
            <a:noFill/>
          </a:ln>
          <a:effectLst/>
        </p:spPr>
        <p:txBody>
          <a:bodyPr rtlCol="0" anchor="ctr"/>
          <a:lstStyle/>
          <a:p>
            <a:pPr algn="ctr"/>
          </a:p>
        </p:txBody>
      </p:sp>
      <p:sp>
        <p:nvSpPr>
          <p:cNvPr id="22" name="TextBox 21"/>
          <p:cNvSpPr txBox="1"/>
          <p:nvPr/>
        </p:nvSpPr>
        <p:spPr>
          <a:xfrm>
            <a:off x="658368" y="2939288"/>
            <a:ext cx="2770632" cy="381507"/>
          </a:xfrm>
          <a:prstGeom prst="rect">
            <a:avLst/>
          </a:prstGeom>
          <a:noFill/>
        </p:spPr>
        <p:txBody>
          <a:bodyPr wrap="square" lIns="0" rIns="0" tIns="0" bIns="0" anchor="ctr">
            <a:spAutoFit/>
          </a:bodyPr>
          <a:lstStyle/>
          <a:p>
            <a:pPr>
              <a:spcAft>
                <a:spcPts val="300"/>
              </a:spcAft>
              <a:defRPr sz="1300" b="1">
                <a:solidFill>
                  <a:srgbClr val="233B4D"/>
                </a:solidFill>
                <a:latin typeface="Aptos"/>
              </a:defRPr>
            </a:pPr>
            <a:r>
              <a:t>Real incident</a:t>
            </a:r>
          </a:p>
        </p:txBody>
      </p:sp>
      <p:sp>
        <p:nvSpPr>
          <p:cNvPr id="23" name="Rectangle 22"/>
          <p:cNvSpPr/>
          <p:nvPr/>
        </p:nvSpPr>
        <p:spPr>
          <a:xfrm>
            <a:off x="3566160" y="2939288"/>
            <a:ext cx="2075688" cy="381507"/>
          </a:xfrm>
          <a:prstGeom prst="rect">
            <a:avLst/>
          </a:prstGeom>
          <a:solidFill>
            <a:srgbClr val="F8FAFB"/>
          </a:solidFill>
          <a:ln>
            <a:noFill/>
          </a:ln>
          <a:effectLst/>
        </p:spPr>
        <p:txBody>
          <a:bodyPr rtlCol="0" anchor="ctr"/>
          <a:lstStyle/>
          <a:p>
            <a:pPr algn="ctr"/>
          </a:p>
        </p:txBody>
      </p:sp>
      <p:sp>
        <p:nvSpPr>
          <p:cNvPr id="24" name="TextBox 23"/>
          <p:cNvSpPr txBox="1"/>
          <p:nvPr/>
        </p:nvSpPr>
        <p:spPr>
          <a:xfrm>
            <a:off x="3675887" y="2939288"/>
            <a:ext cx="1856232" cy="381507"/>
          </a:xfrm>
          <a:prstGeom prst="rect">
            <a:avLst/>
          </a:prstGeom>
          <a:noFill/>
        </p:spPr>
        <p:txBody>
          <a:bodyPr wrap="square" lIns="0" rIns="0" tIns="0" bIns="0" anchor="ctr">
            <a:spAutoFit/>
          </a:bodyPr>
          <a:lstStyle/>
          <a:p>
            <a:pPr>
              <a:spcAft>
                <a:spcPts val="300"/>
              </a:spcAft>
              <a:defRPr sz="1300" b="0">
                <a:solidFill>
                  <a:srgbClr val="233B4D"/>
                </a:solidFill>
                <a:latin typeface="Aptos"/>
              </a:defRPr>
            </a:pPr>
            <a:r>
              <a:t>0.91 &gt;= 0.50</a:t>
            </a:r>
          </a:p>
        </p:txBody>
      </p:sp>
      <p:sp>
        <p:nvSpPr>
          <p:cNvPr id="25" name="Rectangle 24"/>
          <p:cNvSpPr/>
          <p:nvPr/>
        </p:nvSpPr>
        <p:spPr>
          <a:xfrm>
            <a:off x="5669279" y="2939288"/>
            <a:ext cx="2075688" cy="381507"/>
          </a:xfrm>
          <a:prstGeom prst="rect">
            <a:avLst/>
          </a:prstGeom>
          <a:solidFill>
            <a:srgbClr val="F8FAFB"/>
          </a:solidFill>
          <a:ln>
            <a:noFill/>
          </a:ln>
          <a:effectLst/>
        </p:spPr>
        <p:txBody>
          <a:bodyPr rtlCol="0" anchor="ctr"/>
          <a:lstStyle/>
          <a:p>
            <a:pPr algn="ctr"/>
          </a:p>
        </p:txBody>
      </p:sp>
      <p:sp>
        <p:nvSpPr>
          <p:cNvPr id="26" name="TextBox 25"/>
          <p:cNvSpPr txBox="1"/>
          <p:nvPr/>
        </p:nvSpPr>
        <p:spPr>
          <a:xfrm>
            <a:off x="5779007" y="2939288"/>
            <a:ext cx="1856232" cy="381507"/>
          </a:xfrm>
          <a:prstGeom prst="rect">
            <a:avLst/>
          </a:prstGeom>
          <a:noFill/>
        </p:spPr>
        <p:txBody>
          <a:bodyPr wrap="square" lIns="0" rIns="0" tIns="0" bIns="0" anchor="ctr">
            <a:spAutoFit/>
          </a:bodyPr>
          <a:lstStyle/>
          <a:p>
            <a:pPr>
              <a:spcAft>
                <a:spcPts val="300"/>
              </a:spcAft>
              <a:defRPr sz="1300" b="0">
                <a:solidFill>
                  <a:srgbClr val="233B4D"/>
                </a:solidFill>
                <a:latin typeface="Aptos"/>
              </a:defRPr>
            </a:pPr>
            <a:r>
              <a:t>+0.41 / pass</a:t>
            </a:r>
          </a:p>
        </p:txBody>
      </p:sp>
      <p:sp>
        <p:nvSpPr>
          <p:cNvPr id="27" name="Rectangle 26"/>
          <p:cNvSpPr/>
          <p:nvPr/>
        </p:nvSpPr>
        <p:spPr>
          <a:xfrm>
            <a:off x="548640" y="3348227"/>
            <a:ext cx="2990088" cy="381507"/>
          </a:xfrm>
          <a:prstGeom prst="rect">
            <a:avLst/>
          </a:prstGeom>
          <a:solidFill>
            <a:srgbClr val="EFF4F6"/>
          </a:solidFill>
          <a:ln>
            <a:noFill/>
          </a:ln>
          <a:effectLst/>
        </p:spPr>
        <p:txBody>
          <a:bodyPr rtlCol="0" anchor="ctr"/>
          <a:lstStyle/>
          <a:p>
            <a:pPr algn="ctr"/>
          </a:p>
        </p:txBody>
      </p:sp>
      <p:sp>
        <p:nvSpPr>
          <p:cNvPr id="28" name="TextBox 27"/>
          <p:cNvSpPr txBox="1"/>
          <p:nvPr/>
        </p:nvSpPr>
        <p:spPr>
          <a:xfrm>
            <a:off x="658368" y="3348227"/>
            <a:ext cx="2770632" cy="381507"/>
          </a:xfrm>
          <a:prstGeom prst="rect">
            <a:avLst/>
          </a:prstGeom>
          <a:noFill/>
        </p:spPr>
        <p:txBody>
          <a:bodyPr wrap="square" lIns="0" rIns="0" tIns="0" bIns="0" anchor="ctr">
            <a:spAutoFit/>
          </a:bodyPr>
          <a:lstStyle/>
          <a:p>
            <a:pPr>
              <a:spcAft>
                <a:spcPts val="300"/>
              </a:spcAft>
              <a:defRPr sz="1300" b="1">
                <a:solidFill>
                  <a:srgbClr val="233B4D"/>
                </a:solidFill>
                <a:latin typeface="Aptos"/>
              </a:defRPr>
            </a:pPr>
            <a:r>
              <a:t>Action confidence</a:t>
            </a:r>
          </a:p>
        </p:txBody>
      </p:sp>
      <p:sp>
        <p:nvSpPr>
          <p:cNvPr id="29" name="Rectangle 28"/>
          <p:cNvSpPr/>
          <p:nvPr/>
        </p:nvSpPr>
        <p:spPr>
          <a:xfrm>
            <a:off x="3566160" y="3348227"/>
            <a:ext cx="2075688" cy="381507"/>
          </a:xfrm>
          <a:prstGeom prst="rect">
            <a:avLst/>
          </a:prstGeom>
          <a:solidFill>
            <a:srgbClr val="EFF4F6"/>
          </a:solidFill>
          <a:ln>
            <a:noFill/>
          </a:ln>
          <a:effectLst/>
        </p:spPr>
        <p:txBody>
          <a:bodyPr rtlCol="0" anchor="ctr"/>
          <a:lstStyle/>
          <a:p>
            <a:pPr algn="ctr"/>
          </a:p>
        </p:txBody>
      </p:sp>
      <p:sp>
        <p:nvSpPr>
          <p:cNvPr id="30" name="TextBox 29"/>
          <p:cNvSpPr txBox="1"/>
          <p:nvPr/>
        </p:nvSpPr>
        <p:spPr>
          <a:xfrm>
            <a:off x="3675887" y="3348227"/>
            <a:ext cx="1856232" cy="381507"/>
          </a:xfrm>
          <a:prstGeom prst="rect">
            <a:avLst/>
          </a:prstGeom>
          <a:noFill/>
        </p:spPr>
        <p:txBody>
          <a:bodyPr wrap="square" lIns="0" rIns="0" tIns="0" bIns="0" anchor="ctr">
            <a:spAutoFit/>
          </a:bodyPr>
          <a:lstStyle/>
          <a:p>
            <a:pPr>
              <a:spcAft>
                <a:spcPts val="300"/>
              </a:spcAft>
              <a:defRPr sz="1300" b="0">
                <a:solidFill>
                  <a:srgbClr val="233B4D"/>
                </a:solidFill>
                <a:latin typeface="Aptos"/>
              </a:defRPr>
            </a:pPr>
            <a:r>
              <a:t>0.92 &gt;= 0.60</a:t>
            </a:r>
          </a:p>
        </p:txBody>
      </p:sp>
      <p:sp>
        <p:nvSpPr>
          <p:cNvPr id="31" name="Rectangle 30"/>
          <p:cNvSpPr/>
          <p:nvPr/>
        </p:nvSpPr>
        <p:spPr>
          <a:xfrm>
            <a:off x="5669279" y="3348227"/>
            <a:ext cx="2075688" cy="381507"/>
          </a:xfrm>
          <a:prstGeom prst="rect">
            <a:avLst/>
          </a:prstGeom>
          <a:solidFill>
            <a:srgbClr val="EFF4F6"/>
          </a:solidFill>
          <a:ln>
            <a:noFill/>
          </a:ln>
          <a:effectLst/>
        </p:spPr>
        <p:txBody>
          <a:bodyPr rtlCol="0" anchor="ctr"/>
          <a:lstStyle/>
          <a:p>
            <a:pPr algn="ctr"/>
          </a:p>
        </p:txBody>
      </p:sp>
      <p:sp>
        <p:nvSpPr>
          <p:cNvPr id="32" name="TextBox 31"/>
          <p:cNvSpPr txBox="1"/>
          <p:nvPr/>
        </p:nvSpPr>
        <p:spPr>
          <a:xfrm>
            <a:off x="5779007" y="3348227"/>
            <a:ext cx="1856232" cy="381507"/>
          </a:xfrm>
          <a:prstGeom prst="rect">
            <a:avLst/>
          </a:prstGeom>
          <a:noFill/>
        </p:spPr>
        <p:txBody>
          <a:bodyPr wrap="square" lIns="0" rIns="0" tIns="0" bIns="0" anchor="ctr">
            <a:spAutoFit/>
          </a:bodyPr>
          <a:lstStyle/>
          <a:p>
            <a:pPr>
              <a:spcAft>
                <a:spcPts val="300"/>
              </a:spcAft>
              <a:defRPr sz="1300" b="0">
                <a:solidFill>
                  <a:srgbClr val="233B4D"/>
                </a:solidFill>
                <a:latin typeface="Aptos"/>
              </a:defRPr>
            </a:pPr>
            <a:r>
              <a:t>+0.32 / pass</a:t>
            </a:r>
          </a:p>
        </p:txBody>
      </p:sp>
      <p:sp>
        <p:nvSpPr>
          <p:cNvPr id="33" name="Rectangle 32"/>
          <p:cNvSpPr/>
          <p:nvPr/>
        </p:nvSpPr>
        <p:spPr>
          <a:xfrm>
            <a:off x="548640" y="3757167"/>
            <a:ext cx="2990088" cy="381507"/>
          </a:xfrm>
          <a:prstGeom prst="rect">
            <a:avLst/>
          </a:prstGeom>
          <a:solidFill>
            <a:srgbClr val="F8FAFB"/>
          </a:solidFill>
          <a:ln>
            <a:noFill/>
          </a:ln>
          <a:effectLst/>
        </p:spPr>
        <p:txBody>
          <a:bodyPr rtlCol="0" anchor="ctr"/>
          <a:lstStyle/>
          <a:p>
            <a:pPr algn="ctr"/>
          </a:p>
        </p:txBody>
      </p:sp>
      <p:sp>
        <p:nvSpPr>
          <p:cNvPr id="34" name="TextBox 33"/>
          <p:cNvSpPr txBox="1"/>
          <p:nvPr/>
        </p:nvSpPr>
        <p:spPr>
          <a:xfrm>
            <a:off x="658368" y="3757167"/>
            <a:ext cx="2770632" cy="381507"/>
          </a:xfrm>
          <a:prstGeom prst="rect">
            <a:avLst/>
          </a:prstGeom>
          <a:noFill/>
        </p:spPr>
        <p:txBody>
          <a:bodyPr wrap="square" lIns="0" rIns="0" tIns="0" bIns="0" anchor="ctr">
            <a:spAutoFit/>
          </a:bodyPr>
          <a:lstStyle/>
          <a:p>
            <a:pPr>
              <a:spcAft>
                <a:spcPts val="300"/>
              </a:spcAft>
              <a:defRPr sz="1300" b="1">
                <a:solidFill>
                  <a:srgbClr val="233B4D"/>
                </a:solidFill>
                <a:latin typeface="Aptos"/>
              </a:defRPr>
            </a:pPr>
            <a:r>
              <a:t>Action risk</a:t>
            </a:r>
          </a:p>
        </p:txBody>
      </p:sp>
      <p:sp>
        <p:nvSpPr>
          <p:cNvPr id="35" name="Rectangle 34"/>
          <p:cNvSpPr/>
          <p:nvPr/>
        </p:nvSpPr>
        <p:spPr>
          <a:xfrm>
            <a:off x="3566160" y="3757167"/>
            <a:ext cx="2075688" cy="381507"/>
          </a:xfrm>
          <a:prstGeom prst="rect">
            <a:avLst/>
          </a:prstGeom>
          <a:solidFill>
            <a:srgbClr val="F8FAFB"/>
          </a:solidFill>
          <a:ln>
            <a:noFill/>
          </a:ln>
          <a:effectLst/>
        </p:spPr>
        <p:txBody>
          <a:bodyPr rtlCol="0" anchor="ctr"/>
          <a:lstStyle/>
          <a:p>
            <a:pPr algn="ctr"/>
          </a:p>
        </p:txBody>
      </p:sp>
      <p:sp>
        <p:nvSpPr>
          <p:cNvPr id="36" name="TextBox 35"/>
          <p:cNvSpPr txBox="1"/>
          <p:nvPr/>
        </p:nvSpPr>
        <p:spPr>
          <a:xfrm>
            <a:off x="3675887" y="3757167"/>
            <a:ext cx="1856232" cy="381507"/>
          </a:xfrm>
          <a:prstGeom prst="rect">
            <a:avLst/>
          </a:prstGeom>
          <a:noFill/>
        </p:spPr>
        <p:txBody>
          <a:bodyPr wrap="square" lIns="0" rIns="0" tIns="0" bIns="0" anchor="ctr">
            <a:spAutoFit/>
          </a:bodyPr>
          <a:lstStyle/>
          <a:p>
            <a:pPr>
              <a:spcAft>
                <a:spcPts val="300"/>
              </a:spcAft>
              <a:defRPr sz="1300" b="0">
                <a:solidFill>
                  <a:srgbClr val="233B4D"/>
                </a:solidFill>
                <a:latin typeface="Aptos"/>
              </a:defRPr>
            </a:pPr>
            <a:r>
              <a:t>0.50 &lt;= 1.00</a:t>
            </a:r>
          </a:p>
        </p:txBody>
      </p:sp>
      <p:sp>
        <p:nvSpPr>
          <p:cNvPr id="37" name="Rectangle 36"/>
          <p:cNvSpPr/>
          <p:nvPr/>
        </p:nvSpPr>
        <p:spPr>
          <a:xfrm>
            <a:off x="5669279" y="3757167"/>
            <a:ext cx="2075688" cy="381507"/>
          </a:xfrm>
          <a:prstGeom prst="rect">
            <a:avLst/>
          </a:prstGeom>
          <a:solidFill>
            <a:srgbClr val="F8FAFB"/>
          </a:solidFill>
          <a:ln>
            <a:noFill/>
          </a:ln>
          <a:effectLst/>
        </p:spPr>
        <p:txBody>
          <a:bodyPr rtlCol="0" anchor="ctr"/>
          <a:lstStyle/>
          <a:p>
            <a:pPr algn="ctr"/>
          </a:p>
        </p:txBody>
      </p:sp>
      <p:sp>
        <p:nvSpPr>
          <p:cNvPr id="38" name="TextBox 37"/>
          <p:cNvSpPr txBox="1"/>
          <p:nvPr/>
        </p:nvSpPr>
        <p:spPr>
          <a:xfrm>
            <a:off x="5779007" y="3757167"/>
            <a:ext cx="1856232" cy="381507"/>
          </a:xfrm>
          <a:prstGeom prst="rect">
            <a:avLst/>
          </a:prstGeom>
          <a:noFill/>
        </p:spPr>
        <p:txBody>
          <a:bodyPr wrap="square" lIns="0" rIns="0" tIns="0" bIns="0" anchor="ctr">
            <a:spAutoFit/>
          </a:bodyPr>
          <a:lstStyle/>
          <a:p>
            <a:pPr>
              <a:spcAft>
                <a:spcPts val="300"/>
              </a:spcAft>
              <a:defRPr sz="1300" b="0">
                <a:solidFill>
                  <a:srgbClr val="233B4D"/>
                </a:solidFill>
                <a:latin typeface="Aptos"/>
              </a:defRPr>
            </a:pPr>
            <a:r>
              <a:t>+0.50 / pass</a:t>
            </a:r>
          </a:p>
        </p:txBody>
      </p:sp>
      <p:sp>
        <p:nvSpPr>
          <p:cNvPr id="39" name="Rectangle 38"/>
          <p:cNvSpPr/>
          <p:nvPr/>
        </p:nvSpPr>
        <p:spPr>
          <a:xfrm>
            <a:off x="548640" y="4166107"/>
            <a:ext cx="2990088" cy="381507"/>
          </a:xfrm>
          <a:prstGeom prst="rect">
            <a:avLst/>
          </a:prstGeom>
          <a:solidFill>
            <a:srgbClr val="EFF4F6"/>
          </a:solidFill>
          <a:ln>
            <a:noFill/>
          </a:ln>
          <a:effectLst/>
        </p:spPr>
        <p:txBody>
          <a:bodyPr rtlCol="0" anchor="ctr"/>
          <a:lstStyle/>
          <a:p>
            <a:pPr algn="ctr"/>
          </a:p>
        </p:txBody>
      </p:sp>
      <p:sp>
        <p:nvSpPr>
          <p:cNvPr id="40" name="TextBox 39"/>
          <p:cNvSpPr txBox="1"/>
          <p:nvPr/>
        </p:nvSpPr>
        <p:spPr>
          <a:xfrm>
            <a:off x="658368" y="4166107"/>
            <a:ext cx="2770632" cy="381507"/>
          </a:xfrm>
          <a:prstGeom prst="rect">
            <a:avLst/>
          </a:prstGeom>
          <a:noFill/>
        </p:spPr>
        <p:txBody>
          <a:bodyPr wrap="square" lIns="0" rIns="0" tIns="0" bIns="0" anchor="ctr">
            <a:spAutoFit/>
          </a:bodyPr>
          <a:lstStyle/>
          <a:p>
            <a:pPr>
              <a:spcAft>
                <a:spcPts val="300"/>
              </a:spcAft>
              <a:defRPr sz="1300" b="1">
                <a:solidFill>
                  <a:srgbClr val="233B4D"/>
                </a:solidFill>
                <a:latin typeface="Aptos"/>
              </a:defRPr>
            </a:pPr>
            <a:r>
              <a:t>Severity</a:t>
            </a:r>
          </a:p>
        </p:txBody>
      </p:sp>
      <p:sp>
        <p:nvSpPr>
          <p:cNvPr id="41" name="Rectangle 40"/>
          <p:cNvSpPr/>
          <p:nvPr/>
        </p:nvSpPr>
        <p:spPr>
          <a:xfrm>
            <a:off x="3566160" y="4166107"/>
            <a:ext cx="2075688" cy="381507"/>
          </a:xfrm>
          <a:prstGeom prst="rect">
            <a:avLst/>
          </a:prstGeom>
          <a:solidFill>
            <a:srgbClr val="EFF4F6"/>
          </a:solidFill>
          <a:ln>
            <a:noFill/>
          </a:ln>
          <a:effectLst/>
        </p:spPr>
        <p:txBody>
          <a:bodyPr rtlCol="0" anchor="ctr"/>
          <a:lstStyle/>
          <a:p>
            <a:pPr algn="ctr"/>
          </a:p>
        </p:txBody>
      </p:sp>
      <p:sp>
        <p:nvSpPr>
          <p:cNvPr id="42" name="TextBox 41"/>
          <p:cNvSpPr txBox="1"/>
          <p:nvPr/>
        </p:nvSpPr>
        <p:spPr>
          <a:xfrm>
            <a:off x="3675887" y="4166107"/>
            <a:ext cx="1856232" cy="381507"/>
          </a:xfrm>
          <a:prstGeom prst="rect">
            <a:avLst/>
          </a:prstGeom>
          <a:noFill/>
        </p:spPr>
        <p:txBody>
          <a:bodyPr wrap="square" lIns="0" rIns="0" tIns="0" bIns="0" anchor="ctr">
            <a:spAutoFit/>
          </a:bodyPr>
          <a:lstStyle/>
          <a:p>
            <a:pPr>
              <a:spcAft>
                <a:spcPts val="300"/>
              </a:spcAft>
              <a:defRPr sz="1300" b="0">
                <a:solidFill>
                  <a:srgbClr val="233B4D"/>
                </a:solidFill>
                <a:latin typeface="Aptos"/>
              </a:defRPr>
            </a:pPr>
            <a:r>
              <a:t>2.35 &lt;= 2.50</a:t>
            </a:r>
          </a:p>
        </p:txBody>
      </p:sp>
      <p:sp>
        <p:nvSpPr>
          <p:cNvPr id="43" name="Rectangle 42"/>
          <p:cNvSpPr/>
          <p:nvPr/>
        </p:nvSpPr>
        <p:spPr>
          <a:xfrm>
            <a:off x="5669279" y="4166107"/>
            <a:ext cx="2075688" cy="381507"/>
          </a:xfrm>
          <a:prstGeom prst="rect">
            <a:avLst/>
          </a:prstGeom>
          <a:solidFill>
            <a:srgbClr val="EFF4F6"/>
          </a:solidFill>
          <a:ln>
            <a:noFill/>
          </a:ln>
          <a:effectLst/>
        </p:spPr>
        <p:txBody>
          <a:bodyPr rtlCol="0" anchor="ctr"/>
          <a:lstStyle/>
          <a:p>
            <a:pPr algn="ctr"/>
          </a:p>
        </p:txBody>
      </p:sp>
      <p:sp>
        <p:nvSpPr>
          <p:cNvPr id="44" name="TextBox 43"/>
          <p:cNvSpPr txBox="1"/>
          <p:nvPr/>
        </p:nvSpPr>
        <p:spPr>
          <a:xfrm>
            <a:off x="5779007" y="4166107"/>
            <a:ext cx="1856232" cy="381507"/>
          </a:xfrm>
          <a:prstGeom prst="rect">
            <a:avLst/>
          </a:prstGeom>
          <a:noFill/>
        </p:spPr>
        <p:txBody>
          <a:bodyPr wrap="square" lIns="0" rIns="0" tIns="0" bIns="0" anchor="ctr">
            <a:spAutoFit/>
          </a:bodyPr>
          <a:lstStyle/>
          <a:p>
            <a:pPr>
              <a:spcAft>
                <a:spcPts val="300"/>
              </a:spcAft>
              <a:defRPr sz="1300" b="0">
                <a:solidFill>
                  <a:srgbClr val="233B4D"/>
                </a:solidFill>
                <a:latin typeface="Aptos"/>
              </a:defRPr>
            </a:pPr>
            <a:r>
              <a:t>+0.15 / pass</a:t>
            </a:r>
          </a:p>
        </p:txBody>
      </p:sp>
      <p:sp>
        <p:nvSpPr>
          <p:cNvPr id="45" name="Rectangle 44"/>
          <p:cNvSpPr/>
          <p:nvPr/>
        </p:nvSpPr>
        <p:spPr>
          <a:xfrm>
            <a:off x="548640" y="4575047"/>
            <a:ext cx="2990088" cy="381507"/>
          </a:xfrm>
          <a:prstGeom prst="rect">
            <a:avLst/>
          </a:prstGeom>
          <a:solidFill>
            <a:srgbClr val="F8FAFB"/>
          </a:solidFill>
          <a:ln>
            <a:noFill/>
          </a:ln>
          <a:effectLst/>
        </p:spPr>
        <p:txBody>
          <a:bodyPr rtlCol="0" anchor="ctr"/>
          <a:lstStyle/>
          <a:p>
            <a:pPr algn="ctr"/>
          </a:p>
        </p:txBody>
      </p:sp>
      <p:sp>
        <p:nvSpPr>
          <p:cNvPr id="46" name="TextBox 45"/>
          <p:cNvSpPr txBox="1"/>
          <p:nvPr/>
        </p:nvSpPr>
        <p:spPr>
          <a:xfrm>
            <a:off x="658368" y="4575047"/>
            <a:ext cx="2770632" cy="381507"/>
          </a:xfrm>
          <a:prstGeom prst="rect">
            <a:avLst/>
          </a:prstGeom>
          <a:noFill/>
        </p:spPr>
        <p:txBody>
          <a:bodyPr wrap="square" lIns="0" rIns="0" tIns="0" bIns="0" anchor="ctr">
            <a:spAutoFit/>
          </a:bodyPr>
          <a:lstStyle/>
          <a:p>
            <a:pPr>
              <a:spcAft>
                <a:spcPts val="300"/>
              </a:spcAft>
              <a:defRPr sz="1300" b="1">
                <a:solidFill>
                  <a:srgbClr val="233B4D"/>
                </a:solidFill>
                <a:latin typeface="Aptos"/>
              </a:defRPr>
            </a:pPr>
            <a:r>
              <a:t>Deploy correlation</a:t>
            </a:r>
          </a:p>
        </p:txBody>
      </p:sp>
      <p:sp>
        <p:nvSpPr>
          <p:cNvPr id="47" name="Rectangle 46"/>
          <p:cNvSpPr/>
          <p:nvPr/>
        </p:nvSpPr>
        <p:spPr>
          <a:xfrm>
            <a:off x="3566160" y="4575047"/>
            <a:ext cx="2075688" cy="381507"/>
          </a:xfrm>
          <a:prstGeom prst="rect">
            <a:avLst/>
          </a:prstGeom>
          <a:solidFill>
            <a:srgbClr val="F8FAFB"/>
          </a:solidFill>
          <a:ln>
            <a:noFill/>
          </a:ln>
          <a:effectLst/>
        </p:spPr>
        <p:txBody>
          <a:bodyPr rtlCol="0" anchor="ctr"/>
          <a:lstStyle/>
          <a:p>
            <a:pPr algn="ctr"/>
          </a:p>
        </p:txBody>
      </p:sp>
      <p:sp>
        <p:nvSpPr>
          <p:cNvPr id="48" name="TextBox 47"/>
          <p:cNvSpPr txBox="1"/>
          <p:nvPr/>
        </p:nvSpPr>
        <p:spPr>
          <a:xfrm>
            <a:off x="3675887" y="4575047"/>
            <a:ext cx="1856232" cy="381507"/>
          </a:xfrm>
          <a:prstGeom prst="rect">
            <a:avLst/>
          </a:prstGeom>
          <a:noFill/>
        </p:spPr>
        <p:txBody>
          <a:bodyPr wrap="square" lIns="0" rIns="0" tIns="0" bIns="0" anchor="ctr">
            <a:spAutoFit/>
          </a:bodyPr>
          <a:lstStyle/>
          <a:p>
            <a:pPr>
              <a:spcAft>
                <a:spcPts val="300"/>
              </a:spcAft>
              <a:defRPr sz="1300" b="0">
                <a:solidFill>
                  <a:srgbClr val="233B4D"/>
                </a:solidFill>
                <a:latin typeface="Aptos"/>
              </a:defRPr>
            </a:pPr>
            <a:r>
              <a:t>0.94 &gt;= 0.80</a:t>
            </a:r>
          </a:p>
        </p:txBody>
      </p:sp>
      <p:sp>
        <p:nvSpPr>
          <p:cNvPr id="49" name="Rectangle 48"/>
          <p:cNvSpPr/>
          <p:nvPr/>
        </p:nvSpPr>
        <p:spPr>
          <a:xfrm>
            <a:off x="5669279" y="4575047"/>
            <a:ext cx="2075688" cy="381507"/>
          </a:xfrm>
          <a:prstGeom prst="rect">
            <a:avLst/>
          </a:prstGeom>
          <a:solidFill>
            <a:srgbClr val="F8FAFB"/>
          </a:solidFill>
          <a:ln>
            <a:noFill/>
          </a:ln>
          <a:effectLst/>
        </p:spPr>
        <p:txBody>
          <a:bodyPr rtlCol="0" anchor="ctr"/>
          <a:lstStyle/>
          <a:p>
            <a:pPr algn="ctr"/>
          </a:p>
        </p:txBody>
      </p:sp>
      <p:sp>
        <p:nvSpPr>
          <p:cNvPr id="50" name="TextBox 49"/>
          <p:cNvSpPr txBox="1"/>
          <p:nvPr/>
        </p:nvSpPr>
        <p:spPr>
          <a:xfrm>
            <a:off x="5779007" y="4575047"/>
            <a:ext cx="1856232" cy="381507"/>
          </a:xfrm>
          <a:prstGeom prst="rect">
            <a:avLst/>
          </a:prstGeom>
          <a:noFill/>
        </p:spPr>
        <p:txBody>
          <a:bodyPr wrap="square" lIns="0" rIns="0" tIns="0" bIns="0" anchor="ctr">
            <a:spAutoFit/>
          </a:bodyPr>
          <a:lstStyle/>
          <a:p>
            <a:pPr>
              <a:spcAft>
                <a:spcPts val="300"/>
              </a:spcAft>
              <a:defRPr sz="1300" b="0">
                <a:solidFill>
                  <a:srgbClr val="233B4D"/>
                </a:solidFill>
                <a:latin typeface="Aptos"/>
              </a:defRPr>
            </a:pPr>
            <a:r>
              <a:t>+0.14 / pass</a:t>
            </a:r>
          </a:p>
        </p:txBody>
      </p:sp>
      <p:sp>
        <p:nvSpPr>
          <p:cNvPr id="51" name="Rectangle 50"/>
          <p:cNvSpPr/>
          <p:nvPr/>
        </p:nvSpPr>
        <p:spPr>
          <a:xfrm>
            <a:off x="548640" y="4983987"/>
            <a:ext cx="2990088" cy="381507"/>
          </a:xfrm>
          <a:prstGeom prst="rect">
            <a:avLst/>
          </a:prstGeom>
          <a:solidFill>
            <a:srgbClr val="EFF4F6"/>
          </a:solidFill>
          <a:ln>
            <a:noFill/>
          </a:ln>
          <a:effectLst/>
        </p:spPr>
        <p:txBody>
          <a:bodyPr rtlCol="0" anchor="ctr"/>
          <a:lstStyle/>
          <a:p>
            <a:pPr algn="ctr"/>
          </a:p>
        </p:txBody>
      </p:sp>
      <p:sp>
        <p:nvSpPr>
          <p:cNvPr id="52" name="TextBox 51"/>
          <p:cNvSpPr txBox="1"/>
          <p:nvPr/>
        </p:nvSpPr>
        <p:spPr>
          <a:xfrm>
            <a:off x="658368" y="4983987"/>
            <a:ext cx="2770632" cy="381507"/>
          </a:xfrm>
          <a:prstGeom prst="rect">
            <a:avLst/>
          </a:prstGeom>
          <a:noFill/>
        </p:spPr>
        <p:txBody>
          <a:bodyPr wrap="square" lIns="0" rIns="0" tIns="0" bIns="0" anchor="ctr">
            <a:spAutoFit/>
          </a:bodyPr>
          <a:lstStyle/>
          <a:p>
            <a:pPr>
              <a:spcAft>
                <a:spcPts val="300"/>
              </a:spcAft>
              <a:defRPr sz="1300" b="1">
                <a:solidFill>
                  <a:srgbClr val="233B4D"/>
                </a:solidFill>
                <a:latin typeface="Aptos"/>
              </a:defRPr>
            </a:pPr>
            <a:r>
              <a:t>Rollback score</a:t>
            </a:r>
          </a:p>
        </p:txBody>
      </p:sp>
      <p:sp>
        <p:nvSpPr>
          <p:cNvPr id="53" name="Rectangle 52"/>
          <p:cNvSpPr/>
          <p:nvPr/>
        </p:nvSpPr>
        <p:spPr>
          <a:xfrm>
            <a:off x="3566160" y="4983987"/>
            <a:ext cx="2075688" cy="381507"/>
          </a:xfrm>
          <a:prstGeom prst="rect">
            <a:avLst/>
          </a:prstGeom>
          <a:solidFill>
            <a:srgbClr val="EFF4F6"/>
          </a:solidFill>
          <a:ln>
            <a:noFill/>
          </a:ln>
          <a:effectLst/>
        </p:spPr>
        <p:txBody>
          <a:bodyPr rtlCol="0" anchor="ctr"/>
          <a:lstStyle/>
          <a:p>
            <a:pPr algn="ctr"/>
          </a:p>
        </p:txBody>
      </p:sp>
      <p:sp>
        <p:nvSpPr>
          <p:cNvPr id="54" name="TextBox 53"/>
          <p:cNvSpPr txBox="1"/>
          <p:nvPr/>
        </p:nvSpPr>
        <p:spPr>
          <a:xfrm>
            <a:off x="3675887" y="4983987"/>
            <a:ext cx="1856232" cy="381507"/>
          </a:xfrm>
          <a:prstGeom prst="rect">
            <a:avLst/>
          </a:prstGeom>
          <a:noFill/>
        </p:spPr>
        <p:txBody>
          <a:bodyPr wrap="square" lIns="0" rIns="0" tIns="0" bIns="0" anchor="ctr">
            <a:spAutoFit/>
          </a:bodyPr>
          <a:lstStyle/>
          <a:p>
            <a:pPr>
              <a:spcAft>
                <a:spcPts val="300"/>
              </a:spcAft>
              <a:defRPr sz="1300" b="0">
                <a:solidFill>
                  <a:srgbClr val="233B4D"/>
                </a:solidFill>
                <a:latin typeface="Aptos"/>
              </a:defRPr>
            </a:pPr>
            <a:r>
              <a:t>0.79 &gt;= 0.70</a:t>
            </a:r>
          </a:p>
        </p:txBody>
      </p:sp>
      <p:sp>
        <p:nvSpPr>
          <p:cNvPr id="55" name="Rectangle 54"/>
          <p:cNvSpPr/>
          <p:nvPr/>
        </p:nvSpPr>
        <p:spPr>
          <a:xfrm>
            <a:off x="5669279" y="4983987"/>
            <a:ext cx="2075688" cy="381507"/>
          </a:xfrm>
          <a:prstGeom prst="rect">
            <a:avLst/>
          </a:prstGeom>
          <a:solidFill>
            <a:srgbClr val="EFF4F6"/>
          </a:solidFill>
          <a:ln>
            <a:noFill/>
          </a:ln>
          <a:effectLst/>
        </p:spPr>
        <p:txBody>
          <a:bodyPr rtlCol="0" anchor="ctr"/>
          <a:lstStyle/>
          <a:p>
            <a:pPr algn="ctr"/>
          </a:p>
        </p:txBody>
      </p:sp>
      <p:sp>
        <p:nvSpPr>
          <p:cNvPr id="56" name="TextBox 55"/>
          <p:cNvSpPr txBox="1"/>
          <p:nvPr/>
        </p:nvSpPr>
        <p:spPr>
          <a:xfrm>
            <a:off x="5779007" y="4983987"/>
            <a:ext cx="1856232" cy="381507"/>
          </a:xfrm>
          <a:prstGeom prst="rect">
            <a:avLst/>
          </a:prstGeom>
          <a:noFill/>
        </p:spPr>
        <p:txBody>
          <a:bodyPr wrap="square" lIns="0" rIns="0" tIns="0" bIns="0" anchor="ctr">
            <a:spAutoFit/>
          </a:bodyPr>
          <a:lstStyle/>
          <a:p>
            <a:pPr>
              <a:spcAft>
                <a:spcPts val="300"/>
              </a:spcAft>
              <a:defRPr sz="1300" b="0">
                <a:solidFill>
                  <a:srgbClr val="233B4D"/>
                </a:solidFill>
                <a:latin typeface="Aptos"/>
              </a:defRPr>
            </a:pPr>
            <a:r>
              <a:t>+0.09 / pass</a:t>
            </a:r>
          </a:p>
        </p:txBody>
      </p:sp>
      <p:sp>
        <p:nvSpPr>
          <p:cNvPr id="57" name="Rectangle 56"/>
          <p:cNvSpPr/>
          <p:nvPr/>
        </p:nvSpPr>
        <p:spPr>
          <a:xfrm>
            <a:off x="8092440" y="2139696"/>
            <a:ext cx="3550615" cy="3253231"/>
          </a:xfrm>
          <a:prstGeom prst="rect">
            <a:avLst/>
          </a:prstGeom>
          <a:solidFill>
            <a:srgbClr val="142E42"/>
          </a:solidFill>
          <a:ln>
            <a:noFill/>
          </a:ln>
          <a:effectLst/>
        </p:spPr>
        <p:txBody>
          <a:bodyPr rtlCol="0" anchor="ctr"/>
          <a:lstStyle/>
          <a:p>
            <a:pPr algn="ctr"/>
          </a:p>
        </p:txBody>
      </p:sp>
      <p:sp>
        <p:nvSpPr>
          <p:cNvPr id="58" name="Rectangle 57"/>
          <p:cNvSpPr/>
          <p:nvPr/>
        </p:nvSpPr>
        <p:spPr>
          <a:xfrm>
            <a:off x="8092440" y="2139696"/>
            <a:ext cx="54864" cy="3253231"/>
          </a:xfrm>
          <a:prstGeom prst="rect">
            <a:avLst/>
          </a:prstGeom>
          <a:solidFill>
            <a:srgbClr val="007F82"/>
          </a:solidFill>
          <a:ln>
            <a:noFill/>
          </a:ln>
          <a:effectLst/>
        </p:spPr>
        <p:txBody>
          <a:bodyPr rtlCol="0" anchor="ctr"/>
          <a:lstStyle/>
          <a:p>
            <a:pPr algn="ctr"/>
          </a:p>
        </p:txBody>
      </p:sp>
      <p:sp>
        <p:nvSpPr>
          <p:cNvPr id="59" name="TextBox 58"/>
          <p:cNvSpPr txBox="1"/>
          <p:nvPr/>
        </p:nvSpPr>
        <p:spPr>
          <a:xfrm>
            <a:off x="8412480" y="2139696"/>
            <a:ext cx="2956255" cy="3253231"/>
          </a:xfrm>
          <a:prstGeom prst="rect">
            <a:avLst/>
          </a:prstGeom>
          <a:noFill/>
        </p:spPr>
        <p:txBody>
          <a:bodyPr wrap="square" lIns="0" rIns="0" tIns="0" bIns="0" anchor="ctr">
            <a:spAutoFit/>
          </a:bodyPr>
          <a:lstStyle/>
          <a:p>
            <a:pPr>
              <a:spcAft>
                <a:spcPts val="300"/>
              </a:spcAft>
              <a:defRPr sz="1700" b="1">
                <a:solidFill>
                  <a:srgbClr val="FFFFFF"/>
                </a:solidFill>
                <a:latin typeface="Aptos"/>
              </a:defRPr>
            </a:pPr>
            <a:r>
              <a:t>A name-resolution failure is read once and classified as a network incident; the gate either permits an action or sends it to a person, with every check and its margin recorded.</a:t>
            </a:r>
          </a:p>
        </p:txBody>
      </p:sp>
      <p:sp>
        <p:nvSpPr>
          <p:cNvPr id="60" name="TextBox 59"/>
          <p:cNvSpPr txBox="1"/>
          <p:nvPr/>
        </p:nvSpPr>
        <p:spPr>
          <a:xfrm>
            <a:off x="548640" y="5484367"/>
            <a:ext cx="11094415" cy="182880"/>
          </a:xfrm>
          <a:prstGeom prst="rect">
            <a:avLst/>
          </a:prstGeom>
          <a:noFill/>
        </p:spPr>
        <p:txBody>
          <a:bodyPr wrap="square" lIns="0" rIns="0" tIns="0" bIns="0">
            <a:spAutoFit/>
          </a:bodyPr>
          <a:lstStyle/>
          <a:p>
            <a:pPr>
              <a:spcAft>
                <a:spcPts val="300"/>
              </a:spcAft>
              <a:defRPr sz="900" b="0">
                <a:solidFill>
                  <a:srgbClr val="596A76"/>
                </a:solidFill>
                <a:latin typeface="Aptos"/>
              </a:defRPr>
            </a:pPr>
            <a:r>
              <a:t>Our measurement | one recorded example | gate checks from zeroops/policy.py</a:t>
            </a:r>
          </a:p>
        </p:txBody>
      </p:sp>
      <p:sp>
        <p:nvSpPr>
          <p:cNvPr id="61" name="Rectangle 60"/>
          <p:cNvSpPr/>
          <p:nvPr/>
        </p:nvSpPr>
        <p:spPr>
          <a:xfrm>
            <a:off x="548640" y="6309360"/>
            <a:ext cx="11094415" cy="10972"/>
          </a:xfrm>
          <a:prstGeom prst="rect">
            <a:avLst/>
          </a:prstGeom>
          <a:solidFill>
            <a:srgbClr val="CCD7DD"/>
          </a:solidFill>
          <a:ln>
            <a:noFill/>
          </a:ln>
          <a:effectLst/>
        </p:spPr>
        <p:txBody>
          <a:bodyPr rtlCol="0" anchor="ctr"/>
          <a:lstStyle/>
          <a:p>
            <a:pPr algn="ctr"/>
          </a:p>
        </p:txBody>
      </p:sp>
      <p:sp>
        <p:nvSpPr>
          <p:cNvPr id="62" name="TextBox 61"/>
          <p:cNvSpPr txBox="1"/>
          <p:nvPr/>
        </p:nvSpPr>
        <p:spPr>
          <a:xfrm>
            <a:off x="548640" y="6400800"/>
            <a:ext cx="4572000" cy="201168"/>
          </a:xfrm>
          <a:prstGeom prst="rect">
            <a:avLst/>
          </a:prstGeom>
          <a:noFill/>
        </p:spPr>
        <p:txBody>
          <a:bodyPr wrap="square" lIns="0" rIns="0" tIns="0" bIns="0">
            <a:spAutoFit/>
          </a:bodyPr>
          <a:lstStyle/>
          <a:p>
            <a:pPr>
              <a:spcAft>
                <a:spcPts val="300"/>
              </a:spcAft>
              <a:defRPr sz="900" b="0">
                <a:solidFill>
                  <a:srgbClr val="596A76"/>
                </a:solidFill>
                <a:latin typeface="Aptos"/>
              </a:defRPr>
            </a:pPr>
            <a:r>
              <a:t>For discussion · October 2026</a:t>
            </a:r>
          </a:p>
        </p:txBody>
      </p:sp>
      <p:sp>
        <p:nvSpPr>
          <p:cNvPr id="63" name="TextBox 62"/>
          <p:cNvSpPr txBox="1"/>
          <p:nvPr/>
        </p:nvSpPr>
        <p:spPr>
          <a:xfrm>
            <a:off x="11185855" y="6400800"/>
            <a:ext cx="457200" cy="201168"/>
          </a:xfrm>
          <a:prstGeom prst="rect">
            <a:avLst/>
          </a:prstGeom>
          <a:noFill/>
        </p:spPr>
        <p:txBody>
          <a:bodyPr wrap="square" lIns="0" rIns="0" tIns="0" bIns="0">
            <a:spAutoFit/>
          </a:bodyPr>
          <a:lstStyle/>
          <a:p>
            <a:pPr algn="r">
              <a:spcAft>
                <a:spcPts val="300"/>
              </a:spcAft>
              <a:defRPr sz="900" b="0">
                <a:solidFill>
                  <a:srgbClr val="596A76"/>
                </a:solidFill>
                <a:latin typeface="Aptos"/>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7F82"/>
          </a:solidFill>
          <a:ln>
            <a:noFill/>
          </a:ln>
          <a:effectLst/>
        </p:spPr>
        <p:txBody>
          <a:bodyPr rtlCol="0" anchor="ctr"/>
          <a:lstStyle/>
          <a:p>
            <a:pPr algn="ctr"/>
          </a:p>
        </p:txBody>
      </p:sp>
      <p:sp>
        <p:nvSpPr>
          <p:cNvPr id="3" name="TextBox 2"/>
          <p:cNvSpPr txBox="1"/>
          <p:nvPr/>
        </p:nvSpPr>
        <p:spPr>
          <a:xfrm>
            <a:off x="548640" y="310896"/>
            <a:ext cx="9144000" cy="201168"/>
          </a:xfrm>
          <a:prstGeom prst="rect">
            <a:avLst/>
          </a:prstGeom>
          <a:noFill/>
        </p:spPr>
        <p:txBody>
          <a:bodyPr wrap="square" lIns="0" rIns="0" tIns="0" bIns="0">
            <a:spAutoFit/>
          </a:bodyPr>
          <a:lstStyle/>
          <a:p>
            <a:pPr>
              <a:spcAft>
                <a:spcPts val="300"/>
              </a:spcAft>
              <a:defRPr sz="1000" b="1">
                <a:solidFill>
                  <a:srgbClr val="007F82"/>
                </a:solidFill>
                <a:latin typeface="Aptos"/>
              </a:defRPr>
            </a:pPr>
            <a:r>
              <a:t>AN EXAMPLE</a:t>
            </a:r>
          </a:p>
        </p:txBody>
      </p:sp>
      <p:sp>
        <p:nvSpPr>
          <p:cNvPr id="4" name="TextBox 3"/>
          <p:cNvSpPr txBox="1"/>
          <p:nvPr/>
        </p:nvSpPr>
        <p:spPr>
          <a:xfrm>
            <a:off x="548640" y="566928"/>
            <a:ext cx="10149840" cy="469899"/>
          </a:xfrm>
          <a:prstGeom prst="rect">
            <a:avLst/>
          </a:prstGeom>
          <a:noFill/>
        </p:spPr>
        <p:txBody>
          <a:bodyPr wrap="square" lIns="0" rIns="0" tIns="0" bIns="0">
            <a:spAutoFit/>
          </a:bodyPr>
          <a:lstStyle/>
          <a:p>
            <a:pPr>
              <a:spcAft>
                <a:spcPts val="300"/>
              </a:spcAft>
              <a:defRPr sz="2500" b="1">
                <a:solidFill>
                  <a:srgbClr val="142E42"/>
                </a:solidFill>
                <a:latin typeface="Aptos"/>
              </a:defRPr>
            </a:pPr>
            <a:r>
              <a:t>The same call, question by question</a:t>
            </a:r>
          </a:p>
        </p:txBody>
      </p:sp>
      <p:sp>
        <p:nvSpPr>
          <p:cNvPr id="5" name="TextBox 4"/>
          <p:cNvSpPr txBox="1"/>
          <p:nvPr/>
        </p:nvSpPr>
        <p:spPr>
          <a:xfrm>
            <a:off x="548640" y="1073404"/>
            <a:ext cx="10149840" cy="279908"/>
          </a:xfrm>
          <a:prstGeom prst="rect">
            <a:avLst/>
          </a:prstGeom>
          <a:noFill/>
        </p:spPr>
        <p:txBody>
          <a:bodyPr wrap="square" lIns="0" rIns="0" tIns="0" bIns="0">
            <a:spAutoFit/>
          </a:bodyPr>
          <a:lstStyle/>
          <a:p>
            <a:pPr>
              <a:spcAft>
                <a:spcPts val="300"/>
              </a:spcAft>
              <a:defRPr sz="1400" b="0">
                <a:solidFill>
                  <a:srgbClr val="596A76"/>
                </a:solidFill>
                <a:latin typeface="Aptos"/>
              </a:defRPr>
            </a:pPr>
            <a:r>
              <a:t>Twelve typed questions, answered in one request</a:t>
            </a:r>
          </a:p>
        </p:txBody>
      </p:sp>
      <p:sp>
        <p:nvSpPr>
          <p:cNvPr id="6" name="Rectangle 5"/>
          <p:cNvSpPr/>
          <p:nvPr/>
        </p:nvSpPr>
        <p:spPr>
          <a:xfrm>
            <a:off x="10929823" y="274320"/>
            <a:ext cx="713232" cy="713232"/>
          </a:xfrm>
          <a:prstGeom prst="rect">
            <a:avLst/>
          </a:prstGeom>
          <a:solidFill>
            <a:srgbClr val="EFF4F6"/>
          </a:solidFill>
          <a:ln>
            <a:noFill/>
          </a:ln>
          <a:effectLst/>
        </p:spPr>
        <p:txBody>
          <a:bodyPr rtlCol="0" anchor="ctr"/>
          <a:lstStyle/>
          <a:p>
            <a:pPr algn="ctr"/>
          </a:p>
        </p:txBody>
      </p:sp>
      <p:pic>
        <p:nvPicPr>
          <p:cNvPr id="7" name="Picture 6" descr="alert.png"/>
          <p:cNvPicPr>
            <a:picLocks noChangeAspect="1"/>
          </p:cNvPicPr>
          <p:nvPr/>
        </p:nvPicPr>
        <p:blipFill>
          <a:blip r:embed="rId2"/>
          <a:stretch>
            <a:fillRect/>
          </a:stretch>
        </p:blipFill>
        <p:spPr>
          <a:xfrm>
            <a:off x="11021263" y="365760"/>
            <a:ext cx="530352" cy="530352"/>
          </a:xfrm>
          <a:prstGeom prst="rect">
            <a:avLst/>
          </a:prstGeom>
        </p:spPr>
      </p:pic>
      <p:sp>
        <p:nvSpPr>
          <p:cNvPr id="8" name="TextBox 7"/>
          <p:cNvSpPr txBox="1"/>
          <p:nvPr/>
        </p:nvSpPr>
        <p:spPr>
          <a:xfrm>
            <a:off x="548640" y="1700784"/>
            <a:ext cx="3794760" cy="1777492"/>
          </a:xfrm>
          <a:prstGeom prst="rect">
            <a:avLst/>
          </a:prstGeom>
          <a:noFill/>
        </p:spPr>
        <p:txBody>
          <a:bodyPr wrap="square" lIns="0" rIns="0" tIns="0" bIns="0">
            <a:spAutoFit/>
          </a:bodyPr>
          <a:lstStyle/>
          <a:p>
            <a:pPr>
              <a:spcAft>
                <a:spcPts val="300"/>
              </a:spcAft>
              <a:defRPr sz="1600" b="0">
                <a:solidFill>
                  <a:srgbClr val="233B4D"/>
                </a:solidFill>
                <a:latin typeface="Aptos"/>
              </a:defRPr>
            </a:pPr>
            <a:r>
              <a:t>This is one call. The state sent is the alert and its context - the service or VIP, recent changes, and the relevant log lines. The questions are fixed, and every answer comes back with a probability. The gate reads only the answers it needs.</a:t>
            </a:r>
          </a:p>
        </p:txBody>
      </p:sp>
      <p:sp>
        <p:nvSpPr>
          <p:cNvPr id="9" name="Rectangle 8"/>
          <p:cNvSpPr/>
          <p:nvPr/>
        </p:nvSpPr>
        <p:spPr>
          <a:xfrm>
            <a:off x="4709159" y="1700784"/>
            <a:ext cx="3538728" cy="363220"/>
          </a:xfrm>
          <a:prstGeom prst="rect">
            <a:avLst/>
          </a:prstGeom>
          <a:solidFill>
            <a:srgbClr val="142E42"/>
          </a:solidFill>
          <a:ln>
            <a:noFill/>
          </a:ln>
          <a:effectLst/>
        </p:spPr>
        <p:txBody>
          <a:bodyPr rtlCol="0" anchor="ctr"/>
          <a:lstStyle/>
          <a:p>
            <a:pPr algn="ctr"/>
          </a:p>
        </p:txBody>
      </p:sp>
      <p:sp>
        <p:nvSpPr>
          <p:cNvPr id="10" name="TextBox 9"/>
          <p:cNvSpPr txBox="1"/>
          <p:nvPr/>
        </p:nvSpPr>
        <p:spPr>
          <a:xfrm>
            <a:off x="4818888" y="1700784"/>
            <a:ext cx="3319272" cy="363220"/>
          </a:xfrm>
          <a:prstGeom prst="rect">
            <a:avLst/>
          </a:prstGeom>
          <a:noFill/>
        </p:spPr>
        <p:txBody>
          <a:bodyPr wrap="square" lIns="0" rIns="0" tIns="0" bIns="0" anchor="ctr">
            <a:spAutoFit/>
          </a:bodyPr>
          <a:lstStyle/>
          <a:p>
            <a:pPr>
              <a:spcAft>
                <a:spcPts val="300"/>
              </a:spcAft>
              <a:defRPr sz="1300" b="1">
                <a:solidFill>
                  <a:srgbClr val="FFFFFF"/>
                </a:solidFill>
                <a:latin typeface="Aptos"/>
              </a:defRPr>
            </a:pPr>
            <a:r>
              <a:t>Question</a:t>
            </a:r>
          </a:p>
        </p:txBody>
      </p:sp>
      <p:sp>
        <p:nvSpPr>
          <p:cNvPr id="11" name="Rectangle 10"/>
          <p:cNvSpPr/>
          <p:nvPr/>
        </p:nvSpPr>
        <p:spPr>
          <a:xfrm>
            <a:off x="8275319" y="1700784"/>
            <a:ext cx="3340303" cy="363220"/>
          </a:xfrm>
          <a:prstGeom prst="rect">
            <a:avLst/>
          </a:prstGeom>
          <a:solidFill>
            <a:srgbClr val="142E42"/>
          </a:solidFill>
          <a:ln>
            <a:noFill/>
          </a:ln>
          <a:effectLst/>
        </p:spPr>
        <p:txBody>
          <a:bodyPr rtlCol="0" anchor="ctr"/>
          <a:lstStyle/>
          <a:p>
            <a:pPr algn="ctr"/>
          </a:p>
        </p:txBody>
      </p:sp>
      <p:sp>
        <p:nvSpPr>
          <p:cNvPr id="12" name="TextBox 11"/>
          <p:cNvSpPr txBox="1"/>
          <p:nvPr/>
        </p:nvSpPr>
        <p:spPr>
          <a:xfrm>
            <a:off x="8385047" y="1700784"/>
            <a:ext cx="3120847" cy="363220"/>
          </a:xfrm>
          <a:prstGeom prst="rect">
            <a:avLst/>
          </a:prstGeom>
          <a:noFill/>
        </p:spPr>
        <p:txBody>
          <a:bodyPr wrap="square" lIns="0" rIns="0" tIns="0" bIns="0" anchor="ctr">
            <a:spAutoFit/>
          </a:bodyPr>
          <a:lstStyle/>
          <a:p>
            <a:pPr>
              <a:spcAft>
                <a:spcPts val="300"/>
              </a:spcAft>
              <a:defRPr sz="1300" b="1">
                <a:solidFill>
                  <a:srgbClr val="FFFFFF"/>
                </a:solidFill>
                <a:latin typeface="Aptos"/>
              </a:defRPr>
            </a:pPr>
            <a:r>
              <a:t>Answer</a:t>
            </a:r>
          </a:p>
        </p:txBody>
      </p:sp>
      <p:sp>
        <p:nvSpPr>
          <p:cNvPr id="13" name="Rectangle 12"/>
          <p:cNvSpPr/>
          <p:nvPr/>
        </p:nvSpPr>
        <p:spPr>
          <a:xfrm>
            <a:off x="4709159" y="2091436"/>
            <a:ext cx="3538728" cy="301751"/>
          </a:xfrm>
          <a:prstGeom prst="rect">
            <a:avLst/>
          </a:prstGeom>
          <a:solidFill>
            <a:srgbClr val="EFF4F6"/>
          </a:solidFill>
          <a:ln>
            <a:noFill/>
          </a:ln>
          <a:effectLst/>
        </p:spPr>
        <p:txBody>
          <a:bodyPr rtlCol="0" anchor="ctr"/>
          <a:lstStyle/>
          <a:p>
            <a:pPr algn="ctr"/>
          </a:p>
        </p:txBody>
      </p:sp>
      <p:sp>
        <p:nvSpPr>
          <p:cNvPr id="14" name="TextBox 13"/>
          <p:cNvSpPr txBox="1"/>
          <p:nvPr/>
        </p:nvSpPr>
        <p:spPr>
          <a:xfrm>
            <a:off x="4818888" y="2091436"/>
            <a:ext cx="3319272" cy="301751"/>
          </a:xfrm>
          <a:prstGeom prst="rect">
            <a:avLst/>
          </a:prstGeom>
          <a:noFill/>
        </p:spPr>
        <p:txBody>
          <a:bodyPr wrap="square" lIns="0" rIns="0" tIns="0" bIns="0" anchor="ctr">
            <a:spAutoFit/>
          </a:bodyPr>
          <a:lstStyle/>
          <a:p>
            <a:pPr>
              <a:spcAft>
                <a:spcPts val="300"/>
              </a:spcAft>
              <a:defRPr sz="1200" b="1">
                <a:solidFill>
                  <a:srgbClr val="233B4D"/>
                </a:solidFill>
                <a:latin typeface="Aptos"/>
              </a:defRPr>
            </a:pPr>
            <a:r>
              <a:t>Is this a real incident?</a:t>
            </a:r>
          </a:p>
        </p:txBody>
      </p:sp>
      <p:sp>
        <p:nvSpPr>
          <p:cNvPr id="15" name="Rectangle 14"/>
          <p:cNvSpPr/>
          <p:nvPr/>
        </p:nvSpPr>
        <p:spPr>
          <a:xfrm>
            <a:off x="8275319" y="2091436"/>
            <a:ext cx="3340303" cy="301751"/>
          </a:xfrm>
          <a:prstGeom prst="rect">
            <a:avLst/>
          </a:prstGeom>
          <a:solidFill>
            <a:srgbClr val="EFF4F6"/>
          </a:solidFill>
          <a:ln>
            <a:noFill/>
          </a:ln>
          <a:effectLst/>
        </p:spPr>
        <p:txBody>
          <a:bodyPr rtlCol="0" anchor="ctr"/>
          <a:lstStyle/>
          <a:p>
            <a:pPr algn="ctr"/>
          </a:p>
        </p:txBody>
      </p:sp>
      <p:sp>
        <p:nvSpPr>
          <p:cNvPr id="16" name="TextBox 15"/>
          <p:cNvSpPr txBox="1"/>
          <p:nvPr/>
        </p:nvSpPr>
        <p:spPr>
          <a:xfrm>
            <a:off x="8385047" y="2091436"/>
            <a:ext cx="3120847" cy="301751"/>
          </a:xfrm>
          <a:prstGeom prst="rect">
            <a:avLst/>
          </a:prstGeom>
          <a:noFill/>
        </p:spPr>
        <p:txBody>
          <a:bodyPr wrap="square" lIns="0" rIns="0" tIns="0" bIns="0" anchor="ctr">
            <a:spAutoFit/>
          </a:bodyPr>
          <a:lstStyle/>
          <a:p>
            <a:pPr>
              <a:spcAft>
                <a:spcPts val="300"/>
              </a:spcAft>
              <a:defRPr sz="1200" b="0">
                <a:solidFill>
                  <a:srgbClr val="233B4D"/>
                </a:solidFill>
                <a:latin typeface="Aptos"/>
              </a:defRPr>
            </a:pPr>
            <a:r>
              <a:t>0.91</a:t>
            </a:r>
          </a:p>
        </p:txBody>
      </p:sp>
      <p:sp>
        <p:nvSpPr>
          <p:cNvPr id="17" name="Rectangle 16"/>
          <p:cNvSpPr/>
          <p:nvPr/>
        </p:nvSpPr>
        <p:spPr>
          <a:xfrm>
            <a:off x="4709159" y="2420620"/>
            <a:ext cx="3538728" cy="301751"/>
          </a:xfrm>
          <a:prstGeom prst="rect">
            <a:avLst/>
          </a:prstGeom>
          <a:solidFill>
            <a:srgbClr val="F8FAFB"/>
          </a:solidFill>
          <a:ln>
            <a:noFill/>
          </a:ln>
          <a:effectLst/>
        </p:spPr>
        <p:txBody>
          <a:bodyPr rtlCol="0" anchor="ctr"/>
          <a:lstStyle/>
          <a:p>
            <a:pPr algn="ctr"/>
          </a:p>
        </p:txBody>
      </p:sp>
      <p:sp>
        <p:nvSpPr>
          <p:cNvPr id="18" name="TextBox 17"/>
          <p:cNvSpPr txBox="1"/>
          <p:nvPr/>
        </p:nvSpPr>
        <p:spPr>
          <a:xfrm>
            <a:off x="4818888" y="2420620"/>
            <a:ext cx="3319272" cy="301751"/>
          </a:xfrm>
          <a:prstGeom prst="rect">
            <a:avLst/>
          </a:prstGeom>
          <a:noFill/>
        </p:spPr>
        <p:txBody>
          <a:bodyPr wrap="square" lIns="0" rIns="0" tIns="0" bIns="0" anchor="ctr">
            <a:spAutoFit/>
          </a:bodyPr>
          <a:lstStyle/>
          <a:p>
            <a:pPr>
              <a:spcAft>
                <a:spcPts val="300"/>
              </a:spcAft>
              <a:defRPr sz="1200" b="1">
                <a:solidFill>
                  <a:srgbClr val="233B4D"/>
                </a:solidFill>
                <a:latin typeface="Aptos"/>
              </a:defRPr>
            </a:pPr>
            <a:r>
              <a:t>Failure category</a:t>
            </a:r>
          </a:p>
        </p:txBody>
      </p:sp>
      <p:sp>
        <p:nvSpPr>
          <p:cNvPr id="19" name="Rectangle 18"/>
          <p:cNvSpPr/>
          <p:nvPr/>
        </p:nvSpPr>
        <p:spPr>
          <a:xfrm>
            <a:off x="8275319" y="2420620"/>
            <a:ext cx="3340303" cy="301751"/>
          </a:xfrm>
          <a:prstGeom prst="rect">
            <a:avLst/>
          </a:prstGeom>
          <a:solidFill>
            <a:srgbClr val="F8FAFB"/>
          </a:solidFill>
          <a:ln>
            <a:noFill/>
          </a:ln>
          <a:effectLst/>
        </p:spPr>
        <p:txBody>
          <a:bodyPr rtlCol="0" anchor="ctr"/>
          <a:lstStyle/>
          <a:p>
            <a:pPr algn="ctr"/>
          </a:p>
        </p:txBody>
      </p:sp>
      <p:sp>
        <p:nvSpPr>
          <p:cNvPr id="20" name="TextBox 19"/>
          <p:cNvSpPr txBox="1"/>
          <p:nvPr/>
        </p:nvSpPr>
        <p:spPr>
          <a:xfrm>
            <a:off x="8385047" y="2420620"/>
            <a:ext cx="3120847" cy="301751"/>
          </a:xfrm>
          <a:prstGeom prst="rect">
            <a:avLst/>
          </a:prstGeom>
          <a:noFill/>
        </p:spPr>
        <p:txBody>
          <a:bodyPr wrap="square" lIns="0" rIns="0" tIns="0" bIns="0" anchor="ctr">
            <a:spAutoFit/>
          </a:bodyPr>
          <a:lstStyle/>
          <a:p>
            <a:pPr>
              <a:spcAft>
                <a:spcPts val="300"/>
              </a:spcAft>
              <a:defRPr sz="1200" b="0">
                <a:solidFill>
                  <a:srgbClr val="233B4D"/>
                </a:solidFill>
                <a:latin typeface="Aptos"/>
              </a:defRPr>
            </a:pPr>
            <a:r>
              <a:t>config</a:t>
            </a:r>
          </a:p>
        </p:txBody>
      </p:sp>
      <p:sp>
        <p:nvSpPr>
          <p:cNvPr id="21" name="Rectangle 20"/>
          <p:cNvSpPr/>
          <p:nvPr/>
        </p:nvSpPr>
        <p:spPr>
          <a:xfrm>
            <a:off x="4709159" y="2749804"/>
            <a:ext cx="3538728" cy="301751"/>
          </a:xfrm>
          <a:prstGeom prst="rect">
            <a:avLst/>
          </a:prstGeom>
          <a:solidFill>
            <a:srgbClr val="EFF4F6"/>
          </a:solidFill>
          <a:ln>
            <a:noFill/>
          </a:ln>
          <a:effectLst/>
        </p:spPr>
        <p:txBody>
          <a:bodyPr rtlCol="0" anchor="ctr"/>
          <a:lstStyle/>
          <a:p>
            <a:pPr algn="ctr"/>
          </a:p>
        </p:txBody>
      </p:sp>
      <p:sp>
        <p:nvSpPr>
          <p:cNvPr id="22" name="TextBox 21"/>
          <p:cNvSpPr txBox="1"/>
          <p:nvPr/>
        </p:nvSpPr>
        <p:spPr>
          <a:xfrm>
            <a:off x="4818888" y="2749804"/>
            <a:ext cx="3319272" cy="301751"/>
          </a:xfrm>
          <a:prstGeom prst="rect">
            <a:avLst/>
          </a:prstGeom>
          <a:noFill/>
        </p:spPr>
        <p:txBody>
          <a:bodyPr wrap="square" lIns="0" rIns="0" tIns="0" bIns="0" anchor="ctr">
            <a:spAutoFit/>
          </a:bodyPr>
          <a:lstStyle/>
          <a:p>
            <a:pPr>
              <a:spcAft>
                <a:spcPts val="300"/>
              </a:spcAft>
              <a:defRPr sz="1200" b="1">
                <a:solidFill>
                  <a:srgbClr val="233B4D"/>
                </a:solidFill>
                <a:latin typeface="Aptos"/>
              </a:defRPr>
            </a:pPr>
            <a:r>
              <a:t>Suspected component</a:t>
            </a:r>
          </a:p>
        </p:txBody>
      </p:sp>
      <p:sp>
        <p:nvSpPr>
          <p:cNvPr id="23" name="Rectangle 22"/>
          <p:cNvSpPr/>
          <p:nvPr/>
        </p:nvSpPr>
        <p:spPr>
          <a:xfrm>
            <a:off x="8275319" y="2749804"/>
            <a:ext cx="3340303" cy="301751"/>
          </a:xfrm>
          <a:prstGeom prst="rect">
            <a:avLst/>
          </a:prstGeom>
          <a:solidFill>
            <a:srgbClr val="EFF4F6"/>
          </a:solidFill>
          <a:ln>
            <a:noFill/>
          </a:ln>
          <a:effectLst/>
        </p:spPr>
        <p:txBody>
          <a:bodyPr rtlCol="0" anchor="ctr"/>
          <a:lstStyle/>
          <a:p>
            <a:pPr algn="ctr"/>
          </a:p>
        </p:txBody>
      </p:sp>
      <p:sp>
        <p:nvSpPr>
          <p:cNvPr id="24" name="TextBox 23"/>
          <p:cNvSpPr txBox="1"/>
          <p:nvPr/>
        </p:nvSpPr>
        <p:spPr>
          <a:xfrm>
            <a:off x="8385047" y="2749804"/>
            <a:ext cx="3120847" cy="301751"/>
          </a:xfrm>
          <a:prstGeom prst="rect">
            <a:avLst/>
          </a:prstGeom>
          <a:noFill/>
        </p:spPr>
        <p:txBody>
          <a:bodyPr wrap="square" lIns="0" rIns="0" tIns="0" bIns="0" anchor="ctr">
            <a:spAutoFit/>
          </a:bodyPr>
          <a:lstStyle/>
          <a:p>
            <a:pPr>
              <a:spcAft>
                <a:spcPts val="300"/>
              </a:spcAft>
              <a:defRPr sz="1200" b="0">
                <a:solidFill>
                  <a:srgbClr val="233B4D"/>
                </a:solidFill>
                <a:latin typeface="Aptos"/>
              </a:defRPr>
            </a:pPr>
            <a:r>
              <a:t>payment-svc</a:t>
            </a:r>
          </a:p>
        </p:txBody>
      </p:sp>
      <p:sp>
        <p:nvSpPr>
          <p:cNvPr id="25" name="Rectangle 24"/>
          <p:cNvSpPr/>
          <p:nvPr/>
        </p:nvSpPr>
        <p:spPr>
          <a:xfrm>
            <a:off x="4709159" y="3078987"/>
            <a:ext cx="3538728" cy="301751"/>
          </a:xfrm>
          <a:prstGeom prst="rect">
            <a:avLst/>
          </a:prstGeom>
          <a:solidFill>
            <a:srgbClr val="F8FAFB"/>
          </a:solidFill>
          <a:ln>
            <a:noFill/>
          </a:ln>
          <a:effectLst/>
        </p:spPr>
        <p:txBody>
          <a:bodyPr rtlCol="0" anchor="ctr"/>
          <a:lstStyle/>
          <a:p>
            <a:pPr algn="ctr"/>
          </a:p>
        </p:txBody>
      </p:sp>
      <p:sp>
        <p:nvSpPr>
          <p:cNvPr id="26" name="TextBox 25"/>
          <p:cNvSpPr txBox="1"/>
          <p:nvPr/>
        </p:nvSpPr>
        <p:spPr>
          <a:xfrm>
            <a:off x="4818888" y="3078987"/>
            <a:ext cx="3319272" cy="301751"/>
          </a:xfrm>
          <a:prstGeom prst="rect">
            <a:avLst/>
          </a:prstGeom>
          <a:noFill/>
        </p:spPr>
        <p:txBody>
          <a:bodyPr wrap="square" lIns="0" rIns="0" tIns="0" bIns="0" anchor="ctr">
            <a:spAutoFit/>
          </a:bodyPr>
          <a:lstStyle/>
          <a:p>
            <a:pPr>
              <a:spcAft>
                <a:spcPts val="300"/>
              </a:spcAft>
              <a:defRPr sz="1200" b="1">
                <a:solidFill>
                  <a:srgbClr val="233B4D"/>
                </a:solidFill>
                <a:latin typeface="Aptos"/>
              </a:defRPr>
            </a:pPr>
            <a:r>
              <a:t>Likely root cause</a:t>
            </a:r>
          </a:p>
        </p:txBody>
      </p:sp>
      <p:sp>
        <p:nvSpPr>
          <p:cNvPr id="27" name="Rectangle 26"/>
          <p:cNvSpPr/>
          <p:nvPr/>
        </p:nvSpPr>
        <p:spPr>
          <a:xfrm>
            <a:off x="8275319" y="3078987"/>
            <a:ext cx="3340303" cy="301751"/>
          </a:xfrm>
          <a:prstGeom prst="rect">
            <a:avLst/>
          </a:prstGeom>
          <a:solidFill>
            <a:srgbClr val="F8FAFB"/>
          </a:solidFill>
          <a:ln>
            <a:noFill/>
          </a:ln>
          <a:effectLst/>
        </p:spPr>
        <p:txBody>
          <a:bodyPr rtlCol="0" anchor="ctr"/>
          <a:lstStyle/>
          <a:p>
            <a:pPr algn="ctr"/>
          </a:p>
        </p:txBody>
      </p:sp>
      <p:sp>
        <p:nvSpPr>
          <p:cNvPr id="28" name="TextBox 27"/>
          <p:cNvSpPr txBox="1"/>
          <p:nvPr/>
        </p:nvSpPr>
        <p:spPr>
          <a:xfrm>
            <a:off x="8385047" y="3078987"/>
            <a:ext cx="3120847" cy="301751"/>
          </a:xfrm>
          <a:prstGeom prst="rect">
            <a:avLst/>
          </a:prstGeom>
          <a:noFill/>
        </p:spPr>
        <p:txBody>
          <a:bodyPr wrap="square" lIns="0" rIns="0" tIns="0" bIns="0" anchor="ctr">
            <a:spAutoFit/>
          </a:bodyPr>
          <a:lstStyle/>
          <a:p>
            <a:pPr>
              <a:spcAft>
                <a:spcPts val="300"/>
              </a:spcAft>
              <a:defRPr sz="1200" b="0">
                <a:solidFill>
                  <a:srgbClr val="233B4D"/>
                </a:solidFill>
                <a:latin typeface="Aptos"/>
              </a:defRPr>
            </a:pPr>
            <a:r>
              <a:t>dns_failure</a:t>
            </a:r>
          </a:p>
        </p:txBody>
      </p:sp>
      <p:sp>
        <p:nvSpPr>
          <p:cNvPr id="29" name="Rectangle 28"/>
          <p:cNvSpPr/>
          <p:nvPr/>
        </p:nvSpPr>
        <p:spPr>
          <a:xfrm>
            <a:off x="4709159" y="3408171"/>
            <a:ext cx="3538728" cy="301751"/>
          </a:xfrm>
          <a:prstGeom prst="rect">
            <a:avLst/>
          </a:prstGeom>
          <a:solidFill>
            <a:srgbClr val="EFF4F6"/>
          </a:solidFill>
          <a:ln>
            <a:noFill/>
          </a:ln>
          <a:effectLst/>
        </p:spPr>
        <p:txBody>
          <a:bodyPr rtlCol="0" anchor="ctr"/>
          <a:lstStyle/>
          <a:p>
            <a:pPr algn="ctr"/>
          </a:p>
        </p:txBody>
      </p:sp>
      <p:sp>
        <p:nvSpPr>
          <p:cNvPr id="30" name="TextBox 29"/>
          <p:cNvSpPr txBox="1"/>
          <p:nvPr/>
        </p:nvSpPr>
        <p:spPr>
          <a:xfrm>
            <a:off x="4818888" y="3408171"/>
            <a:ext cx="3319272" cy="301751"/>
          </a:xfrm>
          <a:prstGeom prst="rect">
            <a:avLst/>
          </a:prstGeom>
          <a:noFill/>
        </p:spPr>
        <p:txBody>
          <a:bodyPr wrap="square" lIns="0" rIns="0" tIns="0" bIns="0" anchor="ctr">
            <a:spAutoFit/>
          </a:bodyPr>
          <a:lstStyle/>
          <a:p>
            <a:pPr>
              <a:spcAft>
                <a:spcPts val="300"/>
              </a:spcAft>
              <a:defRPr sz="1200" b="1">
                <a:solidFill>
                  <a:srgbClr val="233B4D"/>
                </a:solidFill>
                <a:latin typeface="Aptos"/>
              </a:defRPr>
            </a:pPr>
            <a:r>
              <a:t>Recent change implicated?</a:t>
            </a:r>
          </a:p>
        </p:txBody>
      </p:sp>
      <p:sp>
        <p:nvSpPr>
          <p:cNvPr id="31" name="Rectangle 30"/>
          <p:cNvSpPr/>
          <p:nvPr/>
        </p:nvSpPr>
        <p:spPr>
          <a:xfrm>
            <a:off x="8275319" y="3408171"/>
            <a:ext cx="3340303" cy="301751"/>
          </a:xfrm>
          <a:prstGeom prst="rect">
            <a:avLst/>
          </a:prstGeom>
          <a:solidFill>
            <a:srgbClr val="EFF4F6"/>
          </a:solidFill>
          <a:ln>
            <a:noFill/>
          </a:ln>
          <a:effectLst/>
        </p:spPr>
        <p:txBody>
          <a:bodyPr rtlCol="0" anchor="ctr"/>
          <a:lstStyle/>
          <a:p>
            <a:pPr algn="ctr"/>
          </a:p>
        </p:txBody>
      </p:sp>
      <p:sp>
        <p:nvSpPr>
          <p:cNvPr id="32" name="TextBox 31"/>
          <p:cNvSpPr txBox="1"/>
          <p:nvPr/>
        </p:nvSpPr>
        <p:spPr>
          <a:xfrm>
            <a:off x="8385047" y="3408171"/>
            <a:ext cx="3120847" cy="301751"/>
          </a:xfrm>
          <a:prstGeom prst="rect">
            <a:avLst/>
          </a:prstGeom>
          <a:noFill/>
        </p:spPr>
        <p:txBody>
          <a:bodyPr wrap="square" lIns="0" rIns="0" tIns="0" bIns="0" anchor="ctr">
            <a:spAutoFit/>
          </a:bodyPr>
          <a:lstStyle/>
          <a:p>
            <a:pPr>
              <a:spcAft>
                <a:spcPts val="300"/>
              </a:spcAft>
              <a:defRPr sz="1200" b="0">
                <a:solidFill>
                  <a:srgbClr val="233B4D"/>
                </a:solidFill>
                <a:latin typeface="Aptos"/>
              </a:defRPr>
            </a:pPr>
            <a:r>
              <a:t>0.94</a:t>
            </a:r>
          </a:p>
        </p:txBody>
      </p:sp>
      <p:sp>
        <p:nvSpPr>
          <p:cNvPr id="33" name="Rectangle 32"/>
          <p:cNvSpPr/>
          <p:nvPr/>
        </p:nvSpPr>
        <p:spPr>
          <a:xfrm>
            <a:off x="4709159" y="3737355"/>
            <a:ext cx="3538728" cy="301751"/>
          </a:xfrm>
          <a:prstGeom prst="rect">
            <a:avLst/>
          </a:prstGeom>
          <a:solidFill>
            <a:srgbClr val="F8FAFB"/>
          </a:solidFill>
          <a:ln>
            <a:noFill/>
          </a:ln>
          <a:effectLst/>
        </p:spPr>
        <p:txBody>
          <a:bodyPr rtlCol="0" anchor="ctr"/>
          <a:lstStyle/>
          <a:p>
            <a:pPr algn="ctr"/>
          </a:p>
        </p:txBody>
      </p:sp>
      <p:sp>
        <p:nvSpPr>
          <p:cNvPr id="34" name="TextBox 33"/>
          <p:cNvSpPr txBox="1"/>
          <p:nvPr/>
        </p:nvSpPr>
        <p:spPr>
          <a:xfrm>
            <a:off x="4818888" y="3737355"/>
            <a:ext cx="3319272" cy="301751"/>
          </a:xfrm>
          <a:prstGeom prst="rect">
            <a:avLst/>
          </a:prstGeom>
          <a:noFill/>
        </p:spPr>
        <p:txBody>
          <a:bodyPr wrap="square" lIns="0" rIns="0" tIns="0" bIns="0" anchor="ctr">
            <a:spAutoFit/>
          </a:bodyPr>
          <a:lstStyle/>
          <a:p>
            <a:pPr>
              <a:spcAft>
                <a:spcPts val="300"/>
              </a:spcAft>
              <a:defRPr sz="1200" b="1">
                <a:solidFill>
                  <a:srgbClr val="233B4D"/>
                </a:solidFill>
                <a:latin typeface="Aptos"/>
              </a:defRPr>
            </a:pPr>
            <a:r>
              <a:t>Severity (0-3)</a:t>
            </a:r>
          </a:p>
        </p:txBody>
      </p:sp>
      <p:sp>
        <p:nvSpPr>
          <p:cNvPr id="35" name="Rectangle 34"/>
          <p:cNvSpPr/>
          <p:nvPr/>
        </p:nvSpPr>
        <p:spPr>
          <a:xfrm>
            <a:off x="8275319" y="3737355"/>
            <a:ext cx="3340303" cy="301751"/>
          </a:xfrm>
          <a:prstGeom prst="rect">
            <a:avLst/>
          </a:prstGeom>
          <a:solidFill>
            <a:srgbClr val="F8FAFB"/>
          </a:solidFill>
          <a:ln>
            <a:noFill/>
          </a:ln>
          <a:effectLst/>
        </p:spPr>
        <p:txBody>
          <a:bodyPr rtlCol="0" anchor="ctr"/>
          <a:lstStyle/>
          <a:p>
            <a:pPr algn="ctr"/>
          </a:p>
        </p:txBody>
      </p:sp>
      <p:sp>
        <p:nvSpPr>
          <p:cNvPr id="36" name="TextBox 35"/>
          <p:cNvSpPr txBox="1"/>
          <p:nvPr/>
        </p:nvSpPr>
        <p:spPr>
          <a:xfrm>
            <a:off x="8385047" y="3737355"/>
            <a:ext cx="3120847" cy="301751"/>
          </a:xfrm>
          <a:prstGeom prst="rect">
            <a:avLst/>
          </a:prstGeom>
          <a:noFill/>
        </p:spPr>
        <p:txBody>
          <a:bodyPr wrap="square" lIns="0" rIns="0" tIns="0" bIns="0" anchor="ctr">
            <a:spAutoFit/>
          </a:bodyPr>
          <a:lstStyle/>
          <a:p>
            <a:pPr>
              <a:spcAft>
                <a:spcPts val="300"/>
              </a:spcAft>
              <a:defRPr sz="1200" b="0">
                <a:solidFill>
                  <a:srgbClr val="233B4D"/>
                </a:solidFill>
                <a:latin typeface="Aptos"/>
              </a:defRPr>
            </a:pPr>
            <a:r>
              <a:t>2.35</a:t>
            </a:r>
          </a:p>
        </p:txBody>
      </p:sp>
      <p:sp>
        <p:nvSpPr>
          <p:cNvPr id="37" name="Rectangle 36"/>
          <p:cNvSpPr/>
          <p:nvPr/>
        </p:nvSpPr>
        <p:spPr>
          <a:xfrm>
            <a:off x="4709159" y="4066539"/>
            <a:ext cx="3538728" cy="301751"/>
          </a:xfrm>
          <a:prstGeom prst="rect">
            <a:avLst/>
          </a:prstGeom>
          <a:solidFill>
            <a:srgbClr val="EFF4F6"/>
          </a:solidFill>
          <a:ln>
            <a:noFill/>
          </a:ln>
          <a:effectLst/>
        </p:spPr>
        <p:txBody>
          <a:bodyPr rtlCol="0" anchor="ctr"/>
          <a:lstStyle/>
          <a:p>
            <a:pPr algn="ctr"/>
          </a:p>
        </p:txBody>
      </p:sp>
      <p:sp>
        <p:nvSpPr>
          <p:cNvPr id="38" name="TextBox 37"/>
          <p:cNvSpPr txBox="1"/>
          <p:nvPr/>
        </p:nvSpPr>
        <p:spPr>
          <a:xfrm>
            <a:off x="4818888" y="4066539"/>
            <a:ext cx="3319272" cy="301751"/>
          </a:xfrm>
          <a:prstGeom prst="rect">
            <a:avLst/>
          </a:prstGeom>
          <a:noFill/>
        </p:spPr>
        <p:txBody>
          <a:bodyPr wrap="square" lIns="0" rIns="0" tIns="0" bIns="0" anchor="ctr">
            <a:spAutoFit/>
          </a:bodyPr>
          <a:lstStyle/>
          <a:p>
            <a:pPr>
              <a:spcAft>
                <a:spcPts val="300"/>
              </a:spcAft>
              <a:defRPr sz="1200" b="1">
                <a:solidFill>
                  <a:srgbClr val="233B4D"/>
                </a:solidFill>
                <a:latin typeface="Aptos"/>
              </a:defRPr>
            </a:pPr>
            <a:r>
              <a:t>Blast radius (0-3)</a:t>
            </a:r>
          </a:p>
        </p:txBody>
      </p:sp>
      <p:sp>
        <p:nvSpPr>
          <p:cNvPr id="39" name="Rectangle 38"/>
          <p:cNvSpPr/>
          <p:nvPr/>
        </p:nvSpPr>
        <p:spPr>
          <a:xfrm>
            <a:off x="8275319" y="4066539"/>
            <a:ext cx="3340303" cy="301751"/>
          </a:xfrm>
          <a:prstGeom prst="rect">
            <a:avLst/>
          </a:prstGeom>
          <a:solidFill>
            <a:srgbClr val="EFF4F6"/>
          </a:solidFill>
          <a:ln>
            <a:noFill/>
          </a:ln>
          <a:effectLst/>
        </p:spPr>
        <p:txBody>
          <a:bodyPr rtlCol="0" anchor="ctr"/>
          <a:lstStyle/>
          <a:p>
            <a:pPr algn="ctr"/>
          </a:p>
        </p:txBody>
      </p:sp>
      <p:sp>
        <p:nvSpPr>
          <p:cNvPr id="40" name="TextBox 39"/>
          <p:cNvSpPr txBox="1"/>
          <p:nvPr/>
        </p:nvSpPr>
        <p:spPr>
          <a:xfrm>
            <a:off x="8385047" y="4066539"/>
            <a:ext cx="3120847" cy="301751"/>
          </a:xfrm>
          <a:prstGeom prst="rect">
            <a:avLst/>
          </a:prstGeom>
          <a:noFill/>
        </p:spPr>
        <p:txBody>
          <a:bodyPr wrap="square" lIns="0" rIns="0" tIns="0" bIns="0" anchor="ctr">
            <a:spAutoFit/>
          </a:bodyPr>
          <a:lstStyle/>
          <a:p>
            <a:pPr>
              <a:spcAft>
                <a:spcPts val="300"/>
              </a:spcAft>
              <a:defRPr sz="1200" b="0">
                <a:solidFill>
                  <a:srgbClr val="233B4D"/>
                </a:solidFill>
                <a:latin typeface="Aptos"/>
              </a:defRPr>
            </a:pPr>
            <a:r>
              <a:t>1.09</a:t>
            </a:r>
          </a:p>
        </p:txBody>
      </p:sp>
      <p:sp>
        <p:nvSpPr>
          <p:cNvPr id="41" name="Rectangle 40"/>
          <p:cNvSpPr/>
          <p:nvPr/>
        </p:nvSpPr>
        <p:spPr>
          <a:xfrm>
            <a:off x="4709159" y="4395724"/>
            <a:ext cx="3538728" cy="301751"/>
          </a:xfrm>
          <a:prstGeom prst="rect">
            <a:avLst/>
          </a:prstGeom>
          <a:solidFill>
            <a:srgbClr val="F8FAFB"/>
          </a:solidFill>
          <a:ln>
            <a:noFill/>
          </a:ln>
          <a:effectLst/>
        </p:spPr>
        <p:txBody>
          <a:bodyPr rtlCol="0" anchor="ctr"/>
          <a:lstStyle/>
          <a:p>
            <a:pPr algn="ctr"/>
          </a:p>
        </p:txBody>
      </p:sp>
      <p:sp>
        <p:nvSpPr>
          <p:cNvPr id="42" name="TextBox 41"/>
          <p:cNvSpPr txBox="1"/>
          <p:nvPr/>
        </p:nvSpPr>
        <p:spPr>
          <a:xfrm>
            <a:off x="4818888" y="4395724"/>
            <a:ext cx="3319272" cy="301751"/>
          </a:xfrm>
          <a:prstGeom prst="rect">
            <a:avLst/>
          </a:prstGeom>
          <a:noFill/>
        </p:spPr>
        <p:txBody>
          <a:bodyPr wrap="square" lIns="0" rIns="0" tIns="0" bIns="0" anchor="ctr">
            <a:spAutoFit/>
          </a:bodyPr>
          <a:lstStyle/>
          <a:p>
            <a:pPr>
              <a:spcAft>
                <a:spcPts val="300"/>
              </a:spcAft>
              <a:defRPr sz="1200" b="1">
                <a:solidFill>
                  <a:srgbClr val="233B4D"/>
                </a:solidFill>
                <a:latin typeface="Aptos"/>
              </a:defRPr>
            </a:pPr>
            <a:r>
              <a:t>Customer impact?</a:t>
            </a:r>
          </a:p>
        </p:txBody>
      </p:sp>
      <p:sp>
        <p:nvSpPr>
          <p:cNvPr id="43" name="Rectangle 42"/>
          <p:cNvSpPr/>
          <p:nvPr/>
        </p:nvSpPr>
        <p:spPr>
          <a:xfrm>
            <a:off x="8275319" y="4395724"/>
            <a:ext cx="3340303" cy="301751"/>
          </a:xfrm>
          <a:prstGeom prst="rect">
            <a:avLst/>
          </a:prstGeom>
          <a:solidFill>
            <a:srgbClr val="F8FAFB"/>
          </a:solidFill>
          <a:ln>
            <a:noFill/>
          </a:ln>
          <a:effectLst/>
        </p:spPr>
        <p:txBody>
          <a:bodyPr rtlCol="0" anchor="ctr"/>
          <a:lstStyle/>
          <a:p>
            <a:pPr algn="ctr"/>
          </a:p>
        </p:txBody>
      </p:sp>
      <p:sp>
        <p:nvSpPr>
          <p:cNvPr id="44" name="TextBox 43"/>
          <p:cNvSpPr txBox="1"/>
          <p:nvPr/>
        </p:nvSpPr>
        <p:spPr>
          <a:xfrm>
            <a:off x="8385047" y="4395724"/>
            <a:ext cx="3120847" cy="301751"/>
          </a:xfrm>
          <a:prstGeom prst="rect">
            <a:avLst/>
          </a:prstGeom>
          <a:noFill/>
        </p:spPr>
        <p:txBody>
          <a:bodyPr wrap="square" lIns="0" rIns="0" tIns="0" bIns="0" anchor="ctr">
            <a:spAutoFit/>
          </a:bodyPr>
          <a:lstStyle/>
          <a:p>
            <a:pPr>
              <a:spcAft>
                <a:spcPts val="300"/>
              </a:spcAft>
              <a:defRPr sz="1200" b="0">
                <a:solidFill>
                  <a:srgbClr val="233B4D"/>
                </a:solidFill>
                <a:latin typeface="Aptos"/>
              </a:defRPr>
            </a:pPr>
            <a:r>
              <a:t>0.71</a:t>
            </a:r>
          </a:p>
        </p:txBody>
      </p:sp>
      <p:sp>
        <p:nvSpPr>
          <p:cNvPr id="45" name="Rectangle 44"/>
          <p:cNvSpPr/>
          <p:nvPr/>
        </p:nvSpPr>
        <p:spPr>
          <a:xfrm>
            <a:off x="4709159" y="4724908"/>
            <a:ext cx="3538728" cy="301751"/>
          </a:xfrm>
          <a:prstGeom prst="rect">
            <a:avLst/>
          </a:prstGeom>
          <a:solidFill>
            <a:srgbClr val="EFF4F6"/>
          </a:solidFill>
          <a:ln>
            <a:noFill/>
          </a:ln>
          <a:effectLst/>
        </p:spPr>
        <p:txBody>
          <a:bodyPr rtlCol="0" anchor="ctr"/>
          <a:lstStyle/>
          <a:p>
            <a:pPr algn="ctr"/>
          </a:p>
        </p:txBody>
      </p:sp>
      <p:sp>
        <p:nvSpPr>
          <p:cNvPr id="46" name="TextBox 45"/>
          <p:cNvSpPr txBox="1"/>
          <p:nvPr/>
        </p:nvSpPr>
        <p:spPr>
          <a:xfrm>
            <a:off x="4818888" y="4724908"/>
            <a:ext cx="3319272" cy="301751"/>
          </a:xfrm>
          <a:prstGeom prst="rect">
            <a:avLst/>
          </a:prstGeom>
          <a:noFill/>
        </p:spPr>
        <p:txBody>
          <a:bodyPr wrap="square" lIns="0" rIns="0" tIns="0" bIns="0" anchor="ctr">
            <a:spAutoFit/>
          </a:bodyPr>
          <a:lstStyle/>
          <a:p>
            <a:pPr>
              <a:spcAft>
                <a:spcPts val="300"/>
              </a:spcAft>
              <a:defRPr sz="1200" b="1">
                <a:solidFill>
                  <a:srgbClr val="233B4D"/>
                </a:solidFill>
                <a:latin typeface="Aptos"/>
              </a:defRPr>
            </a:pPr>
            <a:r>
              <a:t>Rollback safe?</a:t>
            </a:r>
          </a:p>
        </p:txBody>
      </p:sp>
      <p:sp>
        <p:nvSpPr>
          <p:cNvPr id="47" name="Rectangle 46"/>
          <p:cNvSpPr/>
          <p:nvPr/>
        </p:nvSpPr>
        <p:spPr>
          <a:xfrm>
            <a:off x="8275319" y="4724908"/>
            <a:ext cx="3340303" cy="301751"/>
          </a:xfrm>
          <a:prstGeom prst="rect">
            <a:avLst/>
          </a:prstGeom>
          <a:solidFill>
            <a:srgbClr val="EFF4F6"/>
          </a:solidFill>
          <a:ln>
            <a:noFill/>
          </a:ln>
          <a:effectLst/>
        </p:spPr>
        <p:txBody>
          <a:bodyPr rtlCol="0" anchor="ctr"/>
          <a:lstStyle/>
          <a:p>
            <a:pPr algn="ctr"/>
          </a:p>
        </p:txBody>
      </p:sp>
      <p:sp>
        <p:nvSpPr>
          <p:cNvPr id="48" name="TextBox 47"/>
          <p:cNvSpPr txBox="1"/>
          <p:nvPr/>
        </p:nvSpPr>
        <p:spPr>
          <a:xfrm>
            <a:off x="8385047" y="4724908"/>
            <a:ext cx="3120847" cy="301751"/>
          </a:xfrm>
          <a:prstGeom prst="rect">
            <a:avLst/>
          </a:prstGeom>
          <a:noFill/>
        </p:spPr>
        <p:txBody>
          <a:bodyPr wrap="square" lIns="0" rIns="0" tIns="0" bIns="0" anchor="ctr">
            <a:spAutoFit/>
          </a:bodyPr>
          <a:lstStyle/>
          <a:p>
            <a:pPr>
              <a:spcAft>
                <a:spcPts val="300"/>
              </a:spcAft>
              <a:defRPr sz="1200" b="0">
                <a:solidFill>
                  <a:srgbClr val="233B4D"/>
                </a:solidFill>
                <a:latin typeface="Aptos"/>
              </a:defRPr>
            </a:pPr>
            <a:r>
              <a:t>0.79</a:t>
            </a:r>
          </a:p>
        </p:txBody>
      </p:sp>
      <p:sp>
        <p:nvSpPr>
          <p:cNvPr id="49" name="Rectangle 48"/>
          <p:cNvSpPr/>
          <p:nvPr/>
        </p:nvSpPr>
        <p:spPr>
          <a:xfrm>
            <a:off x="4709159" y="5054092"/>
            <a:ext cx="3538728" cy="301751"/>
          </a:xfrm>
          <a:prstGeom prst="rect">
            <a:avLst/>
          </a:prstGeom>
          <a:solidFill>
            <a:srgbClr val="F8FAFB"/>
          </a:solidFill>
          <a:ln>
            <a:noFill/>
          </a:ln>
          <a:effectLst/>
        </p:spPr>
        <p:txBody>
          <a:bodyPr rtlCol="0" anchor="ctr"/>
          <a:lstStyle/>
          <a:p>
            <a:pPr algn="ctr"/>
          </a:p>
        </p:txBody>
      </p:sp>
      <p:sp>
        <p:nvSpPr>
          <p:cNvPr id="50" name="TextBox 49"/>
          <p:cNvSpPr txBox="1"/>
          <p:nvPr/>
        </p:nvSpPr>
        <p:spPr>
          <a:xfrm>
            <a:off x="4818888" y="5054092"/>
            <a:ext cx="3319272" cy="301751"/>
          </a:xfrm>
          <a:prstGeom prst="rect">
            <a:avLst/>
          </a:prstGeom>
          <a:noFill/>
        </p:spPr>
        <p:txBody>
          <a:bodyPr wrap="square" lIns="0" rIns="0" tIns="0" bIns="0" anchor="ctr">
            <a:spAutoFit/>
          </a:bodyPr>
          <a:lstStyle/>
          <a:p>
            <a:pPr>
              <a:spcAft>
                <a:spcPts val="300"/>
              </a:spcAft>
              <a:defRPr sz="1200" b="1">
                <a:solidFill>
                  <a:srgbClr val="233B4D"/>
                </a:solidFill>
                <a:latin typeface="Aptos"/>
              </a:defRPr>
            </a:pPr>
            <a:r>
              <a:t>Proposed first action</a:t>
            </a:r>
          </a:p>
        </p:txBody>
      </p:sp>
      <p:sp>
        <p:nvSpPr>
          <p:cNvPr id="51" name="Rectangle 50"/>
          <p:cNvSpPr/>
          <p:nvPr/>
        </p:nvSpPr>
        <p:spPr>
          <a:xfrm>
            <a:off x="8275319" y="5054092"/>
            <a:ext cx="3340303" cy="301751"/>
          </a:xfrm>
          <a:prstGeom prst="rect">
            <a:avLst/>
          </a:prstGeom>
          <a:solidFill>
            <a:srgbClr val="F8FAFB"/>
          </a:solidFill>
          <a:ln>
            <a:noFill/>
          </a:ln>
          <a:effectLst/>
        </p:spPr>
        <p:txBody>
          <a:bodyPr rtlCol="0" anchor="ctr"/>
          <a:lstStyle/>
          <a:p>
            <a:pPr algn="ctr"/>
          </a:p>
        </p:txBody>
      </p:sp>
      <p:sp>
        <p:nvSpPr>
          <p:cNvPr id="52" name="TextBox 51"/>
          <p:cNvSpPr txBox="1"/>
          <p:nvPr/>
        </p:nvSpPr>
        <p:spPr>
          <a:xfrm>
            <a:off x="8385047" y="5054092"/>
            <a:ext cx="3120847" cy="301751"/>
          </a:xfrm>
          <a:prstGeom prst="rect">
            <a:avLst/>
          </a:prstGeom>
          <a:noFill/>
        </p:spPr>
        <p:txBody>
          <a:bodyPr wrap="square" lIns="0" rIns="0" tIns="0" bIns="0" anchor="ctr">
            <a:spAutoFit/>
          </a:bodyPr>
          <a:lstStyle/>
          <a:p>
            <a:pPr>
              <a:spcAft>
                <a:spcPts val="300"/>
              </a:spcAft>
              <a:defRPr sz="1200" b="0">
                <a:solidFill>
                  <a:srgbClr val="233B4D"/>
                </a:solidFill>
                <a:latin typeface="Aptos"/>
              </a:defRPr>
            </a:pPr>
            <a:r>
              <a:t>rollback</a:t>
            </a:r>
          </a:p>
        </p:txBody>
      </p:sp>
      <p:sp>
        <p:nvSpPr>
          <p:cNvPr id="53" name="Rectangle 52"/>
          <p:cNvSpPr/>
          <p:nvPr/>
        </p:nvSpPr>
        <p:spPr>
          <a:xfrm>
            <a:off x="4709159" y="5383276"/>
            <a:ext cx="3538728" cy="301751"/>
          </a:xfrm>
          <a:prstGeom prst="rect">
            <a:avLst/>
          </a:prstGeom>
          <a:solidFill>
            <a:srgbClr val="EFF4F6"/>
          </a:solidFill>
          <a:ln>
            <a:noFill/>
          </a:ln>
          <a:effectLst/>
        </p:spPr>
        <p:txBody>
          <a:bodyPr rtlCol="0" anchor="ctr"/>
          <a:lstStyle/>
          <a:p>
            <a:pPr algn="ctr"/>
          </a:p>
        </p:txBody>
      </p:sp>
      <p:sp>
        <p:nvSpPr>
          <p:cNvPr id="54" name="TextBox 53"/>
          <p:cNvSpPr txBox="1"/>
          <p:nvPr/>
        </p:nvSpPr>
        <p:spPr>
          <a:xfrm>
            <a:off x="4818888" y="5383276"/>
            <a:ext cx="3319272" cy="301751"/>
          </a:xfrm>
          <a:prstGeom prst="rect">
            <a:avLst/>
          </a:prstGeom>
          <a:noFill/>
        </p:spPr>
        <p:txBody>
          <a:bodyPr wrap="square" lIns="0" rIns="0" tIns="0" bIns="0" anchor="ctr">
            <a:spAutoFit/>
          </a:bodyPr>
          <a:lstStyle/>
          <a:p>
            <a:pPr>
              <a:spcAft>
                <a:spcPts val="300"/>
              </a:spcAft>
              <a:defRPr sz="1200" b="1">
                <a:solidFill>
                  <a:srgbClr val="233B4D"/>
                </a:solidFill>
                <a:latin typeface="Aptos"/>
              </a:defRPr>
            </a:pPr>
            <a:r>
              <a:t>Action risk (0-2)</a:t>
            </a:r>
          </a:p>
        </p:txBody>
      </p:sp>
      <p:sp>
        <p:nvSpPr>
          <p:cNvPr id="55" name="Rectangle 54"/>
          <p:cNvSpPr/>
          <p:nvPr/>
        </p:nvSpPr>
        <p:spPr>
          <a:xfrm>
            <a:off x="8275319" y="5383276"/>
            <a:ext cx="3340303" cy="301751"/>
          </a:xfrm>
          <a:prstGeom prst="rect">
            <a:avLst/>
          </a:prstGeom>
          <a:solidFill>
            <a:srgbClr val="EFF4F6"/>
          </a:solidFill>
          <a:ln>
            <a:noFill/>
          </a:ln>
          <a:effectLst/>
        </p:spPr>
        <p:txBody>
          <a:bodyPr rtlCol="0" anchor="ctr"/>
          <a:lstStyle/>
          <a:p>
            <a:pPr algn="ctr"/>
          </a:p>
        </p:txBody>
      </p:sp>
      <p:sp>
        <p:nvSpPr>
          <p:cNvPr id="56" name="TextBox 55"/>
          <p:cNvSpPr txBox="1"/>
          <p:nvPr/>
        </p:nvSpPr>
        <p:spPr>
          <a:xfrm>
            <a:off x="8385047" y="5383276"/>
            <a:ext cx="3120847" cy="301751"/>
          </a:xfrm>
          <a:prstGeom prst="rect">
            <a:avLst/>
          </a:prstGeom>
          <a:noFill/>
        </p:spPr>
        <p:txBody>
          <a:bodyPr wrap="square" lIns="0" rIns="0" tIns="0" bIns="0" anchor="ctr">
            <a:spAutoFit/>
          </a:bodyPr>
          <a:lstStyle/>
          <a:p>
            <a:pPr>
              <a:spcAft>
                <a:spcPts val="300"/>
              </a:spcAft>
              <a:defRPr sz="1200" b="0">
                <a:solidFill>
                  <a:srgbClr val="233B4D"/>
                </a:solidFill>
                <a:latin typeface="Aptos"/>
              </a:defRPr>
            </a:pPr>
            <a:r>
              <a:t>0.50</a:t>
            </a:r>
          </a:p>
        </p:txBody>
      </p:sp>
      <p:sp>
        <p:nvSpPr>
          <p:cNvPr id="57" name="Rectangle 56"/>
          <p:cNvSpPr/>
          <p:nvPr/>
        </p:nvSpPr>
        <p:spPr>
          <a:xfrm>
            <a:off x="4709159" y="5712460"/>
            <a:ext cx="3538728" cy="301751"/>
          </a:xfrm>
          <a:prstGeom prst="rect">
            <a:avLst/>
          </a:prstGeom>
          <a:solidFill>
            <a:srgbClr val="F8FAFB"/>
          </a:solidFill>
          <a:ln>
            <a:noFill/>
          </a:ln>
          <a:effectLst/>
        </p:spPr>
        <p:txBody>
          <a:bodyPr rtlCol="0" anchor="ctr"/>
          <a:lstStyle/>
          <a:p>
            <a:pPr algn="ctr"/>
          </a:p>
        </p:txBody>
      </p:sp>
      <p:sp>
        <p:nvSpPr>
          <p:cNvPr id="58" name="TextBox 57"/>
          <p:cNvSpPr txBox="1"/>
          <p:nvPr/>
        </p:nvSpPr>
        <p:spPr>
          <a:xfrm>
            <a:off x="4818888" y="5712460"/>
            <a:ext cx="3319272" cy="301751"/>
          </a:xfrm>
          <a:prstGeom prst="rect">
            <a:avLst/>
          </a:prstGeom>
          <a:noFill/>
        </p:spPr>
        <p:txBody>
          <a:bodyPr wrap="square" lIns="0" rIns="0" tIns="0" bIns="0" anchor="ctr">
            <a:spAutoFit/>
          </a:bodyPr>
          <a:lstStyle/>
          <a:p>
            <a:pPr>
              <a:spcAft>
                <a:spcPts val="300"/>
              </a:spcAft>
              <a:defRPr sz="1200" b="1">
                <a:solidFill>
                  <a:srgbClr val="233B4D"/>
                </a:solidFill>
                <a:latin typeface="Aptos"/>
              </a:defRPr>
            </a:pPr>
            <a:r>
              <a:t>Page a person?</a:t>
            </a:r>
          </a:p>
        </p:txBody>
      </p:sp>
      <p:sp>
        <p:nvSpPr>
          <p:cNvPr id="59" name="Rectangle 58"/>
          <p:cNvSpPr/>
          <p:nvPr/>
        </p:nvSpPr>
        <p:spPr>
          <a:xfrm>
            <a:off x="8275319" y="5712460"/>
            <a:ext cx="3340303" cy="301751"/>
          </a:xfrm>
          <a:prstGeom prst="rect">
            <a:avLst/>
          </a:prstGeom>
          <a:solidFill>
            <a:srgbClr val="F8FAFB"/>
          </a:solidFill>
          <a:ln>
            <a:noFill/>
          </a:ln>
          <a:effectLst/>
        </p:spPr>
        <p:txBody>
          <a:bodyPr rtlCol="0" anchor="ctr"/>
          <a:lstStyle/>
          <a:p>
            <a:pPr algn="ctr"/>
          </a:p>
        </p:txBody>
      </p:sp>
      <p:sp>
        <p:nvSpPr>
          <p:cNvPr id="60" name="TextBox 59"/>
          <p:cNvSpPr txBox="1"/>
          <p:nvPr/>
        </p:nvSpPr>
        <p:spPr>
          <a:xfrm>
            <a:off x="8385047" y="5712460"/>
            <a:ext cx="3120847" cy="301751"/>
          </a:xfrm>
          <a:prstGeom prst="rect">
            <a:avLst/>
          </a:prstGeom>
          <a:noFill/>
        </p:spPr>
        <p:txBody>
          <a:bodyPr wrap="square" lIns="0" rIns="0" tIns="0" bIns="0" anchor="ctr">
            <a:spAutoFit/>
          </a:bodyPr>
          <a:lstStyle/>
          <a:p>
            <a:pPr>
              <a:spcAft>
                <a:spcPts val="300"/>
              </a:spcAft>
              <a:defRPr sz="1200" b="0">
                <a:solidFill>
                  <a:srgbClr val="233B4D"/>
                </a:solidFill>
                <a:latin typeface="Aptos"/>
              </a:defRPr>
            </a:pPr>
            <a:r>
              <a:t>0.77</a:t>
            </a:r>
          </a:p>
        </p:txBody>
      </p:sp>
      <p:sp>
        <p:nvSpPr>
          <p:cNvPr id="61" name="Rectangle 60"/>
          <p:cNvSpPr/>
          <p:nvPr/>
        </p:nvSpPr>
        <p:spPr>
          <a:xfrm>
            <a:off x="548640" y="6309360"/>
            <a:ext cx="11094415" cy="10972"/>
          </a:xfrm>
          <a:prstGeom prst="rect">
            <a:avLst/>
          </a:prstGeom>
          <a:solidFill>
            <a:srgbClr val="CCD7DD"/>
          </a:solidFill>
          <a:ln>
            <a:noFill/>
          </a:ln>
          <a:effectLst/>
        </p:spPr>
        <p:txBody>
          <a:bodyPr rtlCol="0" anchor="ctr"/>
          <a:lstStyle/>
          <a:p>
            <a:pPr algn="ctr"/>
          </a:p>
        </p:txBody>
      </p:sp>
      <p:sp>
        <p:nvSpPr>
          <p:cNvPr id="62" name="TextBox 61"/>
          <p:cNvSpPr txBox="1"/>
          <p:nvPr/>
        </p:nvSpPr>
        <p:spPr>
          <a:xfrm>
            <a:off x="548640" y="6400800"/>
            <a:ext cx="4572000" cy="201168"/>
          </a:xfrm>
          <a:prstGeom prst="rect">
            <a:avLst/>
          </a:prstGeom>
          <a:noFill/>
        </p:spPr>
        <p:txBody>
          <a:bodyPr wrap="square" lIns="0" rIns="0" tIns="0" bIns="0">
            <a:spAutoFit/>
          </a:bodyPr>
          <a:lstStyle/>
          <a:p>
            <a:pPr>
              <a:spcAft>
                <a:spcPts val="300"/>
              </a:spcAft>
              <a:defRPr sz="900" b="0">
                <a:solidFill>
                  <a:srgbClr val="596A76"/>
                </a:solidFill>
                <a:latin typeface="Aptos"/>
              </a:defRPr>
            </a:pPr>
            <a:r>
              <a:t>For discussion · October 2026</a:t>
            </a:r>
          </a:p>
        </p:txBody>
      </p:sp>
      <p:sp>
        <p:nvSpPr>
          <p:cNvPr id="63" name="TextBox 62"/>
          <p:cNvSpPr txBox="1"/>
          <p:nvPr/>
        </p:nvSpPr>
        <p:spPr>
          <a:xfrm>
            <a:off x="10929480" y="6400800"/>
            <a:ext cx="164934" cy="201168"/>
          </a:xfrm>
          <a:prstGeom prst="rect">
            <a:avLst/>
          </a:prstGeom>
          <a:noFill/>
        </p:spPr>
        <p:txBody>
          <a:bodyPr wrap="square" lIns="0" rIns="0" tIns="0" bIns="0">
            <a:spAutoFit/>
          </a:bodyPr>
          <a:lstStyle/>
          <a:p>
            <a:pPr>
              <a:spcAft>
                <a:spcPts val="300"/>
              </a:spcAft>
              <a:defRPr sz="900" b="1">
                <a:solidFill>
                  <a:srgbClr val="007F82"/>
                </a:solidFill>
                <a:latin typeface="Aptos"/>
              </a:defRPr>
            </a:pPr>
            <a:r>
              <a:rPr>
                <a:hlinkClick r:id="rId3"/>
              </a:rPr>
              <a:t>S7</a:t>
            </a:r>
          </a:p>
        </p:txBody>
      </p:sp>
      <p:sp>
        <p:nvSpPr>
          <p:cNvPr id="64" name="TextBox 63"/>
          <p:cNvSpPr txBox="1"/>
          <p:nvPr/>
        </p:nvSpPr>
        <p:spPr>
          <a:xfrm>
            <a:off x="10783176" y="6400800"/>
            <a:ext cx="91440" cy="201168"/>
          </a:xfrm>
          <a:prstGeom prst="rect">
            <a:avLst/>
          </a:prstGeom>
          <a:noFill/>
        </p:spPr>
        <p:txBody>
          <a:bodyPr wrap="square" lIns="0" rIns="0" tIns="0" bIns="0">
            <a:spAutoFit/>
          </a:bodyPr>
          <a:lstStyle/>
          <a:p>
            <a:pPr algn="ctr">
              <a:spcAft>
                <a:spcPts val="300"/>
              </a:spcAft>
              <a:defRPr sz="900" b="0">
                <a:solidFill>
                  <a:srgbClr val="596A76"/>
                </a:solidFill>
                <a:latin typeface="Aptos"/>
              </a:defRPr>
            </a:pPr>
            <a:r>
              <a:t>·</a:t>
            </a:r>
          </a:p>
        </p:txBody>
      </p:sp>
      <p:sp>
        <p:nvSpPr>
          <p:cNvPr id="65" name="TextBox 64"/>
          <p:cNvSpPr txBox="1"/>
          <p:nvPr/>
        </p:nvSpPr>
        <p:spPr>
          <a:xfrm>
            <a:off x="10618241" y="6400800"/>
            <a:ext cx="164934" cy="201168"/>
          </a:xfrm>
          <a:prstGeom prst="rect">
            <a:avLst/>
          </a:prstGeom>
          <a:noFill/>
        </p:spPr>
        <p:txBody>
          <a:bodyPr wrap="square" lIns="0" rIns="0" tIns="0" bIns="0">
            <a:spAutoFit/>
          </a:bodyPr>
          <a:lstStyle/>
          <a:p>
            <a:pPr>
              <a:spcAft>
                <a:spcPts val="300"/>
              </a:spcAft>
              <a:defRPr sz="900" b="1">
                <a:solidFill>
                  <a:srgbClr val="007F82"/>
                </a:solidFill>
                <a:latin typeface="Aptos"/>
              </a:defRPr>
            </a:pPr>
            <a:r>
              <a:rPr>
                <a:hlinkClick r:id="rId4"/>
              </a:rPr>
              <a:t>S6</a:t>
            </a:r>
          </a:p>
        </p:txBody>
      </p:sp>
      <p:sp>
        <p:nvSpPr>
          <p:cNvPr id="66" name="TextBox 65"/>
          <p:cNvSpPr txBox="1"/>
          <p:nvPr/>
        </p:nvSpPr>
        <p:spPr>
          <a:xfrm>
            <a:off x="10069601" y="6400800"/>
            <a:ext cx="493776" cy="201168"/>
          </a:xfrm>
          <a:prstGeom prst="rect">
            <a:avLst/>
          </a:prstGeom>
          <a:noFill/>
        </p:spPr>
        <p:txBody>
          <a:bodyPr wrap="square" lIns="0" rIns="0" tIns="0" bIns="0">
            <a:spAutoFit/>
          </a:bodyPr>
          <a:lstStyle/>
          <a:p>
            <a:pPr algn="r">
              <a:spcAft>
                <a:spcPts val="300"/>
              </a:spcAft>
              <a:defRPr sz="900" b="0">
                <a:solidFill>
                  <a:srgbClr val="596A76"/>
                </a:solidFill>
                <a:latin typeface="Aptos"/>
              </a:defRPr>
            </a:pPr>
            <a:r>
              <a:t>Sources</a:t>
            </a:r>
          </a:p>
        </p:txBody>
      </p:sp>
      <p:sp>
        <p:nvSpPr>
          <p:cNvPr id="67" name="TextBox 66"/>
          <p:cNvSpPr txBox="1"/>
          <p:nvPr/>
        </p:nvSpPr>
        <p:spPr>
          <a:xfrm>
            <a:off x="11185855" y="6400800"/>
            <a:ext cx="457200" cy="201168"/>
          </a:xfrm>
          <a:prstGeom prst="rect">
            <a:avLst/>
          </a:prstGeom>
          <a:noFill/>
        </p:spPr>
        <p:txBody>
          <a:bodyPr wrap="square" lIns="0" rIns="0" tIns="0" bIns="0">
            <a:spAutoFit/>
          </a:bodyPr>
          <a:lstStyle/>
          <a:p>
            <a:pPr algn="r">
              <a:spcAft>
                <a:spcPts val="300"/>
              </a:spcAft>
              <a:defRPr sz="900" b="0">
                <a:solidFill>
                  <a:srgbClr val="596A76"/>
                </a:solidFill>
                <a:latin typeface="Aptos"/>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7F82"/>
          </a:solidFill>
          <a:ln>
            <a:noFill/>
          </a:ln>
          <a:effectLst/>
        </p:spPr>
        <p:txBody>
          <a:bodyPr rtlCol="0" anchor="ctr"/>
          <a:lstStyle/>
          <a:p>
            <a:pPr algn="ctr"/>
          </a:p>
        </p:txBody>
      </p:sp>
      <p:sp>
        <p:nvSpPr>
          <p:cNvPr id="3" name="TextBox 2"/>
          <p:cNvSpPr txBox="1"/>
          <p:nvPr/>
        </p:nvSpPr>
        <p:spPr>
          <a:xfrm>
            <a:off x="548640" y="310896"/>
            <a:ext cx="9144000" cy="201168"/>
          </a:xfrm>
          <a:prstGeom prst="rect">
            <a:avLst/>
          </a:prstGeom>
          <a:noFill/>
        </p:spPr>
        <p:txBody>
          <a:bodyPr wrap="square" lIns="0" rIns="0" tIns="0" bIns="0">
            <a:spAutoFit/>
          </a:bodyPr>
          <a:lstStyle/>
          <a:p>
            <a:pPr>
              <a:spcAft>
                <a:spcPts val="300"/>
              </a:spcAft>
              <a:defRPr sz="1000" b="1">
                <a:solidFill>
                  <a:srgbClr val="007F82"/>
                </a:solidFill>
                <a:latin typeface="Aptos"/>
              </a:defRPr>
            </a:pPr>
            <a:r>
              <a:t>THE DEMO</a:t>
            </a:r>
          </a:p>
        </p:txBody>
      </p:sp>
      <p:sp>
        <p:nvSpPr>
          <p:cNvPr id="4" name="TextBox 3"/>
          <p:cNvSpPr txBox="1"/>
          <p:nvPr/>
        </p:nvSpPr>
        <p:spPr>
          <a:xfrm>
            <a:off x="548640" y="566928"/>
            <a:ext cx="10149840" cy="469899"/>
          </a:xfrm>
          <a:prstGeom prst="rect">
            <a:avLst/>
          </a:prstGeom>
          <a:noFill/>
        </p:spPr>
        <p:txBody>
          <a:bodyPr wrap="square" lIns="0" rIns="0" tIns="0" bIns="0">
            <a:spAutoFit/>
          </a:bodyPr>
          <a:lstStyle/>
          <a:p>
            <a:pPr>
              <a:spcAft>
                <a:spcPts val="300"/>
              </a:spcAft>
              <a:defRPr sz="2500" b="1">
                <a:solidFill>
                  <a:srgbClr val="142E42"/>
                </a:solidFill>
                <a:latin typeface="Aptos"/>
              </a:defRPr>
            </a:pPr>
            <a:r>
              <a:t>The same call, running end to end</a:t>
            </a:r>
          </a:p>
        </p:txBody>
      </p:sp>
      <p:sp>
        <p:nvSpPr>
          <p:cNvPr id="5" name="TextBox 4"/>
          <p:cNvSpPr txBox="1"/>
          <p:nvPr/>
        </p:nvSpPr>
        <p:spPr>
          <a:xfrm>
            <a:off x="548640" y="1073404"/>
            <a:ext cx="10149840" cy="279908"/>
          </a:xfrm>
          <a:prstGeom prst="rect">
            <a:avLst/>
          </a:prstGeom>
          <a:noFill/>
        </p:spPr>
        <p:txBody>
          <a:bodyPr wrap="square" lIns="0" rIns="0" tIns="0" bIns="0">
            <a:spAutoFit/>
          </a:bodyPr>
          <a:lstStyle/>
          <a:p>
            <a:pPr>
              <a:spcAft>
                <a:spcPts val="300"/>
              </a:spcAft>
              <a:defRPr sz="1400" b="0">
                <a:solidFill>
                  <a:srgbClr val="596A76"/>
                </a:solidFill>
                <a:latin typeface="Aptos"/>
              </a:defRPr>
            </a:pPr>
            <a:r>
              <a:t>The technical component: the contract, the primitives and the gate, in motion</a:t>
            </a:r>
          </a:p>
        </p:txBody>
      </p:sp>
      <p:sp>
        <p:nvSpPr>
          <p:cNvPr id="6" name="Rectangle 5"/>
          <p:cNvSpPr/>
          <p:nvPr/>
        </p:nvSpPr>
        <p:spPr>
          <a:xfrm>
            <a:off x="10929823" y="274320"/>
            <a:ext cx="713232" cy="713232"/>
          </a:xfrm>
          <a:prstGeom prst="rect">
            <a:avLst/>
          </a:prstGeom>
          <a:solidFill>
            <a:srgbClr val="EFF4F6"/>
          </a:solidFill>
          <a:ln>
            <a:noFill/>
          </a:ln>
          <a:effectLst/>
        </p:spPr>
        <p:txBody>
          <a:bodyPr rtlCol="0" anchor="ctr"/>
          <a:lstStyle/>
          <a:p>
            <a:pPr algn="ctr"/>
          </a:p>
        </p:txBody>
      </p:sp>
      <p:pic>
        <p:nvPicPr>
          <p:cNvPr id="7" name="Picture 6" descr="play.png"/>
          <p:cNvPicPr>
            <a:picLocks noChangeAspect="1"/>
          </p:cNvPicPr>
          <p:nvPr/>
        </p:nvPicPr>
        <p:blipFill>
          <a:blip r:embed="rId2"/>
          <a:stretch>
            <a:fillRect/>
          </a:stretch>
        </p:blipFill>
        <p:spPr>
          <a:xfrm>
            <a:off x="11021263" y="365760"/>
            <a:ext cx="530352" cy="530352"/>
          </a:xfrm>
          <a:prstGeom prst="rect">
            <a:avLst/>
          </a:prstGeom>
        </p:spPr>
      </p:pic>
      <p:pic>
        <p:nvPicPr>
          <p:cNvPr id="8" name="4_demo.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4693615" y="1700784"/>
            <a:ext cx="6949440" cy="3909059"/>
          </a:xfrm>
          <a:prstGeom prst="rect">
            <a:avLst/>
          </a:prstGeom>
        </p:spPr>
      </p:pic>
      <p:sp>
        <p:nvSpPr>
          <p:cNvPr id="9" name="TextBox 8"/>
          <p:cNvSpPr txBox="1"/>
          <p:nvPr/>
        </p:nvSpPr>
        <p:spPr>
          <a:xfrm>
            <a:off x="548640" y="1700784"/>
            <a:ext cx="3779215" cy="1777492"/>
          </a:xfrm>
          <a:prstGeom prst="rect">
            <a:avLst/>
          </a:prstGeom>
          <a:noFill/>
        </p:spPr>
        <p:txBody>
          <a:bodyPr wrap="square" lIns="0" rIns="0" tIns="0" bIns="0">
            <a:spAutoFit/>
          </a:bodyPr>
          <a:lstStyle/>
          <a:p>
            <a:pPr>
              <a:spcAft>
                <a:spcPts val="300"/>
              </a:spcAft>
              <a:defRPr sz="1600" b="0">
                <a:solidFill>
                  <a:srgbClr val="233B4D"/>
                </a:solidFill>
                <a:latin typeface="Aptos"/>
              </a:defRPr>
            </a:pPr>
            <a:r>
              <a:t>The demo sends the same request through the contract, the three primitives and the gate. Nothing is scripted: the typed output and the gate decide each outcome, and the run ends on the same network incident used earlier.</a:t>
            </a:r>
          </a:p>
        </p:txBody>
      </p:sp>
      <p:sp>
        <p:nvSpPr>
          <p:cNvPr id="10" name="Rectangle 9"/>
          <p:cNvSpPr/>
          <p:nvPr/>
        </p:nvSpPr>
        <p:spPr>
          <a:xfrm>
            <a:off x="548640" y="5225796"/>
            <a:ext cx="3779215" cy="10972"/>
          </a:xfrm>
          <a:prstGeom prst="rect">
            <a:avLst/>
          </a:prstGeom>
          <a:solidFill>
            <a:srgbClr val="007F82"/>
          </a:solidFill>
          <a:ln>
            <a:noFill/>
          </a:ln>
          <a:effectLst/>
        </p:spPr>
        <p:txBody>
          <a:bodyPr rtlCol="0" anchor="ctr"/>
          <a:lstStyle/>
          <a:p>
            <a:pPr algn="ctr"/>
          </a:p>
        </p:txBody>
      </p:sp>
      <p:sp>
        <p:nvSpPr>
          <p:cNvPr id="11" name="TextBox 10"/>
          <p:cNvSpPr txBox="1"/>
          <p:nvPr/>
        </p:nvSpPr>
        <p:spPr>
          <a:xfrm>
            <a:off x="548640" y="5335524"/>
            <a:ext cx="3779215" cy="274320"/>
          </a:xfrm>
          <a:prstGeom prst="rect">
            <a:avLst/>
          </a:prstGeom>
          <a:noFill/>
        </p:spPr>
        <p:txBody>
          <a:bodyPr wrap="square" lIns="0" rIns="0" tIns="0" bIns="0" anchor="b">
            <a:spAutoFit/>
          </a:bodyPr>
          <a:lstStyle/>
          <a:p>
            <a:pPr>
              <a:spcAft>
                <a:spcPts val="300"/>
              </a:spcAft>
              <a:defRPr sz="1100" b="0">
                <a:solidFill>
                  <a:srgbClr val="596A76"/>
                </a:solidFill>
                <a:latin typeface="Aptos"/>
              </a:defRPr>
            </a:pPr>
            <a:r>
              <a:t>Embedded video  outputs/4_demo.mp4  2:03  1080p</a:t>
            </a:r>
          </a:p>
        </p:txBody>
      </p:sp>
      <p:sp>
        <p:nvSpPr>
          <p:cNvPr id="12" name="Rectangle 11"/>
          <p:cNvSpPr/>
          <p:nvPr/>
        </p:nvSpPr>
        <p:spPr>
          <a:xfrm>
            <a:off x="548640" y="6309360"/>
            <a:ext cx="11094415" cy="10972"/>
          </a:xfrm>
          <a:prstGeom prst="rect">
            <a:avLst/>
          </a:prstGeom>
          <a:solidFill>
            <a:srgbClr val="CCD7DD"/>
          </a:solidFill>
          <a:ln>
            <a:noFill/>
          </a:ln>
          <a:effectLst/>
        </p:spPr>
        <p:txBody>
          <a:bodyPr rtlCol="0" anchor="ctr"/>
          <a:lstStyle/>
          <a:p>
            <a:pPr algn="ctr"/>
          </a:p>
        </p:txBody>
      </p:sp>
      <p:sp>
        <p:nvSpPr>
          <p:cNvPr id="13" name="TextBox 12"/>
          <p:cNvSpPr txBox="1"/>
          <p:nvPr/>
        </p:nvSpPr>
        <p:spPr>
          <a:xfrm>
            <a:off x="548640" y="6400800"/>
            <a:ext cx="4572000" cy="201168"/>
          </a:xfrm>
          <a:prstGeom prst="rect">
            <a:avLst/>
          </a:prstGeom>
          <a:noFill/>
        </p:spPr>
        <p:txBody>
          <a:bodyPr wrap="square" lIns="0" rIns="0" tIns="0" bIns="0">
            <a:spAutoFit/>
          </a:bodyPr>
          <a:lstStyle/>
          <a:p>
            <a:pPr>
              <a:spcAft>
                <a:spcPts val="300"/>
              </a:spcAft>
              <a:defRPr sz="900" b="0">
                <a:solidFill>
                  <a:srgbClr val="596A76"/>
                </a:solidFill>
                <a:latin typeface="Aptos"/>
              </a:defRPr>
            </a:pPr>
            <a:r>
              <a:t>For discussion · October 2026</a:t>
            </a:r>
          </a:p>
        </p:txBody>
      </p:sp>
      <p:sp>
        <p:nvSpPr>
          <p:cNvPr id="14" name="TextBox 13"/>
          <p:cNvSpPr txBox="1"/>
          <p:nvPr/>
        </p:nvSpPr>
        <p:spPr>
          <a:xfrm>
            <a:off x="11185855" y="6400800"/>
            <a:ext cx="457200" cy="201168"/>
          </a:xfrm>
          <a:prstGeom prst="rect">
            <a:avLst/>
          </a:prstGeom>
          <a:noFill/>
        </p:spPr>
        <p:txBody>
          <a:bodyPr wrap="square" lIns="0" rIns="0" tIns="0" bIns="0">
            <a:spAutoFit/>
          </a:bodyPr>
          <a:lstStyle/>
          <a:p>
            <a:pPr algn="r">
              <a:spcAft>
                <a:spcPts val="300"/>
              </a:spcAft>
              <a:defRPr sz="900" b="0">
                <a:solidFill>
                  <a:srgbClr val="596A76"/>
                </a:solidFill>
                <a:latin typeface="Aptos"/>
              </a:defRPr>
            </a:pPr>
            <a:r>
              <a:t>9</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7F82"/>
          </a:solidFill>
          <a:ln>
            <a:noFill/>
          </a:ln>
          <a:effectLst/>
        </p:spPr>
        <p:txBody>
          <a:bodyPr rtlCol="0" anchor="ctr"/>
          <a:lstStyle/>
          <a:p>
            <a:pPr algn="ctr"/>
          </a:p>
        </p:txBody>
      </p:sp>
      <p:sp>
        <p:nvSpPr>
          <p:cNvPr id="3" name="TextBox 2"/>
          <p:cNvSpPr txBox="1"/>
          <p:nvPr/>
        </p:nvSpPr>
        <p:spPr>
          <a:xfrm>
            <a:off x="548640" y="310896"/>
            <a:ext cx="9144000" cy="201168"/>
          </a:xfrm>
          <a:prstGeom prst="rect">
            <a:avLst/>
          </a:prstGeom>
          <a:noFill/>
        </p:spPr>
        <p:txBody>
          <a:bodyPr wrap="square" lIns="0" rIns="0" tIns="0" bIns="0">
            <a:spAutoFit/>
          </a:bodyPr>
          <a:lstStyle/>
          <a:p>
            <a:pPr>
              <a:spcAft>
                <a:spcPts val="300"/>
              </a:spcAft>
              <a:defRPr sz="1000" b="1">
                <a:solidFill>
                  <a:srgbClr val="007F82"/>
                </a:solidFill>
                <a:latin typeface="Aptos"/>
              </a:defRPr>
            </a:pPr>
            <a:r>
              <a:t>THE EVIDENCE</a:t>
            </a:r>
          </a:p>
        </p:txBody>
      </p:sp>
      <p:sp>
        <p:nvSpPr>
          <p:cNvPr id="4" name="TextBox 3"/>
          <p:cNvSpPr txBox="1"/>
          <p:nvPr/>
        </p:nvSpPr>
        <p:spPr>
          <a:xfrm>
            <a:off x="548640" y="566928"/>
            <a:ext cx="10149840" cy="469899"/>
          </a:xfrm>
          <a:prstGeom prst="rect">
            <a:avLst/>
          </a:prstGeom>
          <a:noFill/>
        </p:spPr>
        <p:txBody>
          <a:bodyPr wrap="square" lIns="0" rIns="0" tIns="0" bIns="0">
            <a:spAutoFit/>
          </a:bodyPr>
          <a:lstStyle/>
          <a:p>
            <a:pPr>
              <a:spcAft>
                <a:spcPts val="300"/>
              </a:spcAft>
              <a:defRPr sz="2500" b="1">
                <a:solidFill>
                  <a:srgbClr val="142E42"/>
                </a:solidFill>
                <a:latin typeface="Aptos"/>
              </a:defRPr>
            </a:pPr>
            <a:r>
              <a:t>All four models worked; the differences are modest</a:t>
            </a:r>
          </a:p>
        </p:txBody>
      </p:sp>
      <p:sp>
        <p:nvSpPr>
          <p:cNvPr id="5" name="TextBox 4"/>
          <p:cNvSpPr txBox="1"/>
          <p:nvPr/>
        </p:nvSpPr>
        <p:spPr>
          <a:xfrm>
            <a:off x="548640" y="1073404"/>
            <a:ext cx="10149840" cy="279908"/>
          </a:xfrm>
          <a:prstGeom prst="rect">
            <a:avLst/>
          </a:prstGeom>
          <a:noFill/>
        </p:spPr>
        <p:txBody>
          <a:bodyPr wrap="square" lIns="0" rIns="0" tIns="0" bIns="0">
            <a:spAutoFit/>
          </a:bodyPr>
          <a:lstStyle/>
          <a:p>
            <a:pPr>
              <a:spcAft>
                <a:spcPts val="300"/>
              </a:spcAft>
              <a:defRPr sz="1400" b="0">
                <a:solidFill>
                  <a:srgbClr val="596A76"/>
                </a:solidFill>
                <a:latin typeface="Aptos"/>
              </a:defRPr>
            </a:pPr>
            <a:r>
              <a:t>The same questions, answered by four models</a:t>
            </a:r>
          </a:p>
        </p:txBody>
      </p:sp>
      <p:sp>
        <p:nvSpPr>
          <p:cNvPr id="6" name="Rectangle 5"/>
          <p:cNvSpPr/>
          <p:nvPr/>
        </p:nvSpPr>
        <p:spPr>
          <a:xfrm>
            <a:off x="10929823" y="274320"/>
            <a:ext cx="713232" cy="713232"/>
          </a:xfrm>
          <a:prstGeom prst="rect">
            <a:avLst/>
          </a:prstGeom>
          <a:solidFill>
            <a:srgbClr val="EFF4F6"/>
          </a:solidFill>
          <a:ln>
            <a:noFill/>
          </a:ln>
          <a:effectLst/>
        </p:spPr>
        <p:txBody>
          <a:bodyPr rtlCol="0" anchor="ctr"/>
          <a:lstStyle/>
          <a:p>
            <a:pPr algn="ctr"/>
          </a:p>
        </p:txBody>
      </p:sp>
      <p:pic>
        <p:nvPicPr>
          <p:cNvPr id="7" name="Picture 6" descr="chart.png"/>
          <p:cNvPicPr>
            <a:picLocks noChangeAspect="1"/>
          </p:cNvPicPr>
          <p:nvPr/>
        </p:nvPicPr>
        <p:blipFill>
          <a:blip r:embed="rId2"/>
          <a:stretch>
            <a:fillRect/>
          </a:stretch>
        </p:blipFill>
        <p:spPr>
          <a:xfrm>
            <a:off x="11021263" y="365760"/>
            <a:ext cx="530352" cy="530352"/>
          </a:xfrm>
          <a:prstGeom prst="rect">
            <a:avLst/>
          </a:prstGeom>
        </p:spPr>
      </p:pic>
      <p:sp>
        <p:nvSpPr>
          <p:cNvPr id="8" name="Rectangle 7"/>
          <p:cNvSpPr/>
          <p:nvPr/>
        </p:nvSpPr>
        <p:spPr>
          <a:xfrm>
            <a:off x="548640" y="1700784"/>
            <a:ext cx="2624328" cy="363220"/>
          </a:xfrm>
          <a:prstGeom prst="rect">
            <a:avLst/>
          </a:prstGeom>
          <a:solidFill>
            <a:srgbClr val="142E42"/>
          </a:solidFill>
          <a:ln>
            <a:noFill/>
          </a:ln>
          <a:effectLst/>
        </p:spPr>
        <p:txBody>
          <a:bodyPr rtlCol="0" anchor="ctr"/>
          <a:lstStyle/>
          <a:p>
            <a:pPr algn="ctr"/>
          </a:p>
        </p:txBody>
      </p:sp>
      <p:sp>
        <p:nvSpPr>
          <p:cNvPr id="9" name="TextBox 8"/>
          <p:cNvSpPr txBox="1"/>
          <p:nvPr/>
        </p:nvSpPr>
        <p:spPr>
          <a:xfrm>
            <a:off x="658368" y="1700784"/>
            <a:ext cx="2404872" cy="363220"/>
          </a:xfrm>
          <a:prstGeom prst="rect">
            <a:avLst/>
          </a:prstGeom>
          <a:noFill/>
        </p:spPr>
        <p:txBody>
          <a:bodyPr wrap="square" lIns="0" rIns="0" tIns="0" bIns="0" anchor="ctr">
            <a:spAutoFit/>
          </a:bodyPr>
          <a:lstStyle/>
          <a:p>
            <a:pPr>
              <a:spcAft>
                <a:spcPts val="300"/>
              </a:spcAft>
              <a:defRPr sz="1300" b="1">
                <a:solidFill>
                  <a:srgbClr val="FFFFFF"/>
                </a:solidFill>
                <a:latin typeface="Aptos"/>
              </a:defRPr>
            </a:pPr>
            <a:r>
              <a:t>Backend</a:t>
            </a:r>
          </a:p>
        </p:txBody>
      </p:sp>
      <p:sp>
        <p:nvSpPr>
          <p:cNvPr id="10" name="Rectangle 9"/>
          <p:cNvSpPr/>
          <p:nvPr/>
        </p:nvSpPr>
        <p:spPr>
          <a:xfrm>
            <a:off x="3200400" y="1700784"/>
            <a:ext cx="1344168" cy="363220"/>
          </a:xfrm>
          <a:prstGeom prst="rect">
            <a:avLst/>
          </a:prstGeom>
          <a:solidFill>
            <a:srgbClr val="142E42"/>
          </a:solidFill>
          <a:ln>
            <a:noFill/>
          </a:ln>
          <a:effectLst/>
        </p:spPr>
        <p:txBody>
          <a:bodyPr rtlCol="0" anchor="ctr"/>
          <a:lstStyle/>
          <a:p>
            <a:pPr algn="ctr"/>
          </a:p>
        </p:txBody>
      </p:sp>
      <p:sp>
        <p:nvSpPr>
          <p:cNvPr id="11" name="TextBox 10"/>
          <p:cNvSpPr txBox="1"/>
          <p:nvPr/>
        </p:nvSpPr>
        <p:spPr>
          <a:xfrm>
            <a:off x="3310128" y="1700784"/>
            <a:ext cx="1124712" cy="363220"/>
          </a:xfrm>
          <a:prstGeom prst="rect">
            <a:avLst/>
          </a:prstGeom>
          <a:noFill/>
        </p:spPr>
        <p:txBody>
          <a:bodyPr wrap="square" lIns="0" rIns="0" tIns="0" bIns="0" anchor="ctr">
            <a:spAutoFit/>
          </a:bodyPr>
          <a:lstStyle/>
          <a:p>
            <a:pPr>
              <a:spcAft>
                <a:spcPts val="300"/>
              </a:spcAft>
              <a:defRPr sz="1300" b="1">
                <a:solidFill>
                  <a:srgbClr val="FFFFFF"/>
                </a:solidFill>
                <a:latin typeface="Aptos"/>
              </a:defRPr>
            </a:pPr>
            <a:r>
              <a:t>Exact action</a:t>
            </a:r>
          </a:p>
        </p:txBody>
      </p:sp>
      <p:sp>
        <p:nvSpPr>
          <p:cNvPr id="12" name="Rectangle 11"/>
          <p:cNvSpPr/>
          <p:nvPr/>
        </p:nvSpPr>
        <p:spPr>
          <a:xfrm>
            <a:off x="4572000" y="1700784"/>
            <a:ext cx="1344168" cy="363220"/>
          </a:xfrm>
          <a:prstGeom prst="rect">
            <a:avLst/>
          </a:prstGeom>
          <a:solidFill>
            <a:srgbClr val="142E42"/>
          </a:solidFill>
          <a:ln>
            <a:noFill/>
          </a:ln>
          <a:effectLst/>
        </p:spPr>
        <p:txBody>
          <a:bodyPr rtlCol="0" anchor="ctr"/>
          <a:lstStyle/>
          <a:p>
            <a:pPr algn="ctr"/>
          </a:p>
        </p:txBody>
      </p:sp>
      <p:sp>
        <p:nvSpPr>
          <p:cNvPr id="13" name="TextBox 12"/>
          <p:cNvSpPr txBox="1"/>
          <p:nvPr/>
        </p:nvSpPr>
        <p:spPr>
          <a:xfrm>
            <a:off x="4681728" y="1700784"/>
            <a:ext cx="1124712" cy="363220"/>
          </a:xfrm>
          <a:prstGeom prst="rect">
            <a:avLst/>
          </a:prstGeom>
          <a:noFill/>
        </p:spPr>
        <p:txBody>
          <a:bodyPr wrap="square" lIns="0" rIns="0" tIns="0" bIns="0" anchor="ctr">
            <a:spAutoFit/>
          </a:bodyPr>
          <a:lstStyle/>
          <a:p>
            <a:pPr>
              <a:spcAft>
                <a:spcPts val="300"/>
              </a:spcAft>
              <a:defRPr sz="1300" b="1">
                <a:solidFill>
                  <a:srgbClr val="FFFFFF"/>
                </a:solidFill>
                <a:latin typeface="Aptos"/>
              </a:defRPr>
            </a:pPr>
            <a:r>
              <a:t>Acceptable*</a:t>
            </a:r>
          </a:p>
        </p:txBody>
      </p:sp>
      <p:sp>
        <p:nvSpPr>
          <p:cNvPr id="14" name="Rectangle 13"/>
          <p:cNvSpPr/>
          <p:nvPr/>
        </p:nvSpPr>
        <p:spPr>
          <a:xfrm>
            <a:off x="5943600" y="1700784"/>
            <a:ext cx="978408" cy="363220"/>
          </a:xfrm>
          <a:prstGeom prst="rect">
            <a:avLst/>
          </a:prstGeom>
          <a:solidFill>
            <a:srgbClr val="142E42"/>
          </a:solidFill>
          <a:ln>
            <a:noFill/>
          </a:ln>
          <a:effectLst/>
        </p:spPr>
        <p:txBody>
          <a:bodyPr rtlCol="0" anchor="ctr"/>
          <a:lstStyle/>
          <a:p>
            <a:pPr algn="ctr"/>
          </a:p>
        </p:txBody>
      </p:sp>
      <p:sp>
        <p:nvSpPr>
          <p:cNvPr id="15" name="TextBox 14"/>
          <p:cNvSpPr txBox="1"/>
          <p:nvPr/>
        </p:nvSpPr>
        <p:spPr>
          <a:xfrm>
            <a:off x="6053328" y="1700784"/>
            <a:ext cx="758952" cy="363220"/>
          </a:xfrm>
          <a:prstGeom prst="rect">
            <a:avLst/>
          </a:prstGeom>
          <a:noFill/>
        </p:spPr>
        <p:txBody>
          <a:bodyPr wrap="square" lIns="0" rIns="0" tIns="0" bIns="0" anchor="ctr">
            <a:spAutoFit/>
          </a:bodyPr>
          <a:lstStyle/>
          <a:p>
            <a:pPr>
              <a:spcAft>
                <a:spcPts val="300"/>
              </a:spcAft>
              <a:defRPr sz="1300" b="1">
                <a:solidFill>
                  <a:srgbClr val="FFFFFF"/>
                </a:solidFill>
                <a:latin typeface="Aptos"/>
              </a:defRPr>
            </a:pPr>
            <a:r>
              <a:t>AUTO</a:t>
            </a:r>
          </a:p>
        </p:txBody>
      </p:sp>
      <p:sp>
        <p:nvSpPr>
          <p:cNvPr id="16" name="Rectangle 15"/>
          <p:cNvSpPr/>
          <p:nvPr/>
        </p:nvSpPr>
        <p:spPr>
          <a:xfrm>
            <a:off x="6949440" y="1700784"/>
            <a:ext cx="1344168" cy="363220"/>
          </a:xfrm>
          <a:prstGeom prst="rect">
            <a:avLst/>
          </a:prstGeom>
          <a:solidFill>
            <a:srgbClr val="142E42"/>
          </a:solidFill>
          <a:ln>
            <a:noFill/>
          </a:ln>
          <a:effectLst/>
        </p:spPr>
        <p:txBody>
          <a:bodyPr rtlCol="0" anchor="ctr"/>
          <a:lstStyle/>
          <a:p>
            <a:pPr algn="ctr"/>
          </a:p>
        </p:txBody>
      </p:sp>
      <p:sp>
        <p:nvSpPr>
          <p:cNvPr id="17" name="TextBox 16"/>
          <p:cNvSpPr txBox="1"/>
          <p:nvPr/>
        </p:nvSpPr>
        <p:spPr>
          <a:xfrm>
            <a:off x="7059168" y="1700784"/>
            <a:ext cx="1124712" cy="363220"/>
          </a:xfrm>
          <a:prstGeom prst="rect">
            <a:avLst/>
          </a:prstGeom>
          <a:noFill/>
        </p:spPr>
        <p:txBody>
          <a:bodyPr wrap="square" lIns="0" rIns="0" tIns="0" bIns="0" anchor="ctr">
            <a:spAutoFit/>
          </a:bodyPr>
          <a:lstStyle/>
          <a:p>
            <a:pPr>
              <a:spcAft>
                <a:spcPts val="300"/>
              </a:spcAft>
              <a:defRPr sz="1300" b="1">
                <a:solidFill>
                  <a:srgbClr val="FFFFFF"/>
                </a:solidFill>
                <a:latin typeface="Aptos"/>
              </a:defRPr>
            </a:pPr>
            <a:r>
              <a:t>Exact / AUTO</a:t>
            </a:r>
          </a:p>
        </p:txBody>
      </p:sp>
      <p:sp>
        <p:nvSpPr>
          <p:cNvPr id="18" name="Rectangle 17"/>
          <p:cNvSpPr/>
          <p:nvPr/>
        </p:nvSpPr>
        <p:spPr>
          <a:xfrm>
            <a:off x="8321040" y="1700784"/>
            <a:ext cx="1435608" cy="363220"/>
          </a:xfrm>
          <a:prstGeom prst="rect">
            <a:avLst/>
          </a:prstGeom>
          <a:solidFill>
            <a:srgbClr val="142E42"/>
          </a:solidFill>
          <a:ln>
            <a:noFill/>
          </a:ln>
          <a:effectLst/>
        </p:spPr>
        <p:txBody>
          <a:bodyPr rtlCol="0" anchor="ctr"/>
          <a:lstStyle/>
          <a:p>
            <a:pPr algn="ctr"/>
          </a:p>
        </p:txBody>
      </p:sp>
      <p:sp>
        <p:nvSpPr>
          <p:cNvPr id="19" name="TextBox 18"/>
          <p:cNvSpPr txBox="1"/>
          <p:nvPr/>
        </p:nvSpPr>
        <p:spPr>
          <a:xfrm>
            <a:off x="8430767" y="1700784"/>
            <a:ext cx="1216152" cy="363220"/>
          </a:xfrm>
          <a:prstGeom prst="rect">
            <a:avLst/>
          </a:prstGeom>
          <a:noFill/>
        </p:spPr>
        <p:txBody>
          <a:bodyPr wrap="square" lIns="0" rIns="0" tIns="0" bIns="0" anchor="ctr">
            <a:spAutoFit/>
          </a:bodyPr>
          <a:lstStyle/>
          <a:p>
            <a:pPr>
              <a:spcAft>
                <a:spcPts val="300"/>
              </a:spcAft>
              <a:defRPr sz="1300" b="1">
                <a:solidFill>
                  <a:srgbClr val="FFFFFF"/>
                </a:solidFill>
                <a:latin typeface="Aptos"/>
              </a:defRPr>
            </a:pPr>
            <a:r>
              <a:t>p50/p95 ms</a:t>
            </a:r>
          </a:p>
        </p:txBody>
      </p:sp>
      <p:sp>
        <p:nvSpPr>
          <p:cNvPr id="20" name="Rectangle 19"/>
          <p:cNvSpPr/>
          <p:nvPr/>
        </p:nvSpPr>
        <p:spPr>
          <a:xfrm>
            <a:off x="9784080" y="1700784"/>
            <a:ext cx="1831543" cy="363220"/>
          </a:xfrm>
          <a:prstGeom prst="rect">
            <a:avLst/>
          </a:prstGeom>
          <a:solidFill>
            <a:srgbClr val="142E42"/>
          </a:solidFill>
          <a:ln>
            <a:noFill/>
          </a:ln>
          <a:effectLst/>
        </p:spPr>
        <p:txBody>
          <a:bodyPr rtlCol="0" anchor="ctr"/>
          <a:lstStyle/>
          <a:p>
            <a:pPr algn="ctr"/>
          </a:p>
        </p:txBody>
      </p:sp>
      <p:sp>
        <p:nvSpPr>
          <p:cNvPr id="21" name="TextBox 20"/>
          <p:cNvSpPr txBox="1"/>
          <p:nvPr/>
        </p:nvSpPr>
        <p:spPr>
          <a:xfrm>
            <a:off x="9893807" y="1700784"/>
            <a:ext cx="1612087" cy="363220"/>
          </a:xfrm>
          <a:prstGeom prst="rect">
            <a:avLst/>
          </a:prstGeom>
          <a:noFill/>
        </p:spPr>
        <p:txBody>
          <a:bodyPr wrap="square" lIns="0" rIns="0" tIns="0" bIns="0" anchor="ctr">
            <a:spAutoFit/>
          </a:bodyPr>
          <a:lstStyle/>
          <a:p>
            <a:pPr>
              <a:spcAft>
                <a:spcPts val="300"/>
              </a:spcAft>
              <a:defRPr sz="1300" b="1">
                <a:solidFill>
                  <a:srgbClr val="FFFFFF"/>
                </a:solidFill>
                <a:latin typeface="Aptos"/>
              </a:defRPr>
            </a:pPr>
            <a:r>
              <a:t>API $ / 1k</a:t>
            </a:r>
          </a:p>
        </p:txBody>
      </p:sp>
      <p:sp>
        <p:nvSpPr>
          <p:cNvPr id="22" name="Rectangle 21"/>
          <p:cNvSpPr/>
          <p:nvPr/>
        </p:nvSpPr>
        <p:spPr>
          <a:xfrm>
            <a:off x="548640" y="2091436"/>
            <a:ext cx="2624328" cy="484632"/>
          </a:xfrm>
          <a:prstGeom prst="rect">
            <a:avLst/>
          </a:prstGeom>
          <a:solidFill>
            <a:srgbClr val="EFF4F6"/>
          </a:solidFill>
          <a:ln>
            <a:noFill/>
          </a:ln>
          <a:effectLst/>
        </p:spPr>
        <p:txBody>
          <a:bodyPr rtlCol="0" anchor="ctr"/>
          <a:lstStyle/>
          <a:p>
            <a:pPr algn="ctr"/>
          </a:p>
        </p:txBody>
      </p:sp>
      <p:sp>
        <p:nvSpPr>
          <p:cNvPr id="23" name="TextBox 22"/>
          <p:cNvSpPr txBox="1"/>
          <p:nvPr/>
        </p:nvSpPr>
        <p:spPr>
          <a:xfrm>
            <a:off x="658368" y="2091436"/>
            <a:ext cx="2404872" cy="484632"/>
          </a:xfrm>
          <a:prstGeom prst="rect">
            <a:avLst/>
          </a:prstGeom>
          <a:noFill/>
        </p:spPr>
        <p:txBody>
          <a:bodyPr wrap="square" lIns="0" rIns="0" tIns="0" bIns="0" anchor="ctr">
            <a:spAutoFit/>
          </a:bodyPr>
          <a:lstStyle/>
          <a:p>
            <a:pPr>
              <a:spcAft>
                <a:spcPts val="300"/>
              </a:spcAft>
              <a:defRPr sz="1500" b="1">
                <a:solidFill>
                  <a:srgbClr val="233B4D"/>
                </a:solidFill>
                <a:latin typeface="Aptos"/>
              </a:defRPr>
            </a:pPr>
            <a:r>
              <a:t>Jev (TypeSafe API)</a:t>
            </a:r>
          </a:p>
        </p:txBody>
      </p:sp>
      <p:sp>
        <p:nvSpPr>
          <p:cNvPr id="24" name="Rectangle 23"/>
          <p:cNvSpPr/>
          <p:nvPr/>
        </p:nvSpPr>
        <p:spPr>
          <a:xfrm>
            <a:off x="3200400" y="2091436"/>
            <a:ext cx="1344168" cy="484632"/>
          </a:xfrm>
          <a:prstGeom prst="rect">
            <a:avLst/>
          </a:prstGeom>
          <a:solidFill>
            <a:srgbClr val="EFF4F6"/>
          </a:solidFill>
          <a:ln>
            <a:noFill/>
          </a:ln>
          <a:effectLst/>
        </p:spPr>
        <p:txBody>
          <a:bodyPr rtlCol="0" anchor="ctr"/>
          <a:lstStyle/>
          <a:p>
            <a:pPr algn="ctr"/>
          </a:p>
        </p:txBody>
      </p:sp>
      <p:sp>
        <p:nvSpPr>
          <p:cNvPr id="25" name="TextBox 24"/>
          <p:cNvSpPr txBox="1"/>
          <p:nvPr/>
        </p:nvSpPr>
        <p:spPr>
          <a:xfrm>
            <a:off x="3310128" y="2091436"/>
            <a:ext cx="112471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28/56</a:t>
            </a:r>
          </a:p>
        </p:txBody>
      </p:sp>
      <p:sp>
        <p:nvSpPr>
          <p:cNvPr id="26" name="Rectangle 25"/>
          <p:cNvSpPr/>
          <p:nvPr/>
        </p:nvSpPr>
        <p:spPr>
          <a:xfrm>
            <a:off x="4572000" y="2091436"/>
            <a:ext cx="1344168" cy="484632"/>
          </a:xfrm>
          <a:prstGeom prst="rect">
            <a:avLst/>
          </a:prstGeom>
          <a:solidFill>
            <a:srgbClr val="EFF4F6"/>
          </a:solidFill>
          <a:ln>
            <a:noFill/>
          </a:ln>
          <a:effectLst/>
        </p:spPr>
        <p:txBody>
          <a:bodyPr rtlCol="0" anchor="ctr"/>
          <a:lstStyle/>
          <a:p>
            <a:pPr algn="ctr"/>
          </a:p>
        </p:txBody>
      </p:sp>
      <p:sp>
        <p:nvSpPr>
          <p:cNvPr id="27" name="TextBox 26"/>
          <p:cNvSpPr txBox="1"/>
          <p:nvPr/>
        </p:nvSpPr>
        <p:spPr>
          <a:xfrm>
            <a:off x="4681728" y="2091436"/>
            <a:ext cx="112471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52/56</a:t>
            </a:r>
          </a:p>
        </p:txBody>
      </p:sp>
      <p:sp>
        <p:nvSpPr>
          <p:cNvPr id="28" name="Rectangle 27"/>
          <p:cNvSpPr/>
          <p:nvPr/>
        </p:nvSpPr>
        <p:spPr>
          <a:xfrm>
            <a:off x="5943600" y="2091436"/>
            <a:ext cx="978408" cy="484632"/>
          </a:xfrm>
          <a:prstGeom prst="rect">
            <a:avLst/>
          </a:prstGeom>
          <a:solidFill>
            <a:srgbClr val="EFF4F6"/>
          </a:solidFill>
          <a:ln>
            <a:noFill/>
          </a:ln>
          <a:effectLst/>
        </p:spPr>
        <p:txBody>
          <a:bodyPr rtlCol="0" anchor="ctr"/>
          <a:lstStyle/>
          <a:p>
            <a:pPr algn="ctr"/>
          </a:p>
        </p:txBody>
      </p:sp>
      <p:sp>
        <p:nvSpPr>
          <p:cNvPr id="29" name="TextBox 28"/>
          <p:cNvSpPr txBox="1"/>
          <p:nvPr/>
        </p:nvSpPr>
        <p:spPr>
          <a:xfrm>
            <a:off x="6053328" y="2091436"/>
            <a:ext cx="75895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22/56</a:t>
            </a:r>
          </a:p>
        </p:txBody>
      </p:sp>
      <p:sp>
        <p:nvSpPr>
          <p:cNvPr id="30" name="Rectangle 29"/>
          <p:cNvSpPr/>
          <p:nvPr/>
        </p:nvSpPr>
        <p:spPr>
          <a:xfrm>
            <a:off x="6949440" y="2091436"/>
            <a:ext cx="1344168" cy="484632"/>
          </a:xfrm>
          <a:prstGeom prst="rect">
            <a:avLst/>
          </a:prstGeom>
          <a:solidFill>
            <a:srgbClr val="EFF4F6"/>
          </a:solidFill>
          <a:ln>
            <a:noFill/>
          </a:ln>
          <a:effectLst/>
        </p:spPr>
        <p:txBody>
          <a:bodyPr rtlCol="0" anchor="ctr"/>
          <a:lstStyle/>
          <a:p>
            <a:pPr algn="ctr"/>
          </a:p>
        </p:txBody>
      </p:sp>
      <p:sp>
        <p:nvSpPr>
          <p:cNvPr id="31" name="TextBox 30"/>
          <p:cNvSpPr txBox="1"/>
          <p:nvPr/>
        </p:nvSpPr>
        <p:spPr>
          <a:xfrm>
            <a:off x="7059168" y="2091436"/>
            <a:ext cx="112471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13/22</a:t>
            </a:r>
          </a:p>
        </p:txBody>
      </p:sp>
      <p:sp>
        <p:nvSpPr>
          <p:cNvPr id="32" name="Rectangle 31"/>
          <p:cNvSpPr/>
          <p:nvPr/>
        </p:nvSpPr>
        <p:spPr>
          <a:xfrm>
            <a:off x="8321040" y="2091436"/>
            <a:ext cx="1435608" cy="484632"/>
          </a:xfrm>
          <a:prstGeom prst="rect">
            <a:avLst/>
          </a:prstGeom>
          <a:solidFill>
            <a:srgbClr val="EFF4F6"/>
          </a:solidFill>
          <a:ln>
            <a:noFill/>
          </a:ln>
          <a:effectLst/>
        </p:spPr>
        <p:txBody>
          <a:bodyPr rtlCol="0" anchor="ctr"/>
          <a:lstStyle/>
          <a:p>
            <a:pPr algn="ctr"/>
          </a:p>
        </p:txBody>
      </p:sp>
      <p:sp>
        <p:nvSpPr>
          <p:cNvPr id="33" name="TextBox 32"/>
          <p:cNvSpPr txBox="1"/>
          <p:nvPr/>
        </p:nvSpPr>
        <p:spPr>
          <a:xfrm>
            <a:off x="8430767" y="2091436"/>
            <a:ext cx="121615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91/128</a:t>
            </a:r>
          </a:p>
        </p:txBody>
      </p:sp>
      <p:sp>
        <p:nvSpPr>
          <p:cNvPr id="34" name="Rectangle 33"/>
          <p:cNvSpPr/>
          <p:nvPr/>
        </p:nvSpPr>
        <p:spPr>
          <a:xfrm>
            <a:off x="9784080" y="2091436"/>
            <a:ext cx="1831543" cy="484632"/>
          </a:xfrm>
          <a:prstGeom prst="rect">
            <a:avLst/>
          </a:prstGeom>
          <a:solidFill>
            <a:srgbClr val="EFF4F6"/>
          </a:solidFill>
          <a:ln>
            <a:noFill/>
          </a:ln>
          <a:effectLst/>
        </p:spPr>
        <p:txBody>
          <a:bodyPr rtlCol="0" anchor="ctr"/>
          <a:lstStyle/>
          <a:p>
            <a:pPr algn="ctr"/>
          </a:p>
        </p:txBody>
      </p:sp>
      <p:sp>
        <p:nvSpPr>
          <p:cNvPr id="35" name="TextBox 34"/>
          <p:cNvSpPr txBox="1"/>
          <p:nvPr/>
        </p:nvSpPr>
        <p:spPr>
          <a:xfrm>
            <a:off x="9893807" y="2091436"/>
            <a:ext cx="1612087"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$0.057</a:t>
            </a:r>
          </a:p>
        </p:txBody>
      </p:sp>
      <p:sp>
        <p:nvSpPr>
          <p:cNvPr id="36" name="Rectangle 35"/>
          <p:cNvSpPr/>
          <p:nvPr/>
        </p:nvSpPr>
        <p:spPr>
          <a:xfrm>
            <a:off x="548640" y="2603500"/>
            <a:ext cx="2624328" cy="484632"/>
          </a:xfrm>
          <a:prstGeom prst="rect">
            <a:avLst/>
          </a:prstGeom>
          <a:solidFill>
            <a:srgbClr val="F8FAFB"/>
          </a:solidFill>
          <a:ln>
            <a:noFill/>
          </a:ln>
          <a:effectLst/>
        </p:spPr>
        <p:txBody>
          <a:bodyPr rtlCol="0" anchor="ctr"/>
          <a:lstStyle/>
          <a:p>
            <a:pPr algn="ctr"/>
          </a:p>
        </p:txBody>
      </p:sp>
      <p:sp>
        <p:nvSpPr>
          <p:cNvPr id="37" name="TextBox 36"/>
          <p:cNvSpPr txBox="1"/>
          <p:nvPr/>
        </p:nvSpPr>
        <p:spPr>
          <a:xfrm>
            <a:off x="658368" y="2603500"/>
            <a:ext cx="2404872" cy="484632"/>
          </a:xfrm>
          <a:prstGeom prst="rect">
            <a:avLst/>
          </a:prstGeom>
          <a:noFill/>
        </p:spPr>
        <p:txBody>
          <a:bodyPr wrap="square" lIns="0" rIns="0" tIns="0" bIns="0" anchor="ctr">
            <a:spAutoFit/>
          </a:bodyPr>
          <a:lstStyle/>
          <a:p>
            <a:pPr>
              <a:spcAft>
                <a:spcPts val="300"/>
              </a:spcAft>
              <a:defRPr sz="1500" b="1">
                <a:solidFill>
                  <a:srgbClr val="233B4D"/>
                </a:solidFill>
                <a:latin typeface="Aptos"/>
              </a:defRPr>
            </a:pPr>
            <a:r>
              <a:t>Jev (via OpenRouter)</a:t>
            </a:r>
          </a:p>
        </p:txBody>
      </p:sp>
      <p:sp>
        <p:nvSpPr>
          <p:cNvPr id="38" name="Rectangle 37"/>
          <p:cNvSpPr/>
          <p:nvPr/>
        </p:nvSpPr>
        <p:spPr>
          <a:xfrm>
            <a:off x="3200400" y="2603500"/>
            <a:ext cx="1344168" cy="484632"/>
          </a:xfrm>
          <a:prstGeom prst="rect">
            <a:avLst/>
          </a:prstGeom>
          <a:solidFill>
            <a:srgbClr val="F8FAFB"/>
          </a:solidFill>
          <a:ln>
            <a:noFill/>
          </a:ln>
          <a:effectLst/>
        </p:spPr>
        <p:txBody>
          <a:bodyPr rtlCol="0" anchor="ctr"/>
          <a:lstStyle/>
          <a:p>
            <a:pPr algn="ctr"/>
          </a:p>
        </p:txBody>
      </p:sp>
      <p:sp>
        <p:nvSpPr>
          <p:cNvPr id="39" name="TextBox 38"/>
          <p:cNvSpPr txBox="1"/>
          <p:nvPr/>
        </p:nvSpPr>
        <p:spPr>
          <a:xfrm>
            <a:off x="3310128" y="2603500"/>
            <a:ext cx="112471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28/56</a:t>
            </a:r>
          </a:p>
        </p:txBody>
      </p:sp>
      <p:sp>
        <p:nvSpPr>
          <p:cNvPr id="40" name="Rectangle 39"/>
          <p:cNvSpPr/>
          <p:nvPr/>
        </p:nvSpPr>
        <p:spPr>
          <a:xfrm>
            <a:off x="4572000" y="2603500"/>
            <a:ext cx="1344168" cy="484632"/>
          </a:xfrm>
          <a:prstGeom prst="rect">
            <a:avLst/>
          </a:prstGeom>
          <a:solidFill>
            <a:srgbClr val="F8FAFB"/>
          </a:solidFill>
          <a:ln>
            <a:noFill/>
          </a:ln>
          <a:effectLst/>
        </p:spPr>
        <p:txBody>
          <a:bodyPr rtlCol="0" anchor="ctr"/>
          <a:lstStyle/>
          <a:p>
            <a:pPr algn="ctr"/>
          </a:p>
        </p:txBody>
      </p:sp>
      <p:sp>
        <p:nvSpPr>
          <p:cNvPr id="41" name="TextBox 40"/>
          <p:cNvSpPr txBox="1"/>
          <p:nvPr/>
        </p:nvSpPr>
        <p:spPr>
          <a:xfrm>
            <a:off x="4681728" y="2603500"/>
            <a:ext cx="112471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52/56</a:t>
            </a:r>
          </a:p>
        </p:txBody>
      </p:sp>
      <p:sp>
        <p:nvSpPr>
          <p:cNvPr id="42" name="Rectangle 41"/>
          <p:cNvSpPr/>
          <p:nvPr/>
        </p:nvSpPr>
        <p:spPr>
          <a:xfrm>
            <a:off x="5943600" y="2603500"/>
            <a:ext cx="978408" cy="484632"/>
          </a:xfrm>
          <a:prstGeom prst="rect">
            <a:avLst/>
          </a:prstGeom>
          <a:solidFill>
            <a:srgbClr val="F8FAFB"/>
          </a:solidFill>
          <a:ln>
            <a:noFill/>
          </a:ln>
          <a:effectLst/>
        </p:spPr>
        <p:txBody>
          <a:bodyPr rtlCol="0" anchor="ctr"/>
          <a:lstStyle/>
          <a:p>
            <a:pPr algn="ctr"/>
          </a:p>
        </p:txBody>
      </p:sp>
      <p:sp>
        <p:nvSpPr>
          <p:cNvPr id="43" name="TextBox 42"/>
          <p:cNvSpPr txBox="1"/>
          <p:nvPr/>
        </p:nvSpPr>
        <p:spPr>
          <a:xfrm>
            <a:off x="6053328" y="2603500"/>
            <a:ext cx="75895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20/56</a:t>
            </a:r>
          </a:p>
        </p:txBody>
      </p:sp>
      <p:sp>
        <p:nvSpPr>
          <p:cNvPr id="44" name="Rectangle 43"/>
          <p:cNvSpPr/>
          <p:nvPr/>
        </p:nvSpPr>
        <p:spPr>
          <a:xfrm>
            <a:off x="6949440" y="2603500"/>
            <a:ext cx="1344168" cy="484632"/>
          </a:xfrm>
          <a:prstGeom prst="rect">
            <a:avLst/>
          </a:prstGeom>
          <a:solidFill>
            <a:srgbClr val="F8FAFB"/>
          </a:solidFill>
          <a:ln>
            <a:noFill/>
          </a:ln>
          <a:effectLst/>
        </p:spPr>
        <p:txBody>
          <a:bodyPr rtlCol="0" anchor="ctr"/>
          <a:lstStyle/>
          <a:p>
            <a:pPr algn="ctr"/>
          </a:p>
        </p:txBody>
      </p:sp>
      <p:sp>
        <p:nvSpPr>
          <p:cNvPr id="45" name="TextBox 44"/>
          <p:cNvSpPr txBox="1"/>
          <p:nvPr/>
        </p:nvSpPr>
        <p:spPr>
          <a:xfrm>
            <a:off x="7059168" y="2603500"/>
            <a:ext cx="112471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13/20</a:t>
            </a:r>
          </a:p>
        </p:txBody>
      </p:sp>
      <p:sp>
        <p:nvSpPr>
          <p:cNvPr id="46" name="Rectangle 45"/>
          <p:cNvSpPr/>
          <p:nvPr/>
        </p:nvSpPr>
        <p:spPr>
          <a:xfrm>
            <a:off x="8321040" y="2603500"/>
            <a:ext cx="1435608" cy="484632"/>
          </a:xfrm>
          <a:prstGeom prst="rect">
            <a:avLst/>
          </a:prstGeom>
          <a:solidFill>
            <a:srgbClr val="F8FAFB"/>
          </a:solidFill>
          <a:ln>
            <a:noFill/>
          </a:ln>
          <a:effectLst/>
        </p:spPr>
        <p:txBody>
          <a:bodyPr rtlCol="0" anchor="ctr"/>
          <a:lstStyle/>
          <a:p>
            <a:pPr algn="ctr"/>
          </a:p>
        </p:txBody>
      </p:sp>
      <p:sp>
        <p:nvSpPr>
          <p:cNvPr id="47" name="TextBox 46"/>
          <p:cNvSpPr txBox="1"/>
          <p:nvPr/>
        </p:nvSpPr>
        <p:spPr>
          <a:xfrm>
            <a:off x="8430767" y="2603500"/>
            <a:ext cx="121615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134/406</a:t>
            </a:r>
          </a:p>
        </p:txBody>
      </p:sp>
      <p:sp>
        <p:nvSpPr>
          <p:cNvPr id="48" name="Rectangle 47"/>
          <p:cNvSpPr/>
          <p:nvPr/>
        </p:nvSpPr>
        <p:spPr>
          <a:xfrm>
            <a:off x="9784080" y="2603500"/>
            <a:ext cx="1831543" cy="484632"/>
          </a:xfrm>
          <a:prstGeom prst="rect">
            <a:avLst/>
          </a:prstGeom>
          <a:solidFill>
            <a:srgbClr val="F8FAFB"/>
          </a:solidFill>
          <a:ln>
            <a:noFill/>
          </a:ln>
          <a:effectLst/>
        </p:spPr>
        <p:txBody>
          <a:bodyPr rtlCol="0" anchor="ctr"/>
          <a:lstStyle/>
          <a:p>
            <a:pPr algn="ctr"/>
          </a:p>
        </p:txBody>
      </p:sp>
      <p:sp>
        <p:nvSpPr>
          <p:cNvPr id="49" name="TextBox 48"/>
          <p:cNvSpPr txBox="1"/>
          <p:nvPr/>
        </p:nvSpPr>
        <p:spPr>
          <a:xfrm>
            <a:off x="9893807" y="2603500"/>
            <a:ext cx="1612087"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$0.057</a:t>
            </a:r>
          </a:p>
        </p:txBody>
      </p:sp>
      <p:sp>
        <p:nvSpPr>
          <p:cNvPr id="50" name="Rectangle 49"/>
          <p:cNvSpPr/>
          <p:nvPr/>
        </p:nvSpPr>
        <p:spPr>
          <a:xfrm>
            <a:off x="548640" y="3115564"/>
            <a:ext cx="2624328" cy="484632"/>
          </a:xfrm>
          <a:prstGeom prst="rect">
            <a:avLst/>
          </a:prstGeom>
          <a:solidFill>
            <a:srgbClr val="EFF4F6"/>
          </a:solidFill>
          <a:ln>
            <a:noFill/>
          </a:ln>
          <a:effectLst/>
        </p:spPr>
        <p:txBody>
          <a:bodyPr rtlCol="0" anchor="ctr"/>
          <a:lstStyle/>
          <a:p>
            <a:pPr algn="ctr"/>
          </a:p>
        </p:txBody>
      </p:sp>
      <p:sp>
        <p:nvSpPr>
          <p:cNvPr id="51" name="TextBox 50"/>
          <p:cNvSpPr txBox="1"/>
          <p:nvPr/>
        </p:nvSpPr>
        <p:spPr>
          <a:xfrm>
            <a:off x="658368" y="3115564"/>
            <a:ext cx="2404872" cy="484632"/>
          </a:xfrm>
          <a:prstGeom prst="rect">
            <a:avLst/>
          </a:prstGeom>
          <a:noFill/>
        </p:spPr>
        <p:txBody>
          <a:bodyPr wrap="square" lIns="0" rIns="0" tIns="0" bIns="0" anchor="ctr">
            <a:spAutoFit/>
          </a:bodyPr>
          <a:lstStyle/>
          <a:p>
            <a:pPr>
              <a:spcAft>
                <a:spcPts val="300"/>
              </a:spcAft>
              <a:defRPr sz="1500" b="1">
                <a:solidFill>
                  <a:srgbClr val="233B4D"/>
                </a:solidFill>
                <a:latin typeface="Aptos"/>
              </a:defRPr>
            </a:pPr>
            <a:r>
              <a:t>Kev-4B (local GPU)</a:t>
            </a:r>
          </a:p>
        </p:txBody>
      </p:sp>
      <p:sp>
        <p:nvSpPr>
          <p:cNvPr id="52" name="Rectangle 51"/>
          <p:cNvSpPr/>
          <p:nvPr/>
        </p:nvSpPr>
        <p:spPr>
          <a:xfrm>
            <a:off x="3200400" y="3115564"/>
            <a:ext cx="1344168" cy="484632"/>
          </a:xfrm>
          <a:prstGeom prst="rect">
            <a:avLst/>
          </a:prstGeom>
          <a:solidFill>
            <a:srgbClr val="EFF4F6"/>
          </a:solidFill>
          <a:ln>
            <a:noFill/>
          </a:ln>
          <a:effectLst/>
        </p:spPr>
        <p:txBody>
          <a:bodyPr rtlCol="0" anchor="ctr"/>
          <a:lstStyle/>
          <a:p>
            <a:pPr algn="ctr"/>
          </a:p>
        </p:txBody>
      </p:sp>
      <p:sp>
        <p:nvSpPr>
          <p:cNvPr id="53" name="TextBox 52"/>
          <p:cNvSpPr txBox="1"/>
          <p:nvPr/>
        </p:nvSpPr>
        <p:spPr>
          <a:xfrm>
            <a:off x="3310128" y="3115564"/>
            <a:ext cx="112471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39/56</a:t>
            </a:r>
          </a:p>
        </p:txBody>
      </p:sp>
      <p:sp>
        <p:nvSpPr>
          <p:cNvPr id="54" name="Rectangle 53"/>
          <p:cNvSpPr/>
          <p:nvPr/>
        </p:nvSpPr>
        <p:spPr>
          <a:xfrm>
            <a:off x="4572000" y="3115564"/>
            <a:ext cx="1344168" cy="484632"/>
          </a:xfrm>
          <a:prstGeom prst="rect">
            <a:avLst/>
          </a:prstGeom>
          <a:solidFill>
            <a:srgbClr val="EFF4F6"/>
          </a:solidFill>
          <a:ln>
            <a:noFill/>
          </a:ln>
          <a:effectLst/>
        </p:spPr>
        <p:txBody>
          <a:bodyPr rtlCol="0" anchor="ctr"/>
          <a:lstStyle/>
          <a:p>
            <a:pPr algn="ctr"/>
          </a:p>
        </p:txBody>
      </p:sp>
      <p:sp>
        <p:nvSpPr>
          <p:cNvPr id="55" name="TextBox 54"/>
          <p:cNvSpPr txBox="1"/>
          <p:nvPr/>
        </p:nvSpPr>
        <p:spPr>
          <a:xfrm>
            <a:off x="4681728" y="3115564"/>
            <a:ext cx="112471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48/56</a:t>
            </a:r>
          </a:p>
        </p:txBody>
      </p:sp>
      <p:sp>
        <p:nvSpPr>
          <p:cNvPr id="56" name="Rectangle 55"/>
          <p:cNvSpPr/>
          <p:nvPr/>
        </p:nvSpPr>
        <p:spPr>
          <a:xfrm>
            <a:off x="5943600" y="3115564"/>
            <a:ext cx="978408" cy="484632"/>
          </a:xfrm>
          <a:prstGeom prst="rect">
            <a:avLst/>
          </a:prstGeom>
          <a:solidFill>
            <a:srgbClr val="EFF4F6"/>
          </a:solidFill>
          <a:ln>
            <a:noFill/>
          </a:ln>
          <a:effectLst/>
        </p:spPr>
        <p:txBody>
          <a:bodyPr rtlCol="0" anchor="ctr"/>
          <a:lstStyle/>
          <a:p>
            <a:pPr algn="ctr"/>
          </a:p>
        </p:txBody>
      </p:sp>
      <p:sp>
        <p:nvSpPr>
          <p:cNvPr id="57" name="TextBox 56"/>
          <p:cNvSpPr txBox="1"/>
          <p:nvPr/>
        </p:nvSpPr>
        <p:spPr>
          <a:xfrm>
            <a:off x="6053328" y="3115564"/>
            <a:ext cx="75895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8/56</a:t>
            </a:r>
          </a:p>
        </p:txBody>
      </p:sp>
      <p:sp>
        <p:nvSpPr>
          <p:cNvPr id="58" name="Rectangle 57"/>
          <p:cNvSpPr/>
          <p:nvPr/>
        </p:nvSpPr>
        <p:spPr>
          <a:xfrm>
            <a:off x="6949440" y="3115564"/>
            <a:ext cx="1344168" cy="484632"/>
          </a:xfrm>
          <a:prstGeom prst="rect">
            <a:avLst/>
          </a:prstGeom>
          <a:solidFill>
            <a:srgbClr val="EFF4F6"/>
          </a:solidFill>
          <a:ln>
            <a:noFill/>
          </a:ln>
          <a:effectLst/>
        </p:spPr>
        <p:txBody>
          <a:bodyPr rtlCol="0" anchor="ctr"/>
          <a:lstStyle/>
          <a:p>
            <a:pPr algn="ctr"/>
          </a:p>
        </p:txBody>
      </p:sp>
      <p:sp>
        <p:nvSpPr>
          <p:cNvPr id="59" name="TextBox 58"/>
          <p:cNvSpPr txBox="1"/>
          <p:nvPr/>
        </p:nvSpPr>
        <p:spPr>
          <a:xfrm>
            <a:off x="7059168" y="3115564"/>
            <a:ext cx="112471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8/8</a:t>
            </a:r>
          </a:p>
        </p:txBody>
      </p:sp>
      <p:sp>
        <p:nvSpPr>
          <p:cNvPr id="60" name="Rectangle 59"/>
          <p:cNvSpPr/>
          <p:nvPr/>
        </p:nvSpPr>
        <p:spPr>
          <a:xfrm>
            <a:off x="8321040" y="3115564"/>
            <a:ext cx="1435608" cy="484632"/>
          </a:xfrm>
          <a:prstGeom prst="rect">
            <a:avLst/>
          </a:prstGeom>
          <a:solidFill>
            <a:srgbClr val="EFF4F6"/>
          </a:solidFill>
          <a:ln>
            <a:noFill/>
          </a:ln>
          <a:effectLst/>
        </p:spPr>
        <p:txBody>
          <a:bodyPr rtlCol="0" anchor="ctr"/>
          <a:lstStyle/>
          <a:p>
            <a:pPr algn="ctr"/>
          </a:p>
        </p:txBody>
      </p:sp>
      <p:sp>
        <p:nvSpPr>
          <p:cNvPr id="61" name="TextBox 60"/>
          <p:cNvSpPr txBox="1"/>
          <p:nvPr/>
        </p:nvSpPr>
        <p:spPr>
          <a:xfrm>
            <a:off x="8430767" y="3115564"/>
            <a:ext cx="121615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589/609</a:t>
            </a:r>
          </a:p>
        </p:txBody>
      </p:sp>
      <p:sp>
        <p:nvSpPr>
          <p:cNvPr id="62" name="Rectangle 61"/>
          <p:cNvSpPr/>
          <p:nvPr/>
        </p:nvSpPr>
        <p:spPr>
          <a:xfrm>
            <a:off x="9784080" y="3115564"/>
            <a:ext cx="1831543" cy="484632"/>
          </a:xfrm>
          <a:prstGeom prst="rect">
            <a:avLst/>
          </a:prstGeom>
          <a:solidFill>
            <a:srgbClr val="EFF4F6"/>
          </a:solidFill>
          <a:ln>
            <a:noFill/>
          </a:ln>
          <a:effectLst/>
        </p:spPr>
        <p:txBody>
          <a:bodyPr rtlCol="0" anchor="ctr"/>
          <a:lstStyle/>
          <a:p>
            <a:pPr algn="ctr"/>
          </a:p>
        </p:txBody>
      </p:sp>
      <p:sp>
        <p:nvSpPr>
          <p:cNvPr id="63" name="TextBox 62"/>
          <p:cNvSpPr txBox="1"/>
          <p:nvPr/>
        </p:nvSpPr>
        <p:spPr>
          <a:xfrm>
            <a:off x="9893807" y="3115564"/>
            <a:ext cx="1612087"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GPU uncosted</a:t>
            </a:r>
          </a:p>
        </p:txBody>
      </p:sp>
      <p:sp>
        <p:nvSpPr>
          <p:cNvPr id="64" name="Rectangle 63"/>
          <p:cNvSpPr/>
          <p:nvPr/>
        </p:nvSpPr>
        <p:spPr>
          <a:xfrm>
            <a:off x="548640" y="3627628"/>
            <a:ext cx="2624328" cy="484632"/>
          </a:xfrm>
          <a:prstGeom prst="rect">
            <a:avLst/>
          </a:prstGeom>
          <a:solidFill>
            <a:srgbClr val="F8FAFB"/>
          </a:solidFill>
          <a:ln>
            <a:noFill/>
          </a:ln>
          <a:effectLst/>
        </p:spPr>
        <p:txBody>
          <a:bodyPr rtlCol="0" anchor="ctr"/>
          <a:lstStyle/>
          <a:p>
            <a:pPr algn="ctr"/>
          </a:p>
        </p:txBody>
      </p:sp>
      <p:sp>
        <p:nvSpPr>
          <p:cNvPr id="65" name="TextBox 64"/>
          <p:cNvSpPr txBox="1"/>
          <p:nvPr/>
        </p:nvSpPr>
        <p:spPr>
          <a:xfrm>
            <a:off x="658368" y="3627628"/>
            <a:ext cx="2404872" cy="484632"/>
          </a:xfrm>
          <a:prstGeom prst="rect">
            <a:avLst/>
          </a:prstGeom>
          <a:noFill/>
        </p:spPr>
        <p:txBody>
          <a:bodyPr wrap="square" lIns="0" rIns="0" tIns="0" bIns="0" anchor="ctr">
            <a:spAutoFit/>
          </a:bodyPr>
          <a:lstStyle/>
          <a:p>
            <a:pPr>
              <a:spcAft>
                <a:spcPts val="300"/>
              </a:spcAft>
              <a:defRPr sz="1500" b="1">
                <a:solidFill>
                  <a:srgbClr val="233B4D"/>
                </a:solidFill>
                <a:latin typeface="Aptos"/>
              </a:defRPr>
            </a:pPr>
            <a:r>
              <a:t>Laya (local GPU)</a:t>
            </a:r>
          </a:p>
        </p:txBody>
      </p:sp>
      <p:sp>
        <p:nvSpPr>
          <p:cNvPr id="66" name="Rectangle 65"/>
          <p:cNvSpPr/>
          <p:nvPr/>
        </p:nvSpPr>
        <p:spPr>
          <a:xfrm>
            <a:off x="3200400" y="3627628"/>
            <a:ext cx="1344168" cy="484632"/>
          </a:xfrm>
          <a:prstGeom prst="rect">
            <a:avLst/>
          </a:prstGeom>
          <a:solidFill>
            <a:srgbClr val="F8FAFB"/>
          </a:solidFill>
          <a:ln>
            <a:noFill/>
          </a:ln>
          <a:effectLst/>
        </p:spPr>
        <p:txBody>
          <a:bodyPr rtlCol="0" anchor="ctr"/>
          <a:lstStyle/>
          <a:p>
            <a:pPr algn="ctr"/>
          </a:p>
        </p:txBody>
      </p:sp>
      <p:sp>
        <p:nvSpPr>
          <p:cNvPr id="67" name="TextBox 66"/>
          <p:cNvSpPr txBox="1"/>
          <p:nvPr/>
        </p:nvSpPr>
        <p:spPr>
          <a:xfrm>
            <a:off x="3310128" y="3627628"/>
            <a:ext cx="112471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11/56</a:t>
            </a:r>
          </a:p>
        </p:txBody>
      </p:sp>
      <p:sp>
        <p:nvSpPr>
          <p:cNvPr id="68" name="Rectangle 67"/>
          <p:cNvSpPr/>
          <p:nvPr/>
        </p:nvSpPr>
        <p:spPr>
          <a:xfrm>
            <a:off x="4572000" y="3627628"/>
            <a:ext cx="1344168" cy="484632"/>
          </a:xfrm>
          <a:prstGeom prst="rect">
            <a:avLst/>
          </a:prstGeom>
          <a:solidFill>
            <a:srgbClr val="F8FAFB"/>
          </a:solidFill>
          <a:ln>
            <a:noFill/>
          </a:ln>
          <a:effectLst/>
        </p:spPr>
        <p:txBody>
          <a:bodyPr rtlCol="0" anchor="ctr"/>
          <a:lstStyle/>
          <a:p>
            <a:pPr algn="ctr"/>
          </a:p>
        </p:txBody>
      </p:sp>
      <p:sp>
        <p:nvSpPr>
          <p:cNvPr id="69" name="TextBox 68"/>
          <p:cNvSpPr txBox="1"/>
          <p:nvPr/>
        </p:nvSpPr>
        <p:spPr>
          <a:xfrm>
            <a:off x="4681728" y="3627628"/>
            <a:ext cx="112471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19/56</a:t>
            </a:r>
          </a:p>
        </p:txBody>
      </p:sp>
      <p:sp>
        <p:nvSpPr>
          <p:cNvPr id="70" name="Rectangle 69"/>
          <p:cNvSpPr/>
          <p:nvPr/>
        </p:nvSpPr>
        <p:spPr>
          <a:xfrm>
            <a:off x="5943600" y="3627628"/>
            <a:ext cx="978408" cy="484632"/>
          </a:xfrm>
          <a:prstGeom prst="rect">
            <a:avLst/>
          </a:prstGeom>
          <a:solidFill>
            <a:srgbClr val="F8FAFB"/>
          </a:solidFill>
          <a:ln>
            <a:noFill/>
          </a:ln>
          <a:effectLst/>
        </p:spPr>
        <p:txBody>
          <a:bodyPr rtlCol="0" anchor="ctr"/>
          <a:lstStyle/>
          <a:p>
            <a:pPr algn="ctr"/>
          </a:p>
        </p:txBody>
      </p:sp>
      <p:sp>
        <p:nvSpPr>
          <p:cNvPr id="71" name="TextBox 70"/>
          <p:cNvSpPr txBox="1"/>
          <p:nvPr/>
        </p:nvSpPr>
        <p:spPr>
          <a:xfrm>
            <a:off x="6053328" y="3627628"/>
            <a:ext cx="75895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0/56</a:t>
            </a:r>
          </a:p>
        </p:txBody>
      </p:sp>
      <p:sp>
        <p:nvSpPr>
          <p:cNvPr id="72" name="Rectangle 71"/>
          <p:cNvSpPr/>
          <p:nvPr/>
        </p:nvSpPr>
        <p:spPr>
          <a:xfrm>
            <a:off x="6949440" y="3627628"/>
            <a:ext cx="1344168" cy="484632"/>
          </a:xfrm>
          <a:prstGeom prst="rect">
            <a:avLst/>
          </a:prstGeom>
          <a:solidFill>
            <a:srgbClr val="F8FAFB"/>
          </a:solidFill>
          <a:ln>
            <a:noFill/>
          </a:ln>
          <a:effectLst/>
        </p:spPr>
        <p:txBody>
          <a:bodyPr rtlCol="0" anchor="ctr"/>
          <a:lstStyle/>
          <a:p>
            <a:pPr algn="ctr"/>
          </a:p>
        </p:txBody>
      </p:sp>
      <p:sp>
        <p:nvSpPr>
          <p:cNvPr id="73" name="TextBox 72"/>
          <p:cNvSpPr txBox="1"/>
          <p:nvPr/>
        </p:nvSpPr>
        <p:spPr>
          <a:xfrm>
            <a:off x="7059168" y="3627628"/>
            <a:ext cx="112471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a:t>
            </a:r>
          </a:p>
        </p:txBody>
      </p:sp>
      <p:sp>
        <p:nvSpPr>
          <p:cNvPr id="74" name="Rectangle 73"/>
          <p:cNvSpPr/>
          <p:nvPr/>
        </p:nvSpPr>
        <p:spPr>
          <a:xfrm>
            <a:off x="8321040" y="3627628"/>
            <a:ext cx="1435608" cy="484632"/>
          </a:xfrm>
          <a:prstGeom prst="rect">
            <a:avLst/>
          </a:prstGeom>
          <a:solidFill>
            <a:srgbClr val="F8FAFB"/>
          </a:solidFill>
          <a:ln>
            <a:noFill/>
          </a:ln>
          <a:effectLst/>
        </p:spPr>
        <p:txBody>
          <a:bodyPr rtlCol="0" anchor="ctr"/>
          <a:lstStyle/>
          <a:p>
            <a:pPr algn="ctr"/>
          </a:p>
        </p:txBody>
      </p:sp>
      <p:sp>
        <p:nvSpPr>
          <p:cNvPr id="75" name="TextBox 74"/>
          <p:cNvSpPr txBox="1"/>
          <p:nvPr/>
        </p:nvSpPr>
        <p:spPr>
          <a:xfrm>
            <a:off x="8430767" y="3627628"/>
            <a:ext cx="121615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91/128</a:t>
            </a:r>
          </a:p>
        </p:txBody>
      </p:sp>
      <p:sp>
        <p:nvSpPr>
          <p:cNvPr id="76" name="Rectangle 75"/>
          <p:cNvSpPr/>
          <p:nvPr/>
        </p:nvSpPr>
        <p:spPr>
          <a:xfrm>
            <a:off x="9784080" y="3627628"/>
            <a:ext cx="1831543" cy="484632"/>
          </a:xfrm>
          <a:prstGeom prst="rect">
            <a:avLst/>
          </a:prstGeom>
          <a:solidFill>
            <a:srgbClr val="F8FAFB"/>
          </a:solidFill>
          <a:ln>
            <a:noFill/>
          </a:ln>
          <a:effectLst/>
        </p:spPr>
        <p:txBody>
          <a:bodyPr rtlCol="0" anchor="ctr"/>
          <a:lstStyle/>
          <a:p>
            <a:pPr algn="ctr"/>
          </a:p>
        </p:txBody>
      </p:sp>
      <p:sp>
        <p:nvSpPr>
          <p:cNvPr id="77" name="TextBox 76"/>
          <p:cNvSpPr txBox="1"/>
          <p:nvPr/>
        </p:nvSpPr>
        <p:spPr>
          <a:xfrm>
            <a:off x="9893807" y="3627628"/>
            <a:ext cx="1612087"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GPU uncosted</a:t>
            </a:r>
          </a:p>
        </p:txBody>
      </p:sp>
      <p:sp>
        <p:nvSpPr>
          <p:cNvPr id="78" name="TextBox 77"/>
          <p:cNvSpPr txBox="1"/>
          <p:nvPr/>
        </p:nvSpPr>
        <p:spPr>
          <a:xfrm>
            <a:off x="548640" y="4231132"/>
            <a:ext cx="11094415" cy="228600"/>
          </a:xfrm>
          <a:prstGeom prst="rect">
            <a:avLst/>
          </a:prstGeom>
          <a:noFill/>
        </p:spPr>
        <p:txBody>
          <a:bodyPr wrap="square" lIns="0" rIns="0" tIns="0" bIns="0">
            <a:spAutoFit/>
          </a:bodyPr>
          <a:lstStyle/>
          <a:p>
            <a:pPr>
              <a:spcAft>
                <a:spcPts val="300"/>
              </a:spcAft>
              <a:defRPr sz="1100" b="0">
                <a:solidFill>
                  <a:srgbClr val="596A76"/>
                </a:solidFill>
                <a:latin typeface="Aptos"/>
              </a:defRPr>
            </a:pPr>
            <a:r>
              <a:t>*Acceptable-action criteria were defined after the first run; use exact action match as the primary measure.</a:t>
            </a:r>
          </a:p>
        </p:txBody>
      </p:sp>
      <p:sp>
        <p:nvSpPr>
          <p:cNvPr id="79" name="Rectangle 78"/>
          <p:cNvSpPr/>
          <p:nvPr/>
        </p:nvSpPr>
        <p:spPr>
          <a:xfrm>
            <a:off x="548640" y="4596892"/>
            <a:ext cx="11094415" cy="749300"/>
          </a:xfrm>
          <a:prstGeom prst="rect">
            <a:avLst/>
          </a:prstGeom>
          <a:solidFill>
            <a:srgbClr val="142E42"/>
          </a:solidFill>
          <a:ln>
            <a:noFill/>
          </a:ln>
          <a:effectLst/>
        </p:spPr>
        <p:txBody>
          <a:bodyPr rtlCol="0" anchor="ctr"/>
          <a:lstStyle/>
          <a:p>
            <a:pPr algn="ctr"/>
          </a:p>
        </p:txBody>
      </p:sp>
      <p:sp>
        <p:nvSpPr>
          <p:cNvPr id="80" name="TextBox 79"/>
          <p:cNvSpPr txBox="1"/>
          <p:nvPr/>
        </p:nvSpPr>
        <p:spPr>
          <a:xfrm>
            <a:off x="777240" y="4596892"/>
            <a:ext cx="10637215" cy="749300"/>
          </a:xfrm>
          <a:prstGeom prst="rect">
            <a:avLst/>
          </a:prstGeom>
          <a:noFill/>
        </p:spPr>
        <p:txBody>
          <a:bodyPr wrap="square" lIns="0" rIns="0" tIns="0" bIns="0" anchor="ctr">
            <a:spAutoFit/>
          </a:bodyPr>
          <a:lstStyle/>
          <a:p>
            <a:pPr>
              <a:spcAft>
                <a:spcPts val="300"/>
              </a:spcAft>
              <a:defRPr sz="1400" b="1">
                <a:solidFill>
                  <a:srgbClr val="FFFFFF"/>
                </a:solidFill>
                <a:latin typeface="Aptos"/>
              </a:defRPr>
            </a:pPr>
            <a:r>
              <a:t>Every model answered sensibly, and none automated a case labelled unsafe. The point is that a typed decision step is workable - not which model wins.</a:t>
            </a:r>
          </a:p>
        </p:txBody>
      </p:sp>
      <p:sp>
        <p:nvSpPr>
          <p:cNvPr id="81" name="TextBox 80"/>
          <p:cNvSpPr txBox="1"/>
          <p:nvPr/>
        </p:nvSpPr>
        <p:spPr>
          <a:xfrm>
            <a:off x="548640" y="5419344"/>
            <a:ext cx="11094415" cy="182880"/>
          </a:xfrm>
          <a:prstGeom prst="rect">
            <a:avLst/>
          </a:prstGeom>
          <a:noFill/>
        </p:spPr>
        <p:txBody>
          <a:bodyPr wrap="square" lIns="0" rIns="0" tIns="0" bIns="0">
            <a:spAutoFit/>
          </a:bodyPr>
          <a:lstStyle/>
          <a:p>
            <a:pPr>
              <a:spcAft>
                <a:spcPts val="300"/>
              </a:spcAft>
              <a:defRPr sz="900" b="0">
                <a:solidFill>
                  <a:srgbClr val="596A76"/>
                </a:solidFill>
                <a:latin typeface="Aptos"/>
              </a:defRPr>
            </a:pPr>
            <a:r>
              <a:t>Our measurement | work/results/facts.json | corpus 0b4839761e06</a:t>
            </a:r>
          </a:p>
        </p:txBody>
      </p:sp>
      <p:sp>
        <p:nvSpPr>
          <p:cNvPr id="82" name="Rectangle 81"/>
          <p:cNvSpPr/>
          <p:nvPr/>
        </p:nvSpPr>
        <p:spPr>
          <a:xfrm>
            <a:off x="548640" y="6309360"/>
            <a:ext cx="11094415" cy="10972"/>
          </a:xfrm>
          <a:prstGeom prst="rect">
            <a:avLst/>
          </a:prstGeom>
          <a:solidFill>
            <a:srgbClr val="CCD7DD"/>
          </a:solidFill>
          <a:ln>
            <a:noFill/>
          </a:ln>
          <a:effectLst/>
        </p:spPr>
        <p:txBody>
          <a:bodyPr rtlCol="0" anchor="ctr"/>
          <a:lstStyle/>
          <a:p>
            <a:pPr algn="ctr"/>
          </a:p>
        </p:txBody>
      </p:sp>
      <p:sp>
        <p:nvSpPr>
          <p:cNvPr id="83" name="TextBox 82"/>
          <p:cNvSpPr txBox="1"/>
          <p:nvPr/>
        </p:nvSpPr>
        <p:spPr>
          <a:xfrm>
            <a:off x="548640" y="6400800"/>
            <a:ext cx="4572000" cy="201168"/>
          </a:xfrm>
          <a:prstGeom prst="rect">
            <a:avLst/>
          </a:prstGeom>
          <a:noFill/>
        </p:spPr>
        <p:txBody>
          <a:bodyPr wrap="square" lIns="0" rIns="0" tIns="0" bIns="0">
            <a:spAutoFit/>
          </a:bodyPr>
          <a:lstStyle/>
          <a:p>
            <a:pPr>
              <a:spcAft>
                <a:spcPts val="300"/>
              </a:spcAft>
              <a:defRPr sz="900" b="0">
                <a:solidFill>
                  <a:srgbClr val="596A76"/>
                </a:solidFill>
                <a:latin typeface="Aptos"/>
              </a:defRPr>
            </a:pPr>
            <a:r>
              <a:t>For discussion · October 2026</a:t>
            </a:r>
          </a:p>
        </p:txBody>
      </p:sp>
      <p:sp>
        <p:nvSpPr>
          <p:cNvPr id="84" name="TextBox 83"/>
          <p:cNvSpPr txBox="1"/>
          <p:nvPr/>
        </p:nvSpPr>
        <p:spPr>
          <a:xfrm>
            <a:off x="11185855" y="6400800"/>
            <a:ext cx="457200" cy="201168"/>
          </a:xfrm>
          <a:prstGeom prst="rect">
            <a:avLst/>
          </a:prstGeom>
          <a:noFill/>
        </p:spPr>
        <p:txBody>
          <a:bodyPr wrap="square" lIns="0" rIns="0" tIns="0" bIns="0">
            <a:spAutoFit/>
          </a:bodyPr>
          <a:lstStyle/>
          <a:p>
            <a:pPr algn="r">
              <a:spcAft>
                <a:spcPts val="300"/>
              </a:spcAft>
              <a:defRPr sz="900" b="0">
                <a:solidFill>
                  <a:srgbClr val="596A76"/>
                </a:solidFill>
                <a:latin typeface="Aptos"/>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7F82"/>
          </a:solidFill>
          <a:ln>
            <a:noFill/>
          </a:ln>
          <a:effectLst/>
        </p:spPr>
        <p:txBody>
          <a:bodyPr rtlCol="0" anchor="ctr"/>
          <a:lstStyle/>
          <a:p>
            <a:pPr algn="ctr"/>
          </a:p>
        </p:txBody>
      </p:sp>
      <p:sp>
        <p:nvSpPr>
          <p:cNvPr id="3" name="TextBox 2"/>
          <p:cNvSpPr txBox="1"/>
          <p:nvPr/>
        </p:nvSpPr>
        <p:spPr>
          <a:xfrm>
            <a:off x="548640" y="310896"/>
            <a:ext cx="9144000" cy="201168"/>
          </a:xfrm>
          <a:prstGeom prst="rect">
            <a:avLst/>
          </a:prstGeom>
          <a:noFill/>
        </p:spPr>
        <p:txBody>
          <a:bodyPr wrap="square" lIns="0" rIns="0" tIns="0" bIns="0">
            <a:spAutoFit/>
          </a:bodyPr>
          <a:lstStyle/>
          <a:p>
            <a:pPr>
              <a:spcAft>
                <a:spcPts val="300"/>
              </a:spcAft>
              <a:defRPr sz="1000" b="1">
                <a:solidFill>
                  <a:srgbClr val="007F82"/>
                </a:solidFill>
                <a:latin typeface="Aptos"/>
              </a:defRPr>
            </a:pPr>
            <a:r>
              <a:t>WHERE IT FITS</a:t>
            </a:r>
          </a:p>
        </p:txBody>
      </p:sp>
      <p:sp>
        <p:nvSpPr>
          <p:cNvPr id="4" name="TextBox 3"/>
          <p:cNvSpPr txBox="1"/>
          <p:nvPr/>
        </p:nvSpPr>
        <p:spPr>
          <a:xfrm>
            <a:off x="548640" y="566928"/>
            <a:ext cx="10149840" cy="469899"/>
          </a:xfrm>
          <a:prstGeom prst="rect">
            <a:avLst/>
          </a:prstGeom>
          <a:noFill/>
        </p:spPr>
        <p:txBody>
          <a:bodyPr wrap="square" lIns="0" rIns="0" tIns="0" bIns="0">
            <a:spAutoFit/>
          </a:bodyPr>
          <a:lstStyle/>
          <a:p>
            <a:pPr>
              <a:spcAft>
                <a:spcPts val="300"/>
              </a:spcAft>
              <a:defRPr sz="2500" b="1">
                <a:solidFill>
                  <a:srgbClr val="142E42"/>
                </a:solidFill>
                <a:latin typeface="Aptos"/>
              </a:defRPr>
            </a:pPr>
            <a:r>
              <a:t>How it integrates with the software you already run</a:t>
            </a:r>
          </a:p>
        </p:txBody>
      </p:sp>
      <p:sp>
        <p:nvSpPr>
          <p:cNvPr id="5" name="TextBox 4"/>
          <p:cNvSpPr txBox="1"/>
          <p:nvPr/>
        </p:nvSpPr>
        <p:spPr>
          <a:xfrm>
            <a:off x="548640" y="1073404"/>
            <a:ext cx="10149840" cy="279908"/>
          </a:xfrm>
          <a:prstGeom prst="rect">
            <a:avLst/>
          </a:prstGeom>
          <a:noFill/>
        </p:spPr>
        <p:txBody>
          <a:bodyPr wrap="square" lIns="0" rIns="0" tIns="0" bIns="0">
            <a:spAutoFit/>
          </a:bodyPr>
          <a:lstStyle/>
          <a:p>
            <a:pPr>
              <a:spcAft>
                <a:spcPts val="300"/>
              </a:spcAft>
              <a:defRPr sz="1400" b="0">
                <a:solidFill>
                  <a:srgbClr val="596A76"/>
                </a:solidFill>
                <a:latin typeface="Aptos"/>
              </a:defRPr>
            </a:pPr>
            <a:r>
              <a:t>One call from the tools in place; nothing is replaced</a:t>
            </a:r>
          </a:p>
        </p:txBody>
      </p:sp>
      <p:sp>
        <p:nvSpPr>
          <p:cNvPr id="6" name="Rectangle 5"/>
          <p:cNvSpPr/>
          <p:nvPr/>
        </p:nvSpPr>
        <p:spPr>
          <a:xfrm>
            <a:off x="10929823" y="274320"/>
            <a:ext cx="713232" cy="713232"/>
          </a:xfrm>
          <a:prstGeom prst="rect">
            <a:avLst/>
          </a:prstGeom>
          <a:solidFill>
            <a:srgbClr val="EFF4F6"/>
          </a:solidFill>
          <a:ln>
            <a:noFill/>
          </a:ln>
          <a:effectLst/>
        </p:spPr>
        <p:txBody>
          <a:bodyPr rtlCol="0" anchor="ctr"/>
          <a:lstStyle/>
          <a:p>
            <a:pPr algn="ctr"/>
          </a:p>
        </p:txBody>
      </p:sp>
      <p:pic>
        <p:nvPicPr>
          <p:cNvPr id="7" name="Picture 6" descr="link.png"/>
          <p:cNvPicPr>
            <a:picLocks noChangeAspect="1"/>
          </p:cNvPicPr>
          <p:nvPr/>
        </p:nvPicPr>
        <p:blipFill>
          <a:blip r:embed="rId2"/>
          <a:stretch>
            <a:fillRect/>
          </a:stretch>
        </p:blipFill>
        <p:spPr>
          <a:xfrm>
            <a:off x="11021263" y="365760"/>
            <a:ext cx="530352" cy="530352"/>
          </a:xfrm>
          <a:prstGeom prst="rect">
            <a:avLst/>
          </a:prstGeom>
        </p:spPr>
      </p:pic>
      <p:sp>
        <p:nvSpPr>
          <p:cNvPr id="8" name="Rectangle 7"/>
          <p:cNvSpPr/>
          <p:nvPr/>
        </p:nvSpPr>
        <p:spPr>
          <a:xfrm>
            <a:off x="548640" y="1700784"/>
            <a:ext cx="3362858" cy="1530096"/>
          </a:xfrm>
          <a:prstGeom prst="rect">
            <a:avLst/>
          </a:prstGeom>
          <a:solidFill>
            <a:srgbClr val="EFF4F6"/>
          </a:solidFill>
          <a:ln>
            <a:noFill/>
          </a:ln>
          <a:effectLst/>
        </p:spPr>
        <p:txBody>
          <a:bodyPr rtlCol="0" anchor="ctr"/>
          <a:lstStyle/>
          <a:p>
            <a:pPr algn="ctr"/>
          </a:p>
        </p:txBody>
      </p:sp>
      <p:sp>
        <p:nvSpPr>
          <p:cNvPr id="9" name="TextBox 8"/>
          <p:cNvSpPr txBox="1"/>
          <p:nvPr/>
        </p:nvSpPr>
        <p:spPr>
          <a:xfrm>
            <a:off x="777240" y="1956815"/>
            <a:ext cx="2905658" cy="400812"/>
          </a:xfrm>
          <a:prstGeom prst="rect">
            <a:avLst/>
          </a:prstGeom>
          <a:noFill/>
        </p:spPr>
        <p:txBody>
          <a:bodyPr wrap="square" lIns="0" rIns="0" tIns="0" bIns="0">
            <a:spAutoFit/>
          </a:bodyPr>
          <a:lstStyle/>
          <a:p>
            <a:pPr>
              <a:spcAft>
                <a:spcPts val="300"/>
              </a:spcAft>
              <a:defRPr sz="2100" b="1">
                <a:solidFill>
                  <a:srgbClr val="142E42"/>
                </a:solidFill>
                <a:latin typeface="Aptos"/>
              </a:defRPr>
            </a:pPr>
            <a:r>
              <a:t>Existing tools</a:t>
            </a:r>
          </a:p>
        </p:txBody>
      </p:sp>
      <p:sp>
        <p:nvSpPr>
          <p:cNvPr id="10" name="TextBox 9"/>
          <p:cNvSpPr txBox="1"/>
          <p:nvPr/>
        </p:nvSpPr>
        <p:spPr>
          <a:xfrm>
            <a:off x="777240" y="2449068"/>
            <a:ext cx="2905658" cy="525780"/>
          </a:xfrm>
          <a:prstGeom prst="rect">
            <a:avLst/>
          </a:prstGeom>
          <a:noFill/>
        </p:spPr>
        <p:txBody>
          <a:bodyPr wrap="square" lIns="0" rIns="0" tIns="0" bIns="0">
            <a:spAutoFit/>
          </a:bodyPr>
          <a:lstStyle/>
          <a:p>
            <a:pPr>
              <a:spcAft>
                <a:spcPts val="300"/>
              </a:spcAft>
              <a:defRPr sz="1500" b="0">
                <a:solidFill>
                  <a:srgbClr val="142E42"/>
                </a:solidFill>
                <a:latin typeface="Aptos"/>
              </a:defRPr>
            </a:pPr>
            <a:r>
              <a:t>F5 · Dynatrace · ServiceNow alerts, tickets, context</a:t>
            </a:r>
          </a:p>
        </p:txBody>
      </p:sp>
      <p:sp>
        <p:nvSpPr>
          <p:cNvPr id="11" name="Chevron 10"/>
          <p:cNvSpPr/>
          <p:nvPr/>
        </p:nvSpPr>
        <p:spPr>
          <a:xfrm>
            <a:off x="4071518" y="2328672"/>
            <a:ext cx="182880" cy="274320"/>
          </a:xfrm>
          <a:prstGeom prst="chevron">
            <a:avLst/>
          </a:prstGeom>
          <a:solidFill>
            <a:srgbClr val="007F82"/>
          </a:solidFill>
          <a:ln>
            <a:noFill/>
          </a:ln>
          <a:effectLst/>
        </p:spPr>
        <p:txBody>
          <a:bodyPr rtlCol="0" anchor="ctr"/>
          <a:lstStyle/>
          <a:p>
            <a:pPr algn="ctr"/>
          </a:p>
        </p:txBody>
      </p:sp>
      <p:sp>
        <p:nvSpPr>
          <p:cNvPr id="12" name="Rectangle 11"/>
          <p:cNvSpPr/>
          <p:nvPr/>
        </p:nvSpPr>
        <p:spPr>
          <a:xfrm>
            <a:off x="4414418" y="1700784"/>
            <a:ext cx="3362858" cy="1530096"/>
          </a:xfrm>
          <a:prstGeom prst="rect">
            <a:avLst/>
          </a:prstGeom>
          <a:solidFill>
            <a:srgbClr val="007F82"/>
          </a:solidFill>
          <a:ln>
            <a:noFill/>
          </a:ln>
          <a:effectLst/>
        </p:spPr>
        <p:txBody>
          <a:bodyPr rtlCol="0" anchor="ctr"/>
          <a:lstStyle/>
          <a:p>
            <a:pPr algn="ctr"/>
          </a:p>
        </p:txBody>
      </p:sp>
      <p:sp>
        <p:nvSpPr>
          <p:cNvPr id="13" name="TextBox 12"/>
          <p:cNvSpPr txBox="1"/>
          <p:nvPr/>
        </p:nvSpPr>
        <p:spPr>
          <a:xfrm>
            <a:off x="4643018" y="1956815"/>
            <a:ext cx="2905658" cy="400812"/>
          </a:xfrm>
          <a:prstGeom prst="rect">
            <a:avLst/>
          </a:prstGeom>
          <a:noFill/>
        </p:spPr>
        <p:txBody>
          <a:bodyPr wrap="square" lIns="0" rIns="0" tIns="0" bIns="0">
            <a:spAutoFit/>
          </a:bodyPr>
          <a:lstStyle/>
          <a:p>
            <a:pPr>
              <a:spcAft>
                <a:spcPts val="300"/>
              </a:spcAft>
              <a:defRPr sz="2100" b="1">
                <a:solidFill>
                  <a:srgbClr val="FFFFFF"/>
                </a:solidFill>
                <a:latin typeface="Aptos"/>
              </a:defRPr>
            </a:pPr>
            <a:r>
              <a:t>Jev</a:t>
            </a:r>
          </a:p>
        </p:txBody>
      </p:sp>
      <p:sp>
        <p:nvSpPr>
          <p:cNvPr id="14" name="TextBox 13"/>
          <p:cNvSpPr txBox="1"/>
          <p:nvPr/>
        </p:nvSpPr>
        <p:spPr>
          <a:xfrm>
            <a:off x="4643018" y="2449068"/>
            <a:ext cx="2905658" cy="525780"/>
          </a:xfrm>
          <a:prstGeom prst="rect">
            <a:avLst/>
          </a:prstGeom>
          <a:noFill/>
        </p:spPr>
        <p:txBody>
          <a:bodyPr wrap="square" lIns="0" rIns="0" tIns="0" bIns="0">
            <a:spAutoFit/>
          </a:bodyPr>
          <a:lstStyle/>
          <a:p>
            <a:pPr>
              <a:spcAft>
                <a:spcPts val="300"/>
              </a:spcAft>
              <a:defRPr sz="1500" b="0">
                <a:solidFill>
                  <a:srgbClr val="FFFFFF"/>
                </a:solidFill>
                <a:latin typeface="Aptos"/>
              </a:defRPr>
            </a:pPr>
            <a:r>
              <a:t>Typed questions; answers with probabilities</a:t>
            </a:r>
          </a:p>
        </p:txBody>
      </p:sp>
      <p:sp>
        <p:nvSpPr>
          <p:cNvPr id="15" name="Chevron 14"/>
          <p:cNvSpPr/>
          <p:nvPr/>
        </p:nvSpPr>
        <p:spPr>
          <a:xfrm>
            <a:off x="7937296" y="2328672"/>
            <a:ext cx="182880" cy="274320"/>
          </a:xfrm>
          <a:prstGeom prst="chevron">
            <a:avLst/>
          </a:prstGeom>
          <a:solidFill>
            <a:srgbClr val="007F82"/>
          </a:solidFill>
          <a:ln>
            <a:noFill/>
          </a:ln>
          <a:effectLst/>
        </p:spPr>
        <p:txBody>
          <a:bodyPr rtlCol="0" anchor="ctr"/>
          <a:lstStyle/>
          <a:p>
            <a:pPr algn="ctr"/>
          </a:p>
        </p:txBody>
      </p:sp>
      <p:sp>
        <p:nvSpPr>
          <p:cNvPr id="16" name="Rectangle 15"/>
          <p:cNvSpPr/>
          <p:nvPr/>
        </p:nvSpPr>
        <p:spPr>
          <a:xfrm>
            <a:off x="8280196" y="1700784"/>
            <a:ext cx="3362858" cy="1530096"/>
          </a:xfrm>
          <a:prstGeom prst="rect">
            <a:avLst/>
          </a:prstGeom>
          <a:solidFill>
            <a:srgbClr val="EFF4F6"/>
          </a:solidFill>
          <a:ln>
            <a:noFill/>
          </a:ln>
          <a:effectLst/>
        </p:spPr>
        <p:txBody>
          <a:bodyPr rtlCol="0" anchor="ctr"/>
          <a:lstStyle/>
          <a:p>
            <a:pPr algn="ctr"/>
          </a:p>
        </p:txBody>
      </p:sp>
      <p:sp>
        <p:nvSpPr>
          <p:cNvPr id="17" name="TextBox 16"/>
          <p:cNvSpPr txBox="1"/>
          <p:nvPr/>
        </p:nvSpPr>
        <p:spPr>
          <a:xfrm>
            <a:off x="8508796" y="1956815"/>
            <a:ext cx="2905658" cy="400812"/>
          </a:xfrm>
          <a:prstGeom prst="rect">
            <a:avLst/>
          </a:prstGeom>
          <a:noFill/>
        </p:spPr>
        <p:txBody>
          <a:bodyPr wrap="square" lIns="0" rIns="0" tIns="0" bIns="0">
            <a:spAutoFit/>
          </a:bodyPr>
          <a:lstStyle/>
          <a:p>
            <a:pPr>
              <a:spcAft>
                <a:spcPts val="300"/>
              </a:spcAft>
              <a:defRPr sz="2100" b="1">
                <a:solidFill>
                  <a:srgbClr val="142E42"/>
                </a:solidFill>
                <a:latin typeface="Aptos"/>
              </a:defRPr>
            </a:pPr>
            <a:r>
              <a:t>Policy in your code</a:t>
            </a:r>
          </a:p>
        </p:txBody>
      </p:sp>
      <p:sp>
        <p:nvSpPr>
          <p:cNvPr id="18" name="TextBox 17"/>
          <p:cNvSpPr txBox="1"/>
          <p:nvPr/>
        </p:nvSpPr>
        <p:spPr>
          <a:xfrm>
            <a:off x="8508796" y="2449068"/>
            <a:ext cx="2905658" cy="525780"/>
          </a:xfrm>
          <a:prstGeom prst="rect">
            <a:avLst/>
          </a:prstGeom>
          <a:noFill/>
        </p:spPr>
        <p:txBody>
          <a:bodyPr wrap="square" lIns="0" rIns="0" tIns="0" bIns="0">
            <a:spAutoFit/>
          </a:bodyPr>
          <a:lstStyle/>
          <a:p>
            <a:pPr>
              <a:spcAft>
                <a:spcPts val="300"/>
              </a:spcAft>
              <a:defRPr sz="1500" b="0">
                <a:solidFill>
                  <a:srgbClr val="142E42"/>
                </a:solidFill>
                <a:latin typeface="Aptos"/>
              </a:defRPr>
            </a:pPr>
            <a:r>
              <a:t>Thresholds you own decide act, ask, or log</a:t>
            </a:r>
          </a:p>
        </p:txBody>
      </p:sp>
      <p:sp>
        <p:nvSpPr>
          <p:cNvPr id="19" name="TextBox 18"/>
          <p:cNvSpPr txBox="1"/>
          <p:nvPr/>
        </p:nvSpPr>
        <p:spPr>
          <a:xfrm>
            <a:off x="548640" y="3550920"/>
            <a:ext cx="11094415" cy="237744"/>
          </a:xfrm>
          <a:prstGeom prst="rect">
            <a:avLst/>
          </a:prstGeom>
          <a:noFill/>
        </p:spPr>
        <p:txBody>
          <a:bodyPr wrap="square" lIns="0" rIns="0" tIns="0" bIns="0">
            <a:spAutoFit/>
          </a:bodyPr>
          <a:lstStyle/>
          <a:p>
            <a:pPr>
              <a:spcAft>
                <a:spcPts val="300"/>
              </a:spcAft>
              <a:defRPr sz="1300" b="1">
                <a:solidFill>
                  <a:srgbClr val="596A76"/>
                </a:solidFill>
                <a:latin typeface="Aptos"/>
              </a:defRPr>
            </a:pPr>
            <a:r>
              <a:t>Possible responses within the workflow</a:t>
            </a:r>
          </a:p>
        </p:txBody>
      </p:sp>
      <p:sp>
        <p:nvSpPr>
          <p:cNvPr id="20" name="Rectangle 19"/>
          <p:cNvSpPr/>
          <p:nvPr/>
        </p:nvSpPr>
        <p:spPr>
          <a:xfrm>
            <a:off x="548640" y="3898392"/>
            <a:ext cx="3362858" cy="548640"/>
          </a:xfrm>
          <a:prstGeom prst="rect">
            <a:avLst/>
          </a:prstGeom>
          <a:solidFill>
            <a:srgbClr val="F8FAFB"/>
          </a:solidFill>
          <a:ln>
            <a:noFill/>
          </a:ln>
          <a:effectLst/>
        </p:spPr>
        <p:txBody>
          <a:bodyPr rtlCol="0" anchor="ctr"/>
          <a:lstStyle/>
          <a:p>
            <a:pPr algn="ctr"/>
          </a:p>
        </p:txBody>
      </p:sp>
      <p:sp>
        <p:nvSpPr>
          <p:cNvPr id="21" name="Rectangle 20"/>
          <p:cNvSpPr/>
          <p:nvPr/>
        </p:nvSpPr>
        <p:spPr>
          <a:xfrm>
            <a:off x="548640" y="3898392"/>
            <a:ext cx="54864" cy="548640"/>
          </a:xfrm>
          <a:prstGeom prst="rect">
            <a:avLst/>
          </a:prstGeom>
          <a:solidFill>
            <a:srgbClr val="007F82"/>
          </a:solidFill>
          <a:ln>
            <a:noFill/>
          </a:ln>
          <a:effectLst/>
        </p:spPr>
        <p:txBody>
          <a:bodyPr rtlCol="0" anchor="ctr"/>
          <a:lstStyle/>
          <a:p>
            <a:pPr algn="ctr"/>
          </a:p>
        </p:txBody>
      </p:sp>
      <p:sp>
        <p:nvSpPr>
          <p:cNvPr id="22" name="TextBox 21"/>
          <p:cNvSpPr txBox="1"/>
          <p:nvPr/>
        </p:nvSpPr>
        <p:spPr>
          <a:xfrm>
            <a:off x="777240" y="3898392"/>
            <a:ext cx="2997098" cy="548640"/>
          </a:xfrm>
          <a:prstGeom prst="rect">
            <a:avLst/>
          </a:prstGeom>
          <a:noFill/>
        </p:spPr>
        <p:txBody>
          <a:bodyPr wrap="square" lIns="0" rIns="0" tIns="0" bIns="0" anchor="ctr">
            <a:spAutoFit/>
          </a:bodyPr>
          <a:lstStyle/>
          <a:p>
            <a:pPr>
              <a:spcAft>
                <a:spcPts val="300"/>
              </a:spcAft>
              <a:defRPr sz="1800" b="1">
                <a:solidFill>
                  <a:srgbClr val="142E42"/>
                </a:solidFill>
                <a:latin typeface="Aptos"/>
              </a:defRPr>
            </a:pPr>
            <a:r>
              <a:t>Assign or prioritise</a:t>
            </a:r>
          </a:p>
        </p:txBody>
      </p:sp>
      <p:sp>
        <p:nvSpPr>
          <p:cNvPr id="23" name="Rectangle 22"/>
          <p:cNvSpPr/>
          <p:nvPr/>
        </p:nvSpPr>
        <p:spPr>
          <a:xfrm>
            <a:off x="4414418" y="3898392"/>
            <a:ext cx="3362858" cy="548640"/>
          </a:xfrm>
          <a:prstGeom prst="rect">
            <a:avLst/>
          </a:prstGeom>
          <a:solidFill>
            <a:srgbClr val="F8FAFB"/>
          </a:solidFill>
          <a:ln>
            <a:noFill/>
          </a:ln>
          <a:effectLst/>
        </p:spPr>
        <p:txBody>
          <a:bodyPr rtlCol="0" anchor="ctr"/>
          <a:lstStyle/>
          <a:p>
            <a:pPr algn="ctr"/>
          </a:p>
        </p:txBody>
      </p:sp>
      <p:sp>
        <p:nvSpPr>
          <p:cNvPr id="24" name="Rectangle 23"/>
          <p:cNvSpPr/>
          <p:nvPr/>
        </p:nvSpPr>
        <p:spPr>
          <a:xfrm>
            <a:off x="4414418" y="3898392"/>
            <a:ext cx="54864" cy="548640"/>
          </a:xfrm>
          <a:prstGeom prst="rect">
            <a:avLst/>
          </a:prstGeom>
          <a:solidFill>
            <a:srgbClr val="007F82"/>
          </a:solidFill>
          <a:ln>
            <a:noFill/>
          </a:ln>
          <a:effectLst/>
        </p:spPr>
        <p:txBody>
          <a:bodyPr rtlCol="0" anchor="ctr"/>
          <a:lstStyle/>
          <a:p>
            <a:pPr algn="ctr"/>
          </a:p>
        </p:txBody>
      </p:sp>
      <p:sp>
        <p:nvSpPr>
          <p:cNvPr id="25" name="TextBox 24"/>
          <p:cNvSpPr txBox="1"/>
          <p:nvPr/>
        </p:nvSpPr>
        <p:spPr>
          <a:xfrm>
            <a:off x="4643018" y="3898392"/>
            <a:ext cx="2997098" cy="548640"/>
          </a:xfrm>
          <a:prstGeom prst="rect">
            <a:avLst/>
          </a:prstGeom>
          <a:noFill/>
        </p:spPr>
        <p:txBody>
          <a:bodyPr wrap="square" lIns="0" rIns="0" tIns="0" bIns="0" anchor="ctr">
            <a:spAutoFit/>
          </a:bodyPr>
          <a:lstStyle/>
          <a:p>
            <a:pPr>
              <a:spcAft>
                <a:spcPts val="300"/>
              </a:spcAft>
              <a:defRPr sz="1800" b="1">
                <a:solidFill>
                  <a:srgbClr val="142E42"/>
                </a:solidFill>
                <a:latin typeface="Aptos"/>
              </a:defRPr>
            </a:pPr>
            <a:r>
              <a:t>Investigate further</a:t>
            </a:r>
          </a:p>
        </p:txBody>
      </p:sp>
      <p:sp>
        <p:nvSpPr>
          <p:cNvPr id="26" name="Rectangle 25"/>
          <p:cNvSpPr/>
          <p:nvPr/>
        </p:nvSpPr>
        <p:spPr>
          <a:xfrm>
            <a:off x="8280196" y="3898392"/>
            <a:ext cx="3362858" cy="548640"/>
          </a:xfrm>
          <a:prstGeom prst="rect">
            <a:avLst/>
          </a:prstGeom>
          <a:solidFill>
            <a:srgbClr val="F8FAFB"/>
          </a:solidFill>
          <a:ln>
            <a:noFill/>
          </a:ln>
          <a:effectLst/>
        </p:spPr>
        <p:txBody>
          <a:bodyPr rtlCol="0" anchor="ctr"/>
          <a:lstStyle/>
          <a:p>
            <a:pPr algn="ctr"/>
          </a:p>
        </p:txBody>
      </p:sp>
      <p:sp>
        <p:nvSpPr>
          <p:cNvPr id="27" name="Rectangle 26"/>
          <p:cNvSpPr/>
          <p:nvPr/>
        </p:nvSpPr>
        <p:spPr>
          <a:xfrm>
            <a:off x="8280196" y="3898392"/>
            <a:ext cx="54864" cy="548640"/>
          </a:xfrm>
          <a:prstGeom prst="rect">
            <a:avLst/>
          </a:prstGeom>
          <a:solidFill>
            <a:srgbClr val="007F82"/>
          </a:solidFill>
          <a:ln>
            <a:noFill/>
          </a:ln>
          <a:effectLst/>
        </p:spPr>
        <p:txBody>
          <a:bodyPr rtlCol="0" anchor="ctr"/>
          <a:lstStyle/>
          <a:p>
            <a:pPr algn="ctr"/>
          </a:p>
        </p:txBody>
      </p:sp>
      <p:sp>
        <p:nvSpPr>
          <p:cNvPr id="28" name="TextBox 27"/>
          <p:cNvSpPr txBox="1"/>
          <p:nvPr/>
        </p:nvSpPr>
        <p:spPr>
          <a:xfrm>
            <a:off x="8508796" y="3898392"/>
            <a:ext cx="2997098" cy="548640"/>
          </a:xfrm>
          <a:prstGeom prst="rect">
            <a:avLst/>
          </a:prstGeom>
          <a:noFill/>
        </p:spPr>
        <p:txBody>
          <a:bodyPr wrap="square" lIns="0" rIns="0" tIns="0" bIns="0" anchor="ctr">
            <a:spAutoFit/>
          </a:bodyPr>
          <a:lstStyle/>
          <a:p>
            <a:pPr>
              <a:spcAft>
                <a:spcPts val="300"/>
              </a:spcAft>
              <a:defRPr sz="1800" b="1">
                <a:solidFill>
                  <a:srgbClr val="142E42"/>
                </a:solidFill>
                <a:latin typeface="Aptos"/>
              </a:defRPr>
            </a:pPr>
            <a:r>
              <a:t>Consider a runbook</a:t>
            </a:r>
          </a:p>
        </p:txBody>
      </p:sp>
      <p:sp>
        <p:nvSpPr>
          <p:cNvPr id="29" name="TextBox 28"/>
          <p:cNvSpPr txBox="1"/>
          <p:nvPr/>
        </p:nvSpPr>
        <p:spPr>
          <a:xfrm>
            <a:off x="548640" y="4767072"/>
            <a:ext cx="11094415" cy="802131"/>
          </a:xfrm>
          <a:prstGeom prst="rect">
            <a:avLst/>
          </a:prstGeom>
          <a:noFill/>
        </p:spPr>
        <p:txBody>
          <a:bodyPr wrap="square" lIns="0" rIns="0" tIns="0" bIns="0">
            <a:spAutoFit/>
          </a:bodyPr>
          <a:lstStyle/>
          <a:p>
            <a:pPr>
              <a:spcAft>
                <a:spcPts val="300"/>
              </a:spcAft>
              <a:defRPr sz="1600" b="0">
                <a:solidFill>
                  <a:srgbClr val="233B4D"/>
                </a:solidFill>
                <a:latin typeface="Aptos"/>
              </a:defRPr>
            </a:pPr>
            <a:r>
              <a:t>Documented integration points exist for common COTS software: ServiceNow (IntegrationHub REST step or MID Server script), PagerDuty (Event Orchestration rules, Custom Event Transformers, webhooks) and F5 (iRules or telemetry). A fixed flow acts on the answers and falls back to existing rules on timeout or low confidence.</a:t>
            </a:r>
          </a:p>
        </p:txBody>
      </p:sp>
      <p:sp>
        <p:nvSpPr>
          <p:cNvPr id="30" name="Rectangle 29"/>
          <p:cNvSpPr/>
          <p:nvPr/>
        </p:nvSpPr>
        <p:spPr>
          <a:xfrm>
            <a:off x="548640" y="6309360"/>
            <a:ext cx="11094415" cy="10972"/>
          </a:xfrm>
          <a:prstGeom prst="rect">
            <a:avLst/>
          </a:prstGeom>
          <a:solidFill>
            <a:srgbClr val="CCD7DD"/>
          </a:solidFill>
          <a:ln>
            <a:noFill/>
          </a:ln>
          <a:effectLst/>
        </p:spPr>
        <p:txBody>
          <a:bodyPr rtlCol="0" anchor="ctr"/>
          <a:lstStyle/>
          <a:p>
            <a:pPr algn="ctr"/>
          </a:p>
        </p:txBody>
      </p:sp>
      <p:sp>
        <p:nvSpPr>
          <p:cNvPr id="31" name="TextBox 30"/>
          <p:cNvSpPr txBox="1"/>
          <p:nvPr/>
        </p:nvSpPr>
        <p:spPr>
          <a:xfrm>
            <a:off x="548640" y="6400800"/>
            <a:ext cx="4572000" cy="201168"/>
          </a:xfrm>
          <a:prstGeom prst="rect">
            <a:avLst/>
          </a:prstGeom>
          <a:noFill/>
        </p:spPr>
        <p:txBody>
          <a:bodyPr wrap="square" lIns="0" rIns="0" tIns="0" bIns="0">
            <a:spAutoFit/>
          </a:bodyPr>
          <a:lstStyle/>
          <a:p>
            <a:pPr>
              <a:spcAft>
                <a:spcPts val="300"/>
              </a:spcAft>
              <a:defRPr sz="900" b="0">
                <a:solidFill>
                  <a:srgbClr val="596A76"/>
                </a:solidFill>
                <a:latin typeface="Aptos"/>
              </a:defRPr>
            </a:pPr>
            <a:r>
              <a:t>For discussion · October 2026</a:t>
            </a:r>
          </a:p>
        </p:txBody>
      </p:sp>
      <p:sp>
        <p:nvSpPr>
          <p:cNvPr id="32" name="TextBox 31"/>
          <p:cNvSpPr txBox="1"/>
          <p:nvPr/>
        </p:nvSpPr>
        <p:spPr>
          <a:xfrm>
            <a:off x="10929480" y="6400800"/>
            <a:ext cx="164934" cy="201168"/>
          </a:xfrm>
          <a:prstGeom prst="rect">
            <a:avLst/>
          </a:prstGeom>
          <a:noFill/>
        </p:spPr>
        <p:txBody>
          <a:bodyPr wrap="square" lIns="0" rIns="0" tIns="0" bIns="0">
            <a:spAutoFit/>
          </a:bodyPr>
          <a:lstStyle/>
          <a:p>
            <a:pPr>
              <a:spcAft>
                <a:spcPts val="300"/>
              </a:spcAft>
              <a:defRPr sz="900" b="1">
                <a:solidFill>
                  <a:srgbClr val="007F82"/>
                </a:solidFill>
                <a:latin typeface="Aptos"/>
              </a:defRPr>
            </a:pPr>
            <a:r>
              <a:rPr>
                <a:hlinkClick r:id="rId3"/>
              </a:rPr>
              <a:t>S7</a:t>
            </a:r>
          </a:p>
        </p:txBody>
      </p:sp>
      <p:sp>
        <p:nvSpPr>
          <p:cNvPr id="33" name="TextBox 32"/>
          <p:cNvSpPr txBox="1"/>
          <p:nvPr/>
        </p:nvSpPr>
        <p:spPr>
          <a:xfrm>
            <a:off x="10783176" y="6400800"/>
            <a:ext cx="91440" cy="201168"/>
          </a:xfrm>
          <a:prstGeom prst="rect">
            <a:avLst/>
          </a:prstGeom>
          <a:noFill/>
        </p:spPr>
        <p:txBody>
          <a:bodyPr wrap="square" lIns="0" rIns="0" tIns="0" bIns="0">
            <a:spAutoFit/>
          </a:bodyPr>
          <a:lstStyle/>
          <a:p>
            <a:pPr algn="ctr">
              <a:spcAft>
                <a:spcPts val="300"/>
              </a:spcAft>
              <a:defRPr sz="900" b="0">
                <a:solidFill>
                  <a:srgbClr val="596A76"/>
                </a:solidFill>
                <a:latin typeface="Aptos"/>
              </a:defRPr>
            </a:pPr>
            <a:r>
              <a:t>·</a:t>
            </a:r>
          </a:p>
        </p:txBody>
      </p:sp>
      <p:sp>
        <p:nvSpPr>
          <p:cNvPr id="34" name="TextBox 33"/>
          <p:cNvSpPr txBox="1"/>
          <p:nvPr/>
        </p:nvSpPr>
        <p:spPr>
          <a:xfrm>
            <a:off x="10618241" y="6400800"/>
            <a:ext cx="164934" cy="201168"/>
          </a:xfrm>
          <a:prstGeom prst="rect">
            <a:avLst/>
          </a:prstGeom>
          <a:noFill/>
        </p:spPr>
        <p:txBody>
          <a:bodyPr wrap="square" lIns="0" rIns="0" tIns="0" bIns="0">
            <a:spAutoFit/>
          </a:bodyPr>
          <a:lstStyle/>
          <a:p>
            <a:pPr>
              <a:spcAft>
                <a:spcPts val="300"/>
              </a:spcAft>
              <a:defRPr sz="900" b="1">
                <a:solidFill>
                  <a:srgbClr val="007F82"/>
                </a:solidFill>
                <a:latin typeface="Aptos"/>
              </a:defRPr>
            </a:pPr>
            <a:r>
              <a:rPr>
                <a:hlinkClick r:id="rId4"/>
              </a:rPr>
              <a:t>S6</a:t>
            </a:r>
          </a:p>
        </p:txBody>
      </p:sp>
      <p:sp>
        <p:nvSpPr>
          <p:cNvPr id="35" name="TextBox 34"/>
          <p:cNvSpPr txBox="1"/>
          <p:nvPr/>
        </p:nvSpPr>
        <p:spPr>
          <a:xfrm>
            <a:off x="10069601" y="6400800"/>
            <a:ext cx="493776" cy="201168"/>
          </a:xfrm>
          <a:prstGeom prst="rect">
            <a:avLst/>
          </a:prstGeom>
          <a:noFill/>
        </p:spPr>
        <p:txBody>
          <a:bodyPr wrap="square" lIns="0" rIns="0" tIns="0" bIns="0">
            <a:spAutoFit/>
          </a:bodyPr>
          <a:lstStyle/>
          <a:p>
            <a:pPr algn="r">
              <a:spcAft>
                <a:spcPts val="300"/>
              </a:spcAft>
              <a:defRPr sz="900" b="0">
                <a:solidFill>
                  <a:srgbClr val="596A76"/>
                </a:solidFill>
                <a:latin typeface="Aptos"/>
              </a:defRPr>
            </a:pPr>
            <a:r>
              <a:t>Sources</a:t>
            </a:r>
          </a:p>
        </p:txBody>
      </p:sp>
      <p:sp>
        <p:nvSpPr>
          <p:cNvPr id="36" name="TextBox 35"/>
          <p:cNvSpPr txBox="1"/>
          <p:nvPr/>
        </p:nvSpPr>
        <p:spPr>
          <a:xfrm>
            <a:off x="11185855" y="6400800"/>
            <a:ext cx="457200" cy="201168"/>
          </a:xfrm>
          <a:prstGeom prst="rect">
            <a:avLst/>
          </a:prstGeom>
          <a:noFill/>
        </p:spPr>
        <p:txBody>
          <a:bodyPr wrap="square" lIns="0" rIns="0" tIns="0" bIns="0">
            <a:spAutoFit/>
          </a:bodyPr>
          <a:lstStyle/>
          <a:p>
            <a:pPr algn="r">
              <a:spcAft>
                <a:spcPts val="300"/>
              </a:spcAft>
              <a:defRPr sz="900" b="0">
                <a:solidFill>
                  <a:srgbClr val="596A76"/>
                </a:solidFill>
                <a:latin typeface="Aptos"/>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7F82"/>
          </a:solidFill>
          <a:ln>
            <a:noFill/>
          </a:ln>
          <a:effectLst/>
        </p:spPr>
        <p:txBody>
          <a:bodyPr rtlCol="0" anchor="ctr"/>
          <a:lstStyle/>
          <a:p>
            <a:pPr algn="ctr"/>
          </a:p>
        </p:txBody>
      </p:sp>
      <p:sp>
        <p:nvSpPr>
          <p:cNvPr id="3" name="TextBox 2"/>
          <p:cNvSpPr txBox="1"/>
          <p:nvPr/>
        </p:nvSpPr>
        <p:spPr>
          <a:xfrm>
            <a:off x="548640" y="310896"/>
            <a:ext cx="9144000" cy="201168"/>
          </a:xfrm>
          <a:prstGeom prst="rect">
            <a:avLst/>
          </a:prstGeom>
          <a:noFill/>
        </p:spPr>
        <p:txBody>
          <a:bodyPr wrap="square" lIns="0" rIns="0" tIns="0" bIns="0">
            <a:spAutoFit/>
          </a:bodyPr>
          <a:lstStyle/>
          <a:p>
            <a:pPr>
              <a:spcAft>
                <a:spcPts val="300"/>
              </a:spcAft>
              <a:defRPr sz="1000" b="1">
                <a:solidFill>
                  <a:srgbClr val="007F82"/>
                </a:solidFill>
                <a:latin typeface="Aptos"/>
              </a:defRPr>
            </a:pPr>
            <a:r>
              <a:t>THE VALUE</a:t>
            </a:r>
          </a:p>
        </p:txBody>
      </p:sp>
      <p:sp>
        <p:nvSpPr>
          <p:cNvPr id="4" name="TextBox 3"/>
          <p:cNvSpPr txBox="1"/>
          <p:nvPr/>
        </p:nvSpPr>
        <p:spPr>
          <a:xfrm>
            <a:off x="548640" y="566928"/>
            <a:ext cx="10149840" cy="850899"/>
          </a:xfrm>
          <a:prstGeom prst="rect">
            <a:avLst/>
          </a:prstGeom>
          <a:noFill/>
        </p:spPr>
        <p:txBody>
          <a:bodyPr wrap="square" lIns="0" rIns="0" tIns="0" bIns="0">
            <a:spAutoFit/>
          </a:bodyPr>
          <a:lstStyle/>
          <a:p>
            <a:pPr>
              <a:spcAft>
                <a:spcPts val="300"/>
              </a:spcAft>
              <a:defRPr sz="2500" b="1">
                <a:solidFill>
                  <a:srgbClr val="142E42"/>
                </a:solidFill>
                <a:latin typeface="Aptos"/>
              </a:defRPr>
            </a:pPr>
            <a:r>
              <a:t>Why a decision model is attractive: versatile, easy to configure, low cost</a:t>
            </a:r>
          </a:p>
        </p:txBody>
      </p:sp>
      <p:sp>
        <p:nvSpPr>
          <p:cNvPr id="5" name="TextBox 4"/>
          <p:cNvSpPr txBox="1"/>
          <p:nvPr/>
        </p:nvSpPr>
        <p:spPr>
          <a:xfrm>
            <a:off x="548640" y="1454404"/>
            <a:ext cx="10149840" cy="279908"/>
          </a:xfrm>
          <a:prstGeom prst="rect">
            <a:avLst/>
          </a:prstGeom>
          <a:noFill/>
        </p:spPr>
        <p:txBody>
          <a:bodyPr wrap="square" lIns="0" rIns="0" tIns="0" bIns="0">
            <a:spAutoFit/>
          </a:bodyPr>
          <a:lstStyle/>
          <a:p>
            <a:pPr>
              <a:spcAft>
                <a:spcPts val="300"/>
              </a:spcAft>
              <a:defRPr sz="1400" b="0">
                <a:solidFill>
                  <a:srgbClr val="596A76"/>
                </a:solidFill>
                <a:latin typeface="Aptos"/>
              </a:defRPr>
            </a:pPr>
            <a:r>
              <a:t>The properties to weigh against the platform's own AI</a:t>
            </a:r>
          </a:p>
        </p:txBody>
      </p:sp>
      <p:sp>
        <p:nvSpPr>
          <p:cNvPr id="6" name="Rectangle 5"/>
          <p:cNvSpPr/>
          <p:nvPr/>
        </p:nvSpPr>
        <p:spPr>
          <a:xfrm>
            <a:off x="10929823" y="274320"/>
            <a:ext cx="713232" cy="713232"/>
          </a:xfrm>
          <a:prstGeom prst="rect">
            <a:avLst/>
          </a:prstGeom>
          <a:solidFill>
            <a:srgbClr val="EFF4F6"/>
          </a:solidFill>
          <a:ln>
            <a:noFill/>
          </a:ln>
          <a:effectLst/>
        </p:spPr>
        <p:txBody>
          <a:bodyPr rtlCol="0" anchor="ctr"/>
          <a:lstStyle/>
          <a:p>
            <a:pPr algn="ctr"/>
          </a:p>
        </p:txBody>
      </p:sp>
      <p:pic>
        <p:nvPicPr>
          <p:cNvPr id="7" name="Picture 6" descr="gauge.png"/>
          <p:cNvPicPr>
            <a:picLocks noChangeAspect="1"/>
          </p:cNvPicPr>
          <p:nvPr/>
        </p:nvPicPr>
        <p:blipFill>
          <a:blip r:embed="rId2"/>
          <a:stretch>
            <a:fillRect/>
          </a:stretch>
        </p:blipFill>
        <p:spPr>
          <a:xfrm>
            <a:off x="11021263" y="365760"/>
            <a:ext cx="530352" cy="530352"/>
          </a:xfrm>
          <a:prstGeom prst="rect">
            <a:avLst/>
          </a:prstGeom>
        </p:spPr>
      </p:pic>
      <p:sp>
        <p:nvSpPr>
          <p:cNvPr id="8" name="Rectangle 7"/>
          <p:cNvSpPr/>
          <p:nvPr/>
        </p:nvSpPr>
        <p:spPr>
          <a:xfrm>
            <a:off x="548640" y="2081783"/>
            <a:ext cx="2602153" cy="2420112"/>
          </a:xfrm>
          <a:prstGeom prst="rect">
            <a:avLst/>
          </a:prstGeom>
          <a:solidFill>
            <a:srgbClr val="EFF4F6"/>
          </a:solidFill>
          <a:ln>
            <a:noFill/>
          </a:ln>
          <a:effectLst/>
        </p:spPr>
        <p:txBody>
          <a:bodyPr rtlCol="0" anchor="ctr"/>
          <a:lstStyle/>
          <a:p>
            <a:pPr algn="ctr"/>
          </a:p>
        </p:txBody>
      </p:sp>
      <p:sp>
        <p:nvSpPr>
          <p:cNvPr id="9" name="Rectangle 8"/>
          <p:cNvSpPr/>
          <p:nvPr/>
        </p:nvSpPr>
        <p:spPr>
          <a:xfrm>
            <a:off x="548640" y="2081783"/>
            <a:ext cx="2602153" cy="45720"/>
          </a:xfrm>
          <a:prstGeom prst="rect">
            <a:avLst/>
          </a:prstGeom>
          <a:solidFill>
            <a:srgbClr val="007F82"/>
          </a:solidFill>
          <a:ln>
            <a:noFill/>
          </a:ln>
          <a:effectLst/>
        </p:spPr>
        <p:txBody>
          <a:bodyPr rtlCol="0" anchor="ctr"/>
          <a:lstStyle/>
          <a:p>
            <a:pPr algn="ctr"/>
          </a:p>
        </p:txBody>
      </p:sp>
      <p:sp>
        <p:nvSpPr>
          <p:cNvPr id="10" name="TextBox 9"/>
          <p:cNvSpPr txBox="1"/>
          <p:nvPr/>
        </p:nvSpPr>
        <p:spPr>
          <a:xfrm>
            <a:off x="777240" y="2356103"/>
            <a:ext cx="2144953" cy="348996"/>
          </a:xfrm>
          <a:prstGeom prst="rect">
            <a:avLst/>
          </a:prstGeom>
          <a:noFill/>
        </p:spPr>
        <p:txBody>
          <a:bodyPr wrap="square" lIns="0" rIns="0" tIns="0" bIns="0">
            <a:spAutoFit/>
          </a:bodyPr>
          <a:lstStyle/>
          <a:p>
            <a:pPr>
              <a:spcAft>
                <a:spcPts val="300"/>
              </a:spcAft>
              <a:defRPr sz="1800" b="1">
                <a:solidFill>
                  <a:srgbClr val="142E42"/>
                </a:solidFill>
                <a:latin typeface="Aptos"/>
              </a:defRPr>
            </a:pPr>
            <a:r>
              <a:t>Versatile</a:t>
            </a:r>
          </a:p>
        </p:txBody>
      </p:sp>
      <p:sp>
        <p:nvSpPr>
          <p:cNvPr id="11" name="TextBox 10"/>
          <p:cNvSpPr txBox="1"/>
          <p:nvPr/>
        </p:nvSpPr>
        <p:spPr>
          <a:xfrm>
            <a:off x="777240" y="2833115"/>
            <a:ext cx="2144953" cy="1440180"/>
          </a:xfrm>
          <a:prstGeom prst="rect">
            <a:avLst/>
          </a:prstGeom>
          <a:noFill/>
        </p:spPr>
        <p:txBody>
          <a:bodyPr wrap="square" lIns="0" rIns="0" tIns="0" bIns="0">
            <a:spAutoFit/>
          </a:bodyPr>
          <a:lstStyle/>
          <a:p>
            <a:pPr>
              <a:spcAft>
                <a:spcPts val="300"/>
              </a:spcAft>
              <a:defRPr sz="1500" b="0">
                <a:solidFill>
                  <a:srgbClr val="233B4D"/>
                </a:solidFill>
                <a:latin typeface="Aptos"/>
              </a:defRPr>
            </a:pPr>
            <a:r>
              <a:t>One interface covers classification, severity, routing and yes/no checks, across application and network incidents.</a:t>
            </a:r>
          </a:p>
        </p:txBody>
      </p:sp>
      <p:sp>
        <p:nvSpPr>
          <p:cNvPr id="12" name="Rectangle 11"/>
          <p:cNvSpPr/>
          <p:nvPr/>
        </p:nvSpPr>
        <p:spPr>
          <a:xfrm>
            <a:off x="3379393" y="2081783"/>
            <a:ext cx="2602153" cy="2420112"/>
          </a:xfrm>
          <a:prstGeom prst="rect">
            <a:avLst/>
          </a:prstGeom>
          <a:solidFill>
            <a:srgbClr val="EFF4F6"/>
          </a:solidFill>
          <a:ln>
            <a:noFill/>
          </a:ln>
          <a:effectLst/>
        </p:spPr>
        <p:txBody>
          <a:bodyPr rtlCol="0" anchor="ctr"/>
          <a:lstStyle/>
          <a:p>
            <a:pPr algn="ctr"/>
          </a:p>
        </p:txBody>
      </p:sp>
      <p:sp>
        <p:nvSpPr>
          <p:cNvPr id="13" name="Rectangle 12"/>
          <p:cNvSpPr/>
          <p:nvPr/>
        </p:nvSpPr>
        <p:spPr>
          <a:xfrm>
            <a:off x="3379393" y="2081783"/>
            <a:ext cx="2602153" cy="45720"/>
          </a:xfrm>
          <a:prstGeom prst="rect">
            <a:avLst/>
          </a:prstGeom>
          <a:solidFill>
            <a:srgbClr val="007F82"/>
          </a:solidFill>
          <a:ln>
            <a:noFill/>
          </a:ln>
          <a:effectLst/>
        </p:spPr>
        <p:txBody>
          <a:bodyPr rtlCol="0" anchor="ctr"/>
          <a:lstStyle/>
          <a:p>
            <a:pPr algn="ctr"/>
          </a:p>
        </p:txBody>
      </p:sp>
      <p:sp>
        <p:nvSpPr>
          <p:cNvPr id="14" name="TextBox 13"/>
          <p:cNvSpPr txBox="1"/>
          <p:nvPr/>
        </p:nvSpPr>
        <p:spPr>
          <a:xfrm>
            <a:off x="3607993" y="2356103"/>
            <a:ext cx="2144953" cy="348996"/>
          </a:xfrm>
          <a:prstGeom prst="rect">
            <a:avLst/>
          </a:prstGeom>
          <a:noFill/>
        </p:spPr>
        <p:txBody>
          <a:bodyPr wrap="square" lIns="0" rIns="0" tIns="0" bIns="0">
            <a:spAutoFit/>
          </a:bodyPr>
          <a:lstStyle/>
          <a:p>
            <a:pPr>
              <a:spcAft>
                <a:spcPts val="300"/>
              </a:spcAft>
              <a:defRPr sz="1800" b="1">
                <a:solidFill>
                  <a:srgbClr val="142E42"/>
                </a:solidFill>
                <a:latin typeface="Aptos"/>
              </a:defRPr>
            </a:pPr>
            <a:r>
              <a:t>Easy to configure</a:t>
            </a:r>
          </a:p>
        </p:txBody>
      </p:sp>
      <p:sp>
        <p:nvSpPr>
          <p:cNvPr id="15" name="TextBox 14"/>
          <p:cNvSpPr txBox="1"/>
          <p:nvPr/>
        </p:nvSpPr>
        <p:spPr>
          <a:xfrm>
            <a:off x="3607993" y="2833115"/>
            <a:ext cx="2144953" cy="1440180"/>
          </a:xfrm>
          <a:prstGeom prst="rect">
            <a:avLst/>
          </a:prstGeom>
          <a:noFill/>
        </p:spPr>
        <p:txBody>
          <a:bodyPr wrap="square" lIns="0" rIns="0" tIns="0" bIns="0">
            <a:spAutoFit/>
          </a:bodyPr>
          <a:lstStyle/>
          <a:p>
            <a:pPr>
              <a:spcAft>
                <a:spcPts val="300"/>
              </a:spcAft>
              <a:defRPr sz="1500" b="0">
                <a:solidFill>
                  <a:srgbClr val="233B4D"/>
                </a:solidFill>
                <a:latin typeface="Aptos"/>
              </a:defRPr>
            </a:pPr>
            <a:r>
              <a:t>Questions and thresholds are written in code - no prompt engineering and no model training to start.</a:t>
            </a:r>
          </a:p>
        </p:txBody>
      </p:sp>
      <p:sp>
        <p:nvSpPr>
          <p:cNvPr id="16" name="Rectangle 15"/>
          <p:cNvSpPr/>
          <p:nvPr/>
        </p:nvSpPr>
        <p:spPr>
          <a:xfrm>
            <a:off x="6210147" y="2081783"/>
            <a:ext cx="2602153" cy="2420112"/>
          </a:xfrm>
          <a:prstGeom prst="rect">
            <a:avLst/>
          </a:prstGeom>
          <a:solidFill>
            <a:srgbClr val="EFF4F6"/>
          </a:solidFill>
          <a:ln>
            <a:noFill/>
          </a:ln>
          <a:effectLst/>
        </p:spPr>
        <p:txBody>
          <a:bodyPr rtlCol="0" anchor="ctr"/>
          <a:lstStyle/>
          <a:p>
            <a:pPr algn="ctr"/>
          </a:p>
        </p:txBody>
      </p:sp>
      <p:sp>
        <p:nvSpPr>
          <p:cNvPr id="17" name="Rectangle 16"/>
          <p:cNvSpPr/>
          <p:nvPr/>
        </p:nvSpPr>
        <p:spPr>
          <a:xfrm>
            <a:off x="6210147" y="2081783"/>
            <a:ext cx="2602153" cy="45720"/>
          </a:xfrm>
          <a:prstGeom prst="rect">
            <a:avLst/>
          </a:prstGeom>
          <a:solidFill>
            <a:srgbClr val="007F82"/>
          </a:solidFill>
          <a:ln>
            <a:noFill/>
          </a:ln>
          <a:effectLst/>
        </p:spPr>
        <p:txBody>
          <a:bodyPr rtlCol="0" anchor="ctr"/>
          <a:lstStyle/>
          <a:p>
            <a:pPr algn="ctr"/>
          </a:p>
        </p:txBody>
      </p:sp>
      <p:sp>
        <p:nvSpPr>
          <p:cNvPr id="18" name="TextBox 17"/>
          <p:cNvSpPr txBox="1"/>
          <p:nvPr/>
        </p:nvSpPr>
        <p:spPr>
          <a:xfrm>
            <a:off x="6438747" y="2356103"/>
            <a:ext cx="2144953" cy="348996"/>
          </a:xfrm>
          <a:prstGeom prst="rect">
            <a:avLst/>
          </a:prstGeom>
          <a:noFill/>
        </p:spPr>
        <p:txBody>
          <a:bodyPr wrap="square" lIns="0" rIns="0" tIns="0" bIns="0">
            <a:spAutoFit/>
          </a:bodyPr>
          <a:lstStyle/>
          <a:p>
            <a:pPr>
              <a:spcAft>
                <a:spcPts val="300"/>
              </a:spcAft>
              <a:defRPr sz="1800" b="1">
                <a:solidFill>
                  <a:srgbClr val="142E42"/>
                </a:solidFill>
                <a:latin typeface="Aptos"/>
              </a:defRPr>
            </a:pPr>
            <a:r>
              <a:t>Low cost</a:t>
            </a:r>
          </a:p>
        </p:txBody>
      </p:sp>
      <p:sp>
        <p:nvSpPr>
          <p:cNvPr id="19" name="TextBox 18"/>
          <p:cNvSpPr txBox="1"/>
          <p:nvPr/>
        </p:nvSpPr>
        <p:spPr>
          <a:xfrm>
            <a:off x="6438747" y="2833115"/>
            <a:ext cx="2144953" cy="1440180"/>
          </a:xfrm>
          <a:prstGeom prst="rect">
            <a:avLst/>
          </a:prstGeom>
          <a:noFill/>
        </p:spPr>
        <p:txBody>
          <a:bodyPr wrap="square" lIns="0" rIns="0" tIns="0" bIns="0">
            <a:spAutoFit/>
          </a:bodyPr>
          <a:lstStyle/>
          <a:p>
            <a:pPr>
              <a:spcAft>
                <a:spcPts val="300"/>
              </a:spcAft>
              <a:defRPr sz="1500" b="0">
                <a:solidFill>
                  <a:srgbClr val="233B4D"/>
                </a:solidFill>
                <a:latin typeface="Aptos"/>
              </a:defRPr>
            </a:pPr>
            <a:r>
              <a:t>A fraction of a cent of inference per incident; the real cost is integration and ownership.</a:t>
            </a:r>
          </a:p>
        </p:txBody>
      </p:sp>
      <p:sp>
        <p:nvSpPr>
          <p:cNvPr id="20" name="Rectangle 19"/>
          <p:cNvSpPr/>
          <p:nvPr/>
        </p:nvSpPr>
        <p:spPr>
          <a:xfrm>
            <a:off x="9040901" y="2081783"/>
            <a:ext cx="2602153" cy="2420112"/>
          </a:xfrm>
          <a:prstGeom prst="rect">
            <a:avLst/>
          </a:prstGeom>
          <a:solidFill>
            <a:srgbClr val="EFF4F6"/>
          </a:solidFill>
          <a:ln>
            <a:noFill/>
          </a:ln>
          <a:effectLst/>
        </p:spPr>
        <p:txBody>
          <a:bodyPr rtlCol="0" anchor="ctr"/>
          <a:lstStyle/>
          <a:p>
            <a:pPr algn="ctr"/>
          </a:p>
        </p:txBody>
      </p:sp>
      <p:sp>
        <p:nvSpPr>
          <p:cNvPr id="21" name="Rectangle 20"/>
          <p:cNvSpPr/>
          <p:nvPr/>
        </p:nvSpPr>
        <p:spPr>
          <a:xfrm>
            <a:off x="9040901" y="2081783"/>
            <a:ext cx="2602153" cy="45720"/>
          </a:xfrm>
          <a:prstGeom prst="rect">
            <a:avLst/>
          </a:prstGeom>
          <a:solidFill>
            <a:srgbClr val="007F82"/>
          </a:solidFill>
          <a:ln>
            <a:noFill/>
          </a:ln>
          <a:effectLst/>
        </p:spPr>
        <p:txBody>
          <a:bodyPr rtlCol="0" anchor="ctr"/>
          <a:lstStyle/>
          <a:p>
            <a:pPr algn="ctr"/>
          </a:p>
        </p:txBody>
      </p:sp>
      <p:sp>
        <p:nvSpPr>
          <p:cNvPr id="22" name="TextBox 21"/>
          <p:cNvSpPr txBox="1"/>
          <p:nvPr/>
        </p:nvSpPr>
        <p:spPr>
          <a:xfrm>
            <a:off x="9269501" y="2356103"/>
            <a:ext cx="2144953" cy="348996"/>
          </a:xfrm>
          <a:prstGeom prst="rect">
            <a:avLst/>
          </a:prstGeom>
          <a:noFill/>
        </p:spPr>
        <p:txBody>
          <a:bodyPr wrap="square" lIns="0" rIns="0" tIns="0" bIns="0">
            <a:spAutoFit/>
          </a:bodyPr>
          <a:lstStyle/>
          <a:p>
            <a:pPr>
              <a:spcAft>
                <a:spcPts val="300"/>
              </a:spcAft>
              <a:defRPr sz="1800" b="1">
                <a:solidFill>
                  <a:srgbClr val="142E42"/>
                </a:solidFill>
                <a:latin typeface="Aptos"/>
              </a:defRPr>
            </a:pPr>
            <a:r>
              <a:t>Fast and owned</a:t>
            </a:r>
          </a:p>
        </p:txBody>
      </p:sp>
      <p:sp>
        <p:nvSpPr>
          <p:cNvPr id="23" name="TextBox 22"/>
          <p:cNvSpPr txBox="1"/>
          <p:nvPr/>
        </p:nvSpPr>
        <p:spPr>
          <a:xfrm>
            <a:off x="9269501" y="2833115"/>
            <a:ext cx="2144953" cy="1440180"/>
          </a:xfrm>
          <a:prstGeom prst="rect">
            <a:avLst/>
          </a:prstGeom>
          <a:noFill/>
        </p:spPr>
        <p:txBody>
          <a:bodyPr wrap="square" lIns="0" rIns="0" tIns="0" bIns="0">
            <a:spAutoFit/>
          </a:bodyPr>
          <a:lstStyle/>
          <a:p>
            <a:pPr>
              <a:spcAft>
                <a:spcPts val="300"/>
              </a:spcAft>
              <a:defRPr sz="1500" b="0">
                <a:solidFill>
                  <a:srgbClr val="233B4D"/>
                </a:solidFill>
                <a:latin typeface="Aptos"/>
              </a:defRPr>
            </a:pPr>
            <a:r>
              <a:t>Milliseconds per call, and ordinary code holds the thresholds and the decision.</a:t>
            </a:r>
          </a:p>
        </p:txBody>
      </p:sp>
      <p:sp>
        <p:nvSpPr>
          <p:cNvPr id="24" name="TextBox 23"/>
          <p:cNvSpPr txBox="1"/>
          <p:nvPr/>
        </p:nvSpPr>
        <p:spPr>
          <a:xfrm>
            <a:off x="548640" y="4867656"/>
            <a:ext cx="11094415" cy="623316"/>
          </a:xfrm>
          <a:prstGeom prst="rect">
            <a:avLst/>
          </a:prstGeom>
          <a:noFill/>
        </p:spPr>
        <p:txBody>
          <a:bodyPr wrap="square" lIns="0" rIns="0" tIns="0" bIns="0">
            <a:spAutoFit/>
          </a:bodyPr>
          <a:lstStyle/>
          <a:p>
            <a:pPr>
              <a:spcAft>
                <a:spcPts val="300"/>
              </a:spcAft>
              <a:defRPr sz="1800" b="0">
                <a:solidFill>
                  <a:srgbClr val="233B4D"/>
                </a:solidFill>
                <a:latin typeface="Aptos"/>
              </a:defRPr>
            </a:pPr>
            <a:r>
              <a:t>Flexibility and cost sit on one side; data handling, integration and the effort of ownership sit on the other. That is the trade to weigh against what the platform already provides.</a:t>
            </a:r>
          </a:p>
        </p:txBody>
      </p:sp>
      <p:sp>
        <p:nvSpPr>
          <p:cNvPr id="25" name="Rectangle 24"/>
          <p:cNvSpPr/>
          <p:nvPr/>
        </p:nvSpPr>
        <p:spPr>
          <a:xfrm>
            <a:off x="548640" y="6309360"/>
            <a:ext cx="11094415" cy="10972"/>
          </a:xfrm>
          <a:prstGeom prst="rect">
            <a:avLst/>
          </a:prstGeom>
          <a:solidFill>
            <a:srgbClr val="CCD7DD"/>
          </a:solidFill>
          <a:ln>
            <a:noFill/>
          </a:ln>
          <a:effectLst/>
        </p:spPr>
        <p:txBody>
          <a:bodyPr rtlCol="0" anchor="ctr"/>
          <a:lstStyle/>
          <a:p>
            <a:pPr algn="ctr"/>
          </a:p>
        </p:txBody>
      </p:sp>
      <p:sp>
        <p:nvSpPr>
          <p:cNvPr id="26" name="TextBox 25"/>
          <p:cNvSpPr txBox="1"/>
          <p:nvPr/>
        </p:nvSpPr>
        <p:spPr>
          <a:xfrm>
            <a:off x="548640" y="6400800"/>
            <a:ext cx="4572000" cy="201168"/>
          </a:xfrm>
          <a:prstGeom prst="rect">
            <a:avLst/>
          </a:prstGeom>
          <a:noFill/>
        </p:spPr>
        <p:txBody>
          <a:bodyPr wrap="square" lIns="0" rIns="0" tIns="0" bIns="0">
            <a:spAutoFit/>
          </a:bodyPr>
          <a:lstStyle/>
          <a:p>
            <a:pPr>
              <a:spcAft>
                <a:spcPts val="300"/>
              </a:spcAft>
              <a:defRPr sz="900" b="0">
                <a:solidFill>
                  <a:srgbClr val="596A76"/>
                </a:solidFill>
                <a:latin typeface="Aptos"/>
              </a:defRPr>
            </a:pPr>
            <a:r>
              <a:t>For discussion · October 2026</a:t>
            </a:r>
          </a:p>
        </p:txBody>
      </p:sp>
      <p:sp>
        <p:nvSpPr>
          <p:cNvPr id="27" name="TextBox 26"/>
          <p:cNvSpPr txBox="1"/>
          <p:nvPr/>
        </p:nvSpPr>
        <p:spPr>
          <a:xfrm>
            <a:off x="11185855" y="6400800"/>
            <a:ext cx="457200" cy="201168"/>
          </a:xfrm>
          <a:prstGeom prst="rect">
            <a:avLst/>
          </a:prstGeom>
          <a:noFill/>
        </p:spPr>
        <p:txBody>
          <a:bodyPr wrap="square" lIns="0" rIns="0" tIns="0" bIns="0">
            <a:spAutoFit/>
          </a:bodyPr>
          <a:lstStyle/>
          <a:p>
            <a:pPr algn="r">
              <a:spcAft>
                <a:spcPts val="300"/>
              </a:spcAft>
              <a:defRPr sz="900" b="0">
                <a:solidFill>
                  <a:srgbClr val="596A76"/>
                </a:solidFill>
                <a:latin typeface="Aptos"/>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7F82"/>
          </a:solidFill>
          <a:ln>
            <a:noFill/>
          </a:ln>
          <a:effectLst/>
        </p:spPr>
        <p:txBody>
          <a:bodyPr rtlCol="0" anchor="ctr"/>
          <a:lstStyle/>
          <a:p>
            <a:pPr algn="ctr"/>
          </a:p>
        </p:txBody>
      </p:sp>
      <p:sp>
        <p:nvSpPr>
          <p:cNvPr id="3" name="TextBox 2"/>
          <p:cNvSpPr txBox="1"/>
          <p:nvPr/>
        </p:nvSpPr>
        <p:spPr>
          <a:xfrm>
            <a:off x="548640" y="310896"/>
            <a:ext cx="9144000" cy="201168"/>
          </a:xfrm>
          <a:prstGeom prst="rect">
            <a:avLst/>
          </a:prstGeom>
          <a:noFill/>
        </p:spPr>
        <p:txBody>
          <a:bodyPr wrap="square" lIns="0" rIns="0" tIns="0" bIns="0">
            <a:spAutoFit/>
          </a:bodyPr>
          <a:lstStyle/>
          <a:p>
            <a:pPr>
              <a:spcAft>
                <a:spcPts val="300"/>
              </a:spcAft>
              <a:defRPr sz="1000" b="1">
                <a:solidFill>
                  <a:srgbClr val="007F82"/>
                </a:solidFill>
                <a:latin typeface="Aptos"/>
              </a:defRPr>
            </a:pPr>
            <a:r>
              <a:t>THE PATH</a:t>
            </a:r>
          </a:p>
        </p:txBody>
      </p:sp>
      <p:sp>
        <p:nvSpPr>
          <p:cNvPr id="4" name="TextBox 3"/>
          <p:cNvSpPr txBox="1"/>
          <p:nvPr/>
        </p:nvSpPr>
        <p:spPr>
          <a:xfrm>
            <a:off x="548640" y="566928"/>
            <a:ext cx="10149840" cy="850899"/>
          </a:xfrm>
          <a:prstGeom prst="rect">
            <a:avLst/>
          </a:prstGeom>
          <a:noFill/>
        </p:spPr>
        <p:txBody>
          <a:bodyPr wrap="square" lIns="0" rIns="0" tIns="0" bIns="0">
            <a:spAutoFit/>
          </a:bodyPr>
          <a:lstStyle/>
          <a:p>
            <a:pPr>
              <a:spcAft>
                <a:spcPts val="300"/>
              </a:spcAft>
              <a:defRPr sz="2500" b="1">
                <a:solidFill>
                  <a:srgbClr val="142E42"/>
                </a:solidFill>
                <a:latin typeface="Aptos"/>
              </a:defRPr>
            </a:pPr>
            <a:r>
              <a:t>How to explore this together: size the opportunity, then a staged pilot</a:t>
            </a:r>
          </a:p>
        </p:txBody>
      </p:sp>
      <p:sp>
        <p:nvSpPr>
          <p:cNvPr id="5" name="TextBox 4"/>
          <p:cNvSpPr txBox="1"/>
          <p:nvPr/>
        </p:nvSpPr>
        <p:spPr>
          <a:xfrm>
            <a:off x="548640" y="1454404"/>
            <a:ext cx="10149840" cy="279908"/>
          </a:xfrm>
          <a:prstGeom prst="rect">
            <a:avLst/>
          </a:prstGeom>
          <a:noFill/>
        </p:spPr>
        <p:txBody>
          <a:bodyPr wrap="square" lIns="0" rIns="0" tIns="0" bIns="0">
            <a:spAutoFit/>
          </a:bodyPr>
          <a:lstStyle/>
          <a:p>
            <a:pPr>
              <a:spcAft>
                <a:spcPts val="300"/>
              </a:spcAft>
              <a:defRPr sz="1400" b="0">
                <a:solidFill>
                  <a:srgbClr val="596A76"/>
                </a:solidFill>
                <a:latin typeface="Aptos"/>
              </a:defRPr>
            </a:pPr>
            <a:r>
              <a:t>Three short stages, each ending in a decision</a:t>
            </a:r>
          </a:p>
        </p:txBody>
      </p:sp>
      <p:sp>
        <p:nvSpPr>
          <p:cNvPr id="6" name="Rectangle 5"/>
          <p:cNvSpPr/>
          <p:nvPr/>
        </p:nvSpPr>
        <p:spPr>
          <a:xfrm>
            <a:off x="10929823" y="274320"/>
            <a:ext cx="713232" cy="713232"/>
          </a:xfrm>
          <a:prstGeom prst="rect">
            <a:avLst/>
          </a:prstGeom>
          <a:solidFill>
            <a:srgbClr val="EFF4F6"/>
          </a:solidFill>
          <a:ln>
            <a:noFill/>
          </a:ln>
          <a:effectLst/>
        </p:spPr>
        <p:txBody>
          <a:bodyPr rtlCol="0" anchor="ctr"/>
          <a:lstStyle/>
          <a:p>
            <a:pPr algn="ctr"/>
          </a:p>
        </p:txBody>
      </p:sp>
      <p:pic>
        <p:nvPicPr>
          <p:cNvPr id="7" name="Picture 6" descr="path.png"/>
          <p:cNvPicPr>
            <a:picLocks noChangeAspect="1"/>
          </p:cNvPicPr>
          <p:nvPr/>
        </p:nvPicPr>
        <p:blipFill>
          <a:blip r:embed="rId2"/>
          <a:stretch>
            <a:fillRect/>
          </a:stretch>
        </p:blipFill>
        <p:spPr>
          <a:xfrm>
            <a:off x="11021263" y="365760"/>
            <a:ext cx="530352" cy="530352"/>
          </a:xfrm>
          <a:prstGeom prst="rect">
            <a:avLst/>
          </a:prstGeom>
        </p:spPr>
      </p:pic>
      <p:sp>
        <p:nvSpPr>
          <p:cNvPr id="8" name="Rectangle 7"/>
          <p:cNvSpPr/>
          <p:nvPr/>
        </p:nvSpPr>
        <p:spPr>
          <a:xfrm>
            <a:off x="548640" y="2081783"/>
            <a:ext cx="3515258" cy="1955292"/>
          </a:xfrm>
          <a:prstGeom prst="rect">
            <a:avLst/>
          </a:prstGeom>
          <a:solidFill>
            <a:srgbClr val="EFF4F6"/>
          </a:solidFill>
          <a:ln>
            <a:noFill/>
          </a:ln>
          <a:effectLst/>
        </p:spPr>
        <p:txBody>
          <a:bodyPr rtlCol="0" anchor="ctr"/>
          <a:lstStyle/>
          <a:p>
            <a:pPr algn="ctr"/>
          </a:p>
        </p:txBody>
      </p:sp>
      <p:sp>
        <p:nvSpPr>
          <p:cNvPr id="9" name="Rectangle 8"/>
          <p:cNvSpPr/>
          <p:nvPr/>
        </p:nvSpPr>
        <p:spPr>
          <a:xfrm>
            <a:off x="548640" y="2081783"/>
            <a:ext cx="3515258" cy="45720"/>
          </a:xfrm>
          <a:prstGeom prst="rect">
            <a:avLst/>
          </a:prstGeom>
          <a:solidFill>
            <a:srgbClr val="007F82"/>
          </a:solidFill>
          <a:ln>
            <a:noFill/>
          </a:ln>
          <a:effectLst/>
        </p:spPr>
        <p:txBody>
          <a:bodyPr rtlCol="0" anchor="ctr"/>
          <a:lstStyle/>
          <a:p>
            <a:pPr algn="ctr"/>
          </a:p>
        </p:txBody>
      </p:sp>
      <p:sp>
        <p:nvSpPr>
          <p:cNvPr id="10" name="TextBox 9"/>
          <p:cNvSpPr txBox="1"/>
          <p:nvPr/>
        </p:nvSpPr>
        <p:spPr>
          <a:xfrm>
            <a:off x="731520" y="2310383"/>
            <a:ext cx="3149498" cy="348996"/>
          </a:xfrm>
          <a:prstGeom prst="rect">
            <a:avLst/>
          </a:prstGeom>
          <a:noFill/>
        </p:spPr>
        <p:txBody>
          <a:bodyPr wrap="square" lIns="0" rIns="0" tIns="0" bIns="0">
            <a:spAutoFit/>
          </a:bodyPr>
          <a:lstStyle/>
          <a:p>
            <a:pPr>
              <a:spcAft>
                <a:spcPts val="300"/>
              </a:spcAft>
              <a:defRPr sz="1800" b="1">
                <a:solidFill>
                  <a:srgbClr val="142E42"/>
                </a:solidFill>
                <a:latin typeface="Aptos"/>
              </a:defRPr>
            </a:pPr>
            <a:r>
              <a:t>Stage 1</a:t>
            </a:r>
          </a:p>
        </p:txBody>
      </p:sp>
      <p:sp>
        <p:nvSpPr>
          <p:cNvPr id="11" name="TextBox 10"/>
          <p:cNvSpPr txBox="1"/>
          <p:nvPr/>
        </p:nvSpPr>
        <p:spPr>
          <a:xfrm>
            <a:off x="731520" y="2787395"/>
            <a:ext cx="3149498" cy="279908"/>
          </a:xfrm>
          <a:prstGeom prst="rect">
            <a:avLst/>
          </a:prstGeom>
          <a:noFill/>
        </p:spPr>
        <p:txBody>
          <a:bodyPr wrap="square" lIns="0" rIns="0" tIns="0" bIns="0">
            <a:spAutoFit/>
          </a:bodyPr>
          <a:lstStyle/>
          <a:p>
            <a:pPr>
              <a:spcAft>
                <a:spcPts val="300"/>
              </a:spcAft>
              <a:defRPr sz="1400" b="1">
                <a:solidFill>
                  <a:srgbClr val="007F82"/>
                </a:solidFill>
                <a:latin typeface="Aptos"/>
              </a:defRPr>
            </a:pPr>
            <a:r>
              <a:t>Diagnostic (2-3 weeks)</a:t>
            </a:r>
          </a:p>
        </p:txBody>
      </p:sp>
      <p:sp>
        <p:nvSpPr>
          <p:cNvPr id="12" name="TextBox 11"/>
          <p:cNvSpPr txBox="1"/>
          <p:nvPr/>
        </p:nvSpPr>
        <p:spPr>
          <a:xfrm>
            <a:off x="731520" y="3195319"/>
            <a:ext cx="3149498" cy="658876"/>
          </a:xfrm>
          <a:prstGeom prst="rect">
            <a:avLst/>
          </a:prstGeom>
          <a:noFill/>
        </p:spPr>
        <p:txBody>
          <a:bodyPr wrap="square" lIns="0" rIns="0" tIns="0" bIns="0">
            <a:spAutoFit/>
          </a:bodyPr>
          <a:lstStyle/>
          <a:p>
            <a:pPr>
              <a:spcAft>
                <a:spcPts val="300"/>
              </a:spcAft>
              <a:defRPr sz="1300" b="0">
                <a:solidFill>
                  <a:srgbClr val="233B4D"/>
                </a:solidFill>
                <a:latin typeface="Aptos"/>
              </a:defRPr>
            </a:pPr>
            <a:r>
              <a:t>Baseline reassignment, triage and out-of-hours volume; what the current licence already does.</a:t>
            </a:r>
          </a:p>
        </p:txBody>
      </p:sp>
      <p:sp>
        <p:nvSpPr>
          <p:cNvPr id="13" name="Rectangle 12"/>
          <p:cNvSpPr/>
          <p:nvPr/>
        </p:nvSpPr>
        <p:spPr>
          <a:xfrm>
            <a:off x="4338218" y="2081783"/>
            <a:ext cx="3515258" cy="1955292"/>
          </a:xfrm>
          <a:prstGeom prst="rect">
            <a:avLst/>
          </a:prstGeom>
          <a:solidFill>
            <a:srgbClr val="EFF4F6"/>
          </a:solidFill>
          <a:ln>
            <a:noFill/>
          </a:ln>
          <a:effectLst/>
        </p:spPr>
        <p:txBody>
          <a:bodyPr rtlCol="0" anchor="ctr"/>
          <a:lstStyle/>
          <a:p>
            <a:pPr algn="ctr"/>
          </a:p>
        </p:txBody>
      </p:sp>
      <p:sp>
        <p:nvSpPr>
          <p:cNvPr id="14" name="Rectangle 13"/>
          <p:cNvSpPr/>
          <p:nvPr/>
        </p:nvSpPr>
        <p:spPr>
          <a:xfrm>
            <a:off x="4338218" y="2081783"/>
            <a:ext cx="3515258" cy="45720"/>
          </a:xfrm>
          <a:prstGeom prst="rect">
            <a:avLst/>
          </a:prstGeom>
          <a:solidFill>
            <a:srgbClr val="007F82"/>
          </a:solidFill>
          <a:ln>
            <a:noFill/>
          </a:ln>
          <a:effectLst/>
        </p:spPr>
        <p:txBody>
          <a:bodyPr rtlCol="0" anchor="ctr"/>
          <a:lstStyle/>
          <a:p>
            <a:pPr algn="ctr"/>
          </a:p>
        </p:txBody>
      </p:sp>
      <p:sp>
        <p:nvSpPr>
          <p:cNvPr id="15" name="TextBox 14"/>
          <p:cNvSpPr txBox="1"/>
          <p:nvPr/>
        </p:nvSpPr>
        <p:spPr>
          <a:xfrm>
            <a:off x="4521098" y="2310383"/>
            <a:ext cx="3149498" cy="348996"/>
          </a:xfrm>
          <a:prstGeom prst="rect">
            <a:avLst/>
          </a:prstGeom>
          <a:noFill/>
        </p:spPr>
        <p:txBody>
          <a:bodyPr wrap="square" lIns="0" rIns="0" tIns="0" bIns="0">
            <a:spAutoFit/>
          </a:bodyPr>
          <a:lstStyle/>
          <a:p>
            <a:pPr>
              <a:spcAft>
                <a:spcPts val="300"/>
              </a:spcAft>
              <a:defRPr sz="1800" b="1">
                <a:solidFill>
                  <a:srgbClr val="142E42"/>
                </a:solidFill>
                <a:latin typeface="Aptos"/>
              </a:defRPr>
            </a:pPr>
            <a:r>
              <a:t>Stage 2</a:t>
            </a:r>
          </a:p>
        </p:txBody>
      </p:sp>
      <p:sp>
        <p:nvSpPr>
          <p:cNvPr id="16" name="TextBox 15"/>
          <p:cNvSpPr txBox="1"/>
          <p:nvPr/>
        </p:nvSpPr>
        <p:spPr>
          <a:xfrm>
            <a:off x="4521098" y="2787395"/>
            <a:ext cx="3149498" cy="279908"/>
          </a:xfrm>
          <a:prstGeom prst="rect">
            <a:avLst/>
          </a:prstGeom>
          <a:noFill/>
        </p:spPr>
        <p:txBody>
          <a:bodyPr wrap="square" lIns="0" rIns="0" tIns="0" bIns="0">
            <a:spAutoFit/>
          </a:bodyPr>
          <a:lstStyle/>
          <a:p>
            <a:pPr>
              <a:spcAft>
                <a:spcPts val="300"/>
              </a:spcAft>
              <a:defRPr sz="1400" b="1">
                <a:solidFill>
                  <a:srgbClr val="007F82"/>
                </a:solidFill>
                <a:latin typeface="Aptos"/>
              </a:defRPr>
            </a:pPr>
            <a:r>
              <a:t>Offline replay (3-4 weeks)</a:t>
            </a:r>
          </a:p>
        </p:txBody>
      </p:sp>
      <p:sp>
        <p:nvSpPr>
          <p:cNvPr id="17" name="TextBox 16"/>
          <p:cNvSpPr txBox="1"/>
          <p:nvPr/>
        </p:nvSpPr>
        <p:spPr>
          <a:xfrm>
            <a:off x="4521098" y="3195319"/>
            <a:ext cx="3149498" cy="658876"/>
          </a:xfrm>
          <a:prstGeom prst="rect">
            <a:avLst/>
          </a:prstGeom>
          <a:noFill/>
        </p:spPr>
        <p:txBody>
          <a:bodyPr wrap="square" lIns="0" rIns="0" tIns="0" bIns="0">
            <a:spAutoFit/>
          </a:bodyPr>
          <a:lstStyle/>
          <a:p>
            <a:pPr>
              <a:spcAft>
                <a:spcPts val="300"/>
              </a:spcAft>
              <a:defRPr sz="1300" b="0">
                <a:solidFill>
                  <a:srgbClr val="233B4D"/>
                </a:solidFill>
                <a:latin typeface="Aptos"/>
              </a:defRPr>
            </a:pPr>
            <a:r>
              <a:t>2,000-5,000 closed tickets through the same questions, compared with current rules; thresholds set on held-out tickets.</a:t>
            </a:r>
          </a:p>
        </p:txBody>
      </p:sp>
      <p:sp>
        <p:nvSpPr>
          <p:cNvPr id="18" name="Rectangle 17"/>
          <p:cNvSpPr/>
          <p:nvPr/>
        </p:nvSpPr>
        <p:spPr>
          <a:xfrm>
            <a:off x="8127796" y="2081783"/>
            <a:ext cx="3515258" cy="1955292"/>
          </a:xfrm>
          <a:prstGeom prst="rect">
            <a:avLst/>
          </a:prstGeom>
          <a:solidFill>
            <a:srgbClr val="EFF4F6"/>
          </a:solidFill>
          <a:ln>
            <a:noFill/>
          </a:ln>
          <a:effectLst/>
        </p:spPr>
        <p:txBody>
          <a:bodyPr rtlCol="0" anchor="ctr"/>
          <a:lstStyle/>
          <a:p>
            <a:pPr algn="ctr"/>
          </a:p>
        </p:txBody>
      </p:sp>
      <p:sp>
        <p:nvSpPr>
          <p:cNvPr id="19" name="Rectangle 18"/>
          <p:cNvSpPr/>
          <p:nvPr/>
        </p:nvSpPr>
        <p:spPr>
          <a:xfrm>
            <a:off x="8127796" y="2081783"/>
            <a:ext cx="3515258" cy="45720"/>
          </a:xfrm>
          <a:prstGeom prst="rect">
            <a:avLst/>
          </a:prstGeom>
          <a:solidFill>
            <a:srgbClr val="007F82"/>
          </a:solidFill>
          <a:ln>
            <a:noFill/>
          </a:ln>
          <a:effectLst/>
        </p:spPr>
        <p:txBody>
          <a:bodyPr rtlCol="0" anchor="ctr"/>
          <a:lstStyle/>
          <a:p>
            <a:pPr algn="ctr"/>
          </a:p>
        </p:txBody>
      </p:sp>
      <p:sp>
        <p:nvSpPr>
          <p:cNvPr id="20" name="TextBox 19"/>
          <p:cNvSpPr txBox="1"/>
          <p:nvPr/>
        </p:nvSpPr>
        <p:spPr>
          <a:xfrm>
            <a:off x="8310676" y="2310383"/>
            <a:ext cx="3149498" cy="348996"/>
          </a:xfrm>
          <a:prstGeom prst="rect">
            <a:avLst/>
          </a:prstGeom>
          <a:noFill/>
        </p:spPr>
        <p:txBody>
          <a:bodyPr wrap="square" lIns="0" rIns="0" tIns="0" bIns="0">
            <a:spAutoFit/>
          </a:bodyPr>
          <a:lstStyle/>
          <a:p>
            <a:pPr>
              <a:spcAft>
                <a:spcPts val="300"/>
              </a:spcAft>
              <a:defRPr sz="1800" b="1">
                <a:solidFill>
                  <a:srgbClr val="142E42"/>
                </a:solidFill>
                <a:latin typeface="Aptos"/>
              </a:defRPr>
            </a:pPr>
            <a:r>
              <a:t>Stage 3</a:t>
            </a:r>
          </a:p>
        </p:txBody>
      </p:sp>
      <p:sp>
        <p:nvSpPr>
          <p:cNvPr id="21" name="TextBox 20"/>
          <p:cNvSpPr txBox="1"/>
          <p:nvPr/>
        </p:nvSpPr>
        <p:spPr>
          <a:xfrm>
            <a:off x="8310676" y="2787395"/>
            <a:ext cx="3149498" cy="279908"/>
          </a:xfrm>
          <a:prstGeom prst="rect">
            <a:avLst/>
          </a:prstGeom>
          <a:noFill/>
        </p:spPr>
        <p:txBody>
          <a:bodyPr wrap="square" lIns="0" rIns="0" tIns="0" bIns="0">
            <a:spAutoFit/>
          </a:bodyPr>
          <a:lstStyle/>
          <a:p>
            <a:pPr>
              <a:spcAft>
                <a:spcPts val="300"/>
              </a:spcAft>
              <a:defRPr sz="1400" b="1">
                <a:solidFill>
                  <a:srgbClr val="007F82"/>
                </a:solidFill>
                <a:latin typeface="Aptos"/>
              </a:defRPr>
            </a:pPr>
            <a:r>
              <a:t>Shadow, then assist (6-8 weeks)</a:t>
            </a:r>
          </a:p>
        </p:txBody>
      </p:sp>
      <p:sp>
        <p:nvSpPr>
          <p:cNvPr id="22" name="TextBox 21"/>
          <p:cNvSpPr txBox="1"/>
          <p:nvPr/>
        </p:nvSpPr>
        <p:spPr>
          <a:xfrm>
            <a:off x="8310676" y="3195319"/>
            <a:ext cx="3149498" cy="658876"/>
          </a:xfrm>
          <a:prstGeom prst="rect">
            <a:avLst/>
          </a:prstGeom>
          <a:noFill/>
        </p:spPr>
        <p:txBody>
          <a:bodyPr wrap="square" lIns="0" rIns="0" tIns="0" bIns="0">
            <a:spAutoFit/>
          </a:bodyPr>
          <a:lstStyle/>
          <a:p>
            <a:pPr>
              <a:spcAft>
                <a:spcPts val="300"/>
              </a:spcAft>
              <a:defRPr sz="1300" b="0">
                <a:solidFill>
                  <a:srgbClr val="233B4D"/>
                </a:solidFill>
                <a:latin typeface="Aptos"/>
              </a:defRPr>
            </a:pPr>
            <a:r>
              <a:t>Answers to hidden fields with no action, then suggestions with override tracking, inside the platform.</a:t>
            </a:r>
          </a:p>
        </p:txBody>
      </p:sp>
      <p:sp>
        <p:nvSpPr>
          <p:cNvPr id="23" name="Rectangle 22"/>
          <p:cNvSpPr/>
          <p:nvPr/>
        </p:nvSpPr>
        <p:spPr>
          <a:xfrm>
            <a:off x="548640" y="4037076"/>
            <a:ext cx="3515258" cy="1239012"/>
          </a:xfrm>
          <a:prstGeom prst="rect">
            <a:avLst/>
          </a:prstGeom>
          <a:solidFill>
            <a:srgbClr val="142E42"/>
          </a:solidFill>
          <a:ln>
            <a:noFill/>
          </a:ln>
          <a:effectLst/>
        </p:spPr>
        <p:txBody>
          <a:bodyPr rtlCol="0" anchor="ctr"/>
          <a:lstStyle/>
          <a:p>
            <a:pPr algn="ctr"/>
          </a:p>
        </p:txBody>
      </p:sp>
      <p:sp>
        <p:nvSpPr>
          <p:cNvPr id="24" name="Isosceles Triangle 23"/>
          <p:cNvSpPr/>
          <p:nvPr/>
        </p:nvSpPr>
        <p:spPr>
          <a:xfrm rot="10800000">
            <a:off x="2141677" y="4037076"/>
            <a:ext cx="329184" cy="137160"/>
          </a:xfrm>
          <a:prstGeom prst="triangle">
            <a:avLst/>
          </a:prstGeom>
          <a:solidFill>
            <a:srgbClr val="EFF4F6"/>
          </a:solidFill>
          <a:ln>
            <a:noFill/>
          </a:ln>
          <a:effectLst/>
        </p:spPr>
        <p:txBody>
          <a:bodyPr rtlCol="0" anchor="ctr"/>
          <a:lstStyle/>
          <a:p>
            <a:pPr algn="ctr"/>
          </a:p>
        </p:txBody>
      </p:sp>
      <p:sp>
        <p:nvSpPr>
          <p:cNvPr id="25" name="TextBox 24"/>
          <p:cNvSpPr txBox="1"/>
          <p:nvPr/>
        </p:nvSpPr>
        <p:spPr>
          <a:xfrm>
            <a:off x="777240" y="4311396"/>
            <a:ext cx="3058058" cy="219456"/>
          </a:xfrm>
          <a:prstGeom prst="rect">
            <a:avLst/>
          </a:prstGeom>
          <a:noFill/>
        </p:spPr>
        <p:txBody>
          <a:bodyPr wrap="square" lIns="0" rIns="0" tIns="0" bIns="0">
            <a:spAutoFit/>
          </a:bodyPr>
          <a:lstStyle/>
          <a:p>
            <a:pPr>
              <a:spcAft>
                <a:spcPts val="300"/>
              </a:spcAft>
              <a:defRPr sz="1100" b="1">
                <a:solidFill>
                  <a:srgbClr val="8BCCD0"/>
                </a:solidFill>
                <a:latin typeface="Aptos"/>
              </a:defRPr>
            </a:pPr>
            <a:r>
              <a:t>DECISION 1</a:t>
            </a:r>
          </a:p>
        </p:txBody>
      </p:sp>
      <p:sp>
        <p:nvSpPr>
          <p:cNvPr id="26" name="TextBox 25"/>
          <p:cNvSpPr txBox="1"/>
          <p:nvPr/>
        </p:nvSpPr>
        <p:spPr>
          <a:xfrm>
            <a:off x="777240" y="4567428"/>
            <a:ext cx="3058058" cy="525780"/>
          </a:xfrm>
          <a:prstGeom prst="rect">
            <a:avLst/>
          </a:prstGeom>
          <a:noFill/>
        </p:spPr>
        <p:txBody>
          <a:bodyPr wrap="square" lIns="0" rIns="0" tIns="0" bIns="0">
            <a:spAutoFit/>
          </a:bodyPr>
          <a:lstStyle/>
          <a:p>
            <a:pPr>
              <a:spcAft>
                <a:spcPts val="300"/>
              </a:spcAft>
              <a:defRPr sz="1500" b="1">
                <a:solidFill>
                  <a:srgbClr val="FFFFFF"/>
                </a:solidFill>
                <a:latin typeface="Aptos"/>
              </a:defRPr>
            </a:pPr>
            <a:r>
              <a:t>Is there a gap worth closing?</a:t>
            </a:r>
          </a:p>
        </p:txBody>
      </p:sp>
      <p:sp>
        <p:nvSpPr>
          <p:cNvPr id="27" name="Rectangle 26"/>
          <p:cNvSpPr/>
          <p:nvPr/>
        </p:nvSpPr>
        <p:spPr>
          <a:xfrm>
            <a:off x="4338218" y="4037076"/>
            <a:ext cx="3515258" cy="1239012"/>
          </a:xfrm>
          <a:prstGeom prst="rect">
            <a:avLst/>
          </a:prstGeom>
          <a:solidFill>
            <a:srgbClr val="142E42"/>
          </a:solidFill>
          <a:ln>
            <a:noFill/>
          </a:ln>
          <a:effectLst/>
        </p:spPr>
        <p:txBody>
          <a:bodyPr rtlCol="0" anchor="ctr"/>
          <a:lstStyle/>
          <a:p>
            <a:pPr algn="ctr"/>
          </a:p>
        </p:txBody>
      </p:sp>
      <p:sp>
        <p:nvSpPr>
          <p:cNvPr id="28" name="Isosceles Triangle 27"/>
          <p:cNvSpPr/>
          <p:nvPr/>
        </p:nvSpPr>
        <p:spPr>
          <a:xfrm rot="10800000">
            <a:off x="5931255" y="4037076"/>
            <a:ext cx="329184" cy="137160"/>
          </a:xfrm>
          <a:prstGeom prst="triangle">
            <a:avLst/>
          </a:prstGeom>
          <a:solidFill>
            <a:srgbClr val="EFF4F6"/>
          </a:solidFill>
          <a:ln>
            <a:noFill/>
          </a:ln>
          <a:effectLst/>
        </p:spPr>
        <p:txBody>
          <a:bodyPr rtlCol="0" anchor="ctr"/>
          <a:lstStyle/>
          <a:p>
            <a:pPr algn="ctr"/>
          </a:p>
        </p:txBody>
      </p:sp>
      <p:sp>
        <p:nvSpPr>
          <p:cNvPr id="29" name="TextBox 28"/>
          <p:cNvSpPr txBox="1"/>
          <p:nvPr/>
        </p:nvSpPr>
        <p:spPr>
          <a:xfrm>
            <a:off x="4566818" y="4311396"/>
            <a:ext cx="3058058" cy="219456"/>
          </a:xfrm>
          <a:prstGeom prst="rect">
            <a:avLst/>
          </a:prstGeom>
          <a:noFill/>
        </p:spPr>
        <p:txBody>
          <a:bodyPr wrap="square" lIns="0" rIns="0" tIns="0" bIns="0">
            <a:spAutoFit/>
          </a:bodyPr>
          <a:lstStyle/>
          <a:p>
            <a:pPr>
              <a:spcAft>
                <a:spcPts val="300"/>
              </a:spcAft>
              <a:defRPr sz="1100" b="1">
                <a:solidFill>
                  <a:srgbClr val="8BCCD0"/>
                </a:solidFill>
                <a:latin typeface="Aptos"/>
              </a:defRPr>
            </a:pPr>
            <a:r>
              <a:t>DECISION 2</a:t>
            </a:r>
          </a:p>
        </p:txBody>
      </p:sp>
      <p:sp>
        <p:nvSpPr>
          <p:cNvPr id="30" name="TextBox 29"/>
          <p:cNvSpPr txBox="1"/>
          <p:nvPr/>
        </p:nvSpPr>
        <p:spPr>
          <a:xfrm>
            <a:off x="4566818" y="4567428"/>
            <a:ext cx="3058058" cy="525780"/>
          </a:xfrm>
          <a:prstGeom prst="rect">
            <a:avLst/>
          </a:prstGeom>
          <a:noFill/>
        </p:spPr>
        <p:txBody>
          <a:bodyPr wrap="square" lIns="0" rIns="0" tIns="0" bIns="0">
            <a:spAutoFit/>
          </a:bodyPr>
          <a:lstStyle/>
          <a:p>
            <a:pPr>
              <a:spcAft>
                <a:spcPts val="300"/>
              </a:spcAft>
              <a:defRPr sz="1500" b="1">
                <a:solidFill>
                  <a:srgbClr val="FFFFFF"/>
                </a:solidFill>
                <a:latin typeface="Aptos"/>
              </a:defRPr>
            </a:pPr>
            <a:r>
              <a:t>Does it beat what runs today, by enough to matter?</a:t>
            </a:r>
          </a:p>
        </p:txBody>
      </p:sp>
      <p:sp>
        <p:nvSpPr>
          <p:cNvPr id="31" name="Rectangle 30"/>
          <p:cNvSpPr/>
          <p:nvPr/>
        </p:nvSpPr>
        <p:spPr>
          <a:xfrm>
            <a:off x="8127796" y="4037076"/>
            <a:ext cx="3515258" cy="1239012"/>
          </a:xfrm>
          <a:prstGeom prst="rect">
            <a:avLst/>
          </a:prstGeom>
          <a:solidFill>
            <a:srgbClr val="142E42"/>
          </a:solidFill>
          <a:ln>
            <a:noFill/>
          </a:ln>
          <a:effectLst/>
        </p:spPr>
        <p:txBody>
          <a:bodyPr rtlCol="0" anchor="ctr"/>
          <a:lstStyle/>
          <a:p>
            <a:pPr algn="ctr"/>
          </a:p>
        </p:txBody>
      </p:sp>
      <p:sp>
        <p:nvSpPr>
          <p:cNvPr id="32" name="Isosceles Triangle 31"/>
          <p:cNvSpPr/>
          <p:nvPr/>
        </p:nvSpPr>
        <p:spPr>
          <a:xfrm rot="10800000">
            <a:off x="9720833" y="4037076"/>
            <a:ext cx="329184" cy="137160"/>
          </a:xfrm>
          <a:prstGeom prst="triangle">
            <a:avLst/>
          </a:prstGeom>
          <a:solidFill>
            <a:srgbClr val="EFF4F6"/>
          </a:solidFill>
          <a:ln>
            <a:noFill/>
          </a:ln>
          <a:effectLst/>
        </p:spPr>
        <p:txBody>
          <a:bodyPr rtlCol="0" anchor="ctr"/>
          <a:lstStyle/>
          <a:p>
            <a:pPr algn="ctr"/>
          </a:p>
        </p:txBody>
      </p:sp>
      <p:sp>
        <p:nvSpPr>
          <p:cNvPr id="33" name="TextBox 32"/>
          <p:cNvSpPr txBox="1"/>
          <p:nvPr/>
        </p:nvSpPr>
        <p:spPr>
          <a:xfrm>
            <a:off x="8356396" y="4311396"/>
            <a:ext cx="3058058" cy="219456"/>
          </a:xfrm>
          <a:prstGeom prst="rect">
            <a:avLst/>
          </a:prstGeom>
          <a:noFill/>
        </p:spPr>
        <p:txBody>
          <a:bodyPr wrap="square" lIns="0" rIns="0" tIns="0" bIns="0">
            <a:spAutoFit/>
          </a:bodyPr>
          <a:lstStyle/>
          <a:p>
            <a:pPr>
              <a:spcAft>
                <a:spcPts val="300"/>
              </a:spcAft>
              <a:defRPr sz="1100" b="1">
                <a:solidFill>
                  <a:srgbClr val="8BCCD0"/>
                </a:solidFill>
                <a:latin typeface="Aptos"/>
              </a:defRPr>
            </a:pPr>
            <a:r>
              <a:t>DECISION 3</a:t>
            </a:r>
          </a:p>
        </p:txBody>
      </p:sp>
      <p:sp>
        <p:nvSpPr>
          <p:cNvPr id="34" name="TextBox 33"/>
          <p:cNvSpPr txBox="1"/>
          <p:nvPr/>
        </p:nvSpPr>
        <p:spPr>
          <a:xfrm>
            <a:off x="8356396" y="4567428"/>
            <a:ext cx="3058058" cy="525780"/>
          </a:xfrm>
          <a:prstGeom prst="rect">
            <a:avLst/>
          </a:prstGeom>
          <a:noFill/>
        </p:spPr>
        <p:txBody>
          <a:bodyPr wrap="square" lIns="0" rIns="0" tIns="0" bIns="0">
            <a:spAutoFit/>
          </a:bodyPr>
          <a:lstStyle/>
          <a:p>
            <a:pPr>
              <a:spcAft>
                <a:spcPts val="300"/>
              </a:spcAft>
              <a:defRPr sz="1500" b="1">
                <a:solidFill>
                  <a:srgbClr val="FFFFFF"/>
                </a:solidFill>
                <a:latin typeface="Aptos"/>
              </a:defRPr>
            </a:pPr>
            <a:r>
              <a:t>What autonomy, under which owner?</a:t>
            </a:r>
          </a:p>
        </p:txBody>
      </p:sp>
      <p:sp>
        <p:nvSpPr>
          <p:cNvPr id="35" name="TextBox 34"/>
          <p:cNvSpPr txBox="1"/>
          <p:nvPr/>
        </p:nvSpPr>
        <p:spPr>
          <a:xfrm>
            <a:off x="548640" y="5532120"/>
            <a:ext cx="11094415" cy="460756"/>
          </a:xfrm>
          <a:prstGeom prst="rect">
            <a:avLst/>
          </a:prstGeom>
          <a:noFill/>
        </p:spPr>
        <p:txBody>
          <a:bodyPr wrap="square" lIns="0" rIns="0" tIns="0" bIns="0">
            <a:spAutoFit/>
          </a:bodyPr>
          <a:lstStyle/>
          <a:p>
            <a:pPr>
              <a:spcAft>
                <a:spcPts val="300"/>
              </a:spcAft>
              <a:defRPr sz="1300" b="0">
                <a:solidFill>
                  <a:srgbClr val="596A76"/>
                </a:solidFill>
                <a:latin typeface="Aptos"/>
              </a:defRPr>
            </a:pPr>
            <a:r>
              <a:t>Where outside help fits: bring this harness, the question design and the gate; baseline your own data; work alongside your platform and data teams; support the compliance and operating-model calls.</a:t>
            </a:r>
          </a:p>
        </p:txBody>
      </p:sp>
      <p:sp>
        <p:nvSpPr>
          <p:cNvPr id="36" name="Rectangle 35"/>
          <p:cNvSpPr/>
          <p:nvPr/>
        </p:nvSpPr>
        <p:spPr>
          <a:xfrm>
            <a:off x="548640" y="6309360"/>
            <a:ext cx="11094415" cy="10972"/>
          </a:xfrm>
          <a:prstGeom prst="rect">
            <a:avLst/>
          </a:prstGeom>
          <a:solidFill>
            <a:srgbClr val="CCD7DD"/>
          </a:solidFill>
          <a:ln>
            <a:noFill/>
          </a:ln>
          <a:effectLst/>
        </p:spPr>
        <p:txBody>
          <a:bodyPr rtlCol="0" anchor="ctr"/>
          <a:lstStyle/>
          <a:p>
            <a:pPr algn="ctr"/>
          </a:p>
        </p:txBody>
      </p:sp>
      <p:sp>
        <p:nvSpPr>
          <p:cNvPr id="37" name="TextBox 36"/>
          <p:cNvSpPr txBox="1"/>
          <p:nvPr/>
        </p:nvSpPr>
        <p:spPr>
          <a:xfrm>
            <a:off x="548640" y="6400800"/>
            <a:ext cx="4572000" cy="201168"/>
          </a:xfrm>
          <a:prstGeom prst="rect">
            <a:avLst/>
          </a:prstGeom>
          <a:noFill/>
        </p:spPr>
        <p:txBody>
          <a:bodyPr wrap="square" lIns="0" rIns="0" tIns="0" bIns="0">
            <a:spAutoFit/>
          </a:bodyPr>
          <a:lstStyle/>
          <a:p>
            <a:pPr>
              <a:spcAft>
                <a:spcPts val="300"/>
              </a:spcAft>
              <a:defRPr sz="900" b="0">
                <a:solidFill>
                  <a:srgbClr val="596A76"/>
                </a:solidFill>
                <a:latin typeface="Aptos"/>
              </a:defRPr>
            </a:pPr>
            <a:r>
              <a:t>For discussion · October 2026</a:t>
            </a:r>
          </a:p>
        </p:txBody>
      </p:sp>
      <p:sp>
        <p:nvSpPr>
          <p:cNvPr id="38" name="TextBox 37"/>
          <p:cNvSpPr txBox="1"/>
          <p:nvPr/>
        </p:nvSpPr>
        <p:spPr>
          <a:xfrm>
            <a:off x="11185855" y="6400800"/>
            <a:ext cx="457200" cy="201168"/>
          </a:xfrm>
          <a:prstGeom prst="rect">
            <a:avLst/>
          </a:prstGeom>
          <a:noFill/>
        </p:spPr>
        <p:txBody>
          <a:bodyPr wrap="square" lIns="0" rIns="0" tIns="0" bIns="0">
            <a:spAutoFit/>
          </a:bodyPr>
          <a:lstStyle/>
          <a:p>
            <a:pPr algn="r">
              <a:spcAft>
                <a:spcPts val="300"/>
              </a:spcAft>
              <a:defRPr sz="900" b="0">
                <a:solidFill>
                  <a:srgbClr val="596A76"/>
                </a:solidFill>
                <a:latin typeface="Aptos"/>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E42"/>
          </a:solidFill>
          <a:ln>
            <a:noFill/>
          </a:ln>
          <a:effectLst/>
        </p:spPr>
        <p:txBody>
          <a:bodyPr rtlCol="0" anchor="ctr"/>
          <a:lstStyle/>
          <a:p>
            <a:pPr algn="ctr"/>
          </a:p>
        </p:txBody>
      </p:sp>
      <p:sp>
        <p:nvSpPr>
          <p:cNvPr id="3" name="Rectangle 2"/>
          <p:cNvSpPr/>
          <p:nvPr/>
        </p:nvSpPr>
        <p:spPr>
          <a:xfrm>
            <a:off x="0" y="0"/>
            <a:ext cx="12191695" cy="73152"/>
          </a:xfrm>
          <a:prstGeom prst="rect">
            <a:avLst/>
          </a:prstGeom>
          <a:solidFill>
            <a:srgbClr val="007F82"/>
          </a:solidFill>
          <a:ln>
            <a:noFill/>
          </a:ln>
          <a:effectLst/>
        </p:spPr>
        <p:txBody>
          <a:bodyPr rtlCol="0" anchor="ctr"/>
          <a:lstStyle/>
          <a:p>
            <a:pPr algn="ctr"/>
          </a:p>
        </p:txBody>
      </p:sp>
      <p:sp>
        <p:nvSpPr>
          <p:cNvPr id="4" name="TextBox 3"/>
          <p:cNvSpPr txBox="1"/>
          <p:nvPr/>
        </p:nvSpPr>
        <p:spPr>
          <a:xfrm>
            <a:off x="822960" y="2743200"/>
            <a:ext cx="10424160" cy="731520"/>
          </a:xfrm>
          <a:prstGeom prst="rect">
            <a:avLst/>
          </a:prstGeom>
          <a:noFill/>
        </p:spPr>
        <p:txBody>
          <a:bodyPr wrap="square" lIns="0" rIns="0" tIns="0" bIns="0" anchor="b">
            <a:spAutoFit/>
          </a:bodyPr>
          <a:lstStyle/>
          <a:p>
            <a:pPr>
              <a:spcAft>
                <a:spcPts val="300"/>
              </a:spcAft>
              <a:defRPr sz="3600" b="1">
                <a:solidFill>
                  <a:srgbClr val="FFFFFF"/>
                </a:solidFill>
                <a:latin typeface="Aptos"/>
              </a:defRPr>
            </a:pPr>
            <a:r>
              <a:t>Appendix</a:t>
            </a:r>
          </a:p>
        </p:txBody>
      </p:sp>
      <p:sp>
        <p:nvSpPr>
          <p:cNvPr id="5" name="Rectangle 4"/>
          <p:cNvSpPr/>
          <p:nvPr/>
        </p:nvSpPr>
        <p:spPr>
          <a:xfrm>
            <a:off x="822960" y="3639312"/>
            <a:ext cx="1097280" cy="54864"/>
          </a:xfrm>
          <a:prstGeom prst="rect">
            <a:avLst/>
          </a:prstGeom>
          <a:solidFill>
            <a:srgbClr val="007F82"/>
          </a:solidFill>
          <a:ln>
            <a:noFill/>
          </a:ln>
          <a:effectLst/>
        </p:spPr>
        <p:txBody>
          <a:bodyPr rtlCol="0" anchor="ctr"/>
          <a:lstStyle/>
          <a:p>
            <a:pPr algn="ctr"/>
          </a:p>
        </p:txBody>
      </p:sp>
      <p:sp>
        <p:nvSpPr>
          <p:cNvPr id="6" name="TextBox 5"/>
          <p:cNvSpPr txBox="1"/>
          <p:nvPr/>
        </p:nvSpPr>
        <p:spPr>
          <a:xfrm>
            <a:off x="822960" y="3858768"/>
            <a:ext cx="9509760" cy="548640"/>
          </a:xfrm>
          <a:prstGeom prst="rect">
            <a:avLst/>
          </a:prstGeom>
          <a:noFill/>
        </p:spPr>
        <p:txBody>
          <a:bodyPr wrap="square" lIns="0" rIns="0" tIns="0" bIns="0">
            <a:spAutoFit/>
          </a:bodyPr>
          <a:lstStyle/>
          <a:p>
            <a:pPr>
              <a:spcAft>
                <a:spcPts val="300"/>
              </a:spcAft>
              <a:defRPr sz="1800" b="0">
                <a:solidFill>
                  <a:srgbClr val="8BCCD0"/>
                </a:solidFill>
                <a:latin typeface="Aptos"/>
              </a:defRPr>
            </a:pPr>
            <a:r>
              <a:t>Detail behind the discussion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7F82"/>
          </a:solidFill>
          <a:ln>
            <a:noFill/>
          </a:ln>
          <a:effectLst/>
        </p:spPr>
        <p:txBody>
          <a:bodyPr rtlCol="0" anchor="ctr"/>
          <a:lstStyle/>
          <a:p>
            <a:pPr algn="ctr"/>
          </a:p>
        </p:txBody>
      </p:sp>
      <p:sp>
        <p:nvSpPr>
          <p:cNvPr id="3" name="TextBox 2"/>
          <p:cNvSpPr txBox="1"/>
          <p:nvPr/>
        </p:nvSpPr>
        <p:spPr>
          <a:xfrm>
            <a:off x="548640" y="310896"/>
            <a:ext cx="9144000" cy="201168"/>
          </a:xfrm>
          <a:prstGeom prst="rect">
            <a:avLst/>
          </a:prstGeom>
          <a:noFill/>
        </p:spPr>
        <p:txBody>
          <a:bodyPr wrap="square" lIns="0" rIns="0" tIns="0" bIns="0">
            <a:spAutoFit/>
          </a:bodyPr>
          <a:lstStyle/>
          <a:p>
            <a:pPr>
              <a:spcAft>
                <a:spcPts val="300"/>
              </a:spcAft>
              <a:defRPr sz="1000" b="1">
                <a:solidFill>
                  <a:srgbClr val="007F82"/>
                </a:solidFill>
                <a:latin typeface="Aptos"/>
              </a:defRPr>
            </a:pPr>
            <a:r>
              <a:t>APPENDIX A1</a:t>
            </a:r>
          </a:p>
        </p:txBody>
      </p:sp>
      <p:sp>
        <p:nvSpPr>
          <p:cNvPr id="4" name="TextBox 3"/>
          <p:cNvSpPr txBox="1"/>
          <p:nvPr/>
        </p:nvSpPr>
        <p:spPr>
          <a:xfrm>
            <a:off x="548640" y="566928"/>
            <a:ext cx="10149840" cy="469899"/>
          </a:xfrm>
          <a:prstGeom prst="rect">
            <a:avLst/>
          </a:prstGeom>
          <a:noFill/>
        </p:spPr>
        <p:txBody>
          <a:bodyPr wrap="square" lIns="0" rIns="0" tIns="0" bIns="0">
            <a:spAutoFit/>
          </a:bodyPr>
          <a:lstStyle/>
          <a:p>
            <a:pPr>
              <a:spcAft>
                <a:spcPts val="300"/>
              </a:spcAft>
              <a:defRPr sz="2500" b="1">
                <a:solidFill>
                  <a:srgbClr val="142E42"/>
                </a:solidFill>
                <a:latin typeface="Aptos"/>
              </a:defRPr>
            </a:pPr>
            <a:r>
              <a:t>Full results across four backends</a:t>
            </a:r>
          </a:p>
        </p:txBody>
      </p:sp>
      <p:sp>
        <p:nvSpPr>
          <p:cNvPr id="5" name="TextBox 4"/>
          <p:cNvSpPr txBox="1"/>
          <p:nvPr/>
        </p:nvSpPr>
        <p:spPr>
          <a:xfrm>
            <a:off x="548640" y="1073404"/>
            <a:ext cx="10149840" cy="279908"/>
          </a:xfrm>
          <a:prstGeom prst="rect">
            <a:avLst/>
          </a:prstGeom>
          <a:noFill/>
        </p:spPr>
        <p:txBody>
          <a:bodyPr wrap="square" lIns="0" rIns="0" tIns="0" bIns="0">
            <a:spAutoFit/>
          </a:bodyPr>
          <a:lstStyle/>
          <a:p>
            <a:pPr>
              <a:spcAft>
                <a:spcPts val="300"/>
              </a:spcAft>
              <a:defRPr sz="1400" b="0">
                <a:solidFill>
                  <a:srgbClr val="596A76"/>
                </a:solidFill>
                <a:latin typeface="Aptos"/>
              </a:defRPr>
            </a:pPr>
            <a:r>
              <a:t>All four answered the same 12 questions about the same 56 incidents</a:t>
            </a:r>
          </a:p>
        </p:txBody>
      </p:sp>
      <p:sp>
        <p:nvSpPr>
          <p:cNvPr id="6" name="Rectangle 5"/>
          <p:cNvSpPr/>
          <p:nvPr/>
        </p:nvSpPr>
        <p:spPr>
          <a:xfrm>
            <a:off x="10929823" y="274320"/>
            <a:ext cx="713232" cy="713232"/>
          </a:xfrm>
          <a:prstGeom prst="rect">
            <a:avLst/>
          </a:prstGeom>
          <a:solidFill>
            <a:srgbClr val="EFF4F6"/>
          </a:solidFill>
          <a:ln>
            <a:noFill/>
          </a:ln>
          <a:effectLst/>
        </p:spPr>
        <p:txBody>
          <a:bodyPr rtlCol="0" anchor="ctr"/>
          <a:lstStyle/>
          <a:p>
            <a:pPr algn="ctr"/>
          </a:p>
        </p:txBody>
      </p:sp>
      <p:pic>
        <p:nvPicPr>
          <p:cNvPr id="7" name="Picture 6" descr="chart.png"/>
          <p:cNvPicPr>
            <a:picLocks noChangeAspect="1"/>
          </p:cNvPicPr>
          <p:nvPr/>
        </p:nvPicPr>
        <p:blipFill>
          <a:blip r:embed="rId2"/>
          <a:stretch>
            <a:fillRect/>
          </a:stretch>
        </p:blipFill>
        <p:spPr>
          <a:xfrm>
            <a:off x="11021263" y="365760"/>
            <a:ext cx="530352" cy="530352"/>
          </a:xfrm>
          <a:prstGeom prst="rect">
            <a:avLst/>
          </a:prstGeom>
        </p:spPr>
      </p:pic>
      <p:sp>
        <p:nvSpPr>
          <p:cNvPr id="8" name="Rectangle 7"/>
          <p:cNvSpPr/>
          <p:nvPr/>
        </p:nvSpPr>
        <p:spPr>
          <a:xfrm>
            <a:off x="548640" y="1700784"/>
            <a:ext cx="2624328" cy="363220"/>
          </a:xfrm>
          <a:prstGeom prst="rect">
            <a:avLst/>
          </a:prstGeom>
          <a:solidFill>
            <a:srgbClr val="142E42"/>
          </a:solidFill>
          <a:ln>
            <a:noFill/>
          </a:ln>
          <a:effectLst/>
        </p:spPr>
        <p:txBody>
          <a:bodyPr rtlCol="0" anchor="ctr"/>
          <a:lstStyle/>
          <a:p>
            <a:pPr algn="ctr"/>
          </a:p>
        </p:txBody>
      </p:sp>
      <p:sp>
        <p:nvSpPr>
          <p:cNvPr id="9" name="TextBox 8"/>
          <p:cNvSpPr txBox="1"/>
          <p:nvPr/>
        </p:nvSpPr>
        <p:spPr>
          <a:xfrm>
            <a:off x="658368" y="1700784"/>
            <a:ext cx="2404872" cy="363220"/>
          </a:xfrm>
          <a:prstGeom prst="rect">
            <a:avLst/>
          </a:prstGeom>
          <a:noFill/>
        </p:spPr>
        <p:txBody>
          <a:bodyPr wrap="square" lIns="0" rIns="0" tIns="0" bIns="0" anchor="ctr">
            <a:spAutoFit/>
          </a:bodyPr>
          <a:lstStyle/>
          <a:p>
            <a:pPr>
              <a:spcAft>
                <a:spcPts val="300"/>
              </a:spcAft>
              <a:defRPr sz="1300" b="1">
                <a:solidFill>
                  <a:srgbClr val="FFFFFF"/>
                </a:solidFill>
                <a:latin typeface="Aptos"/>
              </a:defRPr>
            </a:pPr>
            <a:r>
              <a:t>Backend</a:t>
            </a:r>
          </a:p>
        </p:txBody>
      </p:sp>
      <p:sp>
        <p:nvSpPr>
          <p:cNvPr id="10" name="Rectangle 9"/>
          <p:cNvSpPr/>
          <p:nvPr/>
        </p:nvSpPr>
        <p:spPr>
          <a:xfrm>
            <a:off x="3200400" y="1700784"/>
            <a:ext cx="1344168" cy="363220"/>
          </a:xfrm>
          <a:prstGeom prst="rect">
            <a:avLst/>
          </a:prstGeom>
          <a:solidFill>
            <a:srgbClr val="142E42"/>
          </a:solidFill>
          <a:ln>
            <a:noFill/>
          </a:ln>
          <a:effectLst/>
        </p:spPr>
        <p:txBody>
          <a:bodyPr rtlCol="0" anchor="ctr"/>
          <a:lstStyle/>
          <a:p>
            <a:pPr algn="ctr"/>
          </a:p>
        </p:txBody>
      </p:sp>
      <p:sp>
        <p:nvSpPr>
          <p:cNvPr id="11" name="TextBox 10"/>
          <p:cNvSpPr txBox="1"/>
          <p:nvPr/>
        </p:nvSpPr>
        <p:spPr>
          <a:xfrm>
            <a:off x="3310128" y="1700784"/>
            <a:ext cx="1124712" cy="363220"/>
          </a:xfrm>
          <a:prstGeom prst="rect">
            <a:avLst/>
          </a:prstGeom>
          <a:noFill/>
        </p:spPr>
        <p:txBody>
          <a:bodyPr wrap="square" lIns="0" rIns="0" tIns="0" bIns="0" anchor="ctr">
            <a:spAutoFit/>
          </a:bodyPr>
          <a:lstStyle/>
          <a:p>
            <a:pPr>
              <a:spcAft>
                <a:spcPts val="300"/>
              </a:spcAft>
              <a:defRPr sz="1300" b="1">
                <a:solidFill>
                  <a:srgbClr val="FFFFFF"/>
                </a:solidFill>
                <a:latin typeface="Aptos"/>
              </a:defRPr>
            </a:pPr>
            <a:r>
              <a:t>Exact action</a:t>
            </a:r>
          </a:p>
        </p:txBody>
      </p:sp>
      <p:sp>
        <p:nvSpPr>
          <p:cNvPr id="12" name="Rectangle 11"/>
          <p:cNvSpPr/>
          <p:nvPr/>
        </p:nvSpPr>
        <p:spPr>
          <a:xfrm>
            <a:off x="4572000" y="1700784"/>
            <a:ext cx="1344168" cy="363220"/>
          </a:xfrm>
          <a:prstGeom prst="rect">
            <a:avLst/>
          </a:prstGeom>
          <a:solidFill>
            <a:srgbClr val="142E42"/>
          </a:solidFill>
          <a:ln>
            <a:noFill/>
          </a:ln>
          <a:effectLst/>
        </p:spPr>
        <p:txBody>
          <a:bodyPr rtlCol="0" anchor="ctr"/>
          <a:lstStyle/>
          <a:p>
            <a:pPr algn="ctr"/>
          </a:p>
        </p:txBody>
      </p:sp>
      <p:sp>
        <p:nvSpPr>
          <p:cNvPr id="13" name="TextBox 12"/>
          <p:cNvSpPr txBox="1"/>
          <p:nvPr/>
        </p:nvSpPr>
        <p:spPr>
          <a:xfrm>
            <a:off x="4681728" y="1700784"/>
            <a:ext cx="1124712" cy="363220"/>
          </a:xfrm>
          <a:prstGeom prst="rect">
            <a:avLst/>
          </a:prstGeom>
          <a:noFill/>
        </p:spPr>
        <p:txBody>
          <a:bodyPr wrap="square" lIns="0" rIns="0" tIns="0" bIns="0" anchor="ctr">
            <a:spAutoFit/>
          </a:bodyPr>
          <a:lstStyle/>
          <a:p>
            <a:pPr>
              <a:spcAft>
                <a:spcPts val="300"/>
              </a:spcAft>
              <a:defRPr sz="1300" b="1">
                <a:solidFill>
                  <a:srgbClr val="FFFFFF"/>
                </a:solidFill>
                <a:latin typeface="Aptos"/>
              </a:defRPr>
            </a:pPr>
            <a:r>
              <a:t>Acceptable*</a:t>
            </a:r>
          </a:p>
        </p:txBody>
      </p:sp>
      <p:sp>
        <p:nvSpPr>
          <p:cNvPr id="14" name="Rectangle 13"/>
          <p:cNvSpPr/>
          <p:nvPr/>
        </p:nvSpPr>
        <p:spPr>
          <a:xfrm>
            <a:off x="5943600" y="1700784"/>
            <a:ext cx="978408" cy="363220"/>
          </a:xfrm>
          <a:prstGeom prst="rect">
            <a:avLst/>
          </a:prstGeom>
          <a:solidFill>
            <a:srgbClr val="142E42"/>
          </a:solidFill>
          <a:ln>
            <a:noFill/>
          </a:ln>
          <a:effectLst/>
        </p:spPr>
        <p:txBody>
          <a:bodyPr rtlCol="0" anchor="ctr"/>
          <a:lstStyle/>
          <a:p>
            <a:pPr algn="ctr"/>
          </a:p>
        </p:txBody>
      </p:sp>
      <p:sp>
        <p:nvSpPr>
          <p:cNvPr id="15" name="TextBox 14"/>
          <p:cNvSpPr txBox="1"/>
          <p:nvPr/>
        </p:nvSpPr>
        <p:spPr>
          <a:xfrm>
            <a:off x="6053328" y="1700784"/>
            <a:ext cx="758952" cy="363220"/>
          </a:xfrm>
          <a:prstGeom prst="rect">
            <a:avLst/>
          </a:prstGeom>
          <a:noFill/>
        </p:spPr>
        <p:txBody>
          <a:bodyPr wrap="square" lIns="0" rIns="0" tIns="0" bIns="0" anchor="ctr">
            <a:spAutoFit/>
          </a:bodyPr>
          <a:lstStyle/>
          <a:p>
            <a:pPr>
              <a:spcAft>
                <a:spcPts val="300"/>
              </a:spcAft>
              <a:defRPr sz="1300" b="1">
                <a:solidFill>
                  <a:srgbClr val="FFFFFF"/>
                </a:solidFill>
                <a:latin typeface="Aptos"/>
              </a:defRPr>
            </a:pPr>
            <a:r>
              <a:t>AUTO</a:t>
            </a:r>
          </a:p>
        </p:txBody>
      </p:sp>
      <p:sp>
        <p:nvSpPr>
          <p:cNvPr id="16" name="Rectangle 15"/>
          <p:cNvSpPr/>
          <p:nvPr/>
        </p:nvSpPr>
        <p:spPr>
          <a:xfrm>
            <a:off x="6949440" y="1700784"/>
            <a:ext cx="1344168" cy="363220"/>
          </a:xfrm>
          <a:prstGeom prst="rect">
            <a:avLst/>
          </a:prstGeom>
          <a:solidFill>
            <a:srgbClr val="142E42"/>
          </a:solidFill>
          <a:ln>
            <a:noFill/>
          </a:ln>
          <a:effectLst/>
        </p:spPr>
        <p:txBody>
          <a:bodyPr rtlCol="0" anchor="ctr"/>
          <a:lstStyle/>
          <a:p>
            <a:pPr algn="ctr"/>
          </a:p>
        </p:txBody>
      </p:sp>
      <p:sp>
        <p:nvSpPr>
          <p:cNvPr id="17" name="TextBox 16"/>
          <p:cNvSpPr txBox="1"/>
          <p:nvPr/>
        </p:nvSpPr>
        <p:spPr>
          <a:xfrm>
            <a:off x="7059168" y="1700784"/>
            <a:ext cx="1124712" cy="363220"/>
          </a:xfrm>
          <a:prstGeom prst="rect">
            <a:avLst/>
          </a:prstGeom>
          <a:noFill/>
        </p:spPr>
        <p:txBody>
          <a:bodyPr wrap="square" lIns="0" rIns="0" tIns="0" bIns="0" anchor="ctr">
            <a:spAutoFit/>
          </a:bodyPr>
          <a:lstStyle/>
          <a:p>
            <a:pPr>
              <a:spcAft>
                <a:spcPts val="300"/>
              </a:spcAft>
              <a:defRPr sz="1300" b="1">
                <a:solidFill>
                  <a:srgbClr val="FFFFFF"/>
                </a:solidFill>
                <a:latin typeface="Aptos"/>
              </a:defRPr>
            </a:pPr>
            <a:r>
              <a:t>Exact / AUTO</a:t>
            </a:r>
          </a:p>
        </p:txBody>
      </p:sp>
      <p:sp>
        <p:nvSpPr>
          <p:cNvPr id="18" name="Rectangle 17"/>
          <p:cNvSpPr/>
          <p:nvPr/>
        </p:nvSpPr>
        <p:spPr>
          <a:xfrm>
            <a:off x="8321040" y="1700784"/>
            <a:ext cx="1435608" cy="363220"/>
          </a:xfrm>
          <a:prstGeom prst="rect">
            <a:avLst/>
          </a:prstGeom>
          <a:solidFill>
            <a:srgbClr val="142E42"/>
          </a:solidFill>
          <a:ln>
            <a:noFill/>
          </a:ln>
          <a:effectLst/>
        </p:spPr>
        <p:txBody>
          <a:bodyPr rtlCol="0" anchor="ctr"/>
          <a:lstStyle/>
          <a:p>
            <a:pPr algn="ctr"/>
          </a:p>
        </p:txBody>
      </p:sp>
      <p:sp>
        <p:nvSpPr>
          <p:cNvPr id="19" name="TextBox 18"/>
          <p:cNvSpPr txBox="1"/>
          <p:nvPr/>
        </p:nvSpPr>
        <p:spPr>
          <a:xfrm>
            <a:off x="8430767" y="1700784"/>
            <a:ext cx="1216152" cy="363220"/>
          </a:xfrm>
          <a:prstGeom prst="rect">
            <a:avLst/>
          </a:prstGeom>
          <a:noFill/>
        </p:spPr>
        <p:txBody>
          <a:bodyPr wrap="square" lIns="0" rIns="0" tIns="0" bIns="0" anchor="ctr">
            <a:spAutoFit/>
          </a:bodyPr>
          <a:lstStyle/>
          <a:p>
            <a:pPr>
              <a:spcAft>
                <a:spcPts val="300"/>
              </a:spcAft>
              <a:defRPr sz="1300" b="1">
                <a:solidFill>
                  <a:srgbClr val="FFFFFF"/>
                </a:solidFill>
                <a:latin typeface="Aptos"/>
              </a:defRPr>
            </a:pPr>
            <a:r>
              <a:t>p50/p95 ms</a:t>
            </a:r>
          </a:p>
        </p:txBody>
      </p:sp>
      <p:sp>
        <p:nvSpPr>
          <p:cNvPr id="20" name="Rectangle 19"/>
          <p:cNvSpPr/>
          <p:nvPr/>
        </p:nvSpPr>
        <p:spPr>
          <a:xfrm>
            <a:off x="9784080" y="1700784"/>
            <a:ext cx="1831543" cy="363220"/>
          </a:xfrm>
          <a:prstGeom prst="rect">
            <a:avLst/>
          </a:prstGeom>
          <a:solidFill>
            <a:srgbClr val="142E42"/>
          </a:solidFill>
          <a:ln>
            <a:noFill/>
          </a:ln>
          <a:effectLst/>
        </p:spPr>
        <p:txBody>
          <a:bodyPr rtlCol="0" anchor="ctr"/>
          <a:lstStyle/>
          <a:p>
            <a:pPr algn="ctr"/>
          </a:p>
        </p:txBody>
      </p:sp>
      <p:sp>
        <p:nvSpPr>
          <p:cNvPr id="21" name="TextBox 20"/>
          <p:cNvSpPr txBox="1"/>
          <p:nvPr/>
        </p:nvSpPr>
        <p:spPr>
          <a:xfrm>
            <a:off x="9893807" y="1700784"/>
            <a:ext cx="1612087" cy="363220"/>
          </a:xfrm>
          <a:prstGeom prst="rect">
            <a:avLst/>
          </a:prstGeom>
          <a:noFill/>
        </p:spPr>
        <p:txBody>
          <a:bodyPr wrap="square" lIns="0" rIns="0" tIns="0" bIns="0" anchor="ctr">
            <a:spAutoFit/>
          </a:bodyPr>
          <a:lstStyle/>
          <a:p>
            <a:pPr>
              <a:spcAft>
                <a:spcPts val="300"/>
              </a:spcAft>
              <a:defRPr sz="1300" b="1">
                <a:solidFill>
                  <a:srgbClr val="FFFFFF"/>
                </a:solidFill>
                <a:latin typeface="Aptos"/>
              </a:defRPr>
            </a:pPr>
            <a:r>
              <a:t>API $ / 1k</a:t>
            </a:r>
          </a:p>
        </p:txBody>
      </p:sp>
      <p:sp>
        <p:nvSpPr>
          <p:cNvPr id="22" name="Rectangle 21"/>
          <p:cNvSpPr/>
          <p:nvPr/>
        </p:nvSpPr>
        <p:spPr>
          <a:xfrm>
            <a:off x="548640" y="2091436"/>
            <a:ext cx="2624328" cy="484632"/>
          </a:xfrm>
          <a:prstGeom prst="rect">
            <a:avLst/>
          </a:prstGeom>
          <a:solidFill>
            <a:srgbClr val="EFF4F6"/>
          </a:solidFill>
          <a:ln>
            <a:noFill/>
          </a:ln>
          <a:effectLst/>
        </p:spPr>
        <p:txBody>
          <a:bodyPr rtlCol="0" anchor="ctr"/>
          <a:lstStyle/>
          <a:p>
            <a:pPr algn="ctr"/>
          </a:p>
        </p:txBody>
      </p:sp>
      <p:sp>
        <p:nvSpPr>
          <p:cNvPr id="23" name="TextBox 22"/>
          <p:cNvSpPr txBox="1"/>
          <p:nvPr/>
        </p:nvSpPr>
        <p:spPr>
          <a:xfrm>
            <a:off x="658368" y="2091436"/>
            <a:ext cx="2404872" cy="484632"/>
          </a:xfrm>
          <a:prstGeom prst="rect">
            <a:avLst/>
          </a:prstGeom>
          <a:noFill/>
        </p:spPr>
        <p:txBody>
          <a:bodyPr wrap="square" lIns="0" rIns="0" tIns="0" bIns="0" anchor="ctr">
            <a:spAutoFit/>
          </a:bodyPr>
          <a:lstStyle/>
          <a:p>
            <a:pPr>
              <a:spcAft>
                <a:spcPts val="300"/>
              </a:spcAft>
              <a:defRPr sz="1500" b="1">
                <a:solidFill>
                  <a:srgbClr val="233B4D"/>
                </a:solidFill>
                <a:latin typeface="Aptos"/>
              </a:defRPr>
            </a:pPr>
            <a:r>
              <a:t>Jev (TypeSafe API)</a:t>
            </a:r>
          </a:p>
        </p:txBody>
      </p:sp>
      <p:sp>
        <p:nvSpPr>
          <p:cNvPr id="24" name="Rectangle 23"/>
          <p:cNvSpPr/>
          <p:nvPr/>
        </p:nvSpPr>
        <p:spPr>
          <a:xfrm>
            <a:off x="3200400" y="2091436"/>
            <a:ext cx="1344168" cy="484632"/>
          </a:xfrm>
          <a:prstGeom prst="rect">
            <a:avLst/>
          </a:prstGeom>
          <a:solidFill>
            <a:srgbClr val="EFF4F6"/>
          </a:solidFill>
          <a:ln>
            <a:noFill/>
          </a:ln>
          <a:effectLst/>
        </p:spPr>
        <p:txBody>
          <a:bodyPr rtlCol="0" anchor="ctr"/>
          <a:lstStyle/>
          <a:p>
            <a:pPr algn="ctr"/>
          </a:p>
        </p:txBody>
      </p:sp>
      <p:sp>
        <p:nvSpPr>
          <p:cNvPr id="25" name="TextBox 24"/>
          <p:cNvSpPr txBox="1"/>
          <p:nvPr/>
        </p:nvSpPr>
        <p:spPr>
          <a:xfrm>
            <a:off x="3310128" y="2091436"/>
            <a:ext cx="112471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28/56</a:t>
            </a:r>
          </a:p>
        </p:txBody>
      </p:sp>
      <p:sp>
        <p:nvSpPr>
          <p:cNvPr id="26" name="Rectangle 25"/>
          <p:cNvSpPr/>
          <p:nvPr/>
        </p:nvSpPr>
        <p:spPr>
          <a:xfrm>
            <a:off x="4572000" y="2091436"/>
            <a:ext cx="1344168" cy="484632"/>
          </a:xfrm>
          <a:prstGeom prst="rect">
            <a:avLst/>
          </a:prstGeom>
          <a:solidFill>
            <a:srgbClr val="EFF4F6"/>
          </a:solidFill>
          <a:ln>
            <a:noFill/>
          </a:ln>
          <a:effectLst/>
        </p:spPr>
        <p:txBody>
          <a:bodyPr rtlCol="0" anchor="ctr"/>
          <a:lstStyle/>
          <a:p>
            <a:pPr algn="ctr"/>
          </a:p>
        </p:txBody>
      </p:sp>
      <p:sp>
        <p:nvSpPr>
          <p:cNvPr id="27" name="TextBox 26"/>
          <p:cNvSpPr txBox="1"/>
          <p:nvPr/>
        </p:nvSpPr>
        <p:spPr>
          <a:xfrm>
            <a:off x="4681728" y="2091436"/>
            <a:ext cx="112471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52/56</a:t>
            </a:r>
          </a:p>
        </p:txBody>
      </p:sp>
      <p:sp>
        <p:nvSpPr>
          <p:cNvPr id="28" name="Rectangle 27"/>
          <p:cNvSpPr/>
          <p:nvPr/>
        </p:nvSpPr>
        <p:spPr>
          <a:xfrm>
            <a:off x="5943600" y="2091436"/>
            <a:ext cx="978408" cy="484632"/>
          </a:xfrm>
          <a:prstGeom prst="rect">
            <a:avLst/>
          </a:prstGeom>
          <a:solidFill>
            <a:srgbClr val="EFF4F6"/>
          </a:solidFill>
          <a:ln>
            <a:noFill/>
          </a:ln>
          <a:effectLst/>
        </p:spPr>
        <p:txBody>
          <a:bodyPr rtlCol="0" anchor="ctr"/>
          <a:lstStyle/>
          <a:p>
            <a:pPr algn="ctr"/>
          </a:p>
        </p:txBody>
      </p:sp>
      <p:sp>
        <p:nvSpPr>
          <p:cNvPr id="29" name="TextBox 28"/>
          <p:cNvSpPr txBox="1"/>
          <p:nvPr/>
        </p:nvSpPr>
        <p:spPr>
          <a:xfrm>
            <a:off x="6053328" y="2091436"/>
            <a:ext cx="75895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22/56</a:t>
            </a:r>
          </a:p>
        </p:txBody>
      </p:sp>
      <p:sp>
        <p:nvSpPr>
          <p:cNvPr id="30" name="Rectangle 29"/>
          <p:cNvSpPr/>
          <p:nvPr/>
        </p:nvSpPr>
        <p:spPr>
          <a:xfrm>
            <a:off x="6949440" y="2091436"/>
            <a:ext cx="1344168" cy="484632"/>
          </a:xfrm>
          <a:prstGeom prst="rect">
            <a:avLst/>
          </a:prstGeom>
          <a:solidFill>
            <a:srgbClr val="EFF4F6"/>
          </a:solidFill>
          <a:ln>
            <a:noFill/>
          </a:ln>
          <a:effectLst/>
        </p:spPr>
        <p:txBody>
          <a:bodyPr rtlCol="0" anchor="ctr"/>
          <a:lstStyle/>
          <a:p>
            <a:pPr algn="ctr"/>
          </a:p>
        </p:txBody>
      </p:sp>
      <p:sp>
        <p:nvSpPr>
          <p:cNvPr id="31" name="TextBox 30"/>
          <p:cNvSpPr txBox="1"/>
          <p:nvPr/>
        </p:nvSpPr>
        <p:spPr>
          <a:xfrm>
            <a:off x="7059168" y="2091436"/>
            <a:ext cx="112471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13/22</a:t>
            </a:r>
          </a:p>
        </p:txBody>
      </p:sp>
      <p:sp>
        <p:nvSpPr>
          <p:cNvPr id="32" name="Rectangle 31"/>
          <p:cNvSpPr/>
          <p:nvPr/>
        </p:nvSpPr>
        <p:spPr>
          <a:xfrm>
            <a:off x="8321040" y="2091436"/>
            <a:ext cx="1435608" cy="484632"/>
          </a:xfrm>
          <a:prstGeom prst="rect">
            <a:avLst/>
          </a:prstGeom>
          <a:solidFill>
            <a:srgbClr val="EFF4F6"/>
          </a:solidFill>
          <a:ln>
            <a:noFill/>
          </a:ln>
          <a:effectLst/>
        </p:spPr>
        <p:txBody>
          <a:bodyPr rtlCol="0" anchor="ctr"/>
          <a:lstStyle/>
          <a:p>
            <a:pPr algn="ctr"/>
          </a:p>
        </p:txBody>
      </p:sp>
      <p:sp>
        <p:nvSpPr>
          <p:cNvPr id="33" name="TextBox 32"/>
          <p:cNvSpPr txBox="1"/>
          <p:nvPr/>
        </p:nvSpPr>
        <p:spPr>
          <a:xfrm>
            <a:off x="8430767" y="2091436"/>
            <a:ext cx="121615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91/128</a:t>
            </a:r>
          </a:p>
        </p:txBody>
      </p:sp>
      <p:sp>
        <p:nvSpPr>
          <p:cNvPr id="34" name="Rectangle 33"/>
          <p:cNvSpPr/>
          <p:nvPr/>
        </p:nvSpPr>
        <p:spPr>
          <a:xfrm>
            <a:off x="9784080" y="2091436"/>
            <a:ext cx="1831543" cy="484632"/>
          </a:xfrm>
          <a:prstGeom prst="rect">
            <a:avLst/>
          </a:prstGeom>
          <a:solidFill>
            <a:srgbClr val="EFF4F6"/>
          </a:solidFill>
          <a:ln>
            <a:noFill/>
          </a:ln>
          <a:effectLst/>
        </p:spPr>
        <p:txBody>
          <a:bodyPr rtlCol="0" anchor="ctr"/>
          <a:lstStyle/>
          <a:p>
            <a:pPr algn="ctr"/>
          </a:p>
        </p:txBody>
      </p:sp>
      <p:sp>
        <p:nvSpPr>
          <p:cNvPr id="35" name="TextBox 34"/>
          <p:cNvSpPr txBox="1"/>
          <p:nvPr/>
        </p:nvSpPr>
        <p:spPr>
          <a:xfrm>
            <a:off x="9893807" y="2091436"/>
            <a:ext cx="1612087"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$0.057</a:t>
            </a:r>
          </a:p>
        </p:txBody>
      </p:sp>
      <p:sp>
        <p:nvSpPr>
          <p:cNvPr id="36" name="Rectangle 35"/>
          <p:cNvSpPr/>
          <p:nvPr/>
        </p:nvSpPr>
        <p:spPr>
          <a:xfrm>
            <a:off x="548640" y="2603500"/>
            <a:ext cx="2624328" cy="484632"/>
          </a:xfrm>
          <a:prstGeom prst="rect">
            <a:avLst/>
          </a:prstGeom>
          <a:solidFill>
            <a:srgbClr val="F8FAFB"/>
          </a:solidFill>
          <a:ln>
            <a:noFill/>
          </a:ln>
          <a:effectLst/>
        </p:spPr>
        <p:txBody>
          <a:bodyPr rtlCol="0" anchor="ctr"/>
          <a:lstStyle/>
          <a:p>
            <a:pPr algn="ctr"/>
          </a:p>
        </p:txBody>
      </p:sp>
      <p:sp>
        <p:nvSpPr>
          <p:cNvPr id="37" name="TextBox 36"/>
          <p:cNvSpPr txBox="1"/>
          <p:nvPr/>
        </p:nvSpPr>
        <p:spPr>
          <a:xfrm>
            <a:off x="658368" y="2603500"/>
            <a:ext cx="2404872" cy="484632"/>
          </a:xfrm>
          <a:prstGeom prst="rect">
            <a:avLst/>
          </a:prstGeom>
          <a:noFill/>
        </p:spPr>
        <p:txBody>
          <a:bodyPr wrap="square" lIns="0" rIns="0" tIns="0" bIns="0" anchor="ctr">
            <a:spAutoFit/>
          </a:bodyPr>
          <a:lstStyle/>
          <a:p>
            <a:pPr>
              <a:spcAft>
                <a:spcPts val="300"/>
              </a:spcAft>
              <a:defRPr sz="1500" b="1">
                <a:solidFill>
                  <a:srgbClr val="233B4D"/>
                </a:solidFill>
                <a:latin typeface="Aptos"/>
              </a:defRPr>
            </a:pPr>
            <a:r>
              <a:t>Jev (via OpenRouter)</a:t>
            </a:r>
          </a:p>
        </p:txBody>
      </p:sp>
      <p:sp>
        <p:nvSpPr>
          <p:cNvPr id="38" name="Rectangle 37"/>
          <p:cNvSpPr/>
          <p:nvPr/>
        </p:nvSpPr>
        <p:spPr>
          <a:xfrm>
            <a:off x="3200400" y="2603500"/>
            <a:ext cx="1344168" cy="484632"/>
          </a:xfrm>
          <a:prstGeom prst="rect">
            <a:avLst/>
          </a:prstGeom>
          <a:solidFill>
            <a:srgbClr val="F8FAFB"/>
          </a:solidFill>
          <a:ln>
            <a:noFill/>
          </a:ln>
          <a:effectLst/>
        </p:spPr>
        <p:txBody>
          <a:bodyPr rtlCol="0" anchor="ctr"/>
          <a:lstStyle/>
          <a:p>
            <a:pPr algn="ctr"/>
          </a:p>
        </p:txBody>
      </p:sp>
      <p:sp>
        <p:nvSpPr>
          <p:cNvPr id="39" name="TextBox 38"/>
          <p:cNvSpPr txBox="1"/>
          <p:nvPr/>
        </p:nvSpPr>
        <p:spPr>
          <a:xfrm>
            <a:off x="3310128" y="2603500"/>
            <a:ext cx="112471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28/56</a:t>
            </a:r>
          </a:p>
        </p:txBody>
      </p:sp>
      <p:sp>
        <p:nvSpPr>
          <p:cNvPr id="40" name="Rectangle 39"/>
          <p:cNvSpPr/>
          <p:nvPr/>
        </p:nvSpPr>
        <p:spPr>
          <a:xfrm>
            <a:off x="4572000" y="2603500"/>
            <a:ext cx="1344168" cy="484632"/>
          </a:xfrm>
          <a:prstGeom prst="rect">
            <a:avLst/>
          </a:prstGeom>
          <a:solidFill>
            <a:srgbClr val="F8FAFB"/>
          </a:solidFill>
          <a:ln>
            <a:noFill/>
          </a:ln>
          <a:effectLst/>
        </p:spPr>
        <p:txBody>
          <a:bodyPr rtlCol="0" anchor="ctr"/>
          <a:lstStyle/>
          <a:p>
            <a:pPr algn="ctr"/>
          </a:p>
        </p:txBody>
      </p:sp>
      <p:sp>
        <p:nvSpPr>
          <p:cNvPr id="41" name="TextBox 40"/>
          <p:cNvSpPr txBox="1"/>
          <p:nvPr/>
        </p:nvSpPr>
        <p:spPr>
          <a:xfrm>
            <a:off x="4681728" y="2603500"/>
            <a:ext cx="112471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52/56</a:t>
            </a:r>
          </a:p>
        </p:txBody>
      </p:sp>
      <p:sp>
        <p:nvSpPr>
          <p:cNvPr id="42" name="Rectangle 41"/>
          <p:cNvSpPr/>
          <p:nvPr/>
        </p:nvSpPr>
        <p:spPr>
          <a:xfrm>
            <a:off x="5943600" y="2603500"/>
            <a:ext cx="978408" cy="484632"/>
          </a:xfrm>
          <a:prstGeom prst="rect">
            <a:avLst/>
          </a:prstGeom>
          <a:solidFill>
            <a:srgbClr val="F8FAFB"/>
          </a:solidFill>
          <a:ln>
            <a:noFill/>
          </a:ln>
          <a:effectLst/>
        </p:spPr>
        <p:txBody>
          <a:bodyPr rtlCol="0" anchor="ctr"/>
          <a:lstStyle/>
          <a:p>
            <a:pPr algn="ctr"/>
          </a:p>
        </p:txBody>
      </p:sp>
      <p:sp>
        <p:nvSpPr>
          <p:cNvPr id="43" name="TextBox 42"/>
          <p:cNvSpPr txBox="1"/>
          <p:nvPr/>
        </p:nvSpPr>
        <p:spPr>
          <a:xfrm>
            <a:off x="6053328" y="2603500"/>
            <a:ext cx="75895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20/56</a:t>
            </a:r>
          </a:p>
        </p:txBody>
      </p:sp>
      <p:sp>
        <p:nvSpPr>
          <p:cNvPr id="44" name="Rectangle 43"/>
          <p:cNvSpPr/>
          <p:nvPr/>
        </p:nvSpPr>
        <p:spPr>
          <a:xfrm>
            <a:off x="6949440" y="2603500"/>
            <a:ext cx="1344168" cy="484632"/>
          </a:xfrm>
          <a:prstGeom prst="rect">
            <a:avLst/>
          </a:prstGeom>
          <a:solidFill>
            <a:srgbClr val="F8FAFB"/>
          </a:solidFill>
          <a:ln>
            <a:noFill/>
          </a:ln>
          <a:effectLst/>
        </p:spPr>
        <p:txBody>
          <a:bodyPr rtlCol="0" anchor="ctr"/>
          <a:lstStyle/>
          <a:p>
            <a:pPr algn="ctr"/>
          </a:p>
        </p:txBody>
      </p:sp>
      <p:sp>
        <p:nvSpPr>
          <p:cNvPr id="45" name="TextBox 44"/>
          <p:cNvSpPr txBox="1"/>
          <p:nvPr/>
        </p:nvSpPr>
        <p:spPr>
          <a:xfrm>
            <a:off x="7059168" y="2603500"/>
            <a:ext cx="112471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13/20</a:t>
            </a:r>
          </a:p>
        </p:txBody>
      </p:sp>
      <p:sp>
        <p:nvSpPr>
          <p:cNvPr id="46" name="Rectangle 45"/>
          <p:cNvSpPr/>
          <p:nvPr/>
        </p:nvSpPr>
        <p:spPr>
          <a:xfrm>
            <a:off x="8321040" y="2603500"/>
            <a:ext cx="1435608" cy="484632"/>
          </a:xfrm>
          <a:prstGeom prst="rect">
            <a:avLst/>
          </a:prstGeom>
          <a:solidFill>
            <a:srgbClr val="F8FAFB"/>
          </a:solidFill>
          <a:ln>
            <a:noFill/>
          </a:ln>
          <a:effectLst/>
        </p:spPr>
        <p:txBody>
          <a:bodyPr rtlCol="0" anchor="ctr"/>
          <a:lstStyle/>
          <a:p>
            <a:pPr algn="ctr"/>
          </a:p>
        </p:txBody>
      </p:sp>
      <p:sp>
        <p:nvSpPr>
          <p:cNvPr id="47" name="TextBox 46"/>
          <p:cNvSpPr txBox="1"/>
          <p:nvPr/>
        </p:nvSpPr>
        <p:spPr>
          <a:xfrm>
            <a:off x="8430767" y="2603500"/>
            <a:ext cx="121615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134/406</a:t>
            </a:r>
          </a:p>
        </p:txBody>
      </p:sp>
      <p:sp>
        <p:nvSpPr>
          <p:cNvPr id="48" name="Rectangle 47"/>
          <p:cNvSpPr/>
          <p:nvPr/>
        </p:nvSpPr>
        <p:spPr>
          <a:xfrm>
            <a:off x="9784080" y="2603500"/>
            <a:ext cx="1831543" cy="484632"/>
          </a:xfrm>
          <a:prstGeom prst="rect">
            <a:avLst/>
          </a:prstGeom>
          <a:solidFill>
            <a:srgbClr val="F8FAFB"/>
          </a:solidFill>
          <a:ln>
            <a:noFill/>
          </a:ln>
          <a:effectLst/>
        </p:spPr>
        <p:txBody>
          <a:bodyPr rtlCol="0" anchor="ctr"/>
          <a:lstStyle/>
          <a:p>
            <a:pPr algn="ctr"/>
          </a:p>
        </p:txBody>
      </p:sp>
      <p:sp>
        <p:nvSpPr>
          <p:cNvPr id="49" name="TextBox 48"/>
          <p:cNvSpPr txBox="1"/>
          <p:nvPr/>
        </p:nvSpPr>
        <p:spPr>
          <a:xfrm>
            <a:off x="9893807" y="2603500"/>
            <a:ext cx="1612087"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$0.057</a:t>
            </a:r>
          </a:p>
        </p:txBody>
      </p:sp>
      <p:sp>
        <p:nvSpPr>
          <p:cNvPr id="50" name="Rectangle 49"/>
          <p:cNvSpPr/>
          <p:nvPr/>
        </p:nvSpPr>
        <p:spPr>
          <a:xfrm>
            <a:off x="548640" y="3115564"/>
            <a:ext cx="2624328" cy="484632"/>
          </a:xfrm>
          <a:prstGeom prst="rect">
            <a:avLst/>
          </a:prstGeom>
          <a:solidFill>
            <a:srgbClr val="EFF4F6"/>
          </a:solidFill>
          <a:ln>
            <a:noFill/>
          </a:ln>
          <a:effectLst/>
        </p:spPr>
        <p:txBody>
          <a:bodyPr rtlCol="0" anchor="ctr"/>
          <a:lstStyle/>
          <a:p>
            <a:pPr algn="ctr"/>
          </a:p>
        </p:txBody>
      </p:sp>
      <p:sp>
        <p:nvSpPr>
          <p:cNvPr id="51" name="TextBox 50"/>
          <p:cNvSpPr txBox="1"/>
          <p:nvPr/>
        </p:nvSpPr>
        <p:spPr>
          <a:xfrm>
            <a:off x="658368" y="3115564"/>
            <a:ext cx="2404872" cy="484632"/>
          </a:xfrm>
          <a:prstGeom prst="rect">
            <a:avLst/>
          </a:prstGeom>
          <a:noFill/>
        </p:spPr>
        <p:txBody>
          <a:bodyPr wrap="square" lIns="0" rIns="0" tIns="0" bIns="0" anchor="ctr">
            <a:spAutoFit/>
          </a:bodyPr>
          <a:lstStyle/>
          <a:p>
            <a:pPr>
              <a:spcAft>
                <a:spcPts val="300"/>
              </a:spcAft>
              <a:defRPr sz="1500" b="1">
                <a:solidFill>
                  <a:srgbClr val="233B4D"/>
                </a:solidFill>
                <a:latin typeface="Aptos"/>
              </a:defRPr>
            </a:pPr>
            <a:r>
              <a:t>Kev-4B (local GPU)</a:t>
            </a:r>
          </a:p>
        </p:txBody>
      </p:sp>
      <p:sp>
        <p:nvSpPr>
          <p:cNvPr id="52" name="Rectangle 51"/>
          <p:cNvSpPr/>
          <p:nvPr/>
        </p:nvSpPr>
        <p:spPr>
          <a:xfrm>
            <a:off x="3200400" y="3115564"/>
            <a:ext cx="1344168" cy="484632"/>
          </a:xfrm>
          <a:prstGeom prst="rect">
            <a:avLst/>
          </a:prstGeom>
          <a:solidFill>
            <a:srgbClr val="EFF4F6"/>
          </a:solidFill>
          <a:ln>
            <a:noFill/>
          </a:ln>
          <a:effectLst/>
        </p:spPr>
        <p:txBody>
          <a:bodyPr rtlCol="0" anchor="ctr"/>
          <a:lstStyle/>
          <a:p>
            <a:pPr algn="ctr"/>
          </a:p>
        </p:txBody>
      </p:sp>
      <p:sp>
        <p:nvSpPr>
          <p:cNvPr id="53" name="TextBox 52"/>
          <p:cNvSpPr txBox="1"/>
          <p:nvPr/>
        </p:nvSpPr>
        <p:spPr>
          <a:xfrm>
            <a:off x="3310128" y="3115564"/>
            <a:ext cx="112471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39/56</a:t>
            </a:r>
          </a:p>
        </p:txBody>
      </p:sp>
      <p:sp>
        <p:nvSpPr>
          <p:cNvPr id="54" name="Rectangle 53"/>
          <p:cNvSpPr/>
          <p:nvPr/>
        </p:nvSpPr>
        <p:spPr>
          <a:xfrm>
            <a:off x="4572000" y="3115564"/>
            <a:ext cx="1344168" cy="484632"/>
          </a:xfrm>
          <a:prstGeom prst="rect">
            <a:avLst/>
          </a:prstGeom>
          <a:solidFill>
            <a:srgbClr val="EFF4F6"/>
          </a:solidFill>
          <a:ln>
            <a:noFill/>
          </a:ln>
          <a:effectLst/>
        </p:spPr>
        <p:txBody>
          <a:bodyPr rtlCol="0" anchor="ctr"/>
          <a:lstStyle/>
          <a:p>
            <a:pPr algn="ctr"/>
          </a:p>
        </p:txBody>
      </p:sp>
      <p:sp>
        <p:nvSpPr>
          <p:cNvPr id="55" name="TextBox 54"/>
          <p:cNvSpPr txBox="1"/>
          <p:nvPr/>
        </p:nvSpPr>
        <p:spPr>
          <a:xfrm>
            <a:off x="4681728" y="3115564"/>
            <a:ext cx="112471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48/56</a:t>
            </a:r>
          </a:p>
        </p:txBody>
      </p:sp>
      <p:sp>
        <p:nvSpPr>
          <p:cNvPr id="56" name="Rectangle 55"/>
          <p:cNvSpPr/>
          <p:nvPr/>
        </p:nvSpPr>
        <p:spPr>
          <a:xfrm>
            <a:off x="5943600" y="3115564"/>
            <a:ext cx="978408" cy="484632"/>
          </a:xfrm>
          <a:prstGeom prst="rect">
            <a:avLst/>
          </a:prstGeom>
          <a:solidFill>
            <a:srgbClr val="EFF4F6"/>
          </a:solidFill>
          <a:ln>
            <a:noFill/>
          </a:ln>
          <a:effectLst/>
        </p:spPr>
        <p:txBody>
          <a:bodyPr rtlCol="0" anchor="ctr"/>
          <a:lstStyle/>
          <a:p>
            <a:pPr algn="ctr"/>
          </a:p>
        </p:txBody>
      </p:sp>
      <p:sp>
        <p:nvSpPr>
          <p:cNvPr id="57" name="TextBox 56"/>
          <p:cNvSpPr txBox="1"/>
          <p:nvPr/>
        </p:nvSpPr>
        <p:spPr>
          <a:xfrm>
            <a:off x="6053328" y="3115564"/>
            <a:ext cx="75895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8/56</a:t>
            </a:r>
          </a:p>
        </p:txBody>
      </p:sp>
      <p:sp>
        <p:nvSpPr>
          <p:cNvPr id="58" name="Rectangle 57"/>
          <p:cNvSpPr/>
          <p:nvPr/>
        </p:nvSpPr>
        <p:spPr>
          <a:xfrm>
            <a:off x="6949440" y="3115564"/>
            <a:ext cx="1344168" cy="484632"/>
          </a:xfrm>
          <a:prstGeom prst="rect">
            <a:avLst/>
          </a:prstGeom>
          <a:solidFill>
            <a:srgbClr val="EFF4F6"/>
          </a:solidFill>
          <a:ln>
            <a:noFill/>
          </a:ln>
          <a:effectLst/>
        </p:spPr>
        <p:txBody>
          <a:bodyPr rtlCol="0" anchor="ctr"/>
          <a:lstStyle/>
          <a:p>
            <a:pPr algn="ctr"/>
          </a:p>
        </p:txBody>
      </p:sp>
      <p:sp>
        <p:nvSpPr>
          <p:cNvPr id="59" name="TextBox 58"/>
          <p:cNvSpPr txBox="1"/>
          <p:nvPr/>
        </p:nvSpPr>
        <p:spPr>
          <a:xfrm>
            <a:off x="7059168" y="3115564"/>
            <a:ext cx="112471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8/8</a:t>
            </a:r>
          </a:p>
        </p:txBody>
      </p:sp>
      <p:sp>
        <p:nvSpPr>
          <p:cNvPr id="60" name="Rectangle 59"/>
          <p:cNvSpPr/>
          <p:nvPr/>
        </p:nvSpPr>
        <p:spPr>
          <a:xfrm>
            <a:off x="8321040" y="3115564"/>
            <a:ext cx="1435608" cy="484632"/>
          </a:xfrm>
          <a:prstGeom prst="rect">
            <a:avLst/>
          </a:prstGeom>
          <a:solidFill>
            <a:srgbClr val="EFF4F6"/>
          </a:solidFill>
          <a:ln>
            <a:noFill/>
          </a:ln>
          <a:effectLst/>
        </p:spPr>
        <p:txBody>
          <a:bodyPr rtlCol="0" anchor="ctr"/>
          <a:lstStyle/>
          <a:p>
            <a:pPr algn="ctr"/>
          </a:p>
        </p:txBody>
      </p:sp>
      <p:sp>
        <p:nvSpPr>
          <p:cNvPr id="61" name="TextBox 60"/>
          <p:cNvSpPr txBox="1"/>
          <p:nvPr/>
        </p:nvSpPr>
        <p:spPr>
          <a:xfrm>
            <a:off x="8430767" y="3115564"/>
            <a:ext cx="121615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589/609</a:t>
            </a:r>
          </a:p>
        </p:txBody>
      </p:sp>
      <p:sp>
        <p:nvSpPr>
          <p:cNvPr id="62" name="Rectangle 61"/>
          <p:cNvSpPr/>
          <p:nvPr/>
        </p:nvSpPr>
        <p:spPr>
          <a:xfrm>
            <a:off x="9784080" y="3115564"/>
            <a:ext cx="1831543" cy="484632"/>
          </a:xfrm>
          <a:prstGeom prst="rect">
            <a:avLst/>
          </a:prstGeom>
          <a:solidFill>
            <a:srgbClr val="EFF4F6"/>
          </a:solidFill>
          <a:ln>
            <a:noFill/>
          </a:ln>
          <a:effectLst/>
        </p:spPr>
        <p:txBody>
          <a:bodyPr rtlCol="0" anchor="ctr"/>
          <a:lstStyle/>
          <a:p>
            <a:pPr algn="ctr"/>
          </a:p>
        </p:txBody>
      </p:sp>
      <p:sp>
        <p:nvSpPr>
          <p:cNvPr id="63" name="TextBox 62"/>
          <p:cNvSpPr txBox="1"/>
          <p:nvPr/>
        </p:nvSpPr>
        <p:spPr>
          <a:xfrm>
            <a:off x="9893807" y="3115564"/>
            <a:ext cx="1612087"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GPU uncosted</a:t>
            </a:r>
          </a:p>
        </p:txBody>
      </p:sp>
      <p:sp>
        <p:nvSpPr>
          <p:cNvPr id="64" name="Rectangle 63"/>
          <p:cNvSpPr/>
          <p:nvPr/>
        </p:nvSpPr>
        <p:spPr>
          <a:xfrm>
            <a:off x="548640" y="3627628"/>
            <a:ext cx="2624328" cy="484632"/>
          </a:xfrm>
          <a:prstGeom prst="rect">
            <a:avLst/>
          </a:prstGeom>
          <a:solidFill>
            <a:srgbClr val="F8FAFB"/>
          </a:solidFill>
          <a:ln>
            <a:noFill/>
          </a:ln>
          <a:effectLst/>
        </p:spPr>
        <p:txBody>
          <a:bodyPr rtlCol="0" anchor="ctr"/>
          <a:lstStyle/>
          <a:p>
            <a:pPr algn="ctr"/>
          </a:p>
        </p:txBody>
      </p:sp>
      <p:sp>
        <p:nvSpPr>
          <p:cNvPr id="65" name="TextBox 64"/>
          <p:cNvSpPr txBox="1"/>
          <p:nvPr/>
        </p:nvSpPr>
        <p:spPr>
          <a:xfrm>
            <a:off x="658368" y="3627628"/>
            <a:ext cx="2404872" cy="484632"/>
          </a:xfrm>
          <a:prstGeom prst="rect">
            <a:avLst/>
          </a:prstGeom>
          <a:noFill/>
        </p:spPr>
        <p:txBody>
          <a:bodyPr wrap="square" lIns="0" rIns="0" tIns="0" bIns="0" anchor="ctr">
            <a:spAutoFit/>
          </a:bodyPr>
          <a:lstStyle/>
          <a:p>
            <a:pPr>
              <a:spcAft>
                <a:spcPts val="300"/>
              </a:spcAft>
              <a:defRPr sz="1500" b="1">
                <a:solidFill>
                  <a:srgbClr val="233B4D"/>
                </a:solidFill>
                <a:latin typeface="Aptos"/>
              </a:defRPr>
            </a:pPr>
            <a:r>
              <a:t>Laya (local GPU)</a:t>
            </a:r>
          </a:p>
        </p:txBody>
      </p:sp>
      <p:sp>
        <p:nvSpPr>
          <p:cNvPr id="66" name="Rectangle 65"/>
          <p:cNvSpPr/>
          <p:nvPr/>
        </p:nvSpPr>
        <p:spPr>
          <a:xfrm>
            <a:off x="3200400" y="3627628"/>
            <a:ext cx="1344168" cy="484632"/>
          </a:xfrm>
          <a:prstGeom prst="rect">
            <a:avLst/>
          </a:prstGeom>
          <a:solidFill>
            <a:srgbClr val="F8FAFB"/>
          </a:solidFill>
          <a:ln>
            <a:noFill/>
          </a:ln>
          <a:effectLst/>
        </p:spPr>
        <p:txBody>
          <a:bodyPr rtlCol="0" anchor="ctr"/>
          <a:lstStyle/>
          <a:p>
            <a:pPr algn="ctr"/>
          </a:p>
        </p:txBody>
      </p:sp>
      <p:sp>
        <p:nvSpPr>
          <p:cNvPr id="67" name="TextBox 66"/>
          <p:cNvSpPr txBox="1"/>
          <p:nvPr/>
        </p:nvSpPr>
        <p:spPr>
          <a:xfrm>
            <a:off x="3310128" y="3627628"/>
            <a:ext cx="112471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11/56</a:t>
            </a:r>
          </a:p>
        </p:txBody>
      </p:sp>
      <p:sp>
        <p:nvSpPr>
          <p:cNvPr id="68" name="Rectangle 67"/>
          <p:cNvSpPr/>
          <p:nvPr/>
        </p:nvSpPr>
        <p:spPr>
          <a:xfrm>
            <a:off x="4572000" y="3627628"/>
            <a:ext cx="1344168" cy="484632"/>
          </a:xfrm>
          <a:prstGeom prst="rect">
            <a:avLst/>
          </a:prstGeom>
          <a:solidFill>
            <a:srgbClr val="F8FAFB"/>
          </a:solidFill>
          <a:ln>
            <a:noFill/>
          </a:ln>
          <a:effectLst/>
        </p:spPr>
        <p:txBody>
          <a:bodyPr rtlCol="0" anchor="ctr"/>
          <a:lstStyle/>
          <a:p>
            <a:pPr algn="ctr"/>
          </a:p>
        </p:txBody>
      </p:sp>
      <p:sp>
        <p:nvSpPr>
          <p:cNvPr id="69" name="TextBox 68"/>
          <p:cNvSpPr txBox="1"/>
          <p:nvPr/>
        </p:nvSpPr>
        <p:spPr>
          <a:xfrm>
            <a:off x="4681728" y="3627628"/>
            <a:ext cx="112471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19/56</a:t>
            </a:r>
          </a:p>
        </p:txBody>
      </p:sp>
      <p:sp>
        <p:nvSpPr>
          <p:cNvPr id="70" name="Rectangle 69"/>
          <p:cNvSpPr/>
          <p:nvPr/>
        </p:nvSpPr>
        <p:spPr>
          <a:xfrm>
            <a:off x="5943600" y="3627628"/>
            <a:ext cx="978408" cy="484632"/>
          </a:xfrm>
          <a:prstGeom prst="rect">
            <a:avLst/>
          </a:prstGeom>
          <a:solidFill>
            <a:srgbClr val="F8FAFB"/>
          </a:solidFill>
          <a:ln>
            <a:noFill/>
          </a:ln>
          <a:effectLst/>
        </p:spPr>
        <p:txBody>
          <a:bodyPr rtlCol="0" anchor="ctr"/>
          <a:lstStyle/>
          <a:p>
            <a:pPr algn="ctr"/>
          </a:p>
        </p:txBody>
      </p:sp>
      <p:sp>
        <p:nvSpPr>
          <p:cNvPr id="71" name="TextBox 70"/>
          <p:cNvSpPr txBox="1"/>
          <p:nvPr/>
        </p:nvSpPr>
        <p:spPr>
          <a:xfrm>
            <a:off x="6053328" y="3627628"/>
            <a:ext cx="75895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0/56</a:t>
            </a:r>
          </a:p>
        </p:txBody>
      </p:sp>
      <p:sp>
        <p:nvSpPr>
          <p:cNvPr id="72" name="Rectangle 71"/>
          <p:cNvSpPr/>
          <p:nvPr/>
        </p:nvSpPr>
        <p:spPr>
          <a:xfrm>
            <a:off x="6949440" y="3627628"/>
            <a:ext cx="1344168" cy="484632"/>
          </a:xfrm>
          <a:prstGeom prst="rect">
            <a:avLst/>
          </a:prstGeom>
          <a:solidFill>
            <a:srgbClr val="F8FAFB"/>
          </a:solidFill>
          <a:ln>
            <a:noFill/>
          </a:ln>
          <a:effectLst/>
        </p:spPr>
        <p:txBody>
          <a:bodyPr rtlCol="0" anchor="ctr"/>
          <a:lstStyle/>
          <a:p>
            <a:pPr algn="ctr"/>
          </a:p>
        </p:txBody>
      </p:sp>
      <p:sp>
        <p:nvSpPr>
          <p:cNvPr id="73" name="TextBox 72"/>
          <p:cNvSpPr txBox="1"/>
          <p:nvPr/>
        </p:nvSpPr>
        <p:spPr>
          <a:xfrm>
            <a:off x="7059168" y="3627628"/>
            <a:ext cx="112471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a:t>
            </a:r>
          </a:p>
        </p:txBody>
      </p:sp>
      <p:sp>
        <p:nvSpPr>
          <p:cNvPr id="74" name="Rectangle 73"/>
          <p:cNvSpPr/>
          <p:nvPr/>
        </p:nvSpPr>
        <p:spPr>
          <a:xfrm>
            <a:off x="8321040" y="3627628"/>
            <a:ext cx="1435608" cy="484632"/>
          </a:xfrm>
          <a:prstGeom prst="rect">
            <a:avLst/>
          </a:prstGeom>
          <a:solidFill>
            <a:srgbClr val="F8FAFB"/>
          </a:solidFill>
          <a:ln>
            <a:noFill/>
          </a:ln>
          <a:effectLst/>
        </p:spPr>
        <p:txBody>
          <a:bodyPr rtlCol="0" anchor="ctr"/>
          <a:lstStyle/>
          <a:p>
            <a:pPr algn="ctr"/>
          </a:p>
        </p:txBody>
      </p:sp>
      <p:sp>
        <p:nvSpPr>
          <p:cNvPr id="75" name="TextBox 74"/>
          <p:cNvSpPr txBox="1"/>
          <p:nvPr/>
        </p:nvSpPr>
        <p:spPr>
          <a:xfrm>
            <a:off x="8430767" y="3627628"/>
            <a:ext cx="1216152"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91/128</a:t>
            </a:r>
          </a:p>
        </p:txBody>
      </p:sp>
      <p:sp>
        <p:nvSpPr>
          <p:cNvPr id="76" name="Rectangle 75"/>
          <p:cNvSpPr/>
          <p:nvPr/>
        </p:nvSpPr>
        <p:spPr>
          <a:xfrm>
            <a:off x="9784080" y="3627628"/>
            <a:ext cx="1831543" cy="484632"/>
          </a:xfrm>
          <a:prstGeom prst="rect">
            <a:avLst/>
          </a:prstGeom>
          <a:solidFill>
            <a:srgbClr val="F8FAFB"/>
          </a:solidFill>
          <a:ln>
            <a:noFill/>
          </a:ln>
          <a:effectLst/>
        </p:spPr>
        <p:txBody>
          <a:bodyPr rtlCol="0" anchor="ctr"/>
          <a:lstStyle/>
          <a:p>
            <a:pPr algn="ctr"/>
          </a:p>
        </p:txBody>
      </p:sp>
      <p:sp>
        <p:nvSpPr>
          <p:cNvPr id="77" name="TextBox 76"/>
          <p:cNvSpPr txBox="1"/>
          <p:nvPr/>
        </p:nvSpPr>
        <p:spPr>
          <a:xfrm>
            <a:off x="9893807" y="3627628"/>
            <a:ext cx="1612087" cy="48463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GPU uncosted</a:t>
            </a:r>
          </a:p>
        </p:txBody>
      </p:sp>
      <p:sp>
        <p:nvSpPr>
          <p:cNvPr id="78" name="TextBox 77"/>
          <p:cNvSpPr txBox="1"/>
          <p:nvPr/>
        </p:nvSpPr>
        <p:spPr>
          <a:xfrm>
            <a:off x="548640" y="4231132"/>
            <a:ext cx="11094415" cy="228600"/>
          </a:xfrm>
          <a:prstGeom prst="rect">
            <a:avLst/>
          </a:prstGeom>
          <a:noFill/>
        </p:spPr>
        <p:txBody>
          <a:bodyPr wrap="square" lIns="0" rIns="0" tIns="0" bIns="0">
            <a:spAutoFit/>
          </a:bodyPr>
          <a:lstStyle/>
          <a:p>
            <a:pPr>
              <a:spcAft>
                <a:spcPts val="300"/>
              </a:spcAft>
              <a:defRPr sz="1100" b="0">
                <a:solidFill>
                  <a:srgbClr val="596A76"/>
                </a:solidFill>
                <a:latin typeface="Aptos"/>
              </a:defRPr>
            </a:pPr>
            <a:r>
              <a:t>*Acceptable-action criteria were defined after the first run; use exact action match as the primary measure.</a:t>
            </a:r>
          </a:p>
        </p:txBody>
      </p:sp>
      <p:sp>
        <p:nvSpPr>
          <p:cNvPr id="79" name="Rectangle 78"/>
          <p:cNvSpPr/>
          <p:nvPr/>
        </p:nvSpPr>
        <p:spPr>
          <a:xfrm>
            <a:off x="548640" y="4596892"/>
            <a:ext cx="11094415" cy="749300"/>
          </a:xfrm>
          <a:prstGeom prst="rect">
            <a:avLst/>
          </a:prstGeom>
          <a:solidFill>
            <a:srgbClr val="142E42"/>
          </a:solidFill>
          <a:ln>
            <a:noFill/>
          </a:ln>
          <a:effectLst/>
        </p:spPr>
        <p:txBody>
          <a:bodyPr rtlCol="0" anchor="ctr"/>
          <a:lstStyle/>
          <a:p>
            <a:pPr algn="ctr"/>
          </a:p>
        </p:txBody>
      </p:sp>
      <p:sp>
        <p:nvSpPr>
          <p:cNvPr id="80" name="TextBox 79"/>
          <p:cNvSpPr txBox="1"/>
          <p:nvPr/>
        </p:nvSpPr>
        <p:spPr>
          <a:xfrm>
            <a:off x="777240" y="4596892"/>
            <a:ext cx="10637215" cy="749300"/>
          </a:xfrm>
          <a:prstGeom prst="rect">
            <a:avLst/>
          </a:prstGeom>
          <a:noFill/>
        </p:spPr>
        <p:txBody>
          <a:bodyPr wrap="square" lIns="0" rIns="0" tIns="0" bIns="0" anchor="ctr">
            <a:spAutoFit/>
          </a:bodyPr>
          <a:lstStyle/>
          <a:p>
            <a:pPr>
              <a:spcAft>
                <a:spcPts val="300"/>
              </a:spcAft>
              <a:defRPr sz="1400" b="1">
                <a:solidFill>
                  <a:srgbClr val="FFFFFF"/>
                </a:solidFill>
                <a:latin typeface="Aptos"/>
              </a:defRPr>
            </a:pPr>
            <a:r>
              <a:t>Exact action match is the primary measure; the acceptable-action column uses a list defined after the first run and is shown for completeness.</a:t>
            </a:r>
          </a:p>
        </p:txBody>
      </p:sp>
      <p:sp>
        <p:nvSpPr>
          <p:cNvPr id="81" name="TextBox 80"/>
          <p:cNvSpPr txBox="1"/>
          <p:nvPr/>
        </p:nvSpPr>
        <p:spPr>
          <a:xfrm>
            <a:off x="548640" y="5419344"/>
            <a:ext cx="11094415" cy="182880"/>
          </a:xfrm>
          <a:prstGeom prst="rect">
            <a:avLst/>
          </a:prstGeom>
          <a:noFill/>
        </p:spPr>
        <p:txBody>
          <a:bodyPr wrap="square" lIns="0" rIns="0" tIns="0" bIns="0">
            <a:spAutoFit/>
          </a:bodyPr>
          <a:lstStyle/>
          <a:p>
            <a:pPr>
              <a:spcAft>
                <a:spcPts val="300"/>
              </a:spcAft>
              <a:defRPr sz="900" b="0">
                <a:solidFill>
                  <a:srgbClr val="596A76"/>
                </a:solidFill>
                <a:latin typeface="Aptos"/>
              </a:defRPr>
            </a:pPr>
            <a:r>
              <a:t>Our measurement | work/results/facts.json | corpus 0b4839761e06</a:t>
            </a:r>
          </a:p>
        </p:txBody>
      </p:sp>
      <p:sp>
        <p:nvSpPr>
          <p:cNvPr id="82" name="Rectangle 81"/>
          <p:cNvSpPr/>
          <p:nvPr/>
        </p:nvSpPr>
        <p:spPr>
          <a:xfrm>
            <a:off x="548640" y="6309360"/>
            <a:ext cx="11094415" cy="10972"/>
          </a:xfrm>
          <a:prstGeom prst="rect">
            <a:avLst/>
          </a:prstGeom>
          <a:solidFill>
            <a:srgbClr val="CCD7DD"/>
          </a:solidFill>
          <a:ln>
            <a:noFill/>
          </a:ln>
          <a:effectLst/>
        </p:spPr>
        <p:txBody>
          <a:bodyPr rtlCol="0" anchor="ctr"/>
          <a:lstStyle/>
          <a:p>
            <a:pPr algn="ctr"/>
          </a:p>
        </p:txBody>
      </p:sp>
      <p:sp>
        <p:nvSpPr>
          <p:cNvPr id="83" name="TextBox 82"/>
          <p:cNvSpPr txBox="1"/>
          <p:nvPr/>
        </p:nvSpPr>
        <p:spPr>
          <a:xfrm>
            <a:off x="548640" y="6400800"/>
            <a:ext cx="4572000" cy="201168"/>
          </a:xfrm>
          <a:prstGeom prst="rect">
            <a:avLst/>
          </a:prstGeom>
          <a:noFill/>
        </p:spPr>
        <p:txBody>
          <a:bodyPr wrap="square" lIns="0" rIns="0" tIns="0" bIns="0">
            <a:spAutoFit/>
          </a:bodyPr>
          <a:lstStyle/>
          <a:p>
            <a:pPr>
              <a:spcAft>
                <a:spcPts val="300"/>
              </a:spcAft>
              <a:defRPr sz="900" b="0">
                <a:solidFill>
                  <a:srgbClr val="596A76"/>
                </a:solidFill>
                <a:latin typeface="Aptos"/>
              </a:defRPr>
            </a:pPr>
            <a:r>
              <a:t>For discussion · October 2026</a:t>
            </a:r>
          </a:p>
        </p:txBody>
      </p:sp>
      <p:sp>
        <p:nvSpPr>
          <p:cNvPr id="84" name="TextBox 83"/>
          <p:cNvSpPr txBox="1"/>
          <p:nvPr/>
        </p:nvSpPr>
        <p:spPr>
          <a:xfrm>
            <a:off x="11185855" y="6400800"/>
            <a:ext cx="457200" cy="201168"/>
          </a:xfrm>
          <a:prstGeom prst="rect">
            <a:avLst/>
          </a:prstGeom>
          <a:noFill/>
        </p:spPr>
        <p:txBody>
          <a:bodyPr wrap="square" lIns="0" rIns="0" tIns="0" bIns="0">
            <a:spAutoFit/>
          </a:bodyPr>
          <a:lstStyle/>
          <a:p>
            <a:pPr algn="r">
              <a:spcAft>
                <a:spcPts val="300"/>
              </a:spcAft>
              <a:defRPr sz="900" b="0">
                <a:solidFill>
                  <a:srgbClr val="596A76"/>
                </a:solidFill>
                <a:latin typeface="Aptos"/>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7F82"/>
          </a:solidFill>
          <a:ln>
            <a:noFill/>
          </a:ln>
          <a:effectLst/>
        </p:spPr>
        <p:txBody>
          <a:bodyPr rtlCol="0" anchor="ctr"/>
          <a:lstStyle/>
          <a:p>
            <a:pPr algn="ctr"/>
          </a:p>
        </p:txBody>
      </p:sp>
      <p:sp>
        <p:nvSpPr>
          <p:cNvPr id="3" name="TextBox 2"/>
          <p:cNvSpPr txBox="1"/>
          <p:nvPr/>
        </p:nvSpPr>
        <p:spPr>
          <a:xfrm>
            <a:off x="548640" y="310896"/>
            <a:ext cx="9144000" cy="201168"/>
          </a:xfrm>
          <a:prstGeom prst="rect">
            <a:avLst/>
          </a:prstGeom>
          <a:noFill/>
        </p:spPr>
        <p:txBody>
          <a:bodyPr wrap="square" lIns="0" rIns="0" tIns="0" bIns="0">
            <a:spAutoFit/>
          </a:bodyPr>
          <a:lstStyle/>
          <a:p>
            <a:pPr>
              <a:spcAft>
                <a:spcPts val="300"/>
              </a:spcAft>
              <a:defRPr sz="1000" b="1">
                <a:solidFill>
                  <a:srgbClr val="007F82"/>
                </a:solidFill>
                <a:latin typeface="Aptos"/>
              </a:defRPr>
            </a:pPr>
            <a:r>
              <a:t>APPENDIX A2</a:t>
            </a:r>
          </a:p>
        </p:txBody>
      </p:sp>
      <p:sp>
        <p:nvSpPr>
          <p:cNvPr id="4" name="TextBox 3"/>
          <p:cNvSpPr txBox="1"/>
          <p:nvPr/>
        </p:nvSpPr>
        <p:spPr>
          <a:xfrm>
            <a:off x="548640" y="566928"/>
            <a:ext cx="10149840" cy="469899"/>
          </a:xfrm>
          <a:prstGeom prst="rect">
            <a:avLst/>
          </a:prstGeom>
          <a:noFill/>
        </p:spPr>
        <p:txBody>
          <a:bodyPr wrap="square" lIns="0" rIns="0" tIns="0" bIns="0">
            <a:spAutoFit/>
          </a:bodyPr>
          <a:lstStyle/>
          <a:p>
            <a:pPr>
              <a:spcAft>
                <a:spcPts val="300"/>
              </a:spcAft>
              <a:defRPr sz="2500" b="1">
                <a:solidFill>
                  <a:srgbClr val="142E42"/>
                </a:solidFill>
                <a:latin typeface="Aptos"/>
              </a:defRPr>
            </a:pPr>
            <a:r>
              <a:t>Twelve considerations that decide whether this fits an estate</a:t>
            </a:r>
          </a:p>
        </p:txBody>
      </p:sp>
      <p:sp>
        <p:nvSpPr>
          <p:cNvPr id="5" name="TextBox 4"/>
          <p:cNvSpPr txBox="1"/>
          <p:nvPr/>
        </p:nvSpPr>
        <p:spPr>
          <a:xfrm>
            <a:off x="548640" y="1073404"/>
            <a:ext cx="10149840" cy="279908"/>
          </a:xfrm>
          <a:prstGeom prst="rect">
            <a:avLst/>
          </a:prstGeom>
          <a:noFill/>
        </p:spPr>
        <p:txBody>
          <a:bodyPr wrap="square" lIns="0" rIns="0" tIns="0" bIns="0">
            <a:spAutoFit/>
          </a:bodyPr>
          <a:lstStyle/>
          <a:p>
            <a:pPr>
              <a:spcAft>
                <a:spcPts val="300"/>
              </a:spcAft>
              <a:defRPr sz="1400" b="0">
                <a:solidFill>
                  <a:srgbClr val="596A76"/>
                </a:solidFill>
                <a:latin typeface="Aptos"/>
              </a:defRPr>
            </a:pPr>
            <a:r>
              <a:t>Short titles; full text in outputs/3_open-questions-and-next-steps.md</a:t>
            </a:r>
          </a:p>
        </p:txBody>
      </p:sp>
      <p:sp>
        <p:nvSpPr>
          <p:cNvPr id="6" name="Rectangle 5"/>
          <p:cNvSpPr/>
          <p:nvPr/>
        </p:nvSpPr>
        <p:spPr>
          <a:xfrm>
            <a:off x="10929823" y="274320"/>
            <a:ext cx="713232" cy="713232"/>
          </a:xfrm>
          <a:prstGeom prst="rect">
            <a:avLst/>
          </a:prstGeom>
          <a:solidFill>
            <a:srgbClr val="EFF4F6"/>
          </a:solidFill>
          <a:ln>
            <a:noFill/>
          </a:ln>
          <a:effectLst/>
        </p:spPr>
        <p:txBody>
          <a:bodyPr rtlCol="0" anchor="ctr"/>
          <a:lstStyle/>
          <a:p>
            <a:pPr algn="ctr"/>
          </a:p>
        </p:txBody>
      </p:sp>
      <p:pic>
        <p:nvPicPr>
          <p:cNvPr id="7" name="Picture 6" descr="checklist.png"/>
          <p:cNvPicPr>
            <a:picLocks noChangeAspect="1"/>
          </p:cNvPicPr>
          <p:nvPr/>
        </p:nvPicPr>
        <p:blipFill>
          <a:blip r:embed="rId2"/>
          <a:stretch>
            <a:fillRect/>
          </a:stretch>
        </p:blipFill>
        <p:spPr>
          <a:xfrm>
            <a:off x="11021263" y="365760"/>
            <a:ext cx="530352" cy="530352"/>
          </a:xfrm>
          <a:prstGeom prst="rect">
            <a:avLst/>
          </a:prstGeom>
        </p:spPr>
      </p:pic>
      <p:sp>
        <p:nvSpPr>
          <p:cNvPr id="8" name="Rectangle 7"/>
          <p:cNvSpPr/>
          <p:nvPr/>
        </p:nvSpPr>
        <p:spPr>
          <a:xfrm>
            <a:off x="548640" y="1700784"/>
            <a:ext cx="1024127" cy="363220"/>
          </a:xfrm>
          <a:prstGeom prst="rect">
            <a:avLst/>
          </a:prstGeom>
          <a:solidFill>
            <a:srgbClr val="142E42"/>
          </a:solidFill>
          <a:ln>
            <a:noFill/>
          </a:ln>
          <a:effectLst/>
        </p:spPr>
        <p:txBody>
          <a:bodyPr rtlCol="0" anchor="ctr"/>
          <a:lstStyle/>
          <a:p>
            <a:pPr algn="ctr"/>
          </a:p>
        </p:txBody>
      </p:sp>
      <p:sp>
        <p:nvSpPr>
          <p:cNvPr id="9" name="TextBox 8"/>
          <p:cNvSpPr txBox="1"/>
          <p:nvPr/>
        </p:nvSpPr>
        <p:spPr>
          <a:xfrm>
            <a:off x="658368" y="1700784"/>
            <a:ext cx="804671" cy="363220"/>
          </a:xfrm>
          <a:prstGeom prst="rect">
            <a:avLst/>
          </a:prstGeom>
          <a:noFill/>
        </p:spPr>
        <p:txBody>
          <a:bodyPr wrap="square" lIns="0" rIns="0" tIns="0" bIns="0" anchor="ctr">
            <a:spAutoFit/>
          </a:bodyPr>
          <a:lstStyle/>
          <a:p>
            <a:pPr>
              <a:spcAft>
                <a:spcPts val="300"/>
              </a:spcAft>
              <a:defRPr sz="1300" b="1">
                <a:solidFill>
                  <a:srgbClr val="FFFFFF"/>
                </a:solidFill>
                <a:latin typeface="Aptos"/>
              </a:defRPr>
            </a:pPr>
            <a:r>
              <a:t>#</a:t>
            </a:r>
          </a:p>
        </p:txBody>
      </p:sp>
      <p:sp>
        <p:nvSpPr>
          <p:cNvPr id="10" name="Rectangle 9"/>
          <p:cNvSpPr/>
          <p:nvPr/>
        </p:nvSpPr>
        <p:spPr>
          <a:xfrm>
            <a:off x="1600200" y="1700784"/>
            <a:ext cx="10015423" cy="363220"/>
          </a:xfrm>
          <a:prstGeom prst="rect">
            <a:avLst/>
          </a:prstGeom>
          <a:solidFill>
            <a:srgbClr val="142E42"/>
          </a:solidFill>
          <a:ln>
            <a:noFill/>
          </a:ln>
          <a:effectLst/>
        </p:spPr>
        <p:txBody>
          <a:bodyPr rtlCol="0" anchor="ctr"/>
          <a:lstStyle/>
          <a:p>
            <a:pPr algn="ctr"/>
          </a:p>
        </p:txBody>
      </p:sp>
      <p:sp>
        <p:nvSpPr>
          <p:cNvPr id="11" name="TextBox 10"/>
          <p:cNvSpPr txBox="1"/>
          <p:nvPr/>
        </p:nvSpPr>
        <p:spPr>
          <a:xfrm>
            <a:off x="1709928" y="1700784"/>
            <a:ext cx="9795967" cy="363220"/>
          </a:xfrm>
          <a:prstGeom prst="rect">
            <a:avLst/>
          </a:prstGeom>
          <a:noFill/>
        </p:spPr>
        <p:txBody>
          <a:bodyPr wrap="square" lIns="0" rIns="0" tIns="0" bIns="0" anchor="ctr">
            <a:spAutoFit/>
          </a:bodyPr>
          <a:lstStyle/>
          <a:p>
            <a:pPr>
              <a:spcAft>
                <a:spcPts val="300"/>
              </a:spcAft>
              <a:defRPr sz="1300" b="1">
                <a:solidFill>
                  <a:srgbClr val="FFFFFF"/>
                </a:solidFill>
                <a:latin typeface="Aptos"/>
              </a:defRPr>
            </a:pPr>
            <a:r>
              <a:t>Consideration</a:t>
            </a:r>
          </a:p>
        </p:txBody>
      </p:sp>
      <p:sp>
        <p:nvSpPr>
          <p:cNvPr id="12" name="Rectangle 11"/>
          <p:cNvSpPr/>
          <p:nvPr/>
        </p:nvSpPr>
        <p:spPr>
          <a:xfrm>
            <a:off x="548640" y="2091436"/>
            <a:ext cx="1024127" cy="308609"/>
          </a:xfrm>
          <a:prstGeom prst="rect">
            <a:avLst/>
          </a:prstGeom>
          <a:solidFill>
            <a:srgbClr val="EFF4F6"/>
          </a:solidFill>
          <a:ln>
            <a:noFill/>
          </a:ln>
          <a:effectLst/>
        </p:spPr>
        <p:txBody>
          <a:bodyPr rtlCol="0" anchor="ctr"/>
          <a:lstStyle/>
          <a:p>
            <a:pPr algn="ctr"/>
          </a:p>
        </p:txBody>
      </p:sp>
      <p:sp>
        <p:nvSpPr>
          <p:cNvPr id="13" name="TextBox 12"/>
          <p:cNvSpPr txBox="1"/>
          <p:nvPr/>
        </p:nvSpPr>
        <p:spPr>
          <a:xfrm>
            <a:off x="658368" y="2091436"/>
            <a:ext cx="804671" cy="308609"/>
          </a:xfrm>
          <a:prstGeom prst="rect">
            <a:avLst/>
          </a:prstGeom>
          <a:noFill/>
        </p:spPr>
        <p:txBody>
          <a:bodyPr wrap="square" lIns="0" rIns="0" tIns="0" bIns="0" anchor="ctr">
            <a:spAutoFit/>
          </a:bodyPr>
          <a:lstStyle/>
          <a:p>
            <a:pPr>
              <a:spcAft>
                <a:spcPts val="300"/>
              </a:spcAft>
              <a:defRPr sz="1300" b="1">
                <a:solidFill>
                  <a:srgbClr val="233B4D"/>
                </a:solidFill>
                <a:latin typeface="Aptos"/>
              </a:defRPr>
            </a:pPr>
            <a:r>
              <a:t>C1</a:t>
            </a:r>
          </a:p>
        </p:txBody>
      </p:sp>
      <p:sp>
        <p:nvSpPr>
          <p:cNvPr id="14" name="Rectangle 13"/>
          <p:cNvSpPr/>
          <p:nvPr/>
        </p:nvSpPr>
        <p:spPr>
          <a:xfrm>
            <a:off x="1600200" y="2091436"/>
            <a:ext cx="10015423" cy="308609"/>
          </a:xfrm>
          <a:prstGeom prst="rect">
            <a:avLst/>
          </a:prstGeom>
          <a:solidFill>
            <a:srgbClr val="EFF4F6"/>
          </a:solidFill>
          <a:ln>
            <a:noFill/>
          </a:ln>
          <a:effectLst/>
        </p:spPr>
        <p:txBody>
          <a:bodyPr rtlCol="0" anchor="ctr"/>
          <a:lstStyle/>
          <a:p>
            <a:pPr algn="ctr"/>
          </a:p>
        </p:txBody>
      </p:sp>
      <p:sp>
        <p:nvSpPr>
          <p:cNvPr id="15" name="TextBox 14"/>
          <p:cNvSpPr txBox="1"/>
          <p:nvPr/>
        </p:nvSpPr>
        <p:spPr>
          <a:xfrm>
            <a:off x="1709928" y="2091436"/>
            <a:ext cx="9795967" cy="308609"/>
          </a:xfrm>
          <a:prstGeom prst="rect">
            <a:avLst/>
          </a:prstGeom>
          <a:noFill/>
        </p:spPr>
        <p:txBody>
          <a:bodyPr wrap="square" lIns="0" rIns="0" tIns="0" bIns="0" anchor="ctr">
            <a:spAutoFit/>
          </a:bodyPr>
          <a:lstStyle/>
          <a:p>
            <a:pPr>
              <a:spcAft>
                <a:spcPts val="300"/>
              </a:spcAft>
              <a:defRPr sz="1300" b="0">
                <a:solidFill>
                  <a:srgbClr val="233B4D"/>
                </a:solidFill>
                <a:latin typeface="Aptos"/>
              </a:defRPr>
            </a:pPr>
            <a:r>
              <a:t>It fits text classification at volume, and little else</a:t>
            </a:r>
          </a:p>
        </p:txBody>
      </p:sp>
      <p:sp>
        <p:nvSpPr>
          <p:cNvPr id="16" name="Rectangle 15"/>
          <p:cNvSpPr/>
          <p:nvPr/>
        </p:nvSpPr>
        <p:spPr>
          <a:xfrm>
            <a:off x="548640" y="2427478"/>
            <a:ext cx="1024127" cy="308609"/>
          </a:xfrm>
          <a:prstGeom prst="rect">
            <a:avLst/>
          </a:prstGeom>
          <a:solidFill>
            <a:srgbClr val="F8FAFB"/>
          </a:solidFill>
          <a:ln>
            <a:noFill/>
          </a:ln>
          <a:effectLst/>
        </p:spPr>
        <p:txBody>
          <a:bodyPr rtlCol="0" anchor="ctr"/>
          <a:lstStyle/>
          <a:p>
            <a:pPr algn="ctr"/>
          </a:p>
        </p:txBody>
      </p:sp>
      <p:sp>
        <p:nvSpPr>
          <p:cNvPr id="17" name="TextBox 16"/>
          <p:cNvSpPr txBox="1"/>
          <p:nvPr/>
        </p:nvSpPr>
        <p:spPr>
          <a:xfrm>
            <a:off x="658368" y="2427478"/>
            <a:ext cx="804671" cy="308609"/>
          </a:xfrm>
          <a:prstGeom prst="rect">
            <a:avLst/>
          </a:prstGeom>
          <a:noFill/>
        </p:spPr>
        <p:txBody>
          <a:bodyPr wrap="square" lIns="0" rIns="0" tIns="0" bIns="0" anchor="ctr">
            <a:spAutoFit/>
          </a:bodyPr>
          <a:lstStyle/>
          <a:p>
            <a:pPr>
              <a:spcAft>
                <a:spcPts val="300"/>
              </a:spcAft>
              <a:defRPr sz="1300" b="1">
                <a:solidFill>
                  <a:srgbClr val="233B4D"/>
                </a:solidFill>
                <a:latin typeface="Aptos"/>
              </a:defRPr>
            </a:pPr>
            <a:r>
              <a:t>C2</a:t>
            </a:r>
          </a:p>
        </p:txBody>
      </p:sp>
      <p:sp>
        <p:nvSpPr>
          <p:cNvPr id="18" name="Rectangle 17"/>
          <p:cNvSpPr/>
          <p:nvPr/>
        </p:nvSpPr>
        <p:spPr>
          <a:xfrm>
            <a:off x="1600200" y="2427478"/>
            <a:ext cx="10015423" cy="308609"/>
          </a:xfrm>
          <a:prstGeom prst="rect">
            <a:avLst/>
          </a:prstGeom>
          <a:solidFill>
            <a:srgbClr val="F8FAFB"/>
          </a:solidFill>
          <a:ln>
            <a:noFill/>
          </a:ln>
          <a:effectLst/>
        </p:spPr>
        <p:txBody>
          <a:bodyPr rtlCol="0" anchor="ctr"/>
          <a:lstStyle/>
          <a:p>
            <a:pPr algn="ctr"/>
          </a:p>
        </p:txBody>
      </p:sp>
      <p:sp>
        <p:nvSpPr>
          <p:cNvPr id="19" name="TextBox 18"/>
          <p:cNvSpPr txBox="1"/>
          <p:nvPr/>
        </p:nvSpPr>
        <p:spPr>
          <a:xfrm>
            <a:off x="1709928" y="2427478"/>
            <a:ext cx="9795967" cy="308609"/>
          </a:xfrm>
          <a:prstGeom prst="rect">
            <a:avLst/>
          </a:prstGeom>
          <a:noFill/>
        </p:spPr>
        <p:txBody>
          <a:bodyPr wrap="square" lIns="0" rIns="0" tIns="0" bIns="0" anchor="ctr">
            <a:spAutoFit/>
          </a:bodyPr>
          <a:lstStyle/>
          <a:p>
            <a:pPr>
              <a:spcAft>
                <a:spcPts val="300"/>
              </a:spcAft>
              <a:defRPr sz="1300" b="0">
                <a:solidFill>
                  <a:srgbClr val="233B4D"/>
                </a:solidFill>
                <a:latin typeface="Aptos"/>
              </a:defRPr>
            </a:pPr>
            <a:r>
              <a:t>The value is the gap to what you already run</a:t>
            </a:r>
          </a:p>
        </p:txBody>
      </p:sp>
      <p:sp>
        <p:nvSpPr>
          <p:cNvPr id="20" name="Rectangle 19"/>
          <p:cNvSpPr/>
          <p:nvPr/>
        </p:nvSpPr>
        <p:spPr>
          <a:xfrm>
            <a:off x="548640" y="2763520"/>
            <a:ext cx="1024127" cy="308609"/>
          </a:xfrm>
          <a:prstGeom prst="rect">
            <a:avLst/>
          </a:prstGeom>
          <a:solidFill>
            <a:srgbClr val="EFF4F6"/>
          </a:solidFill>
          <a:ln>
            <a:noFill/>
          </a:ln>
          <a:effectLst/>
        </p:spPr>
        <p:txBody>
          <a:bodyPr rtlCol="0" anchor="ctr"/>
          <a:lstStyle/>
          <a:p>
            <a:pPr algn="ctr"/>
          </a:p>
        </p:txBody>
      </p:sp>
      <p:sp>
        <p:nvSpPr>
          <p:cNvPr id="21" name="TextBox 20"/>
          <p:cNvSpPr txBox="1"/>
          <p:nvPr/>
        </p:nvSpPr>
        <p:spPr>
          <a:xfrm>
            <a:off x="658368" y="2763520"/>
            <a:ext cx="804671" cy="308609"/>
          </a:xfrm>
          <a:prstGeom prst="rect">
            <a:avLst/>
          </a:prstGeom>
          <a:noFill/>
        </p:spPr>
        <p:txBody>
          <a:bodyPr wrap="square" lIns="0" rIns="0" tIns="0" bIns="0" anchor="ctr">
            <a:spAutoFit/>
          </a:bodyPr>
          <a:lstStyle/>
          <a:p>
            <a:pPr>
              <a:spcAft>
                <a:spcPts val="300"/>
              </a:spcAft>
              <a:defRPr sz="1300" b="1">
                <a:solidFill>
                  <a:srgbClr val="233B4D"/>
                </a:solidFill>
                <a:latin typeface="Aptos"/>
              </a:defRPr>
            </a:pPr>
            <a:r>
              <a:t>C3</a:t>
            </a:r>
          </a:p>
        </p:txBody>
      </p:sp>
      <p:sp>
        <p:nvSpPr>
          <p:cNvPr id="22" name="Rectangle 21"/>
          <p:cNvSpPr/>
          <p:nvPr/>
        </p:nvSpPr>
        <p:spPr>
          <a:xfrm>
            <a:off x="1600200" y="2763520"/>
            <a:ext cx="10015423" cy="308609"/>
          </a:xfrm>
          <a:prstGeom prst="rect">
            <a:avLst/>
          </a:prstGeom>
          <a:solidFill>
            <a:srgbClr val="EFF4F6"/>
          </a:solidFill>
          <a:ln>
            <a:noFill/>
          </a:ln>
          <a:effectLst/>
        </p:spPr>
        <p:txBody>
          <a:bodyPr rtlCol="0" anchor="ctr"/>
          <a:lstStyle/>
          <a:p>
            <a:pPr algn="ctr"/>
          </a:p>
        </p:txBody>
      </p:sp>
      <p:sp>
        <p:nvSpPr>
          <p:cNvPr id="23" name="TextBox 22"/>
          <p:cNvSpPr txBox="1"/>
          <p:nvPr/>
        </p:nvSpPr>
        <p:spPr>
          <a:xfrm>
            <a:off x="1709928" y="2763520"/>
            <a:ext cx="9795967" cy="308609"/>
          </a:xfrm>
          <a:prstGeom prst="rect">
            <a:avLst/>
          </a:prstGeom>
          <a:noFill/>
        </p:spPr>
        <p:txBody>
          <a:bodyPr wrap="square" lIns="0" rIns="0" tIns="0" bIns="0" anchor="ctr">
            <a:spAutoFit/>
          </a:bodyPr>
          <a:lstStyle/>
          <a:p>
            <a:pPr>
              <a:spcAft>
                <a:spcPts val="300"/>
              </a:spcAft>
              <a:defRPr sz="1300" b="0">
                <a:solidFill>
                  <a:srgbClr val="233B4D"/>
                </a:solidFill>
                <a:latin typeface="Aptos"/>
              </a:defRPr>
            </a:pPr>
            <a:r>
              <a:t>Results depend on what the ticket says at the moment of decision</a:t>
            </a:r>
          </a:p>
        </p:txBody>
      </p:sp>
      <p:sp>
        <p:nvSpPr>
          <p:cNvPr id="24" name="Rectangle 23"/>
          <p:cNvSpPr/>
          <p:nvPr/>
        </p:nvSpPr>
        <p:spPr>
          <a:xfrm>
            <a:off x="548640" y="3099561"/>
            <a:ext cx="1024127" cy="308609"/>
          </a:xfrm>
          <a:prstGeom prst="rect">
            <a:avLst/>
          </a:prstGeom>
          <a:solidFill>
            <a:srgbClr val="F8FAFB"/>
          </a:solidFill>
          <a:ln>
            <a:noFill/>
          </a:ln>
          <a:effectLst/>
        </p:spPr>
        <p:txBody>
          <a:bodyPr rtlCol="0" anchor="ctr"/>
          <a:lstStyle/>
          <a:p>
            <a:pPr algn="ctr"/>
          </a:p>
        </p:txBody>
      </p:sp>
      <p:sp>
        <p:nvSpPr>
          <p:cNvPr id="25" name="TextBox 24"/>
          <p:cNvSpPr txBox="1"/>
          <p:nvPr/>
        </p:nvSpPr>
        <p:spPr>
          <a:xfrm>
            <a:off x="658368" y="3099561"/>
            <a:ext cx="804671" cy="308609"/>
          </a:xfrm>
          <a:prstGeom prst="rect">
            <a:avLst/>
          </a:prstGeom>
          <a:noFill/>
        </p:spPr>
        <p:txBody>
          <a:bodyPr wrap="square" lIns="0" rIns="0" tIns="0" bIns="0" anchor="ctr">
            <a:spAutoFit/>
          </a:bodyPr>
          <a:lstStyle/>
          <a:p>
            <a:pPr>
              <a:spcAft>
                <a:spcPts val="300"/>
              </a:spcAft>
              <a:defRPr sz="1300" b="1">
                <a:solidFill>
                  <a:srgbClr val="233B4D"/>
                </a:solidFill>
                <a:latin typeface="Aptos"/>
              </a:defRPr>
            </a:pPr>
            <a:r>
              <a:t>C4</a:t>
            </a:r>
          </a:p>
        </p:txBody>
      </p:sp>
      <p:sp>
        <p:nvSpPr>
          <p:cNvPr id="26" name="Rectangle 25"/>
          <p:cNvSpPr/>
          <p:nvPr/>
        </p:nvSpPr>
        <p:spPr>
          <a:xfrm>
            <a:off x="1600200" y="3099561"/>
            <a:ext cx="10015423" cy="308609"/>
          </a:xfrm>
          <a:prstGeom prst="rect">
            <a:avLst/>
          </a:prstGeom>
          <a:solidFill>
            <a:srgbClr val="F8FAFB"/>
          </a:solidFill>
          <a:ln>
            <a:noFill/>
          </a:ln>
          <a:effectLst/>
        </p:spPr>
        <p:txBody>
          <a:bodyPr rtlCol="0" anchor="ctr"/>
          <a:lstStyle/>
          <a:p>
            <a:pPr algn="ctr"/>
          </a:p>
        </p:txBody>
      </p:sp>
      <p:sp>
        <p:nvSpPr>
          <p:cNvPr id="27" name="TextBox 26"/>
          <p:cNvSpPr txBox="1"/>
          <p:nvPr/>
        </p:nvSpPr>
        <p:spPr>
          <a:xfrm>
            <a:off x="1709928" y="3099561"/>
            <a:ext cx="9795967" cy="308609"/>
          </a:xfrm>
          <a:prstGeom prst="rect">
            <a:avLst/>
          </a:prstGeom>
          <a:noFill/>
        </p:spPr>
        <p:txBody>
          <a:bodyPr wrap="square" lIns="0" rIns="0" tIns="0" bIns="0" anchor="ctr">
            <a:spAutoFit/>
          </a:bodyPr>
          <a:lstStyle/>
          <a:p>
            <a:pPr>
              <a:spcAft>
                <a:spcPts val="300"/>
              </a:spcAft>
              <a:defRPr sz="1300" b="0">
                <a:solidFill>
                  <a:srgbClr val="233B4D"/>
                </a:solidFill>
                <a:latin typeface="Aptos"/>
              </a:defRPr>
            </a:pPr>
            <a:r>
              <a:t>Thresholds and calibration must come from your own data</a:t>
            </a:r>
          </a:p>
        </p:txBody>
      </p:sp>
      <p:sp>
        <p:nvSpPr>
          <p:cNvPr id="28" name="Rectangle 27"/>
          <p:cNvSpPr/>
          <p:nvPr/>
        </p:nvSpPr>
        <p:spPr>
          <a:xfrm>
            <a:off x="548640" y="3435603"/>
            <a:ext cx="1024127" cy="308609"/>
          </a:xfrm>
          <a:prstGeom prst="rect">
            <a:avLst/>
          </a:prstGeom>
          <a:solidFill>
            <a:srgbClr val="EFF4F6"/>
          </a:solidFill>
          <a:ln>
            <a:noFill/>
          </a:ln>
          <a:effectLst/>
        </p:spPr>
        <p:txBody>
          <a:bodyPr rtlCol="0" anchor="ctr"/>
          <a:lstStyle/>
          <a:p>
            <a:pPr algn="ctr"/>
          </a:p>
        </p:txBody>
      </p:sp>
      <p:sp>
        <p:nvSpPr>
          <p:cNvPr id="29" name="TextBox 28"/>
          <p:cNvSpPr txBox="1"/>
          <p:nvPr/>
        </p:nvSpPr>
        <p:spPr>
          <a:xfrm>
            <a:off x="658368" y="3435603"/>
            <a:ext cx="804671" cy="308609"/>
          </a:xfrm>
          <a:prstGeom prst="rect">
            <a:avLst/>
          </a:prstGeom>
          <a:noFill/>
        </p:spPr>
        <p:txBody>
          <a:bodyPr wrap="square" lIns="0" rIns="0" tIns="0" bIns="0" anchor="ctr">
            <a:spAutoFit/>
          </a:bodyPr>
          <a:lstStyle/>
          <a:p>
            <a:pPr>
              <a:spcAft>
                <a:spcPts val="300"/>
              </a:spcAft>
              <a:defRPr sz="1300" b="1">
                <a:solidFill>
                  <a:srgbClr val="233B4D"/>
                </a:solidFill>
                <a:latin typeface="Aptos"/>
              </a:defRPr>
            </a:pPr>
            <a:r>
              <a:t>C5</a:t>
            </a:r>
          </a:p>
        </p:txBody>
      </p:sp>
      <p:sp>
        <p:nvSpPr>
          <p:cNvPr id="30" name="Rectangle 29"/>
          <p:cNvSpPr/>
          <p:nvPr/>
        </p:nvSpPr>
        <p:spPr>
          <a:xfrm>
            <a:off x="1600200" y="3435603"/>
            <a:ext cx="10015423" cy="308609"/>
          </a:xfrm>
          <a:prstGeom prst="rect">
            <a:avLst/>
          </a:prstGeom>
          <a:solidFill>
            <a:srgbClr val="EFF4F6"/>
          </a:solidFill>
          <a:ln>
            <a:noFill/>
          </a:ln>
          <a:effectLst/>
        </p:spPr>
        <p:txBody>
          <a:bodyPr rtlCol="0" anchor="ctr"/>
          <a:lstStyle/>
          <a:p>
            <a:pPr algn="ctr"/>
          </a:p>
        </p:txBody>
      </p:sp>
      <p:sp>
        <p:nvSpPr>
          <p:cNvPr id="31" name="TextBox 30"/>
          <p:cNvSpPr txBox="1"/>
          <p:nvPr/>
        </p:nvSpPr>
        <p:spPr>
          <a:xfrm>
            <a:off x="1709928" y="3435603"/>
            <a:ext cx="9795967" cy="308609"/>
          </a:xfrm>
          <a:prstGeom prst="rect">
            <a:avLst/>
          </a:prstGeom>
          <a:noFill/>
        </p:spPr>
        <p:txBody>
          <a:bodyPr wrap="square" lIns="0" rIns="0" tIns="0" bIns="0" anchor="ctr">
            <a:spAutoFit/>
          </a:bodyPr>
          <a:lstStyle/>
          <a:p>
            <a:pPr>
              <a:spcAft>
                <a:spcPts val="300"/>
              </a:spcAft>
              <a:defRPr sz="1300" b="0">
                <a:solidFill>
                  <a:srgbClr val="233B4D"/>
                </a:solidFill>
                <a:latin typeface="Aptos"/>
              </a:defRPr>
            </a:pPr>
            <a:r>
              <a:t>Question wording and option order shape the answer</a:t>
            </a:r>
          </a:p>
        </p:txBody>
      </p:sp>
      <p:sp>
        <p:nvSpPr>
          <p:cNvPr id="32" name="Rectangle 31"/>
          <p:cNvSpPr/>
          <p:nvPr/>
        </p:nvSpPr>
        <p:spPr>
          <a:xfrm>
            <a:off x="548640" y="3771645"/>
            <a:ext cx="1024127" cy="308609"/>
          </a:xfrm>
          <a:prstGeom prst="rect">
            <a:avLst/>
          </a:prstGeom>
          <a:solidFill>
            <a:srgbClr val="F8FAFB"/>
          </a:solidFill>
          <a:ln>
            <a:noFill/>
          </a:ln>
          <a:effectLst/>
        </p:spPr>
        <p:txBody>
          <a:bodyPr rtlCol="0" anchor="ctr"/>
          <a:lstStyle/>
          <a:p>
            <a:pPr algn="ctr"/>
          </a:p>
        </p:txBody>
      </p:sp>
      <p:sp>
        <p:nvSpPr>
          <p:cNvPr id="33" name="TextBox 32"/>
          <p:cNvSpPr txBox="1"/>
          <p:nvPr/>
        </p:nvSpPr>
        <p:spPr>
          <a:xfrm>
            <a:off x="658368" y="3771645"/>
            <a:ext cx="804671" cy="308609"/>
          </a:xfrm>
          <a:prstGeom prst="rect">
            <a:avLst/>
          </a:prstGeom>
          <a:noFill/>
        </p:spPr>
        <p:txBody>
          <a:bodyPr wrap="square" lIns="0" rIns="0" tIns="0" bIns="0" anchor="ctr">
            <a:spAutoFit/>
          </a:bodyPr>
          <a:lstStyle/>
          <a:p>
            <a:pPr>
              <a:spcAft>
                <a:spcPts val="300"/>
              </a:spcAft>
              <a:defRPr sz="1300" b="1">
                <a:solidFill>
                  <a:srgbClr val="233B4D"/>
                </a:solidFill>
                <a:latin typeface="Aptos"/>
              </a:defRPr>
            </a:pPr>
            <a:r>
              <a:t>C6</a:t>
            </a:r>
          </a:p>
        </p:txBody>
      </p:sp>
      <p:sp>
        <p:nvSpPr>
          <p:cNvPr id="34" name="Rectangle 33"/>
          <p:cNvSpPr/>
          <p:nvPr/>
        </p:nvSpPr>
        <p:spPr>
          <a:xfrm>
            <a:off x="1600200" y="3771645"/>
            <a:ext cx="10015423" cy="308609"/>
          </a:xfrm>
          <a:prstGeom prst="rect">
            <a:avLst/>
          </a:prstGeom>
          <a:solidFill>
            <a:srgbClr val="F8FAFB"/>
          </a:solidFill>
          <a:ln>
            <a:noFill/>
          </a:ln>
          <a:effectLst/>
        </p:spPr>
        <p:txBody>
          <a:bodyPr rtlCol="0" anchor="ctr"/>
          <a:lstStyle/>
          <a:p>
            <a:pPr algn="ctr"/>
          </a:p>
        </p:txBody>
      </p:sp>
      <p:sp>
        <p:nvSpPr>
          <p:cNvPr id="35" name="TextBox 34"/>
          <p:cNvSpPr txBox="1"/>
          <p:nvPr/>
        </p:nvSpPr>
        <p:spPr>
          <a:xfrm>
            <a:off x="1709928" y="3771645"/>
            <a:ext cx="9795967" cy="308609"/>
          </a:xfrm>
          <a:prstGeom prst="rect">
            <a:avLst/>
          </a:prstGeom>
          <a:noFill/>
        </p:spPr>
        <p:txBody>
          <a:bodyPr wrap="square" lIns="0" rIns="0" tIns="0" bIns="0" anchor="ctr">
            <a:spAutoFit/>
          </a:bodyPr>
          <a:lstStyle/>
          <a:p>
            <a:pPr>
              <a:spcAft>
                <a:spcPts val="300"/>
              </a:spcAft>
              <a:defRPr sz="1300" b="0">
                <a:solidFill>
                  <a:srgbClr val="233B4D"/>
                </a:solidFill>
                <a:latin typeface="Aptos"/>
              </a:defRPr>
            </a:pPr>
            <a:r>
              <a:t>Anyone who can write into a ticket can lean on the answer</a:t>
            </a:r>
          </a:p>
        </p:txBody>
      </p:sp>
      <p:sp>
        <p:nvSpPr>
          <p:cNvPr id="36" name="Rectangle 35"/>
          <p:cNvSpPr/>
          <p:nvPr/>
        </p:nvSpPr>
        <p:spPr>
          <a:xfrm>
            <a:off x="548640" y="4107687"/>
            <a:ext cx="1024127" cy="308609"/>
          </a:xfrm>
          <a:prstGeom prst="rect">
            <a:avLst/>
          </a:prstGeom>
          <a:solidFill>
            <a:srgbClr val="EFF4F6"/>
          </a:solidFill>
          <a:ln>
            <a:noFill/>
          </a:ln>
          <a:effectLst/>
        </p:spPr>
        <p:txBody>
          <a:bodyPr rtlCol="0" anchor="ctr"/>
          <a:lstStyle/>
          <a:p>
            <a:pPr algn="ctr"/>
          </a:p>
        </p:txBody>
      </p:sp>
      <p:sp>
        <p:nvSpPr>
          <p:cNvPr id="37" name="TextBox 36"/>
          <p:cNvSpPr txBox="1"/>
          <p:nvPr/>
        </p:nvSpPr>
        <p:spPr>
          <a:xfrm>
            <a:off x="658368" y="4107687"/>
            <a:ext cx="804671" cy="308609"/>
          </a:xfrm>
          <a:prstGeom prst="rect">
            <a:avLst/>
          </a:prstGeom>
          <a:noFill/>
        </p:spPr>
        <p:txBody>
          <a:bodyPr wrap="square" lIns="0" rIns="0" tIns="0" bIns="0" anchor="ctr">
            <a:spAutoFit/>
          </a:bodyPr>
          <a:lstStyle/>
          <a:p>
            <a:pPr>
              <a:spcAft>
                <a:spcPts val="300"/>
              </a:spcAft>
              <a:defRPr sz="1300" b="1">
                <a:solidFill>
                  <a:srgbClr val="233B4D"/>
                </a:solidFill>
                <a:latin typeface="Aptos"/>
              </a:defRPr>
            </a:pPr>
            <a:r>
              <a:t>C7</a:t>
            </a:r>
          </a:p>
        </p:txBody>
      </p:sp>
      <p:sp>
        <p:nvSpPr>
          <p:cNvPr id="38" name="Rectangle 37"/>
          <p:cNvSpPr/>
          <p:nvPr/>
        </p:nvSpPr>
        <p:spPr>
          <a:xfrm>
            <a:off x="1600200" y="4107687"/>
            <a:ext cx="10015423" cy="308609"/>
          </a:xfrm>
          <a:prstGeom prst="rect">
            <a:avLst/>
          </a:prstGeom>
          <a:solidFill>
            <a:srgbClr val="EFF4F6"/>
          </a:solidFill>
          <a:ln>
            <a:noFill/>
          </a:ln>
          <a:effectLst/>
        </p:spPr>
        <p:txBody>
          <a:bodyPr rtlCol="0" anchor="ctr"/>
          <a:lstStyle/>
          <a:p>
            <a:pPr algn="ctr"/>
          </a:p>
        </p:txBody>
      </p:sp>
      <p:sp>
        <p:nvSpPr>
          <p:cNvPr id="39" name="TextBox 38"/>
          <p:cNvSpPr txBox="1"/>
          <p:nvPr/>
        </p:nvSpPr>
        <p:spPr>
          <a:xfrm>
            <a:off x="1709928" y="4107687"/>
            <a:ext cx="9795967" cy="308609"/>
          </a:xfrm>
          <a:prstGeom prst="rect">
            <a:avLst/>
          </a:prstGeom>
          <a:noFill/>
        </p:spPr>
        <p:txBody>
          <a:bodyPr wrap="square" lIns="0" rIns="0" tIns="0" bIns="0" anchor="ctr">
            <a:spAutoFit/>
          </a:bodyPr>
          <a:lstStyle/>
          <a:p>
            <a:pPr>
              <a:spcAft>
                <a:spcPts val="300"/>
              </a:spcAft>
              <a:defRPr sz="1300" b="0">
                <a:solidFill>
                  <a:srgbClr val="233B4D"/>
                </a:solidFill>
                <a:latin typeface="Aptos"/>
              </a:defRPr>
            </a:pPr>
            <a:r>
              <a:t>The gate is only as good as what it checks and how it fails</a:t>
            </a:r>
          </a:p>
        </p:txBody>
      </p:sp>
      <p:sp>
        <p:nvSpPr>
          <p:cNvPr id="40" name="Rectangle 39"/>
          <p:cNvSpPr/>
          <p:nvPr/>
        </p:nvSpPr>
        <p:spPr>
          <a:xfrm>
            <a:off x="548640" y="4443729"/>
            <a:ext cx="1024127" cy="308609"/>
          </a:xfrm>
          <a:prstGeom prst="rect">
            <a:avLst/>
          </a:prstGeom>
          <a:solidFill>
            <a:srgbClr val="F8FAFB"/>
          </a:solidFill>
          <a:ln>
            <a:noFill/>
          </a:ln>
          <a:effectLst/>
        </p:spPr>
        <p:txBody>
          <a:bodyPr rtlCol="0" anchor="ctr"/>
          <a:lstStyle/>
          <a:p>
            <a:pPr algn="ctr"/>
          </a:p>
        </p:txBody>
      </p:sp>
      <p:sp>
        <p:nvSpPr>
          <p:cNvPr id="41" name="TextBox 40"/>
          <p:cNvSpPr txBox="1"/>
          <p:nvPr/>
        </p:nvSpPr>
        <p:spPr>
          <a:xfrm>
            <a:off x="658368" y="4443729"/>
            <a:ext cx="804671" cy="308609"/>
          </a:xfrm>
          <a:prstGeom prst="rect">
            <a:avLst/>
          </a:prstGeom>
          <a:noFill/>
        </p:spPr>
        <p:txBody>
          <a:bodyPr wrap="square" lIns="0" rIns="0" tIns="0" bIns="0" anchor="ctr">
            <a:spAutoFit/>
          </a:bodyPr>
          <a:lstStyle/>
          <a:p>
            <a:pPr>
              <a:spcAft>
                <a:spcPts val="300"/>
              </a:spcAft>
              <a:defRPr sz="1300" b="1">
                <a:solidFill>
                  <a:srgbClr val="233B4D"/>
                </a:solidFill>
                <a:latin typeface="Aptos"/>
              </a:defRPr>
            </a:pPr>
            <a:r>
              <a:t>C8</a:t>
            </a:r>
          </a:p>
        </p:txBody>
      </p:sp>
      <p:sp>
        <p:nvSpPr>
          <p:cNvPr id="42" name="Rectangle 41"/>
          <p:cNvSpPr/>
          <p:nvPr/>
        </p:nvSpPr>
        <p:spPr>
          <a:xfrm>
            <a:off x="1600200" y="4443729"/>
            <a:ext cx="10015423" cy="308609"/>
          </a:xfrm>
          <a:prstGeom prst="rect">
            <a:avLst/>
          </a:prstGeom>
          <a:solidFill>
            <a:srgbClr val="F8FAFB"/>
          </a:solidFill>
          <a:ln>
            <a:noFill/>
          </a:ln>
          <a:effectLst/>
        </p:spPr>
        <p:txBody>
          <a:bodyPr rtlCol="0" anchor="ctr"/>
          <a:lstStyle/>
          <a:p>
            <a:pPr algn="ctr"/>
          </a:p>
        </p:txBody>
      </p:sp>
      <p:sp>
        <p:nvSpPr>
          <p:cNvPr id="43" name="TextBox 42"/>
          <p:cNvSpPr txBox="1"/>
          <p:nvPr/>
        </p:nvSpPr>
        <p:spPr>
          <a:xfrm>
            <a:off x="1709928" y="4443729"/>
            <a:ext cx="9795967" cy="308609"/>
          </a:xfrm>
          <a:prstGeom prst="rect">
            <a:avLst/>
          </a:prstGeom>
          <a:noFill/>
        </p:spPr>
        <p:txBody>
          <a:bodyPr wrap="square" lIns="0" rIns="0" tIns="0" bIns="0" anchor="ctr">
            <a:spAutoFit/>
          </a:bodyPr>
          <a:lstStyle/>
          <a:p>
            <a:pPr>
              <a:spcAft>
                <a:spcPts val="300"/>
              </a:spcAft>
              <a:defRPr sz="1300" b="0">
                <a:solidFill>
                  <a:srgbClr val="233B4D"/>
                </a:solidFill>
                <a:latin typeface="Aptos"/>
              </a:defRPr>
            </a:pPr>
            <a:r>
              <a:t>The vendor is young, hosted in one region, and the model moves</a:t>
            </a:r>
          </a:p>
        </p:txBody>
      </p:sp>
      <p:sp>
        <p:nvSpPr>
          <p:cNvPr id="44" name="Rectangle 43"/>
          <p:cNvSpPr/>
          <p:nvPr/>
        </p:nvSpPr>
        <p:spPr>
          <a:xfrm>
            <a:off x="548640" y="4779771"/>
            <a:ext cx="1024127" cy="308609"/>
          </a:xfrm>
          <a:prstGeom prst="rect">
            <a:avLst/>
          </a:prstGeom>
          <a:solidFill>
            <a:srgbClr val="EFF4F6"/>
          </a:solidFill>
          <a:ln>
            <a:noFill/>
          </a:ln>
          <a:effectLst/>
        </p:spPr>
        <p:txBody>
          <a:bodyPr rtlCol="0" anchor="ctr"/>
          <a:lstStyle/>
          <a:p>
            <a:pPr algn="ctr"/>
          </a:p>
        </p:txBody>
      </p:sp>
      <p:sp>
        <p:nvSpPr>
          <p:cNvPr id="45" name="TextBox 44"/>
          <p:cNvSpPr txBox="1"/>
          <p:nvPr/>
        </p:nvSpPr>
        <p:spPr>
          <a:xfrm>
            <a:off x="658368" y="4779771"/>
            <a:ext cx="804671" cy="308609"/>
          </a:xfrm>
          <a:prstGeom prst="rect">
            <a:avLst/>
          </a:prstGeom>
          <a:noFill/>
        </p:spPr>
        <p:txBody>
          <a:bodyPr wrap="square" lIns="0" rIns="0" tIns="0" bIns="0" anchor="ctr">
            <a:spAutoFit/>
          </a:bodyPr>
          <a:lstStyle/>
          <a:p>
            <a:pPr>
              <a:spcAft>
                <a:spcPts val="300"/>
              </a:spcAft>
              <a:defRPr sz="1300" b="1">
                <a:solidFill>
                  <a:srgbClr val="233B4D"/>
                </a:solidFill>
                <a:latin typeface="Aptos"/>
              </a:defRPr>
            </a:pPr>
            <a:r>
              <a:t>C9</a:t>
            </a:r>
          </a:p>
        </p:txBody>
      </p:sp>
      <p:sp>
        <p:nvSpPr>
          <p:cNvPr id="46" name="Rectangle 45"/>
          <p:cNvSpPr/>
          <p:nvPr/>
        </p:nvSpPr>
        <p:spPr>
          <a:xfrm>
            <a:off x="1600200" y="4779771"/>
            <a:ext cx="10015423" cy="308609"/>
          </a:xfrm>
          <a:prstGeom prst="rect">
            <a:avLst/>
          </a:prstGeom>
          <a:solidFill>
            <a:srgbClr val="EFF4F6"/>
          </a:solidFill>
          <a:ln>
            <a:noFill/>
          </a:ln>
          <a:effectLst/>
        </p:spPr>
        <p:txBody>
          <a:bodyPr rtlCol="0" anchor="ctr"/>
          <a:lstStyle/>
          <a:p>
            <a:pPr algn="ctr"/>
          </a:p>
        </p:txBody>
      </p:sp>
      <p:sp>
        <p:nvSpPr>
          <p:cNvPr id="47" name="TextBox 46"/>
          <p:cNvSpPr txBox="1"/>
          <p:nvPr/>
        </p:nvSpPr>
        <p:spPr>
          <a:xfrm>
            <a:off x="1709928" y="4779771"/>
            <a:ext cx="9795967" cy="308609"/>
          </a:xfrm>
          <a:prstGeom prst="rect">
            <a:avLst/>
          </a:prstGeom>
          <a:noFill/>
        </p:spPr>
        <p:txBody>
          <a:bodyPr wrap="square" lIns="0" rIns="0" tIns="0" bIns="0" anchor="ctr">
            <a:spAutoFit/>
          </a:bodyPr>
          <a:lstStyle/>
          <a:p>
            <a:pPr>
              <a:spcAft>
                <a:spcPts val="300"/>
              </a:spcAft>
              <a:defRPr sz="1300" b="0">
                <a:solidFill>
                  <a:srgbClr val="233B4D"/>
                </a:solidFill>
                <a:latin typeface="Aptos"/>
              </a:defRPr>
            </a:pPr>
            <a:r>
              <a:t>The API call is the easy part of the integration</a:t>
            </a:r>
          </a:p>
        </p:txBody>
      </p:sp>
      <p:sp>
        <p:nvSpPr>
          <p:cNvPr id="48" name="Rectangle 47"/>
          <p:cNvSpPr/>
          <p:nvPr/>
        </p:nvSpPr>
        <p:spPr>
          <a:xfrm>
            <a:off x="548640" y="5115813"/>
            <a:ext cx="1024127" cy="308609"/>
          </a:xfrm>
          <a:prstGeom prst="rect">
            <a:avLst/>
          </a:prstGeom>
          <a:solidFill>
            <a:srgbClr val="F8FAFB"/>
          </a:solidFill>
          <a:ln>
            <a:noFill/>
          </a:ln>
          <a:effectLst/>
        </p:spPr>
        <p:txBody>
          <a:bodyPr rtlCol="0" anchor="ctr"/>
          <a:lstStyle/>
          <a:p>
            <a:pPr algn="ctr"/>
          </a:p>
        </p:txBody>
      </p:sp>
      <p:sp>
        <p:nvSpPr>
          <p:cNvPr id="49" name="TextBox 48"/>
          <p:cNvSpPr txBox="1"/>
          <p:nvPr/>
        </p:nvSpPr>
        <p:spPr>
          <a:xfrm>
            <a:off x="658368" y="5115813"/>
            <a:ext cx="804671" cy="308609"/>
          </a:xfrm>
          <a:prstGeom prst="rect">
            <a:avLst/>
          </a:prstGeom>
          <a:noFill/>
        </p:spPr>
        <p:txBody>
          <a:bodyPr wrap="square" lIns="0" rIns="0" tIns="0" bIns="0" anchor="ctr">
            <a:spAutoFit/>
          </a:bodyPr>
          <a:lstStyle/>
          <a:p>
            <a:pPr>
              <a:spcAft>
                <a:spcPts val="300"/>
              </a:spcAft>
              <a:defRPr sz="1300" b="1">
                <a:solidFill>
                  <a:srgbClr val="233B4D"/>
                </a:solidFill>
                <a:latin typeface="Aptos"/>
              </a:defRPr>
            </a:pPr>
            <a:r>
              <a:t>C10</a:t>
            </a:r>
          </a:p>
        </p:txBody>
      </p:sp>
      <p:sp>
        <p:nvSpPr>
          <p:cNvPr id="50" name="Rectangle 49"/>
          <p:cNvSpPr/>
          <p:nvPr/>
        </p:nvSpPr>
        <p:spPr>
          <a:xfrm>
            <a:off x="1600200" y="5115813"/>
            <a:ext cx="10015423" cy="308609"/>
          </a:xfrm>
          <a:prstGeom prst="rect">
            <a:avLst/>
          </a:prstGeom>
          <a:solidFill>
            <a:srgbClr val="F8FAFB"/>
          </a:solidFill>
          <a:ln>
            <a:noFill/>
          </a:ln>
          <a:effectLst/>
        </p:spPr>
        <p:txBody>
          <a:bodyPr rtlCol="0" anchor="ctr"/>
          <a:lstStyle/>
          <a:p>
            <a:pPr algn="ctr"/>
          </a:p>
        </p:txBody>
      </p:sp>
      <p:sp>
        <p:nvSpPr>
          <p:cNvPr id="51" name="TextBox 50"/>
          <p:cNvSpPr txBox="1"/>
          <p:nvPr/>
        </p:nvSpPr>
        <p:spPr>
          <a:xfrm>
            <a:off x="1709928" y="5115813"/>
            <a:ext cx="9795967" cy="308609"/>
          </a:xfrm>
          <a:prstGeom prst="rect">
            <a:avLst/>
          </a:prstGeom>
          <a:noFill/>
        </p:spPr>
        <p:txBody>
          <a:bodyPr wrap="square" lIns="0" rIns="0" tIns="0" bIns="0" anchor="ctr">
            <a:spAutoFit/>
          </a:bodyPr>
          <a:lstStyle/>
          <a:p>
            <a:pPr>
              <a:spcAft>
                <a:spcPts val="300"/>
              </a:spcAft>
              <a:defRPr sz="1300" b="0">
                <a:solidFill>
                  <a:srgbClr val="233B4D"/>
                </a:solidFill>
                <a:latin typeface="Aptos"/>
              </a:defRPr>
            </a:pPr>
            <a:r>
              <a:t>Inference is almost free; people and alternatives decide the economics</a:t>
            </a:r>
          </a:p>
        </p:txBody>
      </p:sp>
      <p:sp>
        <p:nvSpPr>
          <p:cNvPr id="52" name="Rectangle 51"/>
          <p:cNvSpPr/>
          <p:nvPr/>
        </p:nvSpPr>
        <p:spPr>
          <a:xfrm>
            <a:off x="548640" y="5451855"/>
            <a:ext cx="1024127" cy="308609"/>
          </a:xfrm>
          <a:prstGeom prst="rect">
            <a:avLst/>
          </a:prstGeom>
          <a:solidFill>
            <a:srgbClr val="EFF4F6"/>
          </a:solidFill>
          <a:ln>
            <a:noFill/>
          </a:ln>
          <a:effectLst/>
        </p:spPr>
        <p:txBody>
          <a:bodyPr rtlCol="0" anchor="ctr"/>
          <a:lstStyle/>
          <a:p>
            <a:pPr algn="ctr"/>
          </a:p>
        </p:txBody>
      </p:sp>
      <p:sp>
        <p:nvSpPr>
          <p:cNvPr id="53" name="TextBox 52"/>
          <p:cNvSpPr txBox="1"/>
          <p:nvPr/>
        </p:nvSpPr>
        <p:spPr>
          <a:xfrm>
            <a:off x="658368" y="5451855"/>
            <a:ext cx="804671" cy="308609"/>
          </a:xfrm>
          <a:prstGeom prst="rect">
            <a:avLst/>
          </a:prstGeom>
          <a:noFill/>
        </p:spPr>
        <p:txBody>
          <a:bodyPr wrap="square" lIns="0" rIns="0" tIns="0" bIns="0" anchor="ctr">
            <a:spAutoFit/>
          </a:bodyPr>
          <a:lstStyle/>
          <a:p>
            <a:pPr>
              <a:spcAft>
                <a:spcPts val="300"/>
              </a:spcAft>
              <a:defRPr sz="1300" b="1">
                <a:solidFill>
                  <a:srgbClr val="233B4D"/>
                </a:solidFill>
                <a:latin typeface="Aptos"/>
              </a:defRPr>
            </a:pPr>
            <a:r>
              <a:t>C11</a:t>
            </a:r>
          </a:p>
        </p:txBody>
      </p:sp>
      <p:sp>
        <p:nvSpPr>
          <p:cNvPr id="54" name="Rectangle 53"/>
          <p:cNvSpPr/>
          <p:nvPr/>
        </p:nvSpPr>
        <p:spPr>
          <a:xfrm>
            <a:off x="1600200" y="5451855"/>
            <a:ext cx="10015423" cy="308609"/>
          </a:xfrm>
          <a:prstGeom prst="rect">
            <a:avLst/>
          </a:prstGeom>
          <a:solidFill>
            <a:srgbClr val="EFF4F6"/>
          </a:solidFill>
          <a:ln>
            <a:noFill/>
          </a:ln>
          <a:effectLst/>
        </p:spPr>
        <p:txBody>
          <a:bodyPr rtlCol="0" anchor="ctr"/>
          <a:lstStyle/>
          <a:p>
            <a:pPr algn="ctr"/>
          </a:p>
        </p:txBody>
      </p:sp>
      <p:sp>
        <p:nvSpPr>
          <p:cNvPr id="55" name="TextBox 54"/>
          <p:cNvSpPr txBox="1"/>
          <p:nvPr/>
        </p:nvSpPr>
        <p:spPr>
          <a:xfrm>
            <a:off x="1709928" y="5451855"/>
            <a:ext cx="9795967" cy="308609"/>
          </a:xfrm>
          <a:prstGeom prst="rect">
            <a:avLst/>
          </a:prstGeom>
          <a:noFill/>
        </p:spPr>
        <p:txBody>
          <a:bodyPr wrap="square" lIns="0" rIns="0" tIns="0" bIns="0" anchor="ctr">
            <a:spAutoFit/>
          </a:bodyPr>
          <a:lstStyle/>
          <a:p>
            <a:pPr>
              <a:spcAft>
                <a:spcPts val="300"/>
              </a:spcAft>
              <a:defRPr sz="1300" b="0">
                <a:solidFill>
                  <a:srgbClr val="233B4D"/>
                </a:solidFill>
                <a:latin typeface="Aptos"/>
              </a:defRPr>
            </a:pPr>
            <a:r>
              <a:t>Regulatory duties depend on how each use is classified</a:t>
            </a:r>
          </a:p>
        </p:txBody>
      </p:sp>
      <p:sp>
        <p:nvSpPr>
          <p:cNvPr id="56" name="Rectangle 55"/>
          <p:cNvSpPr/>
          <p:nvPr/>
        </p:nvSpPr>
        <p:spPr>
          <a:xfrm>
            <a:off x="548640" y="5787897"/>
            <a:ext cx="1024127" cy="308609"/>
          </a:xfrm>
          <a:prstGeom prst="rect">
            <a:avLst/>
          </a:prstGeom>
          <a:solidFill>
            <a:srgbClr val="F8FAFB"/>
          </a:solidFill>
          <a:ln>
            <a:noFill/>
          </a:ln>
          <a:effectLst/>
        </p:spPr>
        <p:txBody>
          <a:bodyPr rtlCol="0" anchor="ctr"/>
          <a:lstStyle/>
          <a:p>
            <a:pPr algn="ctr"/>
          </a:p>
        </p:txBody>
      </p:sp>
      <p:sp>
        <p:nvSpPr>
          <p:cNvPr id="57" name="TextBox 56"/>
          <p:cNvSpPr txBox="1"/>
          <p:nvPr/>
        </p:nvSpPr>
        <p:spPr>
          <a:xfrm>
            <a:off x="658368" y="5787897"/>
            <a:ext cx="804671" cy="308609"/>
          </a:xfrm>
          <a:prstGeom prst="rect">
            <a:avLst/>
          </a:prstGeom>
          <a:noFill/>
        </p:spPr>
        <p:txBody>
          <a:bodyPr wrap="square" lIns="0" rIns="0" tIns="0" bIns="0" anchor="ctr">
            <a:spAutoFit/>
          </a:bodyPr>
          <a:lstStyle/>
          <a:p>
            <a:pPr>
              <a:spcAft>
                <a:spcPts val="300"/>
              </a:spcAft>
              <a:defRPr sz="1300" b="1">
                <a:solidFill>
                  <a:srgbClr val="233B4D"/>
                </a:solidFill>
                <a:latin typeface="Aptos"/>
              </a:defRPr>
            </a:pPr>
            <a:r>
              <a:t>C12</a:t>
            </a:r>
          </a:p>
        </p:txBody>
      </p:sp>
      <p:sp>
        <p:nvSpPr>
          <p:cNvPr id="58" name="Rectangle 57"/>
          <p:cNvSpPr/>
          <p:nvPr/>
        </p:nvSpPr>
        <p:spPr>
          <a:xfrm>
            <a:off x="1600200" y="5787897"/>
            <a:ext cx="10015423" cy="308609"/>
          </a:xfrm>
          <a:prstGeom prst="rect">
            <a:avLst/>
          </a:prstGeom>
          <a:solidFill>
            <a:srgbClr val="F8FAFB"/>
          </a:solidFill>
          <a:ln>
            <a:noFill/>
          </a:ln>
          <a:effectLst/>
        </p:spPr>
        <p:txBody>
          <a:bodyPr rtlCol="0" anchor="ctr"/>
          <a:lstStyle/>
          <a:p>
            <a:pPr algn="ctr"/>
          </a:p>
        </p:txBody>
      </p:sp>
      <p:sp>
        <p:nvSpPr>
          <p:cNvPr id="59" name="TextBox 58"/>
          <p:cNvSpPr txBox="1"/>
          <p:nvPr/>
        </p:nvSpPr>
        <p:spPr>
          <a:xfrm>
            <a:off x="1709928" y="5787897"/>
            <a:ext cx="9795967" cy="308609"/>
          </a:xfrm>
          <a:prstGeom prst="rect">
            <a:avLst/>
          </a:prstGeom>
          <a:noFill/>
        </p:spPr>
        <p:txBody>
          <a:bodyPr wrap="square" lIns="0" rIns="0" tIns="0" bIns="0" anchor="ctr">
            <a:spAutoFit/>
          </a:bodyPr>
          <a:lstStyle/>
          <a:p>
            <a:pPr>
              <a:spcAft>
                <a:spcPts val="300"/>
              </a:spcAft>
              <a:defRPr sz="1300" b="0">
                <a:solidFill>
                  <a:srgbClr val="233B4D"/>
                </a:solidFill>
                <a:latin typeface="Aptos"/>
              </a:defRPr>
            </a:pPr>
            <a:r>
              <a:t>Someone has to own the questions, the thresholds and on-call trust</a:t>
            </a:r>
          </a:p>
        </p:txBody>
      </p:sp>
      <p:sp>
        <p:nvSpPr>
          <p:cNvPr id="60" name="Rectangle 59"/>
          <p:cNvSpPr/>
          <p:nvPr/>
        </p:nvSpPr>
        <p:spPr>
          <a:xfrm>
            <a:off x="548640" y="6309360"/>
            <a:ext cx="11094415" cy="10972"/>
          </a:xfrm>
          <a:prstGeom prst="rect">
            <a:avLst/>
          </a:prstGeom>
          <a:solidFill>
            <a:srgbClr val="CCD7DD"/>
          </a:solidFill>
          <a:ln>
            <a:noFill/>
          </a:ln>
          <a:effectLst/>
        </p:spPr>
        <p:txBody>
          <a:bodyPr rtlCol="0" anchor="ctr"/>
          <a:lstStyle/>
          <a:p>
            <a:pPr algn="ctr"/>
          </a:p>
        </p:txBody>
      </p:sp>
      <p:sp>
        <p:nvSpPr>
          <p:cNvPr id="61" name="TextBox 60"/>
          <p:cNvSpPr txBox="1"/>
          <p:nvPr/>
        </p:nvSpPr>
        <p:spPr>
          <a:xfrm>
            <a:off x="548640" y="6400800"/>
            <a:ext cx="4572000" cy="201168"/>
          </a:xfrm>
          <a:prstGeom prst="rect">
            <a:avLst/>
          </a:prstGeom>
          <a:noFill/>
        </p:spPr>
        <p:txBody>
          <a:bodyPr wrap="square" lIns="0" rIns="0" tIns="0" bIns="0">
            <a:spAutoFit/>
          </a:bodyPr>
          <a:lstStyle/>
          <a:p>
            <a:pPr>
              <a:spcAft>
                <a:spcPts val="300"/>
              </a:spcAft>
              <a:defRPr sz="900" b="0">
                <a:solidFill>
                  <a:srgbClr val="596A76"/>
                </a:solidFill>
                <a:latin typeface="Aptos"/>
              </a:defRPr>
            </a:pPr>
            <a:r>
              <a:t>For discussion · October 2026</a:t>
            </a:r>
          </a:p>
        </p:txBody>
      </p:sp>
      <p:sp>
        <p:nvSpPr>
          <p:cNvPr id="62" name="TextBox 61"/>
          <p:cNvSpPr txBox="1"/>
          <p:nvPr/>
        </p:nvSpPr>
        <p:spPr>
          <a:xfrm>
            <a:off x="11185855" y="6400800"/>
            <a:ext cx="457200" cy="201168"/>
          </a:xfrm>
          <a:prstGeom prst="rect">
            <a:avLst/>
          </a:prstGeom>
          <a:noFill/>
        </p:spPr>
        <p:txBody>
          <a:bodyPr wrap="square" lIns="0" rIns="0" tIns="0" bIns="0">
            <a:spAutoFit/>
          </a:bodyPr>
          <a:lstStyle/>
          <a:p>
            <a:pPr algn="r">
              <a:spcAft>
                <a:spcPts val="300"/>
              </a:spcAft>
              <a:defRPr sz="900" b="0">
                <a:solidFill>
                  <a:srgbClr val="596A76"/>
                </a:solidFill>
                <a:latin typeface="Aptos"/>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7F82"/>
          </a:solidFill>
          <a:ln>
            <a:noFill/>
          </a:ln>
          <a:effectLst/>
        </p:spPr>
        <p:txBody>
          <a:bodyPr rtlCol="0" anchor="ctr"/>
          <a:lstStyle/>
          <a:p>
            <a:pPr algn="ctr"/>
          </a:p>
        </p:txBody>
      </p:sp>
      <p:sp>
        <p:nvSpPr>
          <p:cNvPr id="3" name="TextBox 2"/>
          <p:cNvSpPr txBox="1"/>
          <p:nvPr/>
        </p:nvSpPr>
        <p:spPr>
          <a:xfrm>
            <a:off x="548640" y="310896"/>
            <a:ext cx="9144000" cy="201168"/>
          </a:xfrm>
          <a:prstGeom prst="rect">
            <a:avLst/>
          </a:prstGeom>
          <a:noFill/>
        </p:spPr>
        <p:txBody>
          <a:bodyPr wrap="square" lIns="0" rIns="0" tIns="0" bIns="0">
            <a:spAutoFit/>
          </a:bodyPr>
          <a:lstStyle/>
          <a:p>
            <a:pPr>
              <a:spcAft>
                <a:spcPts val="300"/>
              </a:spcAft>
              <a:defRPr sz="1000" b="1">
                <a:solidFill>
                  <a:srgbClr val="007F82"/>
                </a:solidFill>
                <a:latin typeface="Aptos"/>
              </a:defRPr>
            </a:pPr>
            <a:r>
              <a:t>APPENDIX A3</a:t>
            </a:r>
          </a:p>
        </p:txBody>
      </p:sp>
      <p:sp>
        <p:nvSpPr>
          <p:cNvPr id="4" name="TextBox 3"/>
          <p:cNvSpPr txBox="1"/>
          <p:nvPr/>
        </p:nvSpPr>
        <p:spPr>
          <a:xfrm>
            <a:off x="548640" y="566928"/>
            <a:ext cx="10149840" cy="469899"/>
          </a:xfrm>
          <a:prstGeom prst="rect">
            <a:avLst/>
          </a:prstGeom>
          <a:noFill/>
        </p:spPr>
        <p:txBody>
          <a:bodyPr wrap="square" lIns="0" rIns="0" tIns="0" bIns="0">
            <a:spAutoFit/>
          </a:bodyPr>
          <a:lstStyle/>
          <a:p>
            <a:pPr>
              <a:spcAft>
                <a:spcPts val="300"/>
              </a:spcAft>
              <a:defRPr sz="2500" b="1">
                <a:solidFill>
                  <a:srgbClr val="142E42"/>
                </a:solidFill>
                <a:latin typeface="Aptos"/>
              </a:defRPr>
            </a:pPr>
            <a:r>
              <a:t>Where a typed model fits, component by component</a:t>
            </a:r>
          </a:p>
        </p:txBody>
      </p:sp>
      <p:sp>
        <p:nvSpPr>
          <p:cNvPr id="5" name="TextBox 4"/>
          <p:cNvSpPr txBox="1"/>
          <p:nvPr/>
        </p:nvSpPr>
        <p:spPr>
          <a:xfrm>
            <a:off x="548640" y="1073404"/>
            <a:ext cx="10149840" cy="279908"/>
          </a:xfrm>
          <a:prstGeom prst="rect">
            <a:avLst/>
          </a:prstGeom>
          <a:noFill/>
        </p:spPr>
        <p:txBody>
          <a:bodyPr wrap="square" lIns="0" rIns="0" tIns="0" bIns="0">
            <a:spAutoFit/>
          </a:bodyPr>
          <a:lstStyle/>
          <a:p>
            <a:pPr>
              <a:spcAft>
                <a:spcPts val="300"/>
              </a:spcAft>
              <a:defRPr sz="1400" b="0">
                <a:solidFill>
                  <a:srgbClr val="596A76"/>
                </a:solidFill>
                <a:latin typeface="Aptos"/>
              </a:defRPr>
            </a:pPr>
            <a:r>
              <a:t>A judgement view from the project's research</a:t>
            </a:r>
          </a:p>
        </p:txBody>
      </p:sp>
      <p:sp>
        <p:nvSpPr>
          <p:cNvPr id="6" name="Rectangle 5"/>
          <p:cNvSpPr/>
          <p:nvPr/>
        </p:nvSpPr>
        <p:spPr>
          <a:xfrm>
            <a:off x="10929823" y="274320"/>
            <a:ext cx="713232" cy="713232"/>
          </a:xfrm>
          <a:prstGeom prst="rect">
            <a:avLst/>
          </a:prstGeom>
          <a:solidFill>
            <a:srgbClr val="EFF4F6"/>
          </a:solidFill>
          <a:ln>
            <a:noFill/>
          </a:ln>
          <a:effectLst/>
        </p:spPr>
        <p:txBody>
          <a:bodyPr rtlCol="0" anchor="ctr"/>
          <a:lstStyle/>
          <a:p>
            <a:pPr algn="ctr"/>
          </a:p>
        </p:txBody>
      </p:sp>
      <p:pic>
        <p:nvPicPr>
          <p:cNvPr id="7" name="Picture 6" descr="grid.png"/>
          <p:cNvPicPr>
            <a:picLocks noChangeAspect="1"/>
          </p:cNvPicPr>
          <p:nvPr/>
        </p:nvPicPr>
        <p:blipFill>
          <a:blip r:embed="rId2"/>
          <a:stretch>
            <a:fillRect/>
          </a:stretch>
        </p:blipFill>
        <p:spPr>
          <a:xfrm>
            <a:off x="11021263" y="365760"/>
            <a:ext cx="530352" cy="530352"/>
          </a:xfrm>
          <a:prstGeom prst="rect">
            <a:avLst/>
          </a:prstGeom>
        </p:spPr>
      </p:pic>
      <p:sp>
        <p:nvSpPr>
          <p:cNvPr id="8" name="Rectangle 7"/>
          <p:cNvSpPr/>
          <p:nvPr/>
        </p:nvSpPr>
        <p:spPr>
          <a:xfrm>
            <a:off x="548640" y="1700784"/>
            <a:ext cx="2866882" cy="363220"/>
          </a:xfrm>
          <a:prstGeom prst="rect">
            <a:avLst/>
          </a:prstGeom>
          <a:solidFill>
            <a:srgbClr val="142E42"/>
          </a:solidFill>
          <a:ln>
            <a:noFill/>
          </a:ln>
          <a:effectLst/>
        </p:spPr>
        <p:txBody>
          <a:bodyPr rtlCol="0" anchor="ctr"/>
          <a:lstStyle/>
          <a:p>
            <a:pPr algn="ctr"/>
          </a:p>
        </p:txBody>
      </p:sp>
      <p:sp>
        <p:nvSpPr>
          <p:cNvPr id="9" name="TextBox 8"/>
          <p:cNvSpPr txBox="1"/>
          <p:nvPr/>
        </p:nvSpPr>
        <p:spPr>
          <a:xfrm>
            <a:off x="658368" y="1700784"/>
            <a:ext cx="2647426" cy="363220"/>
          </a:xfrm>
          <a:prstGeom prst="rect">
            <a:avLst/>
          </a:prstGeom>
          <a:noFill/>
        </p:spPr>
        <p:txBody>
          <a:bodyPr wrap="square" lIns="0" rIns="0" tIns="0" bIns="0" anchor="ctr">
            <a:spAutoFit/>
          </a:bodyPr>
          <a:lstStyle/>
          <a:p>
            <a:pPr>
              <a:spcAft>
                <a:spcPts val="300"/>
              </a:spcAft>
              <a:defRPr sz="1300" b="1">
                <a:solidFill>
                  <a:srgbClr val="FFFFFF"/>
                </a:solidFill>
                <a:latin typeface="Aptos"/>
              </a:defRPr>
            </a:pPr>
            <a:r>
              <a:t>Component</a:t>
            </a:r>
          </a:p>
        </p:txBody>
      </p:sp>
      <p:sp>
        <p:nvSpPr>
          <p:cNvPr id="10" name="Rectangle 9"/>
          <p:cNvSpPr/>
          <p:nvPr/>
        </p:nvSpPr>
        <p:spPr>
          <a:xfrm>
            <a:off x="3442954" y="1700784"/>
            <a:ext cx="3752768" cy="363220"/>
          </a:xfrm>
          <a:prstGeom prst="rect">
            <a:avLst/>
          </a:prstGeom>
          <a:solidFill>
            <a:srgbClr val="142E42"/>
          </a:solidFill>
          <a:ln>
            <a:noFill/>
          </a:ln>
          <a:effectLst/>
        </p:spPr>
        <p:txBody>
          <a:bodyPr rtlCol="0" anchor="ctr"/>
          <a:lstStyle/>
          <a:p>
            <a:pPr algn="ctr"/>
          </a:p>
        </p:txBody>
      </p:sp>
      <p:sp>
        <p:nvSpPr>
          <p:cNvPr id="11" name="TextBox 10"/>
          <p:cNvSpPr txBox="1"/>
          <p:nvPr/>
        </p:nvSpPr>
        <p:spPr>
          <a:xfrm>
            <a:off x="3552682" y="1700784"/>
            <a:ext cx="3533312" cy="363220"/>
          </a:xfrm>
          <a:prstGeom prst="rect">
            <a:avLst/>
          </a:prstGeom>
          <a:noFill/>
        </p:spPr>
        <p:txBody>
          <a:bodyPr wrap="square" lIns="0" rIns="0" tIns="0" bIns="0" anchor="ctr">
            <a:spAutoFit/>
          </a:bodyPr>
          <a:lstStyle/>
          <a:p>
            <a:pPr>
              <a:spcAft>
                <a:spcPts val="300"/>
              </a:spcAft>
              <a:defRPr sz="1300" b="1">
                <a:solidFill>
                  <a:srgbClr val="FFFFFF"/>
                </a:solidFill>
                <a:latin typeface="Aptos"/>
              </a:defRPr>
            </a:pPr>
            <a:r>
              <a:t>Build vs buy</a:t>
            </a:r>
          </a:p>
        </p:txBody>
      </p:sp>
      <p:sp>
        <p:nvSpPr>
          <p:cNvPr id="12" name="Rectangle 11"/>
          <p:cNvSpPr/>
          <p:nvPr/>
        </p:nvSpPr>
        <p:spPr>
          <a:xfrm>
            <a:off x="7223155" y="1700784"/>
            <a:ext cx="4392468" cy="363220"/>
          </a:xfrm>
          <a:prstGeom prst="rect">
            <a:avLst/>
          </a:prstGeom>
          <a:solidFill>
            <a:srgbClr val="142E42"/>
          </a:solidFill>
          <a:ln>
            <a:noFill/>
          </a:ln>
          <a:effectLst/>
        </p:spPr>
        <p:txBody>
          <a:bodyPr rtlCol="0" anchor="ctr"/>
          <a:lstStyle/>
          <a:p>
            <a:pPr algn="ctr"/>
          </a:p>
        </p:txBody>
      </p:sp>
      <p:sp>
        <p:nvSpPr>
          <p:cNvPr id="13" name="TextBox 12"/>
          <p:cNvSpPr txBox="1"/>
          <p:nvPr/>
        </p:nvSpPr>
        <p:spPr>
          <a:xfrm>
            <a:off x="7332883" y="1700784"/>
            <a:ext cx="4173012" cy="363220"/>
          </a:xfrm>
          <a:prstGeom prst="rect">
            <a:avLst/>
          </a:prstGeom>
          <a:noFill/>
        </p:spPr>
        <p:txBody>
          <a:bodyPr wrap="square" lIns="0" rIns="0" tIns="0" bIns="0" anchor="ctr">
            <a:spAutoFit/>
          </a:bodyPr>
          <a:lstStyle/>
          <a:p>
            <a:pPr>
              <a:spcAft>
                <a:spcPts val="300"/>
              </a:spcAft>
              <a:defRPr sz="1300" b="1">
                <a:solidFill>
                  <a:srgbClr val="FFFFFF"/>
                </a:solidFill>
                <a:latin typeface="Aptos"/>
              </a:defRPr>
            </a:pPr>
            <a:r>
              <a:t>Where a typed model fits</a:t>
            </a:r>
          </a:p>
        </p:txBody>
      </p:sp>
      <p:sp>
        <p:nvSpPr>
          <p:cNvPr id="14" name="Rectangle 13"/>
          <p:cNvSpPr/>
          <p:nvPr/>
        </p:nvSpPr>
        <p:spPr>
          <a:xfrm>
            <a:off x="548640" y="2091436"/>
            <a:ext cx="2866882" cy="448056"/>
          </a:xfrm>
          <a:prstGeom prst="rect">
            <a:avLst/>
          </a:prstGeom>
          <a:solidFill>
            <a:srgbClr val="EFF4F6"/>
          </a:solidFill>
          <a:ln>
            <a:noFill/>
          </a:ln>
          <a:effectLst/>
        </p:spPr>
        <p:txBody>
          <a:bodyPr rtlCol="0" anchor="ctr"/>
          <a:lstStyle/>
          <a:p>
            <a:pPr algn="ctr"/>
          </a:p>
        </p:txBody>
      </p:sp>
      <p:sp>
        <p:nvSpPr>
          <p:cNvPr id="15" name="TextBox 14"/>
          <p:cNvSpPr txBox="1"/>
          <p:nvPr/>
        </p:nvSpPr>
        <p:spPr>
          <a:xfrm>
            <a:off x="658368" y="2091436"/>
            <a:ext cx="2647426" cy="448056"/>
          </a:xfrm>
          <a:prstGeom prst="rect">
            <a:avLst/>
          </a:prstGeom>
          <a:noFill/>
        </p:spPr>
        <p:txBody>
          <a:bodyPr wrap="square" lIns="0" rIns="0" tIns="0" bIns="0" anchor="ctr">
            <a:spAutoFit/>
          </a:bodyPr>
          <a:lstStyle/>
          <a:p>
            <a:pPr>
              <a:spcAft>
                <a:spcPts val="300"/>
              </a:spcAft>
              <a:defRPr sz="1500" b="1">
                <a:solidFill>
                  <a:srgbClr val="233B4D"/>
                </a:solidFill>
                <a:latin typeface="Aptos"/>
              </a:defRPr>
            </a:pPr>
            <a:r>
              <a:t>Ingestion / observability</a:t>
            </a:r>
          </a:p>
        </p:txBody>
      </p:sp>
      <p:sp>
        <p:nvSpPr>
          <p:cNvPr id="16" name="Rectangle 15"/>
          <p:cNvSpPr/>
          <p:nvPr/>
        </p:nvSpPr>
        <p:spPr>
          <a:xfrm>
            <a:off x="3442954" y="2091436"/>
            <a:ext cx="3752768" cy="448056"/>
          </a:xfrm>
          <a:prstGeom prst="rect">
            <a:avLst/>
          </a:prstGeom>
          <a:solidFill>
            <a:srgbClr val="EFF4F6"/>
          </a:solidFill>
          <a:ln>
            <a:noFill/>
          </a:ln>
          <a:effectLst/>
        </p:spPr>
        <p:txBody>
          <a:bodyPr rtlCol="0" anchor="ctr"/>
          <a:lstStyle/>
          <a:p>
            <a:pPr algn="ctr"/>
          </a:p>
        </p:txBody>
      </p:sp>
      <p:sp>
        <p:nvSpPr>
          <p:cNvPr id="17" name="TextBox 16"/>
          <p:cNvSpPr txBox="1"/>
          <p:nvPr/>
        </p:nvSpPr>
        <p:spPr>
          <a:xfrm>
            <a:off x="3552682" y="2091436"/>
            <a:ext cx="3533312" cy="448056"/>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Build or buy</a:t>
            </a:r>
          </a:p>
        </p:txBody>
      </p:sp>
      <p:sp>
        <p:nvSpPr>
          <p:cNvPr id="18" name="Rectangle 17"/>
          <p:cNvSpPr/>
          <p:nvPr/>
        </p:nvSpPr>
        <p:spPr>
          <a:xfrm>
            <a:off x="7223155" y="2091436"/>
            <a:ext cx="4392468" cy="448056"/>
          </a:xfrm>
          <a:prstGeom prst="rect">
            <a:avLst/>
          </a:prstGeom>
          <a:solidFill>
            <a:srgbClr val="EFF4F6"/>
          </a:solidFill>
          <a:ln>
            <a:noFill/>
          </a:ln>
          <a:effectLst/>
        </p:spPr>
        <p:txBody>
          <a:bodyPr rtlCol="0" anchor="ctr"/>
          <a:lstStyle/>
          <a:p>
            <a:pPr algn="ctr"/>
          </a:p>
        </p:txBody>
      </p:sp>
      <p:sp>
        <p:nvSpPr>
          <p:cNvPr id="19" name="TextBox 18"/>
          <p:cNvSpPr txBox="1"/>
          <p:nvPr/>
        </p:nvSpPr>
        <p:spPr>
          <a:xfrm>
            <a:off x="7332883" y="2091436"/>
            <a:ext cx="4173012" cy="448056"/>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Not applicable</a:t>
            </a:r>
          </a:p>
        </p:txBody>
      </p:sp>
      <p:sp>
        <p:nvSpPr>
          <p:cNvPr id="20" name="Rectangle 19"/>
          <p:cNvSpPr/>
          <p:nvPr/>
        </p:nvSpPr>
        <p:spPr>
          <a:xfrm>
            <a:off x="548640" y="2566924"/>
            <a:ext cx="2866882" cy="448056"/>
          </a:xfrm>
          <a:prstGeom prst="rect">
            <a:avLst/>
          </a:prstGeom>
          <a:solidFill>
            <a:srgbClr val="F8FAFB"/>
          </a:solidFill>
          <a:ln>
            <a:noFill/>
          </a:ln>
          <a:effectLst/>
        </p:spPr>
        <p:txBody>
          <a:bodyPr rtlCol="0" anchor="ctr"/>
          <a:lstStyle/>
          <a:p>
            <a:pPr algn="ctr"/>
          </a:p>
        </p:txBody>
      </p:sp>
      <p:sp>
        <p:nvSpPr>
          <p:cNvPr id="21" name="TextBox 20"/>
          <p:cNvSpPr txBox="1"/>
          <p:nvPr/>
        </p:nvSpPr>
        <p:spPr>
          <a:xfrm>
            <a:off x="658368" y="2566924"/>
            <a:ext cx="2647426" cy="448056"/>
          </a:xfrm>
          <a:prstGeom prst="rect">
            <a:avLst/>
          </a:prstGeom>
          <a:noFill/>
        </p:spPr>
        <p:txBody>
          <a:bodyPr wrap="square" lIns="0" rIns="0" tIns="0" bIns="0" anchor="ctr">
            <a:spAutoFit/>
          </a:bodyPr>
          <a:lstStyle/>
          <a:p>
            <a:pPr>
              <a:spcAft>
                <a:spcPts val="300"/>
              </a:spcAft>
              <a:defRPr sz="1500" b="1">
                <a:solidFill>
                  <a:srgbClr val="233B4D"/>
                </a:solidFill>
                <a:latin typeface="Aptos"/>
              </a:defRPr>
            </a:pPr>
            <a:r>
              <a:t>Anomaly detection</a:t>
            </a:r>
          </a:p>
        </p:txBody>
      </p:sp>
      <p:sp>
        <p:nvSpPr>
          <p:cNvPr id="22" name="Rectangle 21"/>
          <p:cNvSpPr/>
          <p:nvPr/>
        </p:nvSpPr>
        <p:spPr>
          <a:xfrm>
            <a:off x="3442954" y="2566924"/>
            <a:ext cx="3752768" cy="448056"/>
          </a:xfrm>
          <a:prstGeom prst="rect">
            <a:avLst/>
          </a:prstGeom>
          <a:solidFill>
            <a:srgbClr val="F8FAFB"/>
          </a:solidFill>
          <a:ln>
            <a:noFill/>
          </a:ln>
          <a:effectLst/>
        </p:spPr>
        <p:txBody>
          <a:bodyPr rtlCol="0" anchor="ctr"/>
          <a:lstStyle/>
          <a:p>
            <a:pPr algn="ctr"/>
          </a:p>
        </p:txBody>
      </p:sp>
      <p:sp>
        <p:nvSpPr>
          <p:cNvPr id="23" name="TextBox 22"/>
          <p:cNvSpPr txBox="1"/>
          <p:nvPr/>
        </p:nvSpPr>
        <p:spPr>
          <a:xfrm>
            <a:off x="3552682" y="2566924"/>
            <a:ext cx="3533312" cy="448056"/>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Buy or keep - numeric</a:t>
            </a:r>
          </a:p>
        </p:txBody>
      </p:sp>
      <p:sp>
        <p:nvSpPr>
          <p:cNvPr id="24" name="Rectangle 23"/>
          <p:cNvSpPr/>
          <p:nvPr/>
        </p:nvSpPr>
        <p:spPr>
          <a:xfrm>
            <a:off x="7223155" y="2566924"/>
            <a:ext cx="4392468" cy="448056"/>
          </a:xfrm>
          <a:prstGeom prst="rect">
            <a:avLst/>
          </a:prstGeom>
          <a:solidFill>
            <a:srgbClr val="F8FAFB"/>
          </a:solidFill>
          <a:ln>
            <a:noFill/>
          </a:ln>
          <a:effectLst/>
        </p:spPr>
        <p:txBody>
          <a:bodyPr rtlCol="0" anchor="ctr"/>
          <a:lstStyle/>
          <a:p>
            <a:pPr algn="ctr"/>
          </a:p>
        </p:txBody>
      </p:sp>
      <p:sp>
        <p:nvSpPr>
          <p:cNvPr id="25" name="TextBox 24"/>
          <p:cNvSpPr txBox="1"/>
          <p:nvPr/>
        </p:nvSpPr>
        <p:spPr>
          <a:xfrm>
            <a:off x="7332883" y="2566924"/>
            <a:ext cx="4173012" cy="448056"/>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No fit (weak at numbers)</a:t>
            </a:r>
          </a:p>
        </p:txBody>
      </p:sp>
      <p:sp>
        <p:nvSpPr>
          <p:cNvPr id="26" name="Rectangle 25"/>
          <p:cNvSpPr/>
          <p:nvPr/>
        </p:nvSpPr>
        <p:spPr>
          <a:xfrm>
            <a:off x="548640" y="3042412"/>
            <a:ext cx="2866882" cy="448056"/>
          </a:xfrm>
          <a:prstGeom prst="rect">
            <a:avLst/>
          </a:prstGeom>
          <a:solidFill>
            <a:srgbClr val="EFF4F6"/>
          </a:solidFill>
          <a:ln>
            <a:noFill/>
          </a:ln>
          <a:effectLst/>
        </p:spPr>
        <p:txBody>
          <a:bodyPr rtlCol="0" anchor="ctr"/>
          <a:lstStyle/>
          <a:p>
            <a:pPr algn="ctr"/>
          </a:p>
        </p:txBody>
      </p:sp>
      <p:sp>
        <p:nvSpPr>
          <p:cNvPr id="27" name="TextBox 26"/>
          <p:cNvSpPr txBox="1"/>
          <p:nvPr/>
        </p:nvSpPr>
        <p:spPr>
          <a:xfrm>
            <a:off x="658368" y="3042412"/>
            <a:ext cx="2647426" cy="448056"/>
          </a:xfrm>
          <a:prstGeom prst="rect">
            <a:avLst/>
          </a:prstGeom>
          <a:noFill/>
        </p:spPr>
        <p:txBody>
          <a:bodyPr wrap="square" lIns="0" rIns="0" tIns="0" bIns="0" anchor="ctr">
            <a:spAutoFit/>
          </a:bodyPr>
          <a:lstStyle/>
          <a:p>
            <a:pPr>
              <a:spcAft>
                <a:spcPts val="300"/>
              </a:spcAft>
              <a:defRPr sz="1500" b="1">
                <a:solidFill>
                  <a:srgbClr val="233B4D"/>
                </a:solidFill>
                <a:latin typeface="Aptos"/>
              </a:defRPr>
            </a:pPr>
            <a:r>
              <a:t>Correlation / dedup</a:t>
            </a:r>
          </a:p>
        </p:txBody>
      </p:sp>
      <p:sp>
        <p:nvSpPr>
          <p:cNvPr id="28" name="Rectangle 27"/>
          <p:cNvSpPr/>
          <p:nvPr/>
        </p:nvSpPr>
        <p:spPr>
          <a:xfrm>
            <a:off x="3442954" y="3042412"/>
            <a:ext cx="3752768" cy="448056"/>
          </a:xfrm>
          <a:prstGeom prst="rect">
            <a:avLst/>
          </a:prstGeom>
          <a:solidFill>
            <a:srgbClr val="EFF4F6"/>
          </a:solidFill>
          <a:ln>
            <a:noFill/>
          </a:ln>
          <a:effectLst/>
        </p:spPr>
        <p:txBody>
          <a:bodyPr rtlCol="0" anchor="ctr"/>
          <a:lstStyle/>
          <a:p>
            <a:pPr algn="ctr"/>
          </a:p>
        </p:txBody>
      </p:sp>
      <p:sp>
        <p:nvSpPr>
          <p:cNvPr id="29" name="TextBox 28"/>
          <p:cNvSpPr txBox="1"/>
          <p:nvPr/>
        </p:nvSpPr>
        <p:spPr>
          <a:xfrm>
            <a:off x="3552682" y="3042412"/>
            <a:ext cx="3533312" cy="448056"/>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Hybrid</a:t>
            </a:r>
          </a:p>
        </p:txBody>
      </p:sp>
      <p:sp>
        <p:nvSpPr>
          <p:cNvPr id="30" name="Rectangle 29"/>
          <p:cNvSpPr/>
          <p:nvPr/>
        </p:nvSpPr>
        <p:spPr>
          <a:xfrm>
            <a:off x="7223155" y="3042412"/>
            <a:ext cx="4392468" cy="448056"/>
          </a:xfrm>
          <a:prstGeom prst="rect">
            <a:avLst/>
          </a:prstGeom>
          <a:solidFill>
            <a:srgbClr val="EFF4F6"/>
          </a:solidFill>
          <a:ln>
            <a:noFill/>
          </a:ln>
          <a:effectLst/>
        </p:spPr>
        <p:txBody>
          <a:bodyPr rtlCol="0" anchor="ctr"/>
          <a:lstStyle/>
          <a:p>
            <a:pPr algn="ctr"/>
          </a:p>
        </p:txBody>
      </p:sp>
      <p:sp>
        <p:nvSpPr>
          <p:cNvPr id="31" name="TextBox 30"/>
          <p:cNvSpPr txBox="1"/>
          <p:nvPr/>
        </p:nvSpPr>
        <p:spPr>
          <a:xfrm>
            <a:off x="7332883" y="3042412"/>
            <a:ext cx="4173012" cy="448056"/>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Supplement: 'same incident?' after dedup</a:t>
            </a:r>
          </a:p>
        </p:txBody>
      </p:sp>
      <p:sp>
        <p:nvSpPr>
          <p:cNvPr id="32" name="Rectangle 31"/>
          <p:cNvSpPr/>
          <p:nvPr/>
        </p:nvSpPr>
        <p:spPr>
          <a:xfrm>
            <a:off x="548640" y="3517900"/>
            <a:ext cx="2866882" cy="448056"/>
          </a:xfrm>
          <a:prstGeom prst="rect">
            <a:avLst/>
          </a:prstGeom>
          <a:solidFill>
            <a:srgbClr val="F8FAFB"/>
          </a:solidFill>
          <a:ln>
            <a:noFill/>
          </a:ln>
          <a:effectLst/>
        </p:spPr>
        <p:txBody>
          <a:bodyPr rtlCol="0" anchor="ctr"/>
          <a:lstStyle/>
          <a:p>
            <a:pPr algn="ctr"/>
          </a:p>
        </p:txBody>
      </p:sp>
      <p:sp>
        <p:nvSpPr>
          <p:cNvPr id="33" name="TextBox 32"/>
          <p:cNvSpPr txBox="1"/>
          <p:nvPr/>
        </p:nvSpPr>
        <p:spPr>
          <a:xfrm>
            <a:off x="658368" y="3517900"/>
            <a:ext cx="2647426" cy="448056"/>
          </a:xfrm>
          <a:prstGeom prst="rect">
            <a:avLst/>
          </a:prstGeom>
          <a:noFill/>
        </p:spPr>
        <p:txBody>
          <a:bodyPr wrap="square" lIns="0" rIns="0" tIns="0" bIns="0" anchor="ctr">
            <a:spAutoFit/>
          </a:bodyPr>
          <a:lstStyle/>
          <a:p>
            <a:pPr>
              <a:spcAft>
                <a:spcPts val="300"/>
              </a:spcAft>
              <a:defRPr sz="1500" b="1">
                <a:solidFill>
                  <a:srgbClr val="233B4D"/>
                </a:solidFill>
                <a:latin typeface="Aptos"/>
              </a:defRPr>
            </a:pPr>
            <a:r>
              <a:t>CMDB / topology</a:t>
            </a:r>
          </a:p>
        </p:txBody>
      </p:sp>
      <p:sp>
        <p:nvSpPr>
          <p:cNvPr id="34" name="Rectangle 33"/>
          <p:cNvSpPr/>
          <p:nvPr/>
        </p:nvSpPr>
        <p:spPr>
          <a:xfrm>
            <a:off x="3442954" y="3517900"/>
            <a:ext cx="3752768" cy="448056"/>
          </a:xfrm>
          <a:prstGeom prst="rect">
            <a:avLst/>
          </a:prstGeom>
          <a:solidFill>
            <a:srgbClr val="F8FAFB"/>
          </a:solidFill>
          <a:ln>
            <a:noFill/>
          </a:ln>
          <a:effectLst/>
        </p:spPr>
        <p:txBody>
          <a:bodyPr rtlCol="0" anchor="ctr"/>
          <a:lstStyle/>
          <a:p>
            <a:pPr algn="ctr"/>
          </a:p>
        </p:txBody>
      </p:sp>
      <p:sp>
        <p:nvSpPr>
          <p:cNvPr id="35" name="TextBox 34"/>
          <p:cNvSpPr txBox="1"/>
          <p:nvPr/>
        </p:nvSpPr>
        <p:spPr>
          <a:xfrm>
            <a:off x="3552682" y="3517900"/>
            <a:ext cx="3533312" cy="448056"/>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Keep the system of record</a:t>
            </a:r>
          </a:p>
        </p:txBody>
      </p:sp>
      <p:sp>
        <p:nvSpPr>
          <p:cNvPr id="36" name="Rectangle 35"/>
          <p:cNvSpPr/>
          <p:nvPr/>
        </p:nvSpPr>
        <p:spPr>
          <a:xfrm>
            <a:off x="7223155" y="3517900"/>
            <a:ext cx="4392468" cy="448056"/>
          </a:xfrm>
          <a:prstGeom prst="rect">
            <a:avLst/>
          </a:prstGeom>
          <a:solidFill>
            <a:srgbClr val="F8FAFB"/>
          </a:solidFill>
          <a:ln>
            <a:noFill/>
          </a:ln>
          <a:effectLst/>
        </p:spPr>
        <p:txBody>
          <a:bodyPr rtlCol="0" anchor="ctr"/>
          <a:lstStyle/>
          <a:p>
            <a:pPr algn="ctr"/>
          </a:p>
        </p:txBody>
      </p:sp>
      <p:sp>
        <p:nvSpPr>
          <p:cNvPr id="37" name="TextBox 36"/>
          <p:cNvSpPr txBox="1"/>
          <p:nvPr/>
        </p:nvSpPr>
        <p:spPr>
          <a:xfrm>
            <a:off x="7332883" y="3517900"/>
            <a:ext cx="4173012" cy="448056"/>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Supplement: map text to CI</a:t>
            </a:r>
          </a:p>
        </p:txBody>
      </p:sp>
      <p:sp>
        <p:nvSpPr>
          <p:cNvPr id="38" name="Rectangle 37"/>
          <p:cNvSpPr/>
          <p:nvPr/>
        </p:nvSpPr>
        <p:spPr>
          <a:xfrm>
            <a:off x="548640" y="3993388"/>
            <a:ext cx="2866882" cy="448056"/>
          </a:xfrm>
          <a:prstGeom prst="rect">
            <a:avLst/>
          </a:prstGeom>
          <a:solidFill>
            <a:srgbClr val="EFF4F6"/>
          </a:solidFill>
          <a:ln>
            <a:noFill/>
          </a:ln>
          <a:effectLst/>
        </p:spPr>
        <p:txBody>
          <a:bodyPr rtlCol="0" anchor="ctr"/>
          <a:lstStyle/>
          <a:p>
            <a:pPr algn="ctr"/>
          </a:p>
        </p:txBody>
      </p:sp>
      <p:sp>
        <p:nvSpPr>
          <p:cNvPr id="39" name="TextBox 38"/>
          <p:cNvSpPr txBox="1"/>
          <p:nvPr/>
        </p:nvSpPr>
        <p:spPr>
          <a:xfrm>
            <a:off x="658368" y="3993388"/>
            <a:ext cx="2647426" cy="448056"/>
          </a:xfrm>
          <a:prstGeom prst="rect">
            <a:avLst/>
          </a:prstGeom>
          <a:noFill/>
        </p:spPr>
        <p:txBody>
          <a:bodyPr wrap="square" lIns="0" rIns="0" tIns="0" bIns="0" anchor="ctr">
            <a:spAutoFit/>
          </a:bodyPr>
          <a:lstStyle/>
          <a:p>
            <a:pPr>
              <a:spcAft>
                <a:spcPts val="300"/>
              </a:spcAft>
              <a:defRPr sz="1500" b="1">
                <a:solidFill>
                  <a:srgbClr val="233B4D"/>
                </a:solidFill>
                <a:latin typeface="Aptos"/>
              </a:defRPr>
            </a:pPr>
            <a:r>
              <a:t>Root cause analysis</a:t>
            </a:r>
          </a:p>
        </p:txBody>
      </p:sp>
      <p:sp>
        <p:nvSpPr>
          <p:cNvPr id="40" name="Rectangle 39"/>
          <p:cNvSpPr/>
          <p:nvPr/>
        </p:nvSpPr>
        <p:spPr>
          <a:xfrm>
            <a:off x="3442954" y="3993388"/>
            <a:ext cx="3752768" cy="448056"/>
          </a:xfrm>
          <a:prstGeom prst="rect">
            <a:avLst/>
          </a:prstGeom>
          <a:solidFill>
            <a:srgbClr val="EFF4F6"/>
          </a:solidFill>
          <a:ln>
            <a:noFill/>
          </a:ln>
          <a:effectLst/>
        </p:spPr>
        <p:txBody>
          <a:bodyPr rtlCol="0" anchor="ctr"/>
          <a:lstStyle/>
          <a:p>
            <a:pPr algn="ctr"/>
          </a:p>
        </p:txBody>
      </p:sp>
      <p:sp>
        <p:nvSpPr>
          <p:cNvPr id="41" name="TextBox 40"/>
          <p:cNvSpPr txBox="1"/>
          <p:nvPr/>
        </p:nvSpPr>
        <p:spPr>
          <a:xfrm>
            <a:off x="3552682" y="3993388"/>
            <a:ext cx="3533312" cy="448056"/>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Buy topology RCA or pilot an agent</a:t>
            </a:r>
          </a:p>
        </p:txBody>
      </p:sp>
      <p:sp>
        <p:nvSpPr>
          <p:cNvPr id="42" name="Rectangle 41"/>
          <p:cNvSpPr/>
          <p:nvPr/>
        </p:nvSpPr>
        <p:spPr>
          <a:xfrm>
            <a:off x="7223155" y="3993388"/>
            <a:ext cx="4392468" cy="448056"/>
          </a:xfrm>
          <a:prstGeom prst="rect">
            <a:avLst/>
          </a:prstGeom>
          <a:solidFill>
            <a:srgbClr val="EFF4F6"/>
          </a:solidFill>
          <a:ln>
            <a:noFill/>
          </a:ln>
          <a:effectLst/>
        </p:spPr>
        <p:txBody>
          <a:bodyPr rtlCol="0" anchor="ctr"/>
          <a:lstStyle/>
          <a:p>
            <a:pPr algn="ctr"/>
          </a:p>
        </p:txBody>
      </p:sp>
      <p:sp>
        <p:nvSpPr>
          <p:cNvPr id="43" name="TextBox 42"/>
          <p:cNvSpPr txBox="1"/>
          <p:nvPr/>
        </p:nvSpPr>
        <p:spPr>
          <a:xfrm>
            <a:off x="7332883" y="3993388"/>
            <a:ext cx="4173012" cy="448056"/>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Supplement: rank candidates</a:t>
            </a:r>
          </a:p>
        </p:txBody>
      </p:sp>
      <p:sp>
        <p:nvSpPr>
          <p:cNvPr id="44" name="Rectangle 43"/>
          <p:cNvSpPr/>
          <p:nvPr/>
        </p:nvSpPr>
        <p:spPr>
          <a:xfrm>
            <a:off x="548640" y="4468876"/>
            <a:ext cx="2866882" cy="448056"/>
          </a:xfrm>
          <a:prstGeom prst="rect">
            <a:avLst/>
          </a:prstGeom>
          <a:solidFill>
            <a:srgbClr val="F8FAFB"/>
          </a:solidFill>
          <a:ln>
            <a:noFill/>
          </a:ln>
          <a:effectLst/>
        </p:spPr>
        <p:txBody>
          <a:bodyPr rtlCol="0" anchor="ctr"/>
          <a:lstStyle/>
          <a:p>
            <a:pPr algn="ctr"/>
          </a:p>
        </p:txBody>
      </p:sp>
      <p:sp>
        <p:nvSpPr>
          <p:cNvPr id="45" name="TextBox 44"/>
          <p:cNvSpPr txBox="1"/>
          <p:nvPr/>
        </p:nvSpPr>
        <p:spPr>
          <a:xfrm>
            <a:off x="658368" y="4468876"/>
            <a:ext cx="2647426" cy="448056"/>
          </a:xfrm>
          <a:prstGeom prst="rect">
            <a:avLst/>
          </a:prstGeom>
          <a:noFill/>
        </p:spPr>
        <p:txBody>
          <a:bodyPr wrap="square" lIns="0" rIns="0" tIns="0" bIns="0" anchor="ctr">
            <a:spAutoFit/>
          </a:bodyPr>
          <a:lstStyle/>
          <a:p>
            <a:pPr>
              <a:spcAft>
                <a:spcPts val="300"/>
              </a:spcAft>
              <a:defRPr sz="1500" b="1">
                <a:solidFill>
                  <a:srgbClr val="233B4D"/>
                </a:solidFill>
                <a:latin typeface="Aptos"/>
              </a:defRPr>
            </a:pPr>
            <a:r>
              <a:t>Triage / routing</a:t>
            </a:r>
          </a:p>
        </p:txBody>
      </p:sp>
      <p:sp>
        <p:nvSpPr>
          <p:cNvPr id="46" name="Rectangle 45"/>
          <p:cNvSpPr/>
          <p:nvPr/>
        </p:nvSpPr>
        <p:spPr>
          <a:xfrm>
            <a:off x="3442954" y="4468876"/>
            <a:ext cx="3752768" cy="448056"/>
          </a:xfrm>
          <a:prstGeom prst="rect">
            <a:avLst/>
          </a:prstGeom>
          <a:solidFill>
            <a:srgbClr val="F8FAFB"/>
          </a:solidFill>
          <a:ln>
            <a:noFill/>
          </a:ln>
          <a:effectLst/>
        </p:spPr>
        <p:txBody>
          <a:bodyPr rtlCol="0" anchor="ctr"/>
          <a:lstStyle/>
          <a:p>
            <a:pPr algn="ctr"/>
          </a:p>
        </p:txBody>
      </p:sp>
      <p:sp>
        <p:nvSpPr>
          <p:cNvPr id="47" name="TextBox 46"/>
          <p:cNvSpPr txBox="1"/>
          <p:nvPr/>
        </p:nvSpPr>
        <p:spPr>
          <a:xfrm>
            <a:off x="3552682" y="4468876"/>
            <a:ext cx="3533312" cy="448056"/>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Strongest build candidate</a:t>
            </a:r>
          </a:p>
        </p:txBody>
      </p:sp>
      <p:sp>
        <p:nvSpPr>
          <p:cNvPr id="48" name="Rectangle 47"/>
          <p:cNvSpPr/>
          <p:nvPr/>
        </p:nvSpPr>
        <p:spPr>
          <a:xfrm>
            <a:off x="7223155" y="4468876"/>
            <a:ext cx="4392468" cy="448056"/>
          </a:xfrm>
          <a:prstGeom prst="rect">
            <a:avLst/>
          </a:prstGeom>
          <a:solidFill>
            <a:srgbClr val="F8FAFB"/>
          </a:solidFill>
          <a:ln>
            <a:noFill/>
          </a:ln>
          <a:effectLst/>
        </p:spPr>
        <p:txBody>
          <a:bodyPr rtlCol="0" anchor="ctr"/>
          <a:lstStyle/>
          <a:p>
            <a:pPr algn="ctr"/>
          </a:p>
        </p:txBody>
      </p:sp>
      <p:sp>
        <p:nvSpPr>
          <p:cNvPr id="49" name="TextBox 48"/>
          <p:cNvSpPr txBox="1"/>
          <p:nvPr/>
        </p:nvSpPr>
        <p:spPr>
          <a:xfrm>
            <a:off x="7332883" y="4468876"/>
            <a:ext cx="4173012" cy="448056"/>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Primary use</a:t>
            </a:r>
          </a:p>
        </p:txBody>
      </p:sp>
      <p:sp>
        <p:nvSpPr>
          <p:cNvPr id="50" name="Rectangle 49"/>
          <p:cNvSpPr/>
          <p:nvPr/>
        </p:nvSpPr>
        <p:spPr>
          <a:xfrm>
            <a:off x="548640" y="4944364"/>
            <a:ext cx="2866882" cy="448056"/>
          </a:xfrm>
          <a:prstGeom prst="rect">
            <a:avLst/>
          </a:prstGeom>
          <a:solidFill>
            <a:srgbClr val="EFF4F6"/>
          </a:solidFill>
          <a:ln>
            <a:noFill/>
          </a:ln>
          <a:effectLst/>
        </p:spPr>
        <p:txBody>
          <a:bodyPr rtlCol="0" anchor="ctr"/>
          <a:lstStyle/>
          <a:p>
            <a:pPr algn="ctr"/>
          </a:p>
        </p:txBody>
      </p:sp>
      <p:sp>
        <p:nvSpPr>
          <p:cNvPr id="51" name="TextBox 50"/>
          <p:cNvSpPr txBox="1"/>
          <p:nvPr/>
        </p:nvSpPr>
        <p:spPr>
          <a:xfrm>
            <a:off x="658368" y="4944364"/>
            <a:ext cx="2647426" cy="448056"/>
          </a:xfrm>
          <a:prstGeom prst="rect">
            <a:avLst/>
          </a:prstGeom>
          <a:noFill/>
        </p:spPr>
        <p:txBody>
          <a:bodyPr wrap="square" lIns="0" rIns="0" tIns="0" bIns="0" anchor="ctr">
            <a:spAutoFit/>
          </a:bodyPr>
          <a:lstStyle/>
          <a:p>
            <a:pPr>
              <a:spcAft>
                <a:spcPts val="300"/>
              </a:spcAft>
              <a:defRPr sz="1500" b="1">
                <a:solidFill>
                  <a:srgbClr val="233B4D"/>
                </a:solidFill>
                <a:latin typeface="Aptos"/>
              </a:defRPr>
            </a:pPr>
            <a:r>
              <a:t>Runbooks / remediation</a:t>
            </a:r>
          </a:p>
        </p:txBody>
      </p:sp>
      <p:sp>
        <p:nvSpPr>
          <p:cNvPr id="52" name="Rectangle 51"/>
          <p:cNvSpPr/>
          <p:nvPr/>
        </p:nvSpPr>
        <p:spPr>
          <a:xfrm>
            <a:off x="3442954" y="4944364"/>
            <a:ext cx="3752768" cy="448056"/>
          </a:xfrm>
          <a:prstGeom prst="rect">
            <a:avLst/>
          </a:prstGeom>
          <a:solidFill>
            <a:srgbClr val="EFF4F6"/>
          </a:solidFill>
          <a:ln>
            <a:noFill/>
          </a:ln>
          <a:effectLst/>
        </p:spPr>
        <p:txBody>
          <a:bodyPr rtlCol="0" anchor="ctr"/>
          <a:lstStyle/>
          <a:p>
            <a:pPr algn="ctr"/>
          </a:p>
        </p:txBody>
      </p:sp>
      <p:sp>
        <p:nvSpPr>
          <p:cNvPr id="53" name="TextBox 52"/>
          <p:cNvSpPr txBox="1"/>
          <p:nvPr/>
        </p:nvSpPr>
        <p:spPr>
          <a:xfrm>
            <a:off x="3552682" y="4944364"/>
            <a:ext cx="3533312" cy="448056"/>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Build is viable</a:t>
            </a:r>
          </a:p>
        </p:txBody>
      </p:sp>
      <p:sp>
        <p:nvSpPr>
          <p:cNvPr id="54" name="Rectangle 53"/>
          <p:cNvSpPr/>
          <p:nvPr/>
        </p:nvSpPr>
        <p:spPr>
          <a:xfrm>
            <a:off x="7223155" y="4944364"/>
            <a:ext cx="4392468" cy="448056"/>
          </a:xfrm>
          <a:prstGeom prst="rect">
            <a:avLst/>
          </a:prstGeom>
          <a:solidFill>
            <a:srgbClr val="EFF4F6"/>
          </a:solidFill>
          <a:ln>
            <a:noFill/>
          </a:ln>
          <a:effectLst/>
        </p:spPr>
        <p:txBody>
          <a:bodyPr rtlCol="0" anchor="ctr"/>
          <a:lstStyle/>
          <a:p>
            <a:pPr algn="ctr"/>
          </a:p>
        </p:txBody>
      </p:sp>
      <p:sp>
        <p:nvSpPr>
          <p:cNvPr id="55" name="TextBox 54"/>
          <p:cNvSpPr txBox="1"/>
          <p:nvPr/>
        </p:nvSpPr>
        <p:spPr>
          <a:xfrm>
            <a:off x="7332883" y="4944364"/>
            <a:ext cx="4173012" cy="448056"/>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Gate only, never authority</a:t>
            </a:r>
          </a:p>
        </p:txBody>
      </p:sp>
      <p:sp>
        <p:nvSpPr>
          <p:cNvPr id="56" name="Rectangle 55"/>
          <p:cNvSpPr/>
          <p:nvPr/>
        </p:nvSpPr>
        <p:spPr>
          <a:xfrm>
            <a:off x="548640" y="6309360"/>
            <a:ext cx="11094415" cy="10972"/>
          </a:xfrm>
          <a:prstGeom prst="rect">
            <a:avLst/>
          </a:prstGeom>
          <a:solidFill>
            <a:srgbClr val="CCD7DD"/>
          </a:solidFill>
          <a:ln>
            <a:noFill/>
          </a:ln>
          <a:effectLst/>
        </p:spPr>
        <p:txBody>
          <a:bodyPr rtlCol="0" anchor="ctr"/>
          <a:lstStyle/>
          <a:p>
            <a:pPr algn="ctr"/>
          </a:p>
        </p:txBody>
      </p:sp>
      <p:sp>
        <p:nvSpPr>
          <p:cNvPr id="57" name="TextBox 56"/>
          <p:cNvSpPr txBox="1"/>
          <p:nvPr/>
        </p:nvSpPr>
        <p:spPr>
          <a:xfrm>
            <a:off x="548640" y="6400800"/>
            <a:ext cx="4572000" cy="201168"/>
          </a:xfrm>
          <a:prstGeom prst="rect">
            <a:avLst/>
          </a:prstGeom>
          <a:noFill/>
        </p:spPr>
        <p:txBody>
          <a:bodyPr wrap="square" lIns="0" rIns="0" tIns="0" bIns="0">
            <a:spAutoFit/>
          </a:bodyPr>
          <a:lstStyle/>
          <a:p>
            <a:pPr>
              <a:spcAft>
                <a:spcPts val="300"/>
              </a:spcAft>
              <a:defRPr sz="900" b="0">
                <a:solidFill>
                  <a:srgbClr val="596A76"/>
                </a:solidFill>
                <a:latin typeface="Aptos"/>
              </a:defRPr>
            </a:pPr>
            <a:r>
              <a:t>For discussion · October 2026</a:t>
            </a:r>
          </a:p>
        </p:txBody>
      </p:sp>
      <p:sp>
        <p:nvSpPr>
          <p:cNvPr id="58" name="TextBox 57"/>
          <p:cNvSpPr txBox="1"/>
          <p:nvPr/>
        </p:nvSpPr>
        <p:spPr>
          <a:xfrm>
            <a:off x="10929480" y="6400800"/>
            <a:ext cx="164934" cy="201168"/>
          </a:xfrm>
          <a:prstGeom prst="rect">
            <a:avLst/>
          </a:prstGeom>
          <a:noFill/>
        </p:spPr>
        <p:txBody>
          <a:bodyPr wrap="square" lIns="0" rIns="0" tIns="0" bIns="0">
            <a:spAutoFit/>
          </a:bodyPr>
          <a:lstStyle/>
          <a:p>
            <a:pPr>
              <a:spcAft>
                <a:spcPts val="300"/>
              </a:spcAft>
              <a:defRPr sz="900" b="1">
                <a:solidFill>
                  <a:srgbClr val="007F82"/>
                </a:solidFill>
                <a:latin typeface="Aptos"/>
              </a:defRPr>
            </a:pPr>
            <a:r>
              <a:rPr>
                <a:hlinkClick r:id="rId3"/>
              </a:rPr>
              <a:t>S6</a:t>
            </a:r>
          </a:p>
        </p:txBody>
      </p:sp>
      <p:sp>
        <p:nvSpPr>
          <p:cNvPr id="59" name="TextBox 58"/>
          <p:cNvSpPr txBox="1"/>
          <p:nvPr/>
        </p:nvSpPr>
        <p:spPr>
          <a:xfrm>
            <a:off x="10783176" y="6400800"/>
            <a:ext cx="91440" cy="201168"/>
          </a:xfrm>
          <a:prstGeom prst="rect">
            <a:avLst/>
          </a:prstGeom>
          <a:noFill/>
        </p:spPr>
        <p:txBody>
          <a:bodyPr wrap="square" lIns="0" rIns="0" tIns="0" bIns="0">
            <a:spAutoFit/>
          </a:bodyPr>
          <a:lstStyle/>
          <a:p>
            <a:pPr algn="ctr">
              <a:spcAft>
                <a:spcPts val="300"/>
              </a:spcAft>
              <a:defRPr sz="900" b="0">
                <a:solidFill>
                  <a:srgbClr val="596A76"/>
                </a:solidFill>
                <a:latin typeface="Aptos"/>
              </a:defRPr>
            </a:pPr>
            <a:r>
              <a:t>·</a:t>
            </a:r>
          </a:p>
        </p:txBody>
      </p:sp>
      <p:sp>
        <p:nvSpPr>
          <p:cNvPr id="60" name="TextBox 59"/>
          <p:cNvSpPr txBox="1"/>
          <p:nvPr/>
        </p:nvSpPr>
        <p:spPr>
          <a:xfrm>
            <a:off x="10618241" y="6400800"/>
            <a:ext cx="164934" cy="201168"/>
          </a:xfrm>
          <a:prstGeom prst="rect">
            <a:avLst/>
          </a:prstGeom>
          <a:noFill/>
        </p:spPr>
        <p:txBody>
          <a:bodyPr wrap="square" lIns="0" rIns="0" tIns="0" bIns="0">
            <a:spAutoFit/>
          </a:bodyPr>
          <a:lstStyle/>
          <a:p>
            <a:pPr>
              <a:spcAft>
                <a:spcPts val="300"/>
              </a:spcAft>
              <a:defRPr sz="900" b="1">
                <a:solidFill>
                  <a:srgbClr val="007F82"/>
                </a:solidFill>
                <a:latin typeface="Aptos"/>
              </a:defRPr>
            </a:pPr>
            <a:r>
              <a:rPr>
                <a:hlinkClick r:id="rId4"/>
              </a:rPr>
              <a:t>S1</a:t>
            </a:r>
          </a:p>
        </p:txBody>
      </p:sp>
      <p:sp>
        <p:nvSpPr>
          <p:cNvPr id="61" name="TextBox 60"/>
          <p:cNvSpPr txBox="1"/>
          <p:nvPr/>
        </p:nvSpPr>
        <p:spPr>
          <a:xfrm>
            <a:off x="10069601" y="6400800"/>
            <a:ext cx="493776" cy="201168"/>
          </a:xfrm>
          <a:prstGeom prst="rect">
            <a:avLst/>
          </a:prstGeom>
          <a:noFill/>
        </p:spPr>
        <p:txBody>
          <a:bodyPr wrap="square" lIns="0" rIns="0" tIns="0" bIns="0">
            <a:spAutoFit/>
          </a:bodyPr>
          <a:lstStyle/>
          <a:p>
            <a:pPr algn="r">
              <a:spcAft>
                <a:spcPts val="300"/>
              </a:spcAft>
              <a:defRPr sz="900" b="0">
                <a:solidFill>
                  <a:srgbClr val="596A76"/>
                </a:solidFill>
                <a:latin typeface="Aptos"/>
              </a:defRPr>
            </a:pPr>
            <a:r>
              <a:t>Sources</a:t>
            </a:r>
          </a:p>
        </p:txBody>
      </p:sp>
      <p:sp>
        <p:nvSpPr>
          <p:cNvPr id="62" name="TextBox 61"/>
          <p:cNvSpPr txBox="1"/>
          <p:nvPr/>
        </p:nvSpPr>
        <p:spPr>
          <a:xfrm>
            <a:off x="11185855" y="6400800"/>
            <a:ext cx="457200" cy="201168"/>
          </a:xfrm>
          <a:prstGeom prst="rect">
            <a:avLst/>
          </a:prstGeom>
          <a:noFill/>
        </p:spPr>
        <p:txBody>
          <a:bodyPr wrap="square" lIns="0" rIns="0" tIns="0" bIns="0">
            <a:spAutoFit/>
          </a:bodyPr>
          <a:lstStyle/>
          <a:p>
            <a:pPr algn="r">
              <a:spcAft>
                <a:spcPts val="300"/>
              </a:spcAft>
              <a:defRPr sz="900" b="0">
                <a:solidFill>
                  <a:srgbClr val="596A76"/>
                </a:solidFill>
                <a:latin typeface="Aptos"/>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7F82"/>
          </a:solidFill>
          <a:ln>
            <a:noFill/>
          </a:ln>
          <a:effectLst/>
        </p:spPr>
        <p:txBody>
          <a:bodyPr rtlCol="0" anchor="ctr"/>
          <a:lstStyle/>
          <a:p>
            <a:pPr algn="ctr"/>
          </a:p>
        </p:txBody>
      </p:sp>
      <p:sp>
        <p:nvSpPr>
          <p:cNvPr id="3" name="TextBox 2"/>
          <p:cNvSpPr txBox="1"/>
          <p:nvPr/>
        </p:nvSpPr>
        <p:spPr>
          <a:xfrm>
            <a:off x="548640" y="310896"/>
            <a:ext cx="9144000" cy="201168"/>
          </a:xfrm>
          <a:prstGeom prst="rect">
            <a:avLst/>
          </a:prstGeom>
          <a:noFill/>
        </p:spPr>
        <p:txBody>
          <a:bodyPr wrap="square" lIns="0" rIns="0" tIns="0" bIns="0">
            <a:spAutoFit/>
          </a:bodyPr>
          <a:lstStyle/>
          <a:p>
            <a:pPr>
              <a:spcAft>
                <a:spcPts val="300"/>
              </a:spcAft>
              <a:defRPr sz="1000" b="1">
                <a:solidFill>
                  <a:srgbClr val="007F82"/>
                </a:solidFill>
                <a:latin typeface="Aptos"/>
              </a:defRPr>
            </a:pPr>
            <a:r>
              <a:t>APPENDIX A4</a:t>
            </a:r>
          </a:p>
        </p:txBody>
      </p:sp>
      <p:sp>
        <p:nvSpPr>
          <p:cNvPr id="4" name="TextBox 3"/>
          <p:cNvSpPr txBox="1"/>
          <p:nvPr/>
        </p:nvSpPr>
        <p:spPr>
          <a:xfrm>
            <a:off x="548640" y="566928"/>
            <a:ext cx="10149840" cy="850899"/>
          </a:xfrm>
          <a:prstGeom prst="rect">
            <a:avLst/>
          </a:prstGeom>
          <a:noFill/>
        </p:spPr>
        <p:txBody>
          <a:bodyPr wrap="square" lIns="0" rIns="0" tIns="0" bIns="0">
            <a:spAutoFit/>
          </a:bodyPr>
          <a:lstStyle/>
          <a:p>
            <a:pPr>
              <a:spcAft>
                <a:spcPts val="300"/>
              </a:spcAft>
              <a:defRPr sz="2500" b="1">
                <a:solidFill>
                  <a:srgbClr val="142E42"/>
                </a:solidFill>
                <a:latin typeface="Aptos"/>
              </a:defRPr>
            </a:pPr>
            <a:r>
              <a:t>Risks, security and compliance, and how each could be contained</a:t>
            </a:r>
          </a:p>
        </p:txBody>
      </p:sp>
      <p:sp>
        <p:nvSpPr>
          <p:cNvPr id="5" name="TextBox 4"/>
          <p:cNvSpPr txBox="1"/>
          <p:nvPr/>
        </p:nvSpPr>
        <p:spPr>
          <a:xfrm>
            <a:off x="548640" y="1454404"/>
            <a:ext cx="10149840" cy="279908"/>
          </a:xfrm>
          <a:prstGeom prst="rect">
            <a:avLst/>
          </a:prstGeom>
          <a:noFill/>
        </p:spPr>
        <p:txBody>
          <a:bodyPr wrap="square" lIns="0" rIns="0" tIns="0" bIns="0">
            <a:spAutoFit/>
          </a:bodyPr>
          <a:lstStyle/>
          <a:p>
            <a:pPr>
              <a:spcAft>
                <a:spcPts val="300"/>
              </a:spcAft>
              <a:defRPr sz="1400" b="0">
                <a:solidFill>
                  <a:srgbClr val="596A76"/>
                </a:solidFill>
                <a:latin typeface="Aptos"/>
              </a:defRPr>
            </a:pPr>
            <a:r>
              <a:t>The conditions a real test would manage</a:t>
            </a:r>
          </a:p>
        </p:txBody>
      </p:sp>
      <p:sp>
        <p:nvSpPr>
          <p:cNvPr id="6" name="Rectangle 5"/>
          <p:cNvSpPr/>
          <p:nvPr/>
        </p:nvSpPr>
        <p:spPr>
          <a:xfrm>
            <a:off x="10929823" y="274320"/>
            <a:ext cx="713232" cy="713232"/>
          </a:xfrm>
          <a:prstGeom prst="rect">
            <a:avLst/>
          </a:prstGeom>
          <a:solidFill>
            <a:srgbClr val="EFF4F6"/>
          </a:solidFill>
          <a:ln>
            <a:noFill/>
          </a:ln>
          <a:effectLst/>
        </p:spPr>
        <p:txBody>
          <a:bodyPr rtlCol="0" anchor="ctr"/>
          <a:lstStyle/>
          <a:p>
            <a:pPr algn="ctr"/>
          </a:p>
        </p:txBody>
      </p:sp>
      <p:pic>
        <p:nvPicPr>
          <p:cNvPr id="7" name="Picture 6" descr="shield.png"/>
          <p:cNvPicPr>
            <a:picLocks noChangeAspect="1"/>
          </p:cNvPicPr>
          <p:nvPr/>
        </p:nvPicPr>
        <p:blipFill>
          <a:blip r:embed="rId2"/>
          <a:stretch>
            <a:fillRect/>
          </a:stretch>
        </p:blipFill>
        <p:spPr>
          <a:xfrm>
            <a:off x="11021263" y="365760"/>
            <a:ext cx="530352" cy="530352"/>
          </a:xfrm>
          <a:prstGeom prst="rect">
            <a:avLst/>
          </a:prstGeom>
        </p:spPr>
      </p:pic>
      <p:sp>
        <p:nvSpPr>
          <p:cNvPr id="8" name="Rectangle 7"/>
          <p:cNvSpPr/>
          <p:nvPr/>
        </p:nvSpPr>
        <p:spPr>
          <a:xfrm>
            <a:off x="548640" y="2081783"/>
            <a:ext cx="4362145" cy="363220"/>
          </a:xfrm>
          <a:prstGeom prst="rect">
            <a:avLst/>
          </a:prstGeom>
          <a:solidFill>
            <a:srgbClr val="142E42"/>
          </a:solidFill>
          <a:ln>
            <a:noFill/>
          </a:ln>
          <a:effectLst/>
        </p:spPr>
        <p:txBody>
          <a:bodyPr rtlCol="0" anchor="ctr"/>
          <a:lstStyle/>
          <a:p>
            <a:pPr algn="ctr"/>
          </a:p>
        </p:txBody>
      </p:sp>
      <p:sp>
        <p:nvSpPr>
          <p:cNvPr id="9" name="TextBox 8"/>
          <p:cNvSpPr txBox="1"/>
          <p:nvPr/>
        </p:nvSpPr>
        <p:spPr>
          <a:xfrm>
            <a:off x="658368" y="2081783"/>
            <a:ext cx="4142689" cy="363220"/>
          </a:xfrm>
          <a:prstGeom prst="rect">
            <a:avLst/>
          </a:prstGeom>
          <a:noFill/>
        </p:spPr>
        <p:txBody>
          <a:bodyPr wrap="square" lIns="0" rIns="0" tIns="0" bIns="0" anchor="ctr">
            <a:spAutoFit/>
          </a:bodyPr>
          <a:lstStyle/>
          <a:p>
            <a:pPr>
              <a:spcAft>
                <a:spcPts val="300"/>
              </a:spcAft>
              <a:defRPr sz="1300" b="1">
                <a:solidFill>
                  <a:srgbClr val="FFFFFF"/>
                </a:solidFill>
                <a:latin typeface="Aptos"/>
              </a:defRPr>
            </a:pPr>
            <a:r>
              <a:t>Risk</a:t>
            </a:r>
          </a:p>
        </p:txBody>
      </p:sp>
      <p:sp>
        <p:nvSpPr>
          <p:cNvPr id="10" name="Rectangle 9"/>
          <p:cNvSpPr/>
          <p:nvPr/>
        </p:nvSpPr>
        <p:spPr>
          <a:xfrm>
            <a:off x="4938217" y="2081783"/>
            <a:ext cx="6677406" cy="363220"/>
          </a:xfrm>
          <a:prstGeom prst="rect">
            <a:avLst/>
          </a:prstGeom>
          <a:solidFill>
            <a:srgbClr val="142E42"/>
          </a:solidFill>
          <a:ln>
            <a:noFill/>
          </a:ln>
          <a:effectLst/>
        </p:spPr>
        <p:txBody>
          <a:bodyPr rtlCol="0" anchor="ctr"/>
          <a:lstStyle/>
          <a:p>
            <a:pPr algn="ctr"/>
          </a:p>
        </p:txBody>
      </p:sp>
      <p:sp>
        <p:nvSpPr>
          <p:cNvPr id="11" name="TextBox 10"/>
          <p:cNvSpPr txBox="1"/>
          <p:nvPr/>
        </p:nvSpPr>
        <p:spPr>
          <a:xfrm>
            <a:off x="5047945" y="2081783"/>
            <a:ext cx="6457950" cy="363220"/>
          </a:xfrm>
          <a:prstGeom prst="rect">
            <a:avLst/>
          </a:prstGeom>
          <a:noFill/>
        </p:spPr>
        <p:txBody>
          <a:bodyPr wrap="square" lIns="0" rIns="0" tIns="0" bIns="0" anchor="ctr">
            <a:spAutoFit/>
          </a:bodyPr>
          <a:lstStyle/>
          <a:p>
            <a:pPr>
              <a:spcAft>
                <a:spcPts val="300"/>
              </a:spcAft>
              <a:defRPr sz="1300" b="1">
                <a:solidFill>
                  <a:srgbClr val="FFFFFF"/>
                </a:solidFill>
                <a:latin typeface="Aptos"/>
              </a:defRPr>
            </a:pPr>
            <a:r>
              <a:t>Containment</a:t>
            </a:r>
          </a:p>
        </p:txBody>
      </p:sp>
      <p:sp>
        <p:nvSpPr>
          <p:cNvPr id="12" name="Rectangle 11"/>
          <p:cNvSpPr/>
          <p:nvPr/>
        </p:nvSpPr>
        <p:spPr>
          <a:xfrm>
            <a:off x="548640" y="2472436"/>
            <a:ext cx="4362145" cy="644652"/>
          </a:xfrm>
          <a:prstGeom prst="rect">
            <a:avLst/>
          </a:prstGeom>
          <a:solidFill>
            <a:srgbClr val="EFF4F6"/>
          </a:solidFill>
          <a:ln>
            <a:noFill/>
          </a:ln>
          <a:effectLst/>
        </p:spPr>
        <p:txBody>
          <a:bodyPr rtlCol="0" anchor="ctr"/>
          <a:lstStyle/>
          <a:p>
            <a:pPr algn="ctr"/>
          </a:p>
        </p:txBody>
      </p:sp>
      <p:sp>
        <p:nvSpPr>
          <p:cNvPr id="13" name="TextBox 12"/>
          <p:cNvSpPr txBox="1"/>
          <p:nvPr/>
        </p:nvSpPr>
        <p:spPr>
          <a:xfrm>
            <a:off x="658368" y="2472436"/>
            <a:ext cx="4142689" cy="644652"/>
          </a:xfrm>
          <a:prstGeom prst="rect">
            <a:avLst/>
          </a:prstGeom>
          <a:noFill/>
        </p:spPr>
        <p:txBody>
          <a:bodyPr wrap="square" lIns="0" rIns="0" tIns="0" bIns="0" anchor="ctr">
            <a:spAutoFit/>
          </a:bodyPr>
          <a:lstStyle/>
          <a:p>
            <a:pPr>
              <a:spcAft>
                <a:spcPts val="300"/>
              </a:spcAft>
              <a:defRPr sz="1500" b="1">
                <a:solidFill>
                  <a:srgbClr val="233B4D"/>
                </a:solidFill>
                <a:latin typeface="Aptos"/>
              </a:defRPr>
            </a:pPr>
            <a:r>
              <a:t>Adversarial text in tickets or logs can move an answer</a:t>
            </a:r>
          </a:p>
        </p:txBody>
      </p:sp>
      <p:sp>
        <p:nvSpPr>
          <p:cNvPr id="14" name="Rectangle 13"/>
          <p:cNvSpPr/>
          <p:nvPr/>
        </p:nvSpPr>
        <p:spPr>
          <a:xfrm>
            <a:off x="4938217" y="2472436"/>
            <a:ext cx="6677406" cy="644652"/>
          </a:xfrm>
          <a:prstGeom prst="rect">
            <a:avLst/>
          </a:prstGeom>
          <a:solidFill>
            <a:srgbClr val="EFF4F6"/>
          </a:solidFill>
          <a:ln>
            <a:noFill/>
          </a:ln>
          <a:effectLst/>
        </p:spPr>
        <p:txBody>
          <a:bodyPr rtlCol="0" anchor="ctr"/>
          <a:lstStyle/>
          <a:p>
            <a:pPr algn="ctr"/>
          </a:p>
        </p:txBody>
      </p:sp>
      <p:sp>
        <p:nvSpPr>
          <p:cNvPr id="15" name="TextBox 14"/>
          <p:cNvSpPr txBox="1"/>
          <p:nvPr/>
        </p:nvSpPr>
        <p:spPr>
          <a:xfrm>
            <a:off x="5047945" y="2472436"/>
            <a:ext cx="6457950" cy="64465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Keep untrusted text out of questions that gate actions; keep action authority outside the model</a:t>
            </a:r>
          </a:p>
        </p:txBody>
      </p:sp>
      <p:sp>
        <p:nvSpPr>
          <p:cNvPr id="16" name="Rectangle 15"/>
          <p:cNvSpPr/>
          <p:nvPr/>
        </p:nvSpPr>
        <p:spPr>
          <a:xfrm>
            <a:off x="548640" y="3144520"/>
            <a:ext cx="4362145" cy="448056"/>
          </a:xfrm>
          <a:prstGeom prst="rect">
            <a:avLst/>
          </a:prstGeom>
          <a:solidFill>
            <a:srgbClr val="F8FAFB"/>
          </a:solidFill>
          <a:ln>
            <a:noFill/>
          </a:ln>
          <a:effectLst/>
        </p:spPr>
        <p:txBody>
          <a:bodyPr rtlCol="0" anchor="ctr"/>
          <a:lstStyle/>
          <a:p>
            <a:pPr algn="ctr"/>
          </a:p>
        </p:txBody>
      </p:sp>
      <p:sp>
        <p:nvSpPr>
          <p:cNvPr id="17" name="TextBox 16"/>
          <p:cNvSpPr txBox="1"/>
          <p:nvPr/>
        </p:nvSpPr>
        <p:spPr>
          <a:xfrm>
            <a:off x="658368" y="3144520"/>
            <a:ext cx="4142689" cy="448056"/>
          </a:xfrm>
          <a:prstGeom prst="rect">
            <a:avLst/>
          </a:prstGeom>
          <a:noFill/>
        </p:spPr>
        <p:txBody>
          <a:bodyPr wrap="square" lIns="0" rIns="0" tIns="0" bIns="0" anchor="ctr">
            <a:spAutoFit/>
          </a:bodyPr>
          <a:lstStyle/>
          <a:p>
            <a:pPr>
              <a:spcAft>
                <a:spcPts val="300"/>
              </a:spcAft>
              <a:defRPr sz="1500" b="1">
                <a:solidFill>
                  <a:srgbClr val="233B4D"/>
                </a:solidFill>
                <a:latin typeface="Aptos"/>
              </a:defRPr>
            </a:pPr>
            <a:r>
              <a:t>First-option bias (16 vs 4)</a:t>
            </a:r>
          </a:p>
        </p:txBody>
      </p:sp>
      <p:sp>
        <p:nvSpPr>
          <p:cNvPr id="18" name="Rectangle 17"/>
          <p:cNvSpPr/>
          <p:nvPr/>
        </p:nvSpPr>
        <p:spPr>
          <a:xfrm>
            <a:off x="4938217" y="3144520"/>
            <a:ext cx="6677406" cy="448056"/>
          </a:xfrm>
          <a:prstGeom prst="rect">
            <a:avLst/>
          </a:prstGeom>
          <a:solidFill>
            <a:srgbClr val="F8FAFB"/>
          </a:solidFill>
          <a:ln>
            <a:noFill/>
          </a:ln>
          <a:effectLst/>
        </p:spPr>
        <p:txBody>
          <a:bodyPr rtlCol="0" anchor="ctr"/>
          <a:lstStyle/>
          <a:p>
            <a:pPr algn="ctr"/>
          </a:p>
        </p:txBody>
      </p:sp>
      <p:sp>
        <p:nvSpPr>
          <p:cNvPr id="19" name="TextBox 18"/>
          <p:cNvSpPr txBox="1"/>
          <p:nvPr/>
        </p:nvSpPr>
        <p:spPr>
          <a:xfrm>
            <a:off x="5047945" y="3144520"/>
            <a:ext cx="6457950" cy="448056"/>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Shuffle option order and repeat; set thresholds on held-out data</a:t>
            </a:r>
          </a:p>
        </p:txBody>
      </p:sp>
      <p:sp>
        <p:nvSpPr>
          <p:cNvPr id="20" name="Rectangle 19"/>
          <p:cNvSpPr/>
          <p:nvPr/>
        </p:nvSpPr>
        <p:spPr>
          <a:xfrm>
            <a:off x="548640" y="3620008"/>
            <a:ext cx="4362145" cy="644652"/>
          </a:xfrm>
          <a:prstGeom prst="rect">
            <a:avLst/>
          </a:prstGeom>
          <a:solidFill>
            <a:srgbClr val="EFF4F6"/>
          </a:solidFill>
          <a:ln>
            <a:noFill/>
          </a:ln>
          <a:effectLst/>
        </p:spPr>
        <p:txBody>
          <a:bodyPr rtlCol="0" anchor="ctr"/>
          <a:lstStyle/>
          <a:p>
            <a:pPr algn="ctr"/>
          </a:p>
        </p:txBody>
      </p:sp>
      <p:sp>
        <p:nvSpPr>
          <p:cNvPr id="21" name="TextBox 20"/>
          <p:cNvSpPr txBox="1"/>
          <p:nvPr/>
        </p:nvSpPr>
        <p:spPr>
          <a:xfrm>
            <a:off x="658368" y="3620008"/>
            <a:ext cx="4142689" cy="644652"/>
          </a:xfrm>
          <a:prstGeom prst="rect">
            <a:avLst/>
          </a:prstGeom>
          <a:noFill/>
        </p:spPr>
        <p:txBody>
          <a:bodyPr wrap="square" lIns="0" rIns="0" tIns="0" bIns="0" anchor="ctr">
            <a:spAutoFit/>
          </a:bodyPr>
          <a:lstStyle/>
          <a:p>
            <a:pPr>
              <a:spcAft>
                <a:spcPts val="300"/>
              </a:spcAft>
              <a:defRPr sz="1500" b="1">
                <a:solidFill>
                  <a:srgbClr val="233B4D"/>
                </a:solidFill>
                <a:latin typeface="Aptos"/>
              </a:defRPr>
            </a:pPr>
            <a:r>
              <a:t>Thresholds and calibration are unproven on our data</a:t>
            </a:r>
          </a:p>
        </p:txBody>
      </p:sp>
      <p:sp>
        <p:nvSpPr>
          <p:cNvPr id="22" name="Rectangle 21"/>
          <p:cNvSpPr/>
          <p:nvPr/>
        </p:nvSpPr>
        <p:spPr>
          <a:xfrm>
            <a:off x="4938217" y="3620008"/>
            <a:ext cx="6677406" cy="644652"/>
          </a:xfrm>
          <a:prstGeom prst="rect">
            <a:avLst/>
          </a:prstGeom>
          <a:solidFill>
            <a:srgbClr val="EFF4F6"/>
          </a:solidFill>
          <a:ln>
            <a:noFill/>
          </a:ln>
          <a:effectLst/>
        </p:spPr>
        <p:txBody>
          <a:bodyPr rtlCol="0" anchor="ctr"/>
          <a:lstStyle/>
          <a:p>
            <a:pPr algn="ctr"/>
          </a:p>
        </p:txBody>
      </p:sp>
      <p:sp>
        <p:nvSpPr>
          <p:cNvPr id="23" name="TextBox 22"/>
          <p:cNvSpPr txBox="1"/>
          <p:nvPr/>
        </p:nvSpPr>
        <p:spPr>
          <a:xfrm>
            <a:off x="5047945" y="3620008"/>
            <a:ext cx="6457950" cy="64465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Choose thresholds on held-out tickets; re-run after each model release</a:t>
            </a:r>
          </a:p>
        </p:txBody>
      </p:sp>
      <p:sp>
        <p:nvSpPr>
          <p:cNvPr id="24" name="Rectangle 23"/>
          <p:cNvSpPr/>
          <p:nvPr/>
        </p:nvSpPr>
        <p:spPr>
          <a:xfrm>
            <a:off x="548640" y="4292092"/>
            <a:ext cx="4362145" cy="644652"/>
          </a:xfrm>
          <a:prstGeom prst="rect">
            <a:avLst/>
          </a:prstGeom>
          <a:solidFill>
            <a:srgbClr val="F8FAFB"/>
          </a:solidFill>
          <a:ln>
            <a:noFill/>
          </a:ln>
          <a:effectLst/>
        </p:spPr>
        <p:txBody>
          <a:bodyPr rtlCol="0" anchor="ctr"/>
          <a:lstStyle/>
          <a:p>
            <a:pPr algn="ctr"/>
          </a:p>
        </p:txBody>
      </p:sp>
      <p:sp>
        <p:nvSpPr>
          <p:cNvPr id="25" name="TextBox 24"/>
          <p:cNvSpPr txBox="1"/>
          <p:nvPr/>
        </p:nvSpPr>
        <p:spPr>
          <a:xfrm>
            <a:off x="658368" y="4292092"/>
            <a:ext cx="4142689" cy="644652"/>
          </a:xfrm>
          <a:prstGeom prst="rect">
            <a:avLst/>
          </a:prstGeom>
          <a:noFill/>
        </p:spPr>
        <p:txBody>
          <a:bodyPr wrap="square" lIns="0" rIns="0" tIns="0" bIns="0" anchor="ctr">
            <a:spAutoFit/>
          </a:bodyPr>
          <a:lstStyle/>
          <a:p>
            <a:pPr>
              <a:spcAft>
                <a:spcPts val="300"/>
              </a:spcAft>
              <a:defRPr sz="1500" b="1">
                <a:solidFill>
                  <a:srgbClr val="233B4D"/>
                </a:solidFill>
                <a:latin typeface="Aptos"/>
              </a:defRPr>
            </a:pPr>
            <a:r>
              <a:t>Vendor is young; model moves under an alias; no EU region</a:t>
            </a:r>
          </a:p>
        </p:txBody>
      </p:sp>
      <p:sp>
        <p:nvSpPr>
          <p:cNvPr id="26" name="Rectangle 25"/>
          <p:cNvSpPr/>
          <p:nvPr/>
        </p:nvSpPr>
        <p:spPr>
          <a:xfrm>
            <a:off x="4938217" y="4292092"/>
            <a:ext cx="6677406" cy="644652"/>
          </a:xfrm>
          <a:prstGeom prst="rect">
            <a:avLst/>
          </a:prstGeom>
          <a:solidFill>
            <a:srgbClr val="F8FAFB"/>
          </a:solidFill>
          <a:ln>
            <a:noFill/>
          </a:ln>
          <a:effectLst/>
        </p:spPr>
        <p:txBody>
          <a:bodyPr rtlCol="0" anchor="ctr"/>
          <a:lstStyle/>
          <a:p>
            <a:pPr algn="ctr"/>
          </a:p>
        </p:txBody>
      </p:sp>
      <p:sp>
        <p:nvSpPr>
          <p:cNvPr id="27" name="TextBox 26"/>
          <p:cNvSpPr txBox="1"/>
          <p:nvPr/>
        </p:nvSpPr>
        <p:spPr>
          <a:xfrm>
            <a:off x="5047945" y="4292092"/>
            <a:ext cx="6457950" cy="64465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Pin the version; redaction and a signed DPA; start in shadow mode</a:t>
            </a:r>
          </a:p>
        </p:txBody>
      </p:sp>
      <p:sp>
        <p:nvSpPr>
          <p:cNvPr id="28" name="Rectangle 27"/>
          <p:cNvSpPr/>
          <p:nvPr/>
        </p:nvSpPr>
        <p:spPr>
          <a:xfrm>
            <a:off x="548640" y="4964176"/>
            <a:ext cx="4362145" cy="644652"/>
          </a:xfrm>
          <a:prstGeom prst="rect">
            <a:avLst/>
          </a:prstGeom>
          <a:solidFill>
            <a:srgbClr val="EFF4F6"/>
          </a:solidFill>
          <a:ln>
            <a:noFill/>
          </a:ln>
          <a:effectLst/>
        </p:spPr>
        <p:txBody>
          <a:bodyPr rtlCol="0" anchor="ctr"/>
          <a:lstStyle/>
          <a:p>
            <a:pPr algn="ctr"/>
          </a:p>
        </p:txBody>
      </p:sp>
      <p:sp>
        <p:nvSpPr>
          <p:cNvPr id="29" name="TextBox 28"/>
          <p:cNvSpPr txBox="1"/>
          <p:nvPr/>
        </p:nvSpPr>
        <p:spPr>
          <a:xfrm>
            <a:off x="658368" y="4964176"/>
            <a:ext cx="4142689" cy="644652"/>
          </a:xfrm>
          <a:prstGeom prst="rect">
            <a:avLst/>
          </a:prstGeom>
          <a:noFill/>
        </p:spPr>
        <p:txBody>
          <a:bodyPr wrap="square" lIns="0" rIns="0" tIns="0" bIns="0" anchor="ctr">
            <a:spAutoFit/>
          </a:bodyPr>
          <a:lstStyle/>
          <a:p>
            <a:pPr>
              <a:spcAft>
                <a:spcPts val="300"/>
              </a:spcAft>
              <a:defRPr sz="1500" b="1">
                <a:solidFill>
                  <a:srgbClr val="233B4D"/>
                </a:solidFill>
                <a:latin typeface="Aptos"/>
              </a:defRPr>
            </a:pPr>
            <a:r>
              <a:t>Regulatory duties depend on classification</a:t>
            </a:r>
          </a:p>
        </p:txBody>
      </p:sp>
      <p:sp>
        <p:nvSpPr>
          <p:cNvPr id="30" name="Rectangle 29"/>
          <p:cNvSpPr/>
          <p:nvPr/>
        </p:nvSpPr>
        <p:spPr>
          <a:xfrm>
            <a:off x="4938217" y="4964176"/>
            <a:ext cx="6677406" cy="644652"/>
          </a:xfrm>
          <a:prstGeom prst="rect">
            <a:avLst/>
          </a:prstGeom>
          <a:solidFill>
            <a:srgbClr val="EFF4F6"/>
          </a:solidFill>
          <a:ln>
            <a:noFill/>
          </a:ln>
          <a:effectLst/>
        </p:spPr>
        <p:txBody>
          <a:bodyPr rtlCol="0" anchor="ctr"/>
          <a:lstStyle/>
          <a:p>
            <a:pPr algn="ctr"/>
          </a:p>
        </p:txBody>
      </p:sp>
      <p:sp>
        <p:nvSpPr>
          <p:cNvPr id="31" name="TextBox 30"/>
          <p:cNvSpPr txBox="1"/>
          <p:nvPr/>
        </p:nvSpPr>
        <p:spPr>
          <a:xfrm>
            <a:off x="5047945" y="4964176"/>
            <a:ext cx="6457950" cy="64465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Log input hash, model version, option order, probabilities and threshold version; take legal review</a:t>
            </a:r>
          </a:p>
        </p:txBody>
      </p:sp>
      <p:sp>
        <p:nvSpPr>
          <p:cNvPr id="32" name="Rectangle 31"/>
          <p:cNvSpPr/>
          <p:nvPr/>
        </p:nvSpPr>
        <p:spPr>
          <a:xfrm>
            <a:off x="548640" y="6309360"/>
            <a:ext cx="11094415" cy="10972"/>
          </a:xfrm>
          <a:prstGeom prst="rect">
            <a:avLst/>
          </a:prstGeom>
          <a:solidFill>
            <a:srgbClr val="CCD7DD"/>
          </a:solidFill>
          <a:ln>
            <a:noFill/>
          </a:ln>
          <a:effectLst/>
        </p:spPr>
        <p:txBody>
          <a:bodyPr rtlCol="0" anchor="ctr"/>
          <a:lstStyle/>
          <a:p>
            <a:pPr algn="ctr"/>
          </a:p>
        </p:txBody>
      </p:sp>
      <p:sp>
        <p:nvSpPr>
          <p:cNvPr id="33" name="TextBox 32"/>
          <p:cNvSpPr txBox="1"/>
          <p:nvPr/>
        </p:nvSpPr>
        <p:spPr>
          <a:xfrm>
            <a:off x="548640" y="6400800"/>
            <a:ext cx="4572000" cy="201168"/>
          </a:xfrm>
          <a:prstGeom prst="rect">
            <a:avLst/>
          </a:prstGeom>
          <a:noFill/>
        </p:spPr>
        <p:txBody>
          <a:bodyPr wrap="square" lIns="0" rIns="0" tIns="0" bIns="0">
            <a:spAutoFit/>
          </a:bodyPr>
          <a:lstStyle/>
          <a:p>
            <a:pPr>
              <a:spcAft>
                <a:spcPts val="300"/>
              </a:spcAft>
              <a:defRPr sz="900" b="0">
                <a:solidFill>
                  <a:srgbClr val="596A76"/>
                </a:solidFill>
                <a:latin typeface="Aptos"/>
              </a:defRPr>
            </a:pPr>
            <a:r>
              <a:t>For discussion · October 2026</a:t>
            </a:r>
          </a:p>
        </p:txBody>
      </p:sp>
      <p:sp>
        <p:nvSpPr>
          <p:cNvPr id="34" name="TextBox 33"/>
          <p:cNvSpPr txBox="1"/>
          <p:nvPr/>
        </p:nvSpPr>
        <p:spPr>
          <a:xfrm>
            <a:off x="10929480" y="6400800"/>
            <a:ext cx="164934" cy="201168"/>
          </a:xfrm>
          <a:prstGeom prst="rect">
            <a:avLst/>
          </a:prstGeom>
          <a:noFill/>
        </p:spPr>
        <p:txBody>
          <a:bodyPr wrap="square" lIns="0" rIns="0" tIns="0" bIns="0">
            <a:spAutoFit/>
          </a:bodyPr>
          <a:lstStyle/>
          <a:p>
            <a:pPr>
              <a:spcAft>
                <a:spcPts val="300"/>
              </a:spcAft>
              <a:defRPr sz="900" b="1">
                <a:solidFill>
                  <a:srgbClr val="007F82"/>
                </a:solidFill>
                <a:latin typeface="Aptos"/>
              </a:defRPr>
            </a:pPr>
            <a:r>
              <a:rPr>
                <a:hlinkClick r:id="rId3"/>
              </a:rPr>
              <a:t>S6</a:t>
            </a:r>
          </a:p>
        </p:txBody>
      </p:sp>
      <p:sp>
        <p:nvSpPr>
          <p:cNvPr id="35" name="TextBox 34"/>
          <p:cNvSpPr txBox="1"/>
          <p:nvPr/>
        </p:nvSpPr>
        <p:spPr>
          <a:xfrm>
            <a:off x="10380840" y="6400800"/>
            <a:ext cx="493776" cy="201168"/>
          </a:xfrm>
          <a:prstGeom prst="rect">
            <a:avLst/>
          </a:prstGeom>
          <a:noFill/>
        </p:spPr>
        <p:txBody>
          <a:bodyPr wrap="square" lIns="0" rIns="0" tIns="0" bIns="0">
            <a:spAutoFit/>
          </a:bodyPr>
          <a:lstStyle/>
          <a:p>
            <a:pPr algn="r">
              <a:spcAft>
                <a:spcPts val="300"/>
              </a:spcAft>
              <a:defRPr sz="900" b="0">
                <a:solidFill>
                  <a:srgbClr val="596A76"/>
                </a:solidFill>
                <a:latin typeface="Aptos"/>
              </a:defRPr>
            </a:pPr>
            <a:r>
              <a:t>Sources</a:t>
            </a:r>
          </a:p>
        </p:txBody>
      </p:sp>
      <p:sp>
        <p:nvSpPr>
          <p:cNvPr id="36" name="TextBox 35"/>
          <p:cNvSpPr txBox="1"/>
          <p:nvPr/>
        </p:nvSpPr>
        <p:spPr>
          <a:xfrm>
            <a:off x="11185855" y="6400800"/>
            <a:ext cx="457200" cy="201168"/>
          </a:xfrm>
          <a:prstGeom prst="rect">
            <a:avLst/>
          </a:prstGeom>
          <a:noFill/>
        </p:spPr>
        <p:txBody>
          <a:bodyPr wrap="square" lIns="0" rIns="0" tIns="0" bIns="0">
            <a:spAutoFit/>
          </a:bodyPr>
          <a:lstStyle/>
          <a:p>
            <a:pPr algn="r">
              <a:spcAft>
                <a:spcPts val="300"/>
              </a:spcAft>
              <a:defRPr sz="900" b="0">
                <a:solidFill>
                  <a:srgbClr val="596A76"/>
                </a:solidFill>
                <a:latin typeface="Aptos"/>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7F82"/>
          </a:solidFill>
          <a:ln>
            <a:noFill/>
          </a:ln>
          <a:effectLst/>
        </p:spPr>
        <p:txBody>
          <a:bodyPr rtlCol="0" anchor="ctr"/>
          <a:lstStyle/>
          <a:p>
            <a:pPr algn="ctr"/>
          </a:p>
        </p:txBody>
      </p:sp>
      <p:sp>
        <p:nvSpPr>
          <p:cNvPr id="3" name="TextBox 2"/>
          <p:cNvSpPr txBox="1"/>
          <p:nvPr/>
        </p:nvSpPr>
        <p:spPr>
          <a:xfrm>
            <a:off x="548640" y="310896"/>
            <a:ext cx="9144000" cy="201168"/>
          </a:xfrm>
          <a:prstGeom prst="rect">
            <a:avLst/>
          </a:prstGeom>
          <a:noFill/>
        </p:spPr>
        <p:txBody>
          <a:bodyPr wrap="square" lIns="0" rIns="0" tIns="0" bIns="0">
            <a:spAutoFit/>
          </a:bodyPr>
          <a:lstStyle/>
          <a:p>
            <a:pPr>
              <a:spcAft>
                <a:spcPts val="300"/>
              </a:spcAft>
              <a:defRPr sz="1000" b="1">
                <a:solidFill>
                  <a:srgbClr val="007F82"/>
                </a:solidFill>
                <a:latin typeface="Aptos"/>
              </a:defRPr>
            </a:pPr>
            <a:r>
              <a:t>APPENDIX A5</a:t>
            </a:r>
          </a:p>
        </p:txBody>
      </p:sp>
      <p:sp>
        <p:nvSpPr>
          <p:cNvPr id="4" name="TextBox 3"/>
          <p:cNvSpPr txBox="1"/>
          <p:nvPr/>
        </p:nvSpPr>
        <p:spPr>
          <a:xfrm>
            <a:off x="548640" y="566928"/>
            <a:ext cx="10149840" cy="469899"/>
          </a:xfrm>
          <a:prstGeom prst="rect">
            <a:avLst/>
          </a:prstGeom>
          <a:noFill/>
        </p:spPr>
        <p:txBody>
          <a:bodyPr wrap="square" lIns="0" rIns="0" tIns="0" bIns="0">
            <a:spAutoFit/>
          </a:bodyPr>
          <a:lstStyle/>
          <a:p>
            <a:pPr>
              <a:spcAft>
                <a:spcPts val="300"/>
              </a:spcAft>
              <a:defRPr sz="2500" b="1">
                <a:solidFill>
                  <a:srgbClr val="142E42"/>
                </a:solidFill>
                <a:latin typeface="Aptos"/>
              </a:defRPr>
            </a:pPr>
            <a:r>
              <a:t>Open questions by owner</a:t>
            </a:r>
          </a:p>
        </p:txBody>
      </p:sp>
      <p:sp>
        <p:nvSpPr>
          <p:cNvPr id="5" name="TextBox 4"/>
          <p:cNvSpPr txBox="1"/>
          <p:nvPr/>
        </p:nvSpPr>
        <p:spPr>
          <a:xfrm>
            <a:off x="548640" y="1073404"/>
            <a:ext cx="10149840" cy="279908"/>
          </a:xfrm>
          <a:prstGeom prst="rect">
            <a:avLst/>
          </a:prstGeom>
          <a:noFill/>
        </p:spPr>
        <p:txBody>
          <a:bodyPr wrap="square" lIns="0" rIns="0" tIns="0" bIns="0">
            <a:spAutoFit/>
          </a:bodyPr>
          <a:lstStyle/>
          <a:p>
            <a:pPr>
              <a:spcAft>
                <a:spcPts val="300"/>
              </a:spcAft>
              <a:defRPr sz="1400" b="0">
                <a:solidFill>
                  <a:srgbClr val="596A76"/>
                </a:solidFill>
                <a:latin typeface="Aptos"/>
              </a:defRPr>
            </a:pPr>
            <a:r>
              <a:t>A selection; all 23 in outputs/3_open-questions-and-next-steps.md</a:t>
            </a:r>
          </a:p>
        </p:txBody>
      </p:sp>
      <p:sp>
        <p:nvSpPr>
          <p:cNvPr id="6" name="Rectangle 5"/>
          <p:cNvSpPr/>
          <p:nvPr/>
        </p:nvSpPr>
        <p:spPr>
          <a:xfrm>
            <a:off x="10929823" y="274320"/>
            <a:ext cx="713232" cy="713232"/>
          </a:xfrm>
          <a:prstGeom prst="rect">
            <a:avLst/>
          </a:prstGeom>
          <a:solidFill>
            <a:srgbClr val="EFF4F6"/>
          </a:solidFill>
          <a:ln>
            <a:noFill/>
          </a:ln>
          <a:effectLst/>
        </p:spPr>
        <p:txBody>
          <a:bodyPr rtlCol="0" anchor="ctr"/>
          <a:lstStyle/>
          <a:p>
            <a:pPr algn="ctr"/>
          </a:p>
        </p:txBody>
      </p:sp>
      <p:pic>
        <p:nvPicPr>
          <p:cNvPr id="7" name="Picture 6" descr="question.png"/>
          <p:cNvPicPr>
            <a:picLocks noChangeAspect="1"/>
          </p:cNvPicPr>
          <p:nvPr/>
        </p:nvPicPr>
        <p:blipFill>
          <a:blip r:embed="rId2"/>
          <a:stretch>
            <a:fillRect/>
          </a:stretch>
        </p:blipFill>
        <p:spPr>
          <a:xfrm>
            <a:off x="11021263" y="365760"/>
            <a:ext cx="530352" cy="530352"/>
          </a:xfrm>
          <a:prstGeom prst="rect">
            <a:avLst/>
          </a:prstGeom>
        </p:spPr>
      </p:pic>
      <p:sp>
        <p:nvSpPr>
          <p:cNvPr id="8" name="Rectangle 7"/>
          <p:cNvSpPr/>
          <p:nvPr/>
        </p:nvSpPr>
        <p:spPr>
          <a:xfrm>
            <a:off x="548640" y="1700784"/>
            <a:ext cx="2645416" cy="363220"/>
          </a:xfrm>
          <a:prstGeom prst="rect">
            <a:avLst/>
          </a:prstGeom>
          <a:solidFill>
            <a:srgbClr val="142E42"/>
          </a:solidFill>
          <a:ln>
            <a:noFill/>
          </a:ln>
          <a:effectLst/>
        </p:spPr>
        <p:txBody>
          <a:bodyPr rtlCol="0" anchor="ctr"/>
          <a:lstStyle/>
          <a:p>
            <a:pPr algn="ctr"/>
          </a:p>
        </p:txBody>
      </p:sp>
      <p:sp>
        <p:nvSpPr>
          <p:cNvPr id="9" name="TextBox 8"/>
          <p:cNvSpPr txBox="1"/>
          <p:nvPr/>
        </p:nvSpPr>
        <p:spPr>
          <a:xfrm>
            <a:off x="658368" y="1700784"/>
            <a:ext cx="2425960" cy="363220"/>
          </a:xfrm>
          <a:prstGeom prst="rect">
            <a:avLst/>
          </a:prstGeom>
          <a:noFill/>
        </p:spPr>
        <p:txBody>
          <a:bodyPr wrap="square" lIns="0" rIns="0" tIns="0" bIns="0" anchor="ctr">
            <a:spAutoFit/>
          </a:bodyPr>
          <a:lstStyle/>
          <a:p>
            <a:pPr>
              <a:spcAft>
                <a:spcPts val="300"/>
              </a:spcAft>
              <a:defRPr sz="1300" b="1">
                <a:solidFill>
                  <a:srgbClr val="FFFFFF"/>
                </a:solidFill>
                <a:latin typeface="Aptos"/>
              </a:defRPr>
            </a:pPr>
            <a:r>
              <a:t>Owner</a:t>
            </a:r>
          </a:p>
        </p:txBody>
      </p:sp>
      <p:sp>
        <p:nvSpPr>
          <p:cNvPr id="10" name="Rectangle 9"/>
          <p:cNvSpPr/>
          <p:nvPr/>
        </p:nvSpPr>
        <p:spPr>
          <a:xfrm>
            <a:off x="3221488" y="1700784"/>
            <a:ext cx="8394135" cy="363220"/>
          </a:xfrm>
          <a:prstGeom prst="rect">
            <a:avLst/>
          </a:prstGeom>
          <a:solidFill>
            <a:srgbClr val="142E42"/>
          </a:solidFill>
          <a:ln>
            <a:noFill/>
          </a:ln>
          <a:effectLst/>
        </p:spPr>
        <p:txBody>
          <a:bodyPr rtlCol="0" anchor="ctr"/>
          <a:lstStyle/>
          <a:p>
            <a:pPr algn="ctr"/>
          </a:p>
        </p:txBody>
      </p:sp>
      <p:sp>
        <p:nvSpPr>
          <p:cNvPr id="11" name="TextBox 10"/>
          <p:cNvSpPr txBox="1"/>
          <p:nvPr/>
        </p:nvSpPr>
        <p:spPr>
          <a:xfrm>
            <a:off x="3331216" y="1700784"/>
            <a:ext cx="8174679" cy="363220"/>
          </a:xfrm>
          <a:prstGeom prst="rect">
            <a:avLst/>
          </a:prstGeom>
          <a:noFill/>
        </p:spPr>
        <p:txBody>
          <a:bodyPr wrap="square" lIns="0" rIns="0" tIns="0" bIns="0" anchor="ctr">
            <a:spAutoFit/>
          </a:bodyPr>
          <a:lstStyle/>
          <a:p>
            <a:pPr>
              <a:spcAft>
                <a:spcPts val="300"/>
              </a:spcAft>
              <a:defRPr sz="1300" b="1">
                <a:solidFill>
                  <a:srgbClr val="FFFFFF"/>
                </a:solidFill>
                <a:latin typeface="Aptos"/>
              </a:defRPr>
            </a:pPr>
            <a:r>
              <a:t>Questions</a:t>
            </a:r>
          </a:p>
        </p:txBody>
      </p:sp>
      <p:sp>
        <p:nvSpPr>
          <p:cNvPr id="12" name="Rectangle 11"/>
          <p:cNvSpPr/>
          <p:nvPr/>
        </p:nvSpPr>
        <p:spPr>
          <a:xfrm>
            <a:off x="548640" y="2091436"/>
            <a:ext cx="2645416" cy="644652"/>
          </a:xfrm>
          <a:prstGeom prst="rect">
            <a:avLst/>
          </a:prstGeom>
          <a:solidFill>
            <a:srgbClr val="EFF4F6"/>
          </a:solidFill>
          <a:ln>
            <a:noFill/>
          </a:ln>
          <a:effectLst/>
        </p:spPr>
        <p:txBody>
          <a:bodyPr rtlCol="0" anchor="ctr"/>
          <a:lstStyle/>
          <a:p>
            <a:pPr algn="ctr"/>
          </a:p>
        </p:txBody>
      </p:sp>
      <p:sp>
        <p:nvSpPr>
          <p:cNvPr id="13" name="TextBox 12"/>
          <p:cNvSpPr txBox="1"/>
          <p:nvPr/>
        </p:nvSpPr>
        <p:spPr>
          <a:xfrm>
            <a:off x="658368" y="2091436"/>
            <a:ext cx="2425960" cy="644652"/>
          </a:xfrm>
          <a:prstGeom prst="rect">
            <a:avLst/>
          </a:prstGeom>
          <a:noFill/>
        </p:spPr>
        <p:txBody>
          <a:bodyPr wrap="square" lIns="0" rIns="0" tIns="0" bIns="0" anchor="ctr">
            <a:spAutoFit/>
          </a:bodyPr>
          <a:lstStyle/>
          <a:p>
            <a:pPr>
              <a:spcAft>
                <a:spcPts val="300"/>
              </a:spcAft>
              <a:defRPr sz="1500" b="1">
                <a:solidFill>
                  <a:srgbClr val="233B4D"/>
                </a:solidFill>
                <a:latin typeface="Aptos"/>
              </a:defRPr>
            </a:pPr>
            <a:r>
              <a:t>SRE / operations</a:t>
            </a:r>
          </a:p>
        </p:txBody>
      </p:sp>
      <p:sp>
        <p:nvSpPr>
          <p:cNvPr id="14" name="Rectangle 13"/>
          <p:cNvSpPr/>
          <p:nvPr/>
        </p:nvSpPr>
        <p:spPr>
          <a:xfrm>
            <a:off x="3221488" y="2091436"/>
            <a:ext cx="8394135" cy="644652"/>
          </a:xfrm>
          <a:prstGeom prst="rect">
            <a:avLst/>
          </a:prstGeom>
          <a:solidFill>
            <a:srgbClr val="EFF4F6"/>
          </a:solidFill>
          <a:ln>
            <a:noFill/>
          </a:ln>
          <a:effectLst/>
        </p:spPr>
        <p:txBody>
          <a:bodyPr rtlCol="0" anchor="ctr"/>
          <a:lstStyle/>
          <a:p>
            <a:pPr algn="ctr"/>
          </a:p>
        </p:txBody>
      </p:sp>
      <p:sp>
        <p:nvSpPr>
          <p:cNvPr id="15" name="TextBox 14"/>
          <p:cNvSpPr txBox="1"/>
          <p:nvPr/>
        </p:nvSpPr>
        <p:spPr>
          <a:xfrm>
            <a:off x="3331216" y="2091436"/>
            <a:ext cx="8174679" cy="64465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Reassignment rate and cost (Q1); text-only decisions (Q2); ticket quality (Q3); novel root causes (Q4); existing automated fixes (Q5); error-cost ratio (Q6); trust in suggestions (Q7)</a:t>
            </a:r>
          </a:p>
        </p:txBody>
      </p:sp>
      <p:sp>
        <p:nvSpPr>
          <p:cNvPr id="16" name="Rectangle 15"/>
          <p:cNvSpPr/>
          <p:nvPr/>
        </p:nvSpPr>
        <p:spPr>
          <a:xfrm>
            <a:off x="548640" y="2763520"/>
            <a:ext cx="2645416" cy="539496"/>
          </a:xfrm>
          <a:prstGeom prst="rect">
            <a:avLst/>
          </a:prstGeom>
          <a:solidFill>
            <a:srgbClr val="F8FAFB"/>
          </a:solidFill>
          <a:ln>
            <a:noFill/>
          </a:ln>
          <a:effectLst/>
        </p:spPr>
        <p:txBody>
          <a:bodyPr rtlCol="0" anchor="ctr"/>
          <a:lstStyle/>
          <a:p>
            <a:pPr algn="ctr"/>
          </a:p>
        </p:txBody>
      </p:sp>
      <p:sp>
        <p:nvSpPr>
          <p:cNvPr id="17" name="TextBox 16"/>
          <p:cNvSpPr txBox="1"/>
          <p:nvPr/>
        </p:nvSpPr>
        <p:spPr>
          <a:xfrm>
            <a:off x="658368" y="2763520"/>
            <a:ext cx="2425960" cy="539496"/>
          </a:xfrm>
          <a:prstGeom prst="rect">
            <a:avLst/>
          </a:prstGeom>
          <a:noFill/>
        </p:spPr>
        <p:txBody>
          <a:bodyPr wrap="square" lIns="0" rIns="0" tIns="0" bIns="0" anchor="ctr">
            <a:spAutoFit/>
          </a:bodyPr>
          <a:lstStyle/>
          <a:p>
            <a:pPr>
              <a:spcAft>
                <a:spcPts val="300"/>
              </a:spcAft>
              <a:defRPr sz="1500" b="1">
                <a:solidFill>
                  <a:srgbClr val="233B4D"/>
                </a:solidFill>
                <a:latin typeface="Aptos"/>
              </a:defRPr>
            </a:pPr>
            <a:r>
              <a:t>ITSM / platform</a:t>
            </a:r>
          </a:p>
        </p:txBody>
      </p:sp>
      <p:sp>
        <p:nvSpPr>
          <p:cNvPr id="18" name="Rectangle 17"/>
          <p:cNvSpPr/>
          <p:nvPr/>
        </p:nvSpPr>
        <p:spPr>
          <a:xfrm>
            <a:off x="3221488" y="2763520"/>
            <a:ext cx="8394135" cy="539496"/>
          </a:xfrm>
          <a:prstGeom prst="rect">
            <a:avLst/>
          </a:prstGeom>
          <a:solidFill>
            <a:srgbClr val="F8FAFB"/>
          </a:solidFill>
          <a:ln>
            <a:noFill/>
          </a:ln>
          <a:effectLst/>
        </p:spPr>
        <p:txBody>
          <a:bodyPr rtlCol="0" anchor="ctr"/>
          <a:lstStyle/>
          <a:p>
            <a:pPr algn="ctr"/>
          </a:p>
        </p:txBody>
      </p:sp>
      <p:sp>
        <p:nvSpPr>
          <p:cNvPr id="19" name="TextBox 18"/>
          <p:cNvSpPr txBox="1"/>
          <p:nvPr/>
        </p:nvSpPr>
        <p:spPr>
          <a:xfrm>
            <a:off x="3331216" y="2763520"/>
            <a:ext cx="8174679" cy="539496"/>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What the current licence already does (Q8); assignment-group separability (Q9)</a:t>
            </a:r>
          </a:p>
        </p:txBody>
      </p:sp>
      <p:sp>
        <p:nvSpPr>
          <p:cNvPr id="20" name="Rectangle 19"/>
          <p:cNvSpPr/>
          <p:nvPr/>
        </p:nvSpPr>
        <p:spPr>
          <a:xfrm>
            <a:off x="548640" y="3330448"/>
            <a:ext cx="2645416" cy="873252"/>
          </a:xfrm>
          <a:prstGeom prst="rect">
            <a:avLst/>
          </a:prstGeom>
          <a:solidFill>
            <a:srgbClr val="EFF4F6"/>
          </a:solidFill>
          <a:ln>
            <a:noFill/>
          </a:ln>
          <a:effectLst/>
        </p:spPr>
        <p:txBody>
          <a:bodyPr rtlCol="0" anchor="ctr"/>
          <a:lstStyle/>
          <a:p>
            <a:pPr algn="ctr"/>
          </a:p>
        </p:txBody>
      </p:sp>
      <p:sp>
        <p:nvSpPr>
          <p:cNvPr id="21" name="TextBox 20"/>
          <p:cNvSpPr txBox="1"/>
          <p:nvPr/>
        </p:nvSpPr>
        <p:spPr>
          <a:xfrm>
            <a:off x="658368" y="3330448"/>
            <a:ext cx="2425960" cy="873252"/>
          </a:xfrm>
          <a:prstGeom prst="rect">
            <a:avLst/>
          </a:prstGeom>
          <a:noFill/>
        </p:spPr>
        <p:txBody>
          <a:bodyPr wrap="square" lIns="0" rIns="0" tIns="0" bIns="0" anchor="ctr">
            <a:spAutoFit/>
          </a:bodyPr>
          <a:lstStyle/>
          <a:p>
            <a:pPr>
              <a:spcAft>
                <a:spcPts val="300"/>
              </a:spcAft>
              <a:defRPr sz="1500" b="1">
                <a:solidFill>
                  <a:srgbClr val="233B4D"/>
                </a:solidFill>
                <a:latin typeface="Aptos"/>
              </a:defRPr>
            </a:pPr>
            <a:r>
              <a:t>Security / risk / procurement / finance / leadership</a:t>
            </a:r>
          </a:p>
        </p:txBody>
      </p:sp>
      <p:sp>
        <p:nvSpPr>
          <p:cNvPr id="22" name="Rectangle 21"/>
          <p:cNvSpPr/>
          <p:nvPr/>
        </p:nvSpPr>
        <p:spPr>
          <a:xfrm>
            <a:off x="3221488" y="3330448"/>
            <a:ext cx="8394135" cy="873252"/>
          </a:xfrm>
          <a:prstGeom prst="rect">
            <a:avLst/>
          </a:prstGeom>
          <a:solidFill>
            <a:srgbClr val="EFF4F6"/>
          </a:solidFill>
          <a:ln>
            <a:noFill/>
          </a:ln>
          <a:effectLst/>
        </p:spPr>
        <p:txBody>
          <a:bodyPr rtlCol="0" anchor="ctr"/>
          <a:lstStyle/>
          <a:p>
            <a:pPr algn="ctr"/>
          </a:p>
        </p:txBody>
      </p:sp>
      <p:sp>
        <p:nvSpPr>
          <p:cNvPr id="23" name="TextBox 22"/>
          <p:cNvSpPr txBox="1"/>
          <p:nvPr/>
        </p:nvSpPr>
        <p:spPr>
          <a:xfrm>
            <a:off x="3331216" y="3330448"/>
            <a:ext cx="8174679" cy="87325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Data handling (Q12, Q14); threshold ownership (Q22, Q23); economics (Q19); where the decision sits (Q7)</a:t>
            </a:r>
          </a:p>
        </p:txBody>
      </p:sp>
      <p:sp>
        <p:nvSpPr>
          <p:cNvPr id="24" name="Rectangle 23"/>
          <p:cNvSpPr/>
          <p:nvPr/>
        </p:nvSpPr>
        <p:spPr>
          <a:xfrm>
            <a:off x="548640" y="6309360"/>
            <a:ext cx="11094415" cy="10972"/>
          </a:xfrm>
          <a:prstGeom prst="rect">
            <a:avLst/>
          </a:prstGeom>
          <a:solidFill>
            <a:srgbClr val="CCD7DD"/>
          </a:solidFill>
          <a:ln>
            <a:noFill/>
          </a:ln>
          <a:effectLst/>
        </p:spPr>
        <p:txBody>
          <a:bodyPr rtlCol="0" anchor="ctr"/>
          <a:lstStyle/>
          <a:p>
            <a:pPr algn="ctr"/>
          </a:p>
        </p:txBody>
      </p:sp>
      <p:sp>
        <p:nvSpPr>
          <p:cNvPr id="25" name="TextBox 24"/>
          <p:cNvSpPr txBox="1"/>
          <p:nvPr/>
        </p:nvSpPr>
        <p:spPr>
          <a:xfrm>
            <a:off x="548640" y="6400800"/>
            <a:ext cx="4572000" cy="201168"/>
          </a:xfrm>
          <a:prstGeom prst="rect">
            <a:avLst/>
          </a:prstGeom>
          <a:noFill/>
        </p:spPr>
        <p:txBody>
          <a:bodyPr wrap="square" lIns="0" rIns="0" tIns="0" bIns="0">
            <a:spAutoFit/>
          </a:bodyPr>
          <a:lstStyle/>
          <a:p>
            <a:pPr>
              <a:spcAft>
                <a:spcPts val="300"/>
              </a:spcAft>
              <a:defRPr sz="900" b="0">
                <a:solidFill>
                  <a:srgbClr val="596A76"/>
                </a:solidFill>
                <a:latin typeface="Aptos"/>
              </a:defRPr>
            </a:pPr>
            <a:r>
              <a:t>For discussion · October 2026</a:t>
            </a:r>
          </a:p>
        </p:txBody>
      </p:sp>
      <p:sp>
        <p:nvSpPr>
          <p:cNvPr id="26" name="TextBox 25"/>
          <p:cNvSpPr txBox="1"/>
          <p:nvPr/>
        </p:nvSpPr>
        <p:spPr>
          <a:xfrm>
            <a:off x="11185855" y="6400800"/>
            <a:ext cx="457200" cy="201168"/>
          </a:xfrm>
          <a:prstGeom prst="rect">
            <a:avLst/>
          </a:prstGeom>
          <a:noFill/>
        </p:spPr>
        <p:txBody>
          <a:bodyPr wrap="square" lIns="0" rIns="0" tIns="0" bIns="0">
            <a:spAutoFit/>
          </a:bodyPr>
          <a:lstStyle/>
          <a:p>
            <a:pPr algn="r">
              <a:spcAft>
                <a:spcPts val="300"/>
              </a:spcAft>
              <a:defRPr sz="900" b="0">
                <a:solidFill>
                  <a:srgbClr val="596A76"/>
                </a:solidFill>
                <a:latin typeface="Aptos"/>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7F82"/>
          </a:solidFill>
          <a:ln>
            <a:noFill/>
          </a:ln>
          <a:effectLst/>
        </p:spPr>
        <p:txBody>
          <a:bodyPr rtlCol="0" anchor="ctr"/>
          <a:lstStyle/>
          <a:p>
            <a:pPr algn="ctr"/>
          </a:p>
        </p:txBody>
      </p:sp>
      <p:sp>
        <p:nvSpPr>
          <p:cNvPr id="3" name="TextBox 2"/>
          <p:cNvSpPr txBox="1"/>
          <p:nvPr/>
        </p:nvSpPr>
        <p:spPr>
          <a:xfrm>
            <a:off x="548640" y="310896"/>
            <a:ext cx="9144000" cy="201168"/>
          </a:xfrm>
          <a:prstGeom prst="rect">
            <a:avLst/>
          </a:prstGeom>
          <a:noFill/>
        </p:spPr>
        <p:txBody>
          <a:bodyPr wrap="square" lIns="0" rIns="0" tIns="0" bIns="0">
            <a:spAutoFit/>
          </a:bodyPr>
          <a:lstStyle/>
          <a:p>
            <a:pPr>
              <a:spcAft>
                <a:spcPts val="300"/>
              </a:spcAft>
              <a:defRPr sz="1000" b="1">
                <a:solidFill>
                  <a:srgbClr val="007F82"/>
                </a:solidFill>
                <a:latin typeface="Aptos"/>
              </a:defRPr>
            </a:pPr>
            <a:r>
              <a:t>APPENDIX A6</a:t>
            </a:r>
          </a:p>
        </p:txBody>
      </p:sp>
      <p:sp>
        <p:nvSpPr>
          <p:cNvPr id="4" name="TextBox 3"/>
          <p:cNvSpPr txBox="1"/>
          <p:nvPr/>
        </p:nvSpPr>
        <p:spPr>
          <a:xfrm>
            <a:off x="548640" y="566928"/>
            <a:ext cx="10149840" cy="850899"/>
          </a:xfrm>
          <a:prstGeom prst="rect">
            <a:avLst/>
          </a:prstGeom>
          <a:noFill/>
        </p:spPr>
        <p:txBody>
          <a:bodyPr wrap="square" lIns="0" rIns="0" tIns="0" bIns="0">
            <a:spAutoFit/>
          </a:bodyPr>
          <a:lstStyle/>
          <a:p>
            <a:pPr>
              <a:spcAft>
                <a:spcPts val="300"/>
              </a:spcAft>
              <a:defRPr sz="2500" b="1">
                <a:solidFill>
                  <a:srgbClr val="142E42"/>
                </a:solidFill>
                <a:latin typeface="Aptos"/>
              </a:defRPr>
            </a:pPr>
            <a:r>
              <a:t>Open or proprietary: both work; the trade-off is control against convenience</a:t>
            </a:r>
          </a:p>
        </p:txBody>
      </p:sp>
      <p:sp>
        <p:nvSpPr>
          <p:cNvPr id="5" name="TextBox 4"/>
          <p:cNvSpPr txBox="1"/>
          <p:nvPr/>
        </p:nvSpPr>
        <p:spPr>
          <a:xfrm>
            <a:off x="548640" y="1454404"/>
            <a:ext cx="10149840" cy="279908"/>
          </a:xfrm>
          <a:prstGeom prst="rect">
            <a:avLst/>
          </a:prstGeom>
          <a:noFill/>
        </p:spPr>
        <p:txBody>
          <a:bodyPr wrap="square" lIns="0" rIns="0" tIns="0" bIns="0">
            <a:spAutoFit/>
          </a:bodyPr>
          <a:lstStyle/>
          <a:p>
            <a:pPr>
              <a:spcAft>
                <a:spcPts val="300"/>
              </a:spcAft>
              <a:defRPr sz="1400" b="0">
                <a:solidFill>
                  <a:srgbClr val="596A76"/>
                </a:solidFill>
                <a:latin typeface="Aptos"/>
              </a:defRPr>
            </a:pPr>
            <a:r>
              <a:t>The decision layer can be hosted or run in your environment</a:t>
            </a:r>
          </a:p>
        </p:txBody>
      </p:sp>
      <p:sp>
        <p:nvSpPr>
          <p:cNvPr id="6" name="Rectangle 5"/>
          <p:cNvSpPr/>
          <p:nvPr/>
        </p:nvSpPr>
        <p:spPr>
          <a:xfrm>
            <a:off x="10929823" y="274320"/>
            <a:ext cx="713232" cy="713232"/>
          </a:xfrm>
          <a:prstGeom prst="rect">
            <a:avLst/>
          </a:prstGeom>
          <a:solidFill>
            <a:srgbClr val="EFF4F6"/>
          </a:solidFill>
          <a:ln>
            <a:noFill/>
          </a:ln>
          <a:effectLst/>
        </p:spPr>
        <p:txBody>
          <a:bodyPr rtlCol="0" anchor="ctr"/>
          <a:lstStyle/>
          <a:p>
            <a:pPr algn="ctr"/>
          </a:p>
        </p:txBody>
      </p:sp>
      <p:pic>
        <p:nvPicPr>
          <p:cNvPr id="7" name="Picture 6" descr="scale.png"/>
          <p:cNvPicPr>
            <a:picLocks noChangeAspect="1"/>
          </p:cNvPicPr>
          <p:nvPr/>
        </p:nvPicPr>
        <p:blipFill>
          <a:blip r:embed="rId2"/>
          <a:stretch>
            <a:fillRect/>
          </a:stretch>
        </p:blipFill>
        <p:spPr>
          <a:xfrm>
            <a:off x="11021263" y="365760"/>
            <a:ext cx="530352" cy="530352"/>
          </a:xfrm>
          <a:prstGeom prst="rect">
            <a:avLst/>
          </a:prstGeom>
        </p:spPr>
      </p:pic>
      <p:sp>
        <p:nvSpPr>
          <p:cNvPr id="8" name="Rectangle 7"/>
          <p:cNvSpPr/>
          <p:nvPr/>
        </p:nvSpPr>
        <p:spPr>
          <a:xfrm>
            <a:off x="548640" y="2081783"/>
            <a:ext cx="3515258" cy="2576576"/>
          </a:xfrm>
          <a:prstGeom prst="rect">
            <a:avLst/>
          </a:prstGeom>
          <a:solidFill>
            <a:srgbClr val="EFF4F6"/>
          </a:solidFill>
          <a:ln>
            <a:noFill/>
          </a:ln>
          <a:effectLst/>
        </p:spPr>
        <p:txBody>
          <a:bodyPr rtlCol="0" anchor="ctr"/>
          <a:lstStyle/>
          <a:p>
            <a:pPr algn="ctr"/>
          </a:p>
        </p:txBody>
      </p:sp>
      <p:sp>
        <p:nvSpPr>
          <p:cNvPr id="9" name="Rectangle 8"/>
          <p:cNvSpPr/>
          <p:nvPr/>
        </p:nvSpPr>
        <p:spPr>
          <a:xfrm>
            <a:off x="548640" y="2081783"/>
            <a:ext cx="3515258" cy="45720"/>
          </a:xfrm>
          <a:prstGeom prst="rect">
            <a:avLst/>
          </a:prstGeom>
          <a:solidFill>
            <a:srgbClr val="007F82"/>
          </a:solidFill>
          <a:ln>
            <a:noFill/>
          </a:ln>
          <a:effectLst/>
        </p:spPr>
        <p:txBody>
          <a:bodyPr rtlCol="0" anchor="ctr"/>
          <a:lstStyle/>
          <a:p>
            <a:pPr algn="ctr"/>
          </a:p>
        </p:txBody>
      </p:sp>
      <p:sp>
        <p:nvSpPr>
          <p:cNvPr id="10" name="TextBox 9"/>
          <p:cNvSpPr txBox="1"/>
          <p:nvPr/>
        </p:nvSpPr>
        <p:spPr>
          <a:xfrm>
            <a:off x="777240" y="2356103"/>
            <a:ext cx="3058058" cy="655828"/>
          </a:xfrm>
          <a:prstGeom prst="rect">
            <a:avLst/>
          </a:prstGeom>
          <a:noFill/>
        </p:spPr>
        <p:txBody>
          <a:bodyPr wrap="square" lIns="0" rIns="0" tIns="0" bIns="0">
            <a:spAutoFit/>
          </a:bodyPr>
          <a:lstStyle/>
          <a:p>
            <a:pPr>
              <a:spcAft>
                <a:spcPts val="300"/>
              </a:spcAft>
              <a:defRPr sz="1900" b="1">
                <a:solidFill>
                  <a:srgbClr val="142E42"/>
                </a:solidFill>
                <a:latin typeface="Aptos"/>
              </a:defRPr>
            </a:pPr>
            <a:r>
              <a:t>Hosted (for example Jev)</a:t>
            </a:r>
          </a:p>
        </p:txBody>
      </p:sp>
      <p:sp>
        <p:nvSpPr>
          <p:cNvPr id="11" name="TextBox 10"/>
          <p:cNvSpPr txBox="1"/>
          <p:nvPr/>
        </p:nvSpPr>
        <p:spPr>
          <a:xfrm>
            <a:off x="777240" y="3139947"/>
            <a:ext cx="3058058" cy="1289812"/>
          </a:xfrm>
          <a:prstGeom prst="rect">
            <a:avLst/>
          </a:prstGeom>
          <a:noFill/>
        </p:spPr>
        <p:txBody>
          <a:bodyPr wrap="square" lIns="0" rIns="0" tIns="0" bIns="0">
            <a:spAutoFit/>
          </a:bodyPr>
          <a:lstStyle/>
          <a:p>
            <a:pPr>
              <a:spcAft>
                <a:spcPts val="300"/>
              </a:spcAft>
              <a:defRPr sz="1600" b="0">
                <a:solidFill>
                  <a:srgbClr val="233B4D"/>
                </a:solidFill>
                <a:latin typeface="Aptos"/>
              </a:defRPr>
            </a:pPr>
            <a:r>
              <a:t>Adopt quickly and operate nothing; the trade-off is that incident text leaves your environment, under a signed DPA and zero-retention terms.</a:t>
            </a:r>
          </a:p>
        </p:txBody>
      </p:sp>
      <p:sp>
        <p:nvSpPr>
          <p:cNvPr id="12" name="Rectangle 11"/>
          <p:cNvSpPr/>
          <p:nvPr/>
        </p:nvSpPr>
        <p:spPr>
          <a:xfrm>
            <a:off x="4338218" y="2081783"/>
            <a:ext cx="3515258" cy="2576576"/>
          </a:xfrm>
          <a:prstGeom prst="rect">
            <a:avLst/>
          </a:prstGeom>
          <a:solidFill>
            <a:srgbClr val="EFF4F6"/>
          </a:solidFill>
          <a:ln>
            <a:noFill/>
          </a:ln>
          <a:effectLst/>
        </p:spPr>
        <p:txBody>
          <a:bodyPr rtlCol="0" anchor="ctr"/>
          <a:lstStyle/>
          <a:p>
            <a:pPr algn="ctr"/>
          </a:p>
        </p:txBody>
      </p:sp>
      <p:sp>
        <p:nvSpPr>
          <p:cNvPr id="13" name="Rectangle 12"/>
          <p:cNvSpPr/>
          <p:nvPr/>
        </p:nvSpPr>
        <p:spPr>
          <a:xfrm>
            <a:off x="4338218" y="2081783"/>
            <a:ext cx="3515258" cy="45720"/>
          </a:xfrm>
          <a:prstGeom prst="rect">
            <a:avLst/>
          </a:prstGeom>
          <a:solidFill>
            <a:srgbClr val="007F82"/>
          </a:solidFill>
          <a:ln>
            <a:noFill/>
          </a:ln>
          <a:effectLst/>
        </p:spPr>
        <p:txBody>
          <a:bodyPr rtlCol="0" anchor="ctr"/>
          <a:lstStyle/>
          <a:p>
            <a:pPr algn="ctr"/>
          </a:p>
        </p:txBody>
      </p:sp>
      <p:sp>
        <p:nvSpPr>
          <p:cNvPr id="14" name="TextBox 13"/>
          <p:cNvSpPr txBox="1"/>
          <p:nvPr/>
        </p:nvSpPr>
        <p:spPr>
          <a:xfrm>
            <a:off x="4566818" y="2356103"/>
            <a:ext cx="3058058" cy="655828"/>
          </a:xfrm>
          <a:prstGeom prst="rect">
            <a:avLst/>
          </a:prstGeom>
          <a:noFill/>
        </p:spPr>
        <p:txBody>
          <a:bodyPr wrap="square" lIns="0" rIns="0" tIns="0" bIns="0">
            <a:spAutoFit/>
          </a:bodyPr>
          <a:lstStyle/>
          <a:p>
            <a:pPr>
              <a:spcAft>
                <a:spcPts val="300"/>
              </a:spcAft>
              <a:defRPr sz="1900" b="1">
                <a:solidFill>
                  <a:srgbClr val="142E42"/>
                </a:solidFill>
                <a:latin typeface="Aptos"/>
              </a:defRPr>
            </a:pPr>
            <a:r>
              <a:t>Open (for example Laya or Kev)</a:t>
            </a:r>
          </a:p>
        </p:txBody>
      </p:sp>
      <p:sp>
        <p:nvSpPr>
          <p:cNvPr id="15" name="TextBox 14"/>
          <p:cNvSpPr txBox="1"/>
          <p:nvPr/>
        </p:nvSpPr>
        <p:spPr>
          <a:xfrm>
            <a:off x="4566818" y="3139947"/>
            <a:ext cx="3058058" cy="1289812"/>
          </a:xfrm>
          <a:prstGeom prst="rect">
            <a:avLst/>
          </a:prstGeom>
          <a:noFill/>
        </p:spPr>
        <p:txBody>
          <a:bodyPr wrap="square" lIns="0" rIns="0" tIns="0" bIns="0">
            <a:spAutoFit/>
          </a:bodyPr>
          <a:lstStyle/>
          <a:p>
            <a:pPr>
              <a:spcAft>
                <a:spcPts val="300"/>
              </a:spcAft>
              <a:defRPr sz="1600" b="0">
                <a:solidFill>
                  <a:srgbClr val="233B4D"/>
                </a:solidFill>
                <a:latin typeface="Aptos"/>
              </a:defRPr>
            </a:pPr>
            <a:r>
              <a:t>Run it inside your network with no data egress; you own the GPUs, fine-tuning and upkeep, and untuned accuracy starts lower.</a:t>
            </a:r>
          </a:p>
        </p:txBody>
      </p:sp>
      <p:sp>
        <p:nvSpPr>
          <p:cNvPr id="16" name="Rectangle 15"/>
          <p:cNvSpPr/>
          <p:nvPr/>
        </p:nvSpPr>
        <p:spPr>
          <a:xfrm>
            <a:off x="8127796" y="2081783"/>
            <a:ext cx="3515258" cy="2576576"/>
          </a:xfrm>
          <a:prstGeom prst="rect">
            <a:avLst/>
          </a:prstGeom>
          <a:solidFill>
            <a:srgbClr val="EFF4F6"/>
          </a:solidFill>
          <a:ln>
            <a:noFill/>
          </a:ln>
          <a:effectLst/>
        </p:spPr>
        <p:txBody>
          <a:bodyPr rtlCol="0" anchor="ctr"/>
          <a:lstStyle/>
          <a:p>
            <a:pPr algn="ctr"/>
          </a:p>
        </p:txBody>
      </p:sp>
      <p:sp>
        <p:nvSpPr>
          <p:cNvPr id="17" name="Rectangle 16"/>
          <p:cNvSpPr/>
          <p:nvPr/>
        </p:nvSpPr>
        <p:spPr>
          <a:xfrm>
            <a:off x="8127796" y="2081783"/>
            <a:ext cx="3515258" cy="45720"/>
          </a:xfrm>
          <a:prstGeom prst="rect">
            <a:avLst/>
          </a:prstGeom>
          <a:solidFill>
            <a:srgbClr val="007F82"/>
          </a:solidFill>
          <a:ln>
            <a:noFill/>
          </a:ln>
          <a:effectLst/>
        </p:spPr>
        <p:txBody>
          <a:bodyPr rtlCol="0" anchor="ctr"/>
          <a:lstStyle/>
          <a:p>
            <a:pPr algn="ctr"/>
          </a:p>
        </p:txBody>
      </p:sp>
      <p:sp>
        <p:nvSpPr>
          <p:cNvPr id="18" name="TextBox 17"/>
          <p:cNvSpPr txBox="1"/>
          <p:nvPr/>
        </p:nvSpPr>
        <p:spPr>
          <a:xfrm>
            <a:off x="8356396" y="2356103"/>
            <a:ext cx="3058058" cy="655828"/>
          </a:xfrm>
          <a:prstGeom prst="rect">
            <a:avLst/>
          </a:prstGeom>
          <a:noFill/>
        </p:spPr>
        <p:txBody>
          <a:bodyPr wrap="square" lIns="0" rIns="0" tIns="0" bIns="0">
            <a:spAutoFit/>
          </a:bodyPr>
          <a:lstStyle/>
          <a:p>
            <a:pPr>
              <a:spcAft>
                <a:spcPts val="300"/>
              </a:spcAft>
              <a:defRPr sz="1900" b="1">
                <a:solidFill>
                  <a:srgbClr val="142E42"/>
                </a:solidFill>
                <a:latin typeface="Aptos"/>
              </a:defRPr>
            </a:pPr>
            <a:r>
              <a:t>Both work well</a:t>
            </a:r>
          </a:p>
        </p:txBody>
      </p:sp>
      <p:sp>
        <p:nvSpPr>
          <p:cNvPr id="19" name="TextBox 18"/>
          <p:cNvSpPr txBox="1"/>
          <p:nvPr/>
        </p:nvSpPr>
        <p:spPr>
          <a:xfrm>
            <a:off x="8356396" y="3139947"/>
            <a:ext cx="3058058" cy="1289812"/>
          </a:xfrm>
          <a:prstGeom prst="rect">
            <a:avLst/>
          </a:prstGeom>
          <a:noFill/>
        </p:spPr>
        <p:txBody>
          <a:bodyPr wrap="square" lIns="0" rIns="0" tIns="0" bIns="0">
            <a:spAutoFit/>
          </a:bodyPr>
          <a:lstStyle/>
          <a:p>
            <a:pPr>
              <a:spcAft>
                <a:spcPts val="300"/>
              </a:spcAft>
              <a:defRPr sz="1600" b="0">
                <a:solidFill>
                  <a:srgbClr val="233B4D"/>
                </a:solidFill>
                <a:latin typeface="Aptos"/>
              </a:defRPr>
            </a:pPr>
            <a:r>
              <a:t>Either can serve as the decision layer. This project's harness runs any model, so the choice can follow data-residency and operating preferences.</a:t>
            </a:r>
          </a:p>
        </p:txBody>
      </p:sp>
      <p:sp>
        <p:nvSpPr>
          <p:cNvPr id="20" name="Rectangle 19"/>
          <p:cNvSpPr/>
          <p:nvPr/>
        </p:nvSpPr>
        <p:spPr>
          <a:xfrm>
            <a:off x="548640" y="6309360"/>
            <a:ext cx="11094415" cy="10972"/>
          </a:xfrm>
          <a:prstGeom prst="rect">
            <a:avLst/>
          </a:prstGeom>
          <a:solidFill>
            <a:srgbClr val="CCD7DD"/>
          </a:solidFill>
          <a:ln>
            <a:noFill/>
          </a:ln>
          <a:effectLst/>
        </p:spPr>
        <p:txBody>
          <a:bodyPr rtlCol="0" anchor="ctr"/>
          <a:lstStyle/>
          <a:p>
            <a:pPr algn="ctr"/>
          </a:p>
        </p:txBody>
      </p:sp>
      <p:sp>
        <p:nvSpPr>
          <p:cNvPr id="21" name="TextBox 20"/>
          <p:cNvSpPr txBox="1"/>
          <p:nvPr/>
        </p:nvSpPr>
        <p:spPr>
          <a:xfrm>
            <a:off x="548640" y="6400800"/>
            <a:ext cx="4572000" cy="201168"/>
          </a:xfrm>
          <a:prstGeom prst="rect">
            <a:avLst/>
          </a:prstGeom>
          <a:noFill/>
        </p:spPr>
        <p:txBody>
          <a:bodyPr wrap="square" lIns="0" rIns="0" tIns="0" bIns="0">
            <a:spAutoFit/>
          </a:bodyPr>
          <a:lstStyle/>
          <a:p>
            <a:pPr>
              <a:spcAft>
                <a:spcPts val="300"/>
              </a:spcAft>
              <a:defRPr sz="900" b="0">
                <a:solidFill>
                  <a:srgbClr val="596A76"/>
                </a:solidFill>
                <a:latin typeface="Aptos"/>
              </a:defRPr>
            </a:pPr>
            <a:r>
              <a:t>For discussion · October 2026</a:t>
            </a:r>
          </a:p>
        </p:txBody>
      </p:sp>
      <p:sp>
        <p:nvSpPr>
          <p:cNvPr id="22" name="TextBox 21"/>
          <p:cNvSpPr txBox="1"/>
          <p:nvPr/>
        </p:nvSpPr>
        <p:spPr>
          <a:xfrm>
            <a:off x="10929480" y="6400800"/>
            <a:ext cx="164934" cy="201168"/>
          </a:xfrm>
          <a:prstGeom prst="rect">
            <a:avLst/>
          </a:prstGeom>
          <a:noFill/>
        </p:spPr>
        <p:txBody>
          <a:bodyPr wrap="square" lIns="0" rIns="0" tIns="0" bIns="0">
            <a:spAutoFit/>
          </a:bodyPr>
          <a:lstStyle/>
          <a:p>
            <a:pPr>
              <a:spcAft>
                <a:spcPts val="300"/>
              </a:spcAft>
              <a:defRPr sz="900" b="1">
                <a:solidFill>
                  <a:srgbClr val="007F82"/>
                </a:solidFill>
                <a:latin typeface="Aptos"/>
              </a:defRPr>
            </a:pPr>
            <a:r>
              <a:rPr>
                <a:hlinkClick r:id="rId3"/>
              </a:rPr>
              <a:t>S6</a:t>
            </a:r>
          </a:p>
        </p:txBody>
      </p:sp>
      <p:sp>
        <p:nvSpPr>
          <p:cNvPr id="23" name="TextBox 22"/>
          <p:cNvSpPr txBox="1"/>
          <p:nvPr/>
        </p:nvSpPr>
        <p:spPr>
          <a:xfrm>
            <a:off x="10380840" y="6400800"/>
            <a:ext cx="493776" cy="201168"/>
          </a:xfrm>
          <a:prstGeom prst="rect">
            <a:avLst/>
          </a:prstGeom>
          <a:noFill/>
        </p:spPr>
        <p:txBody>
          <a:bodyPr wrap="square" lIns="0" rIns="0" tIns="0" bIns="0">
            <a:spAutoFit/>
          </a:bodyPr>
          <a:lstStyle/>
          <a:p>
            <a:pPr algn="r">
              <a:spcAft>
                <a:spcPts val="300"/>
              </a:spcAft>
              <a:defRPr sz="900" b="0">
                <a:solidFill>
                  <a:srgbClr val="596A76"/>
                </a:solidFill>
                <a:latin typeface="Aptos"/>
              </a:defRPr>
            </a:pPr>
            <a:r>
              <a:t>Sources</a:t>
            </a:r>
          </a:p>
        </p:txBody>
      </p:sp>
      <p:sp>
        <p:nvSpPr>
          <p:cNvPr id="24" name="TextBox 23"/>
          <p:cNvSpPr txBox="1"/>
          <p:nvPr/>
        </p:nvSpPr>
        <p:spPr>
          <a:xfrm>
            <a:off x="11185855" y="6400800"/>
            <a:ext cx="457200" cy="201168"/>
          </a:xfrm>
          <a:prstGeom prst="rect">
            <a:avLst/>
          </a:prstGeom>
          <a:noFill/>
        </p:spPr>
        <p:txBody>
          <a:bodyPr wrap="square" lIns="0" rIns="0" tIns="0" bIns="0">
            <a:spAutoFit/>
          </a:bodyPr>
          <a:lstStyle/>
          <a:p>
            <a:pPr algn="r">
              <a:spcAft>
                <a:spcPts val="300"/>
              </a:spcAft>
              <a:defRPr sz="900" b="0">
                <a:solidFill>
                  <a:srgbClr val="596A76"/>
                </a:solidFill>
                <a:latin typeface="Aptos"/>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7F82"/>
          </a:solidFill>
          <a:ln>
            <a:noFill/>
          </a:ln>
          <a:effectLst/>
        </p:spPr>
        <p:txBody>
          <a:bodyPr rtlCol="0" anchor="ctr"/>
          <a:lstStyle/>
          <a:p>
            <a:pPr algn="ctr"/>
          </a:p>
        </p:txBody>
      </p:sp>
      <p:sp>
        <p:nvSpPr>
          <p:cNvPr id="3" name="TextBox 2"/>
          <p:cNvSpPr txBox="1"/>
          <p:nvPr/>
        </p:nvSpPr>
        <p:spPr>
          <a:xfrm>
            <a:off x="548640" y="310896"/>
            <a:ext cx="9144000" cy="201168"/>
          </a:xfrm>
          <a:prstGeom prst="rect">
            <a:avLst/>
          </a:prstGeom>
          <a:noFill/>
        </p:spPr>
        <p:txBody>
          <a:bodyPr wrap="square" lIns="0" rIns="0" tIns="0" bIns="0">
            <a:spAutoFit/>
          </a:bodyPr>
          <a:lstStyle/>
          <a:p>
            <a:pPr>
              <a:spcAft>
                <a:spcPts val="300"/>
              </a:spcAft>
              <a:defRPr sz="1000" b="1">
                <a:solidFill>
                  <a:srgbClr val="007F82"/>
                </a:solidFill>
                <a:latin typeface="Aptos"/>
              </a:defRPr>
            </a:pPr>
            <a:r>
              <a:t>APPENDIX A7</a:t>
            </a:r>
          </a:p>
        </p:txBody>
      </p:sp>
      <p:sp>
        <p:nvSpPr>
          <p:cNvPr id="4" name="TextBox 3"/>
          <p:cNvSpPr txBox="1"/>
          <p:nvPr/>
        </p:nvSpPr>
        <p:spPr>
          <a:xfrm>
            <a:off x="548640" y="566928"/>
            <a:ext cx="10149840" cy="469899"/>
          </a:xfrm>
          <a:prstGeom prst="rect">
            <a:avLst/>
          </a:prstGeom>
          <a:noFill/>
        </p:spPr>
        <p:txBody>
          <a:bodyPr wrap="square" lIns="0" rIns="0" tIns="0" bIns="0">
            <a:spAutoFit/>
          </a:bodyPr>
          <a:lstStyle/>
          <a:p>
            <a:pPr>
              <a:spcAft>
                <a:spcPts val="300"/>
              </a:spcAft>
              <a:defRPr sz="2500" b="1">
                <a:solidFill>
                  <a:srgbClr val="142E42"/>
                </a:solidFill>
                <a:latin typeface="Aptos"/>
              </a:defRPr>
            </a:pPr>
            <a:r>
              <a:t>About Jev and TypeSafe</a:t>
            </a:r>
          </a:p>
        </p:txBody>
      </p:sp>
      <p:sp>
        <p:nvSpPr>
          <p:cNvPr id="5" name="TextBox 4"/>
          <p:cNvSpPr txBox="1"/>
          <p:nvPr/>
        </p:nvSpPr>
        <p:spPr>
          <a:xfrm>
            <a:off x="548640" y="1073404"/>
            <a:ext cx="10149840" cy="279908"/>
          </a:xfrm>
          <a:prstGeom prst="rect">
            <a:avLst/>
          </a:prstGeom>
          <a:noFill/>
        </p:spPr>
        <p:txBody>
          <a:bodyPr wrap="square" lIns="0" rIns="0" tIns="0" bIns="0">
            <a:spAutoFit/>
          </a:bodyPr>
          <a:lstStyle/>
          <a:p>
            <a:pPr>
              <a:spcAft>
                <a:spcPts val="300"/>
              </a:spcAft>
              <a:defRPr sz="1400" b="0">
                <a:solidFill>
                  <a:srgbClr val="596A76"/>
                </a:solidFill>
                <a:latin typeface="Aptos"/>
              </a:defRPr>
            </a:pPr>
            <a:r>
              <a:t>What is known about the model used as the example, as of October 2026</a:t>
            </a:r>
          </a:p>
        </p:txBody>
      </p:sp>
      <p:sp>
        <p:nvSpPr>
          <p:cNvPr id="6" name="Rectangle 5"/>
          <p:cNvSpPr/>
          <p:nvPr/>
        </p:nvSpPr>
        <p:spPr>
          <a:xfrm>
            <a:off x="10929823" y="274320"/>
            <a:ext cx="713232" cy="713232"/>
          </a:xfrm>
          <a:prstGeom prst="rect">
            <a:avLst/>
          </a:prstGeom>
          <a:solidFill>
            <a:srgbClr val="EFF4F6"/>
          </a:solidFill>
          <a:ln>
            <a:noFill/>
          </a:ln>
          <a:effectLst/>
        </p:spPr>
        <p:txBody>
          <a:bodyPr rtlCol="0" anchor="ctr"/>
          <a:lstStyle/>
          <a:p>
            <a:pPr algn="ctr"/>
          </a:p>
        </p:txBody>
      </p:sp>
      <p:pic>
        <p:nvPicPr>
          <p:cNvPr id="7" name="Picture 6" descr="info.png"/>
          <p:cNvPicPr>
            <a:picLocks noChangeAspect="1"/>
          </p:cNvPicPr>
          <p:nvPr/>
        </p:nvPicPr>
        <p:blipFill>
          <a:blip r:embed="rId2"/>
          <a:stretch>
            <a:fillRect/>
          </a:stretch>
        </p:blipFill>
        <p:spPr>
          <a:xfrm>
            <a:off x="11021263" y="365760"/>
            <a:ext cx="530352" cy="530352"/>
          </a:xfrm>
          <a:prstGeom prst="rect">
            <a:avLst/>
          </a:prstGeom>
        </p:spPr>
      </p:pic>
      <p:sp>
        <p:nvSpPr>
          <p:cNvPr id="8" name="Rectangle 7"/>
          <p:cNvSpPr/>
          <p:nvPr/>
        </p:nvSpPr>
        <p:spPr>
          <a:xfrm>
            <a:off x="548640" y="1700784"/>
            <a:ext cx="1916553" cy="363220"/>
          </a:xfrm>
          <a:prstGeom prst="rect">
            <a:avLst/>
          </a:prstGeom>
          <a:solidFill>
            <a:srgbClr val="142E42"/>
          </a:solidFill>
          <a:ln>
            <a:noFill/>
          </a:ln>
          <a:effectLst/>
        </p:spPr>
        <p:txBody>
          <a:bodyPr rtlCol="0" anchor="ctr"/>
          <a:lstStyle/>
          <a:p>
            <a:pPr algn="ctr"/>
          </a:p>
        </p:txBody>
      </p:sp>
      <p:sp>
        <p:nvSpPr>
          <p:cNvPr id="9" name="TextBox 8"/>
          <p:cNvSpPr txBox="1"/>
          <p:nvPr/>
        </p:nvSpPr>
        <p:spPr>
          <a:xfrm>
            <a:off x="658368" y="1700784"/>
            <a:ext cx="1697097" cy="363220"/>
          </a:xfrm>
          <a:prstGeom prst="rect">
            <a:avLst/>
          </a:prstGeom>
          <a:noFill/>
        </p:spPr>
        <p:txBody>
          <a:bodyPr wrap="square" lIns="0" rIns="0" tIns="0" bIns="0" anchor="ctr">
            <a:spAutoFit/>
          </a:bodyPr>
          <a:lstStyle/>
          <a:p>
            <a:pPr>
              <a:spcAft>
                <a:spcPts val="300"/>
              </a:spcAft>
              <a:defRPr sz="1300" b="1">
                <a:solidFill>
                  <a:srgbClr val="FFFFFF"/>
                </a:solidFill>
                <a:latin typeface="Aptos"/>
              </a:defRPr>
            </a:pPr>
            <a:r>
              <a:t>Item</a:t>
            </a:r>
          </a:p>
        </p:txBody>
      </p:sp>
      <p:sp>
        <p:nvSpPr>
          <p:cNvPr id="10" name="Rectangle 9"/>
          <p:cNvSpPr/>
          <p:nvPr/>
        </p:nvSpPr>
        <p:spPr>
          <a:xfrm>
            <a:off x="2492625" y="1700784"/>
            <a:ext cx="9122997" cy="363220"/>
          </a:xfrm>
          <a:prstGeom prst="rect">
            <a:avLst/>
          </a:prstGeom>
          <a:solidFill>
            <a:srgbClr val="142E42"/>
          </a:solidFill>
          <a:ln>
            <a:noFill/>
          </a:ln>
          <a:effectLst/>
        </p:spPr>
        <p:txBody>
          <a:bodyPr rtlCol="0" anchor="ctr"/>
          <a:lstStyle/>
          <a:p>
            <a:pPr algn="ctr"/>
          </a:p>
        </p:txBody>
      </p:sp>
      <p:sp>
        <p:nvSpPr>
          <p:cNvPr id="11" name="TextBox 10"/>
          <p:cNvSpPr txBox="1"/>
          <p:nvPr/>
        </p:nvSpPr>
        <p:spPr>
          <a:xfrm>
            <a:off x="2602353" y="1700784"/>
            <a:ext cx="8903541" cy="363220"/>
          </a:xfrm>
          <a:prstGeom prst="rect">
            <a:avLst/>
          </a:prstGeom>
          <a:noFill/>
        </p:spPr>
        <p:txBody>
          <a:bodyPr wrap="square" lIns="0" rIns="0" tIns="0" bIns="0" anchor="ctr">
            <a:spAutoFit/>
          </a:bodyPr>
          <a:lstStyle/>
          <a:p>
            <a:pPr>
              <a:spcAft>
                <a:spcPts val="300"/>
              </a:spcAft>
              <a:defRPr sz="1300" b="1">
                <a:solidFill>
                  <a:srgbClr val="FFFFFF"/>
                </a:solidFill>
                <a:latin typeface="Aptos"/>
              </a:defRPr>
            </a:pPr>
            <a:r>
              <a:t>Detail</a:t>
            </a:r>
          </a:p>
        </p:txBody>
      </p:sp>
      <p:sp>
        <p:nvSpPr>
          <p:cNvPr id="12" name="Rectangle 11"/>
          <p:cNvSpPr/>
          <p:nvPr/>
        </p:nvSpPr>
        <p:spPr>
          <a:xfrm>
            <a:off x="548640" y="2091436"/>
            <a:ext cx="1916553" cy="448056"/>
          </a:xfrm>
          <a:prstGeom prst="rect">
            <a:avLst/>
          </a:prstGeom>
          <a:solidFill>
            <a:srgbClr val="EFF4F6"/>
          </a:solidFill>
          <a:ln>
            <a:noFill/>
          </a:ln>
          <a:effectLst/>
        </p:spPr>
        <p:txBody>
          <a:bodyPr rtlCol="0" anchor="ctr"/>
          <a:lstStyle/>
          <a:p>
            <a:pPr algn="ctr"/>
          </a:p>
        </p:txBody>
      </p:sp>
      <p:sp>
        <p:nvSpPr>
          <p:cNvPr id="13" name="TextBox 12"/>
          <p:cNvSpPr txBox="1"/>
          <p:nvPr/>
        </p:nvSpPr>
        <p:spPr>
          <a:xfrm>
            <a:off x="658368" y="2091436"/>
            <a:ext cx="1697097" cy="448056"/>
          </a:xfrm>
          <a:prstGeom prst="rect">
            <a:avLst/>
          </a:prstGeom>
          <a:noFill/>
        </p:spPr>
        <p:txBody>
          <a:bodyPr wrap="square" lIns="0" rIns="0" tIns="0" bIns="0" anchor="ctr">
            <a:spAutoFit/>
          </a:bodyPr>
          <a:lstStyle/>
          <a:p>
            <a:pPr>
              <a:spcAft>
                <a:spcPts val="300"/>
              </a:spcAft>
              <a:defRPr sz="1500" b="1">
                <a:solidFill>
                  <a:srgbClr val="233B4D"/>
                </a:solidFill>
                <a:latin typeface="Aptos"/>
              </a:defRPr>
            </a:pPr>
            <a:r>
              <a:t>Vendor</a:t>
            </a:r>
          </a:p>
        </p:txBody>
      </p:sp>
      <p:sp>
        <p:nvSpPr>
          <p:cNvPr id="14" name="Rectangle 13"/>
          <p:cNvSpPr/>
          <p:nvPr/>
        </p:nvSpPr>
        <p:spPr>
          <a:xfrm>
            <a:off x="2492625" y="2091436"/>
            <a:ext cx="9122997" cy="448056"/>
          </a:xfrm>
          <a:prstGeom prst="rect">
            <a:avLst/>
          </a:prstGeom>
          <a:solidFill>
            <a:srgbClr val="EFF4F6"/>
          </a:solidFill>
          <a:ln>
            <a:noFill/>
          </a:ln>
          <a:effectLst/>
        </p:spPr>
        <p:txBody>
          <a:bodyPr rtlCol="0" anchor="ctr"/>
          <a:lstStyle/>
          <a:p>
            <a:pPr algn="ctr"/>
          </a:p>
        </p:txBody>
      </p:sp>
      <p:sp>
        <p:nvSpPr>
          <p:cNvPr id="15" name="TextBox 14"/>
          <p:cNvSpPr txBox="1"/>
          <p:nvPr/>
        </p:nvSpPr>
        <p:spPr>
          <a:xfrm>
            <a:off x="2602353" y="2091436"/>
            <a:ext cx="8903541" cy="448056"/>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TypeSafe AI, San Francisco; Jev entered early access in September 2026</a:t>
            </a:r>
          </a:p>
        </p:txBody>
      </p:sp>
      <p:sp>
        <p:nvSpPr>
          <p:cNvPr id="16" name="Rectangle 15"/>
          <p:cNvSpPr/>
          <p:nvPr/>
        </p:nvSpPr>
        <p:spPr>
          <a:xfrm>
            <a:off x="548640" y="2566924"/>
            <a:ext cx="1916553" cy="448056"/>
          </a:xfrm>
          <a:prstGeom prst="rect">
            <a:avLst/>
          </a:prstGeom>
          <a:solidFill>
            <a:srgbClr val="F8FAFB"/>
          </a:solidFill>
          <a:ln>
            <a:noFill/>
          </a:ln>
          <a:effectLst/>
        </p:spPr>
        <p:txBody>
          <a:bodyPr rtlCol="0" anchor="ctr"/>
          <a:lstStyle/>
          <a:p>
            <a:pPr algn="ctr"/>
          </a:p>
        </p:txBody>
      </p:sp>
      <p:sp>
        <p:nvSpPr>
          <p:cNvPr id="17" name="TextBox 16"/>
          <p:cNvSpPr txBox="1"/>
          <p:nvPr/>
        </p:nvSpPr>
        <p:spPr>
          <a:xfrm>
            <a:off x="658368" y="2566924"/>
            <a:ext cx="1697097" cy="448056"/>
          </a:xfrm>
          <a:prstGeom prst="rect">
            <a:avLst/>
          </a:prstGeom>
          <a:noFill/>
        </p:spPr>
        <p:txBody>
          <a:bodyPr wrap="square" lIns="0" rIns="0" tIns="0" bIns="0" anchor="ctr">
            <a:spAutoFit/>
          </a:bodyPr>
          <a:lstStyle/>
          <a:p>
            <a:pPr>
              <a:spcAft>
                <a:spcPts val="300"/>
              </a:spcAft>
              <a:defRPr sz="1500" b="1">
                <a:solidFill>
                  <a:srgbClr val="233B4D"/>
                </a:solidFill>
                <a:latin typeface="Aptos"/>
              </a:defRPr>
            </a:pPr>
            <a:r>
              <a:t>Model</a:t>
            </a:r>
          </a:p>
        </p:txBody>
      </p:sp>
      <p:sp>
        <p:nvSpPr>
          <p:cNvPr id="18" name="Rectangle 17"/>
          <p:cNvSpPr/>
          <p:nvPr/>
        </p:nvSpPr>
        <p:spPr>
          <a:xfrm>
            <a:off x="2492625" y="2566924"/>
            <a:ext cx="9122997" cy="448056"/>
          </a:xfrm>
          <a:prstGeom prst="rect">
            <a:avLst/>
          </a:prstGeom>
          <a:solidFill>
            <a:srgbClr val="F8FAFB"/>
          </a:solidFill>
          <a:ln>
            <a:noFill/>
          </a:ln>
          <a:effectLst/>
        </p:spPr>
        <p:txBody>
          <a:bodyPr rtlCol="0" anchor="ctr"/>
          <a:lstStyle/>
          <a:p>
            <a:pPr algn="ctr"/>
          </a:p>
        </p:txBody>
      </p:sp>
      <p:sp>
        <p:nvSpPr>
          <p:cNvPr id="19" name="TextBox 18"/>
          <p:cNvSpPr txBox="1"/>
          <p:nvPr/>
        </p:nvSpPr>
        <p:spPr>
          <a:xfrm>
            <a:off x="2602353" y="2566924"/>
            <a:ext cx="8903541" cy="448056"/>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Jev, marketed as a 'System One' decision model: not a chat model, and it does not generate text</a:t>
            </a:r>
          </a:p>
        </p:txBody>
      </p:sp>
      <p:sp>
        <p:nvSpPr>
          <p:cNvPr id="20" name="Rectangle 19"/>
          <p:cNvSpPr/>
          <p:nvPr/>
        </p:nvSpPr>
        <p:spPr>
          <a:xfrm>
            <a:off x="548640" y="3042412"/>
            <a:ext cx="1916553" cy="448056"/>
          </a:xfrm>
          <a:prstGeom prst="rect">
            <a:avLst/>
          </a:prstGeom>
          <a:solidFill>
            <a:srgbClr val="EFF4F6"/>
          </a:solidFill>
          <a:ln>
            <a:noFill/>
          </a:ln>
          <a:effectLst/>
        </p:spPr>
        <p:txBody>
          <a:bodyPr rtlCol="0" anchor="ctr"/>
          <a:lstStyle/>
          <a:p>
            <a:pPr algn="ctr"/>
          </a:p>
        </p:txBody>
      </p:sp>
      <p:sp>
        <p:nvSpPr>
          <p:cNvPr id="21" name="TextBox 20"/>
          <p:cNvSpPr txBox="1"/>
          <p:nvPr/>
        </p:nvSpPr>
        <p:spPr>
          <a:xfrm>
            <a:off x="658368" y="3042412"/>
            <a:ext cx="1697097" cy="448056"/>
          </a:xfrm>
          <a:prstGeom prst="rect">
            <a:avLst/>
          </a:prstGeom>
          <a:noFill/>
        </p:spPr>
        <p:txBody>
          <a:bodyPr wrap="square" lIns="0" rIns="0" tIns="0" bIns="0" anchor="ctr">
            <a:spAutoFit/>
          </a:bodyPr>
          <a:lstStyle/>
          <a:p>
            <a:pPr>
              <a:spcAft>
                <a:spcPts val="300"/>
              </a:spcAft>
              <a:defRPr sz="1500" b="1">
                <a:solidFill>
                  <a:srgbClr val="233B4D"/>
                </a:solidFill>
                <a:latin typeface="Aptos"/>
              </a:defRPr>
            </a:pPr>
            <a:r>
              <a:t>Interface</a:t>
            </a:r>
          </a:p>
        </p:txBody>
      </p:sp>
      <p:sp>
        <p:nvSpPr>
          <p:cNvPr id="22" name="Rectangle 21"/>
          <p:cNvSpPr/>
          <p:nvPr/>
        </p:nvSpPr>
        <p:spPr>
          <a:xfrm>
            <a:off x="2492625" y="3042412"/>
            <a:ext cx="9122997" cy="448056"/>
          </a:xfrm>
          <a:prstGeom prst="rect">
            <a:avLst/>
          </a:prstGeom>
          <a:solidFill>
            <a:srgbClr val="EFF4F6"/>
          </a:solidFill>
          <a:ln>
            <a:noFill/>
          </a:ln>
          <a:effectLst/>
        </p:spPr>
        <p:txBody>
          <a:bodyPr rtlCol="0" anchor="ctr"/>
          <a:lstStyle/>
          <a:p>
            <a:pPr algn="ctr"/>
          </a:p>
        </p:txBody>
      </p:sp>
      <p:sp>
        <p:nvSpPr>
          <p:cNvPr id="23" name="TextBox 22"/>
          <p:cNvSpPr txBox="1"/>
          <p:nvPr/>
        </p:nvSpPr>
        <p:spPr>
          <a:xfrm>
            <a:off x="2602353" y="3042412"/>
            <a:ext cx="8903541" cy="448056"/>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One REST call: a state in; typed answers with probabilities out</a:t>
            </a:r>
          </a:p>
        </p:txBody>
      </p:sp>
      <p:sp>
        <p:nvSpPr>
          <p:cNvPr id="24" name="Rectangle 23"/>
          <p:cNvSpPr/>
          <p:nvPr/>
        </p:nvSpPr>
        <p:spPr>
          <a:xfrm>
            <a:off x="548640" y="3517900"/>
            <a:ext cx="1916553" cy="448056"/>
          </a:xfrm>
          <a:prstGeom prst="rect">
            <a:avLst/>
          </a:prstGeom>
          <a:solidFill>
            <a:srgbClr val="F8FAFB"/>
          </a:solidFill>
          <a:ln>
            <a:noFill/>
          </a:ln>
          <a:effectLst/>
        </p:spPr>
        <p:txBody>
          <a:bodyPr rtlCol="0" anchor="ctr"/>
          <a:lstStyle/>
          <a:p>
            <a:pPr algn="ctr"/>
          </a:p>
        </p:txBody>
      </p:sp>
      <p:sp>
        <p:nvSpPr>
          <p:cNvPr id="25" name="TextBox 24"/>
          <p:cNvSpPr txBox="1"/>
          <p:nvPr/>
        </p:nvSpPr>
        <p:spPr>
          <a:xfrm>
            <a:off x="658368" y="3517900"/>
            <a:ext cx="1697097" cy="448056"/>
          </a:xfrm>
          <a:prstGeom prst="rect">
            <a:avLst/>
          </a:prstGeom>
          <a:noFill/>
        </p:spPr>
        <p:txBody>
          <a:bodyPr wrap="square" lIns="0" rIns="0" tIns="0" bIns="0" anchor="ctr">
            <a:spAutoFit/>
          </a:bodyPr>
          <a:lstStyle/>
          <a:p>
            <a:pPr>
              <a:spcAft>
                <a:spcPts val="300"/>
              </a:spcAft>
              <a:defRPr sz="1500" b="1">
                <a:solidFill>
                  <a:srgbClr val="233B4D"/>
                </a:solidFill>
                <a:latin typeface="Aptos"/>
              </a:defRPr>
            </a:pPr>
            <a:r>
              <a:t>Primitives</a:t>
            </a:r>
          </a:p>
        </p:txBody>
      </p:sp>
      <p:sp>
        <p:nvSpPr>
          <p:cNvPr id="26" name="Rectangle 25"/>
          <p:cNvSpPr/>
          <p:nvPr/>
        </p:nvSpPr>
        <p:spPr>
          <a:xfrm>
            <a:off x="2492625" y="3517900"/>
            <a:ext cx="9122997" cy="448056"/>
          </a:xfrm>
          <a:prstGeom prst="rect">
            <a:avLst/>
          </a:prstGeom>
          <a:solidFill>
            <a:srgbClr val="F8FAFB"/>
          </a:solidFill>
          <a:ln>
            <a:noFill/>
          </a:ln>
          <a:effectLst/>
        </p:spPr>
        <p:txBody>
          <a:bodyPr rtlCol="0" anchor="ctr"/>
          <a:lstStyle/>
          <a:p>
            <a:pPr algn="ctr"/>
          </a:p>
        </p:txBody>
      </p:sp>
      <p:sp>
        <p:nvSpPr>
          <p:cNvPr id="27" name="TextBox 26"/>
          <p:cNvSpPr txBox="1"/>
          <p:nvPr/>
        </p:nvSpPr>
        <p:spPr>
          <a:xfrm>
            <a:off x="2602353" y="3517900"/>
            <a:ext cx="8903541" cy="448056"/>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Choice (pick from a list), Score (place on a scale), Noul (probability a statement is true)</a:t>
            </a:r>
          </a:p>
        </p:txBody>
      </p:sp>
      <p:sp>
        <p:nvSpPr>
          <p:cNvPr id="28" name="Rectangle 27"/>
          <p:cNvSpPr/>
          <p:nvPr/>
        </p:nvSpPr>
        <p:spPr>
          <a:xfrm>
            <a:off x="548640" y="3993388"/>
            <a:ext cx="1916553" cy="644652"/>
          </a:xfrm>
          <a:prstGeom prst="rect">
            <a:avLst/>
          </a:prstGeom>
          <a:solidFill>
            <a:srgbClr val="EFF4F6"/>
          </a:solidFill>
          <a:ln>
            <a:noFill/>
          </a:ln>
          <a:effectLst/>
        </p:spPr>
        <p:txBody>
          <a:bodyPr rtlCol="0" anchor="ctr"/>
          <a:lstStyle/>
          <a:p>
            <a:pPr algn="ctr"/>
          </a:p>
        </p:txBody>
      </p:sp>
      <p:sp>
        <p:nvSpPr>
          <p:cNvPr id="29" name="TextBox 28"/>
          <p:cNvSpPr txBox="1"/>
          <p:nvPr/>
        </p:nvSpPr>
        <p:spPr>
          <a:xfrm>
            <a:off x="658368" y="3993388"/>
            <a:ext cx="1697097" cy="644652"/>
          </a:xfrm>
          <a:prstGeom prst="rect">
            <a:avLst/>
          </a:prstGeom>
          <a:noFill/>
        </p:spPr>
        <p:txBody>
          <a:bodyPr wrap="square" lIns="0" rIns="0" tIns="0" bIns="0" anchor="ctr">
            <a:spAutoFit/>
          </a:bodyPr>
          <a:lstStyle/>
          <a:p>
            <a:pPr>
              <a:spcAft>
                <a:spcPts val="300"/>
              </a:spcAft>
              <a:defRPr sz="1500" b="1">
                <a:solidFill>
                  <a:srgbClr val="233B4D"/>
                </a:solidFill>
                <a:latin typeface="Aptos"/>
              </a:defRPr>
            </a:pPr>
            <a:r>
              <a:t>Hosting and price</a:t>
            </a:r>
          </a:p>
        </p:txBody>
      </p:sp>
      <p:sp>
        <p:nvSpPr>
          <p:cNvPr id="30" name="Rectangle 29"/>
          <p:cNvSpPr/>
          <p:nvPr/>
        </p:nvSpPr>
        <p:spPr>
          <a:xfrm>
            <a:off x="2492625" y="3993388"/>
            <a:ext cx="9122997" cy="644652"/>
          </a:xfrm>
          <a:prstGeom prst="rect">
            <a:avLst/>
          </a:prstGeom>
          <a:solidFill>
            <a:srgbClr val="EFF4F6"/>
          </a:solidFill>
          <a:ln>
            <a:noFill/>
          </a:ln>
          <a:effectLst/>
        </p:spPr>
        <p:txBody>
          <a:bodyPr rtlCol="0" anchor="ctr"/>
          <a:lstStyle/>
          <a:p>
            <a:pPr algn="ctr"/>
          </a:p>
        </p:txBody>
      </p:sp>
      <p:sp>
        <p:nvSpPr>
          <p:cNvPr id="31" name="TextBox 30"/>
          <p:cNvSpPr txBox="1"/>
          <p:nvPr/>
        </p:nvSpPr>
        <p:spPr>
          <a:xfrm>
            <a:off x="2602353" y="3993388"/>
            <a:ext cx="8903541" cy="644652"/>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Hosted API in one region; input tokens billed, output free (list about $0.042 per million input tokens)</a:t>
            </a:r>
          </a:p>
        </p:txBody>
      </p:sp>
      <p:sp>
        <p:nvSpPr>
          <p:cNvPr id="32" name="Rectangle 31"/>
          <p:cNvSpPr/>
          <p:nvPr/>
        </p:nvSpPr>
        <p:spPr>
          <a:xfrm>
            <a:off x="548640" y="4665472"/>
            <a:ext cx="1916553" cy="448056"/>
          </a:xfrm>
          <a:prstGeom prst="rect">
            <a:avLst/>
          </a:prstGeom>
          <a:solidFill>
            <a:srgbClr val="F8FAFB"/>
          </a:solidFill>
          <a:ln>
            <a:noFill/>
          </a:ln>
          <a:effectLst/>
        </p:spPr>
        <p:txBody>
          <a:bodyPr rtlCol="0" anchor="ctr"/>
          <a:lstStyle/>
          <a:p>
            <a:pPr algn="ctr"/>
          </a:p>
        </p:txBody>
      </p:sp>
      <p:sp>
        <p:nvSpPr>
          <p:cNvPr id="33" name="TextBox 32"/>
          <p:cNvSpPr txBox="1"/>
          <p:nvPr/>
        </p:nvSpPr>
        <p:spPr>
          <a:xfrm>
            <a:off x="658368" y="4665472"/>
            <a:ext cx="1697097" cy="448056"/>
          </a:xfrm>
          <a:prstGeom prst="rect">
            <a:avLst/>
          </a:prstGeom>
          <a:noFill/>
        </p:spPr>
        <p:txBody>
          <a:bodyPr wrap="square" lIns="0" rIns="0" tIns="0" bIns="0" anchor="ctr">
            <a:spAutoFit/>
          </a:bodyPr>
          <a:lstStyle/>
          <a:p>
            <a:pPr>
              <a:spcAft>
                <a:spcPts val="300"/>
              </a:spcAft>
              <a:defRPr sz="1500" b="1">
                <a:solidFill>
                  <a:srgbClr val="233B4D"/>
                </a:solidFill>
                <a:latin typeface="Aptos"/>
              </a:defRPr>
            </a:pPr>
            <a:r>
              <a:t>Status</a:t>
            </a:r>
          </a:p>
        </p:txBody>
      </p:sp>
      <p:sp>
        <p:nvSpPr>
          <p:cNvPr id="34" name="Rectangle 33"/>
          <p:cNvSpPr/>
          <p:nvPr/>
        </p:nvSpPr>
        <p:spPr>
          <a:xfrm>
            <a:off x="2492625" y="4665472"/>
            <a:ext cx="9122997" cy="448056"/>
          </a:xfrm>
          <a:prstGeom prst="rect">
            <a:avLst/>
          </a:prstGeom>
          <a:solidFill>
            <a:srgbClr val="F8FAFB"/>
          </a:solidFill>
          <a:ln>
            <a:noFill/>
          </a:ln>
          <a:effectLst/>
        </p:spPr>
        <p:txBody>
          <a:bodyPr rtlCol="0" anchor="ctr"/>
          <a:lstStyle/>
          <a:p>
            <a:pPr algn="ctr"/>
          </a:p>
        </p:txBody>
      </p:sp>
      <p:sp>
        <p:nvSpPr>
          <p:cNvPr id="35" name="TextBox 34"/>
          <p:cNvSpPr txBox="1"/>
          <p:nvPr/>
        </p:nvSpPr>
        <p:spPr>
          <a:xfrm>
            <a:off x="2602353" y="4665472"/>
            <a:ext cx="8903541" cy="448056"/>
          </a:xfrm>
          <a:prstGeom prst="rect">
            <a:avLst/>
          </a:prstGeom>
          <a:noFill/>
        </p:spPr>
        <p:txBody>
          <a:bodyPr wrap="square" lIns="0" rIns="0" tIns="0" bIns="0" anchor="ctr">
            <a:spAutoFit/>
          </a:bodyPr>
          <a:lstStyle/>
          <a:p>
            <a:pPr>
              <a:spcAft>
                <a:spcPts val="300"/>
              </a:spcAft>
              <a:defRPr sz="1500" b="0">
                <a:solidFill>
                  <a:srgbClr val="233B4D"/>
                </a:solidFill>
                <a:latin typeface="Aptos"/>
              </a:defRPr>
            </a:pPr>
            <a:r>
              <a:t>Young and moving; this project pins the version (jev-1.13.0) and re-validates after each release</a:t>
            </a:r>
          </a:p>
        </p:txBody>
      </p:sp>
      <p:sp>
        <p:nvSpPr>
          <p:cNvPr id="36" name="Rectangle 35"/>
          <p:cNvSpPr/>
          <p:nvPr/>
        </p:nvSpPr>
        <p:spPr>
          <a:xfrm>
            <a:off x="548640" y="6309360"/>
            <a:ext cx="11094415" cy="10972"/>
          </a:xfrm>
          <a:prstGeom prst="rect">
            <a:avLst/>
          </a:prstGeom>
          <a:solidFill>
            <a:srgbClr val="CCD7DD"/>
          </a:solidFill>
          <a:ln>
            <a:noFill/>
          </a:ln>
          <a:effectLst/>
        </p:spPr>
        <p:txBody>
          <a:bodyPr rtlCol="0" anchor="ctr"/>
          <a:lstStyle/>
          <a:p>
            <a:pPr algn="ctr"/>
          </a:p>
        </p:txBody>
      </p:sp>
      <p:sp>
        <p:nvSpPr>
          <p:cNvPr id="37" name="TextBox 36"/>
          <p:cNvSpPr txBox="1"/>
          <p:nvPr/>
        </p:nvSpPr>
        <p:spPr>
          <a:xfrm>
            <a:off x="548640" y="6400800"/>
            <a:ext cx="4572000" cy="201168"/>
          </a:xfrm>
          <a:prstGeom prst="rect">
            <a:avLst/>
          </a:prstGeom>
          <a:noFill/>
        </p:spPr>
        <p:txBody>
          <a:bodyPr wrap="square" lIns="0" rIns="0" tIns="0" bIns="0">
            <a:spAutoFit/>
          </a:bodyPr>
          <a:lstStyle/>
          <a:p>
            <a:pPr>
              <a:spcAft>
                <a:spcPts val="300"/>
              </a:spcAft>
              <a:defRPr sz="900" b="0">
                <a:solidFill>
                  <a:srgbClr val="596A76"/>
                </a:solidFill>
                <a:latin typeface="Aptos"/>
              </a:defRPr>
            </a:pPr>
            <a:r>
              <a:t>For discussion · October 2026</a:t>
            </a:r>
          </a:p>
        </p:txBody>
      </p:sp>
      <p:sp>
        <p:nvSpPr>
          <p:cNvPr id="38" name="TextBox 37"/>
          <p:cNvSpPr txBox="1"/>
          <p:nvPr/>
        </p:nvSpPr>
        <p:spPr>
          <a:xfrm>
            <a:off x="10929480" y="6400800"/>
            <a:ext cx="164934" cy="201168"/>
          </a:xfrm>
          <a:prstGeom prst="rect">
            <a:avLst/>
          </a:prstGeom>
          <a:noFill/>
        </p:spPr>
        <p:txBody>
          <a:bodyPr wrap="square" lIns="0" rIns="0" tIns="0" bIns="0">
            <a:spAutoFit/>
          </a:bodyPr>
          <a:lstStyle/>
          <a:p>
            <a:pPr>
              <a:spcAft>
                <a:spcPts val="300"/>
              </a:spcAft>
              <a:defRPr sz="900" b="1">
                <a:solidFill>
                  <a:srgbClr val="007F82"/>
                </a:solidFill>
                <a:latin typeface="Aptos"/>
              </a:defRPr>
            </a:pPr>
            <a:r>
              <a:rPr>
                <a:hlinkClick r:id="rId3"/>
              </a:rPr>
              <a:t>S7</a:t>
            </a:r>
          </a:p>
        </p:txBody>
      </p:sp>
      <p:sp>
        <p:nvSpPr>
          <p:cNvPr id="39" name="TextBox 38"/>
          <p:cNvSpPr txBox="1"/>
          <p:nvPr/>
        </p:nvSpPr>
        <p:spPr>
          <a:xfrm>
            <a:off x="10783176" y="6400800"/>
            <a:ext cx="91440" cy="201168"/>
          </a:xfrm>
          <a:prstGeom prst="rect">
            <a:avLst/>
          </a:prstGeom>
          <a:noFill/>
        </p:spPr>
        <p:txBody>
          <a:bodyPr wrap="square" lIns="0" rIns="0" tIns="0" bIns="0">
            <a:spAutoFit/>
          </a:bodyPr>
          <a:lstStyle/>
          <a:p>
            <a:pPr algn="ctr">
              <a:spcAft>
                <a:spcPts val="300"/>
              </a:spcAft>
              <a:defRPr sz="900" b="0">
                <a:solidFill>
                  <a:srgbClr val="596A76"/>
                </a:solidFill>
                <a:latin typeface="Aptos"/>
              </a:defRPr>
            </a:pPr>
            <a:r>
              <a:t>·</a:t>
            </a:r>
          </a:p>
        </p:txBody>
      </p:sp>
      <p:sp>
        <p:nvSpPr>
          <p:cNvPr id="40" name="TextBox 39"/>
          <p:cNvSpPr txBox="1"/>
          <p:nvPr/>
        </p:nvSpPr>
        <p:spPr>
          <a:xfrm>
            <a:off x="10618241" y="6400800"/>
            <a:ext cx="164934" cy="201168"/>
          </a:xfrm>
          <a:prstGeom prst="rect">
            <a:avLst/>
          </a:prstGeom>
          <a:noFill/>
        </p:spPr>
        <p:txBody>
          <a:bodyPr wrap="square" lIns="0" rIns="0" tIns="0" bIns="0">
            <a:spAutoFit/>
          </a:bodyPr>
          <a:lstStyle/>
          <a:p>
            <a:pPr>
              <a:spcAft>
                <a:spcPts val="300"/>
              </a:spcAft>
              <a:defRPr sz="900" b="1">
                <a:solidFill>
                  <a:srgbClr val="007F82"/>
                </a:solidFill>
                <a:latin typeface="Aptos"/>
              </a:defRPr>
            </a:pPr>
            <a:r>
              <a:rPr>
                <a:hlinkClick r:id="rId4"/>
              </a:rPr>
              <a:t>S6</a:t>
            </a:r>
          </a:p>
        </p:txBody>
      </p:sp>
      <p:sp>
        <p:nvSpPr>
          <p:cNvPr id="41" name="TextBox 40"/>
          <p:cNvSpPr txBox="1"/>
          <p:nvPr/>
        </p:nvSpPr>
        <p:spPr>
          <a:xfrm>
            <a:off x="10069601" y="6400800"/>
            <a:ext cx="493776" cy="201168"/>
          </a:xfrm>
          <a:prstGeom prst="rect">
            <a:avLst/>
          </a:prstGeom>
          <a:noFill/>
        </p:spPr>
        <p:txBody>
          <a:bodyPr wrap="square" lIns="0" rIns="0" tIns="0" bIns="0">
            <a:spAutoFit/>
          </a:bodyPr>
          <a:lstStyle/>
          <a:p>
            <a:pPr algn="r">
              <a:spcAft>
                <a:spcPts val="300"/>
              </a:spcAft>
              <a:defRPr sz="900" b="0">
                <a:solidFill>
                  <a:srgbClr val="596A76"/>
                </a:solidFill>
                <a:latin typeface="Aptos"/>
              </a:defRPr>
            </a:pPr>
            <a:r>
              <a:t>Sources</a:t>
            </a:r>
          </a:p>
        </p:txBody>
      </p:sp>
      <p:sp>
        <p:nvSpPr>
          <p:cNvPr id="42" name="TextBox 41"/>
          <p:cNvSpPr txBox="1"/>
          <p:nvPr/>
        </p:nvSpPr>
        <p:spPr>
          <a:xfrm>
            <a:off x="11185855" y="6400800"/>
            <a:ext cx="457200" cy="201168"/>
          </a:xfrm>
          <a:prstGeom prst="rect">
            <a:avLst/>
          </a:prstGeom>
          <a:noFill/>
        </p:spPr>
        <p:txBody>
          <a:bodyPr wrap="square" lIns="0" rIns="0" tIns="0" bIns="0">
            <a:spAutoFit/>
          </a:bodyPr>
          <a:lstStyle/>
          <a:p>
            <a:pPr algn="r">
              <a:spcAft>
                <a:spcPts val="300"/>
              </a:spcAft>
              <a:defRPr sz="900" b="0">
                <a:solidFill>
                  <a:srgbClr val="596A76"/>
                </a:solidFill>
                <a:latin typeface="Aptos"/>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007F82"/>
          </a:solidFill>
          <a:ln>
            <a:noFill/>
          </a:ln>
          <a:effectLst/>
        </p:spPr>
        <p:txBody>
          <a:bodyPr rtlCol="0" anchor="ctr"/>
          <a:lstStyle/>
          <a:p>
            <a:pPr algn="ctr"/>
          </a:p>
        </p:txBody>
      </p:sp>
      <p:sp>
        <p:nvSpPr>
          <p:cNvPr id="3" name="TextBox 2"/>
          <p:cNvSpPr txBox="1"/>
          <p:nvPr/>
        </p:nvSpPr>
        <p:spPr>
          <a:xfrm>
            <a:off x="548640" y="310896"/>
            <a:ext cx="9144000" cy="201168"/>
          </a:xfrm>
          <a:prstGeom prst="rect">
            <a:avLst/>
          </a:prstGeom>
          <a:noFill/>
        </p:spPr>
        <p:txBody>
          <a:bodyPr wrap="square" lIns="0" rIns="0" tIns="0" bIns="0">
            <a:spAutoFit/>
          </a:bodyPr>
          <a:lstStyle/>
          <a:p>
            <a:pPr>
              <a:spcAft>
                <a:spcPts val="300"/>
              </a:spcAft>
              <a:defRPr sz="1000" b="1">
                <a:solidFill>
                  <a:srgbClr val="007F82"/>
                </a:solidFill>
                <a:latin typeface="Aptos"/>
              </a:defRPr>
            </a:pPr>
            <a:r>
              <a:t>SOURCES</a:t>
            </a:r>
          </a:p>
        </p:txBody>
      </p:sp>
      <p:sp>
        <p:nvSpPr>
          <p:cNvPr id="4" name="TextBox 3"/>
          <p:cNvSpPr txBox="1"/>
          <p:nvPr/>
        </p:nvSpPr>
        <p:spPr>
          <a:xfrm>
            <a:off x="548640" y="566928"/>
            <a:ext cx="10149840" cy="469899"/>
          </a:xfrm>
          <a:prstGeom prst="rect">
            <a:avLst/>
          </a:prstGeom>
          <a:noFill/>
        </p:spPr>
        <p:txBody>
          <a:bodyPr wrap="square" lIns="0" rIns="0" tIns="0" bIns="0">
            <a:spAutoFit/>
          </a:bodyPr>
          <a:lstStyle/>
          <a:p>
            <a:pPr>
              <a:spcAft>
                <a:spcPts val="300"/>
              </a:spcAft>
              <a:defRPr sz="2500" b="1">
                <a:solidFill>
                  <a:srgbClr val="142E42"/>
                </a:solidFill>
                <a:latin typeface="Aptos"/>
              </a:defRPr>
            </a:pPr>
            <a:r>
              <a:t>Sources and basis of the discussion</a:t>
            </a:r>
          </a:p>
        </p:txBody>
      </p:sp>
      <p:sp>
        <p:nvSpPr>
          <p:cNvPr id="5" name="TextBox 4"/>
          <p:cNvSpPr txBox="1"/>
          <p:nvPr/>
        </p:nvSpPr>
        <p:spPr>
          <a:xfrm>
            <a:off x="548640" y="1073404"/>
            <a:ext cx="10149840" cy="279908"/>
          </a:xfrm>
          <a:prstGeom prst="rect">
            <a:avLst/>
          </a:prstGeom>
          <a:noFill/>
        </p:spPr>
        <p:txBody>
          <a:bodyPr wrap="square" lIns="0" rIns="0" tIns="0" bIns="0">
            <a:spAutoFit/>
          </a:bodyPr>
          <a:lstStyle/>
          <a:p>
            <a:pPr>
              <a:spcAft>
                <a:spcPts val="300"/>
              </a:spcAft>
              <a:defRPr sz="1400" b="0">
                <a:solidFill>
                  <a:srgbClr val="596A76"/>
                </a:solidFill>
                <a:latin typeface="Aptos"/>
              </a:defRPr>
            </a:pPr>
            <a:r>
              <a:t>Primary vendor material checked 4 October 2026; project results for the example figures</a:t>
            </a:r>
          </a:p>
        </p:txBody>
      </p:sp>
      <p:sp>
        <p:nvSpPr>
          <p:cNvPr id="6" name="Rectangle 5"/>
          <p:cNvSpPr/>
          <p:nvPr/>
        </p:nvSpPr>
        <p:spPr>
          <a:xfrm>
            <a:off x="10929823" y="274320"/>
            <a:ext cx="713232" cy="713232"/>
          </a:xfrm>
          <a:prstGeom prst="rect">
            <a:avLst/>
          </a:prstGeom>
          <a:solidFill>
            <a:srgbClr val="EFF4F6"/>
          </a:solidFill>
          <a:ln>
            <a:noFill/>
          </a:ln>
          <a:effectLst/>
        </p:spPr>
        <p:txBody>
          <a:bodyPr rtlCol="0" anchor="ctr"/>
          <a:lstStyle/>
          <a:p>
            <a:pPr algn="ctr"/>
          </a:p>
        </p:txBody>
      </p:sp>
      <p:pic>
        <p:nvPicPr>
          <p:cNvPr id="7" name="Picture 6" descr="book.png"/>
          <p:cNvPicPr>
            <a:picLocks noChangeAspect="1"/>
          </p:cNvPicPr>
          <p:nvPr/>
        </p:nvPicPr>
        <p:blipFill>
          <a:blip r:embed="rId2"/>
          <a:stretch>
            <a:fillRect/>
          </a:stretch>
        </p:blipFill>
        <p:spPr>
          <a:xfrm>
            <a:off x="11021263" y="365760"/>
            <a:ext cx="530352" cy="530352"/>
          </a:xfrm>
          <a:prstGeom prst="rect">
            <a:avLst/>
          </a:prstGeom>
        </p:spPr>
      </p:pic>
      <p:sp>
        <p:nvSpPr>
          <p:cNvPr id="8" name="Rectangle 7"/>
          <p:cNvSpPr/>
          <p:nvPr/>
        </p:nvSpPr>
        <p:spPr>
          <a:xfrm>
            <a:off x="548640" y="1700784"/>
            <a:ext cx="5364327" cy="694944"/>
          </a:xfrm>
          <a:prstGeom prst="rect">
            <a:avLst/>
          </a:prstGeom>
          <a:solidFill>
            <a:srgbClr val="F8FAFB"/>
          </a:solidFill>
          <a:ln>
            <a:noFill/>
          </a:ln>
          <a:effectLst/>
        </p:spPr>
        <p:txBody>
          <a:bodyPr rtlCol="0" anchor="ctr"/>
          <a:lstStyle/>
          <a:p>
            <a:pPr algn="ctr"/>
          </a:p>
        </p:txBody>
      </p:sp>
      <p:sp>
        <p:nvSpPr>
          <p:cNvPr id="9" name="Rectangle 8"/>
          <p:cNvSpPr/>
          <p:nvPr/>
        </p:nvSpPr>
        <p:spPr>
          <a:xfrm>
            <a:off x="548640" y="1700784"/>
            <a:ext cx="566928" cy="694944"/>
          </a:xfrm>
          <a:prstGeom prst="rect">
            <a:avLst/>
          </a:prstGeom>
          <a:solidFill>
            <a:srgbClr val="007F82"/>
          </a:solidFill>
          <a:ln>
            <a:noFill/>
          </a:ln>
          <a:effectLst/>
        </p:spPr>
        <p:txBody>
          <a:bodyPr rtlCol="0" anchor="ctr"/>
          <a:lstStyle/>
          <a:p>
            <a:pPr algn="ctr"/>
          </a:p>
        </p:txBody>
      </p:sp>
      <p:sp>
        <p:nvSpPr>
          <p:cNvPr id="10" name="TextBox 9"/>
          <p:cNvSpPr txBox="1"/>
          <p:nvPr/>
        </p:nvSpPr>
        <p:spPr>
          <a:xfrm>
            <a:off x="548640" y="1700784"/>
            <a:ext cx="566928" cy="694944"/>
          </a:xfrm>
          <a:prstGeom prst="rect">
            <a:avLst/>
          </a:prstGeom>
          <a:noFill/>
        </p:spPr>
        <p:txBody>
          <a:bodyPr wrap="square" lIns="0" rIns="0" tIns="0" bIns="0" anchor="ctr">
            <a:spAutoFit/>
          </a:bodyPr>
          <a:lstStyle/>
          <a:p>
            <a:pPr algn="ctr">
              <a:spcAft>
                <a:spcPts val="300"/>
              </a:spcAft>
              <a:defRPr sz="1500" b="1">
                <a:solidFill>
                  <a:srgbClr val="FFFFFF"/>
                </a:solidFill>
                <a:latin typeface="Aptos"/>
              </a:defRPr>
            </a:pPr>
            <a:r>
              <a:t>S1</a:t>
            </a:r>
          </a:p>
        </p:txBody>
      </p:sp>
      <p:sp>
        <p:nvSpPr>
          <p:cNvPr id="11" name="TextBox 10"/>
          <p:cNvSpPr txBox="1"/>
          <p:nvPr/>
        </p:nvSpPr>
        <p:spPr>
          <a:xfrm>
            <a:off x="1325880" y="1819655"/>
            <a:ext cx="4449927" cy="274320"/>
          </a:xfrm>
          <a:prstGeom prst="rect">
            <a:avLst/>
          </a:prstGeom>
          <a:noFill/>
        </p:spPr>
        <p:txBody>
          <a:bodyPr wrap="square" lIns="0" rIns="0" tIns="0" bIns="0">
            <a:spAutoFit/>
          </a:bodyPr>
          <a:lstStyle/>
          <a:p>
            <a:pPr>
              <a:spcAft>
                <a:spcPts val="300"/>
              </a:spcAft>
              <a:defRPr sz="1500" b="1">
                <a:solidFill>
                  <a:srgbClr val="142E42"/>
                </a:solidFill>
                <a:latin typeface="Aptos"/>
              </a:defRPr>
            </a:pPr>
            <a:r>
              <a:rPr>
                <a:hlinkClick r:id="rId3"/>
              </a:rPr>
              <a:t>ServiceNow · ITOM agentic workflows</a:t>
            </a:r>
          </a:p>
        </p:txBody>
      </p:sp>
      <p:sp>
        <p:nvSpPr>
          <p:cNvPr id="12" name="TextBox 11"/>
          <p:cNvSpPr txBox="1"/>
          <p:nvPr/>
        </p:nvSpPr>
        <p:spPr>
          <a:xfrm>
            <a:off x="1325880" y="2121408"/>
            <a:ext cx="4449927" cy="182880"/>
          </a:xfrm>
          <a:prstGeom prst="rect">
            <a:avLst/>
          </a:prstGeom>
          <a:noFill/>
        </p:spPr>
        <p:txBody>
          <a:bodyPr wrap="square" lIns="0" rIns="0" tIns="0" bIns="0">
            <a:spAutoFit/>
          </a:bodyPr>
          <a:lstStyle/>
          <a:p>
            <a:pPr>
              <a:spcAft>
                <a:spcPts val="300"/>
              </a:spcAft>
              <a:defRPr sz="1000" b="0">
                <a:solidFill>
                  <a:srgbClr val="596A76"/>
                </a:solidFill>
                <a:latin typeface="Aptos"/>
              </a:defRPr>
            </a:pPr>
            <a:r>
              <a:t>Linked primary source</a:t>
            </a:r>
          </a:p>
        </p:txBody>
      </p:sp>
      <p:sp>
        <p:nvSpPr>
          <p:cNvPr id="13" name="Rectangle 12"/>
          <p:cNvSpPr/>
          <p:nvPr/>
        </p:nvSpPr>
        <p:spPr>
          <a:xfrm>
            <a:off x="548640" y="2523744"/>
            <a:ext cx="5364327" cy="694944"/>
          </a:xfrm>
          <a:prstGeom prst="rect">
            <a:avLst/>
          </a:prstGeom>
          <a:solidFill>
            <a:srgbClr val="F8FAFB"/>
          </a:solidFill>
          <a:ln>
            <a:noFill/>
          </a:ln>
          <a:effectLst/>
        </p:spPr>
        <p:txBody>
          <a:bodyPr rtlCol="0" anchor="ctr"/>
          <a:lstStyle/>
          <a:p>
            <a:pPr algn="ctr"/>
          </a:p>
        </p:txBody>
      </p:sp>
      <p:sp>
        <p:nvSpPr>
          <p:cNvPr id="14" name="Rectangle 13"/>
          <p:cNvSpPr/>
          <p:nvPr/>
        </p:nvSpPr>
        <p:spPr>
          <a:xfrm>
            <a:off x="548640" y="2523744"/>
            <a:ext cx="566928" cy="694944"/>
          </a:xfrm>
          <a:prstGeom prst="rect">
            <a:avLst/>
          </a:prstGeom>
          <a:solidFill>
            <a:srgbClr val="007F82"/>
          </a:solidFill>
          <a:ln>
            <a:noFill/>
          </a:ln>
          <a:effectLst/>
        </p:spPr>
        <p:txBody>
          <a:bodyPr rtlCol="0" anchor="ctr"/>
          <a:lstStyle/>
          <a:p>
            <a:pPr algn="ctr"/>
          </a:p>
        </p:txBody>
      </p:sp>
      <p:sp>
        <p:nvSpPr>
          <p:cNvPr id="15" name="TextBox 14"/>
          <p:cNvSpPr txBox="1"/>
          <p:nvPr/>
        </p:nvSpPr>
        <p:spPr>
          <a:xfrm>
            <a:off x="548640" y="2523744"/>
            <a:ext cx="566928" cy="694944"/>
          </a:xfrm>
          <a:prstGeom prst="rect">
            <a:avLst/>
          </a:prstGeom>
          <a:noFill/>
        </p:spPr>
        <p:txBody>
          <a:bodyPr wrap="square" lIns="0" rIns="0" tIns="0" bIns="0" anchor="ctr">
            <a:spAutoFit/>
          </a:bodyPr>
          <a:lstStyle/>
          <a:p>
            <a:pPr algn="ctr">
              <a:spcAft>
                <a:spcPts val="300"/>
              </a:spcAft>
              <a:defRPr sz="1500" b="1">
                <a:solidFill>
                  <a:srgbClr val="FFFFFF"/>
                </a:solidFill>
                <a:latin typeface="Aptos"/>
              </a:defRPr>
            </a:pPr>
            <a:r>
              <a:t>S2</a:t>
            </a:r>
          </a:p>
        </p:txBody>
      </p:sp>
      <p:sp>
        <p:nvSpPr>
          <p:cNvPr id="16" name="TextBox 15"/>
          <p:cNvSpPr txBox="1"/>
          <p:nvPr/>
        </p:nvSpPr>
        <p:spPr>
          <a:xfrm>
            <a:off x="1325880" y="2642615"/>
            <a:ext cx="4449927" cy="274320"/>
          </a:xfrm>
          <a:prstGeom prst="rect">
            <a:avLst/>
          </a:prstGeom>
          <a:noFill/>
        </p:spPr>
        <p:txBody>
          <a:bodyPr wrap="square" lIns="0" rIns="0" tIns="0" bIns="0">
            <a:spAutoFit/>
          </a:bodyPr>
          <a:lstStyle/>
          <a:p>
            <a:pPr>
              <a:spcAft>
                <a:spcPts val="300"/>
              </a:spcAft>
              <a:defRPr sz="1500" b="1">
                <a:solidFill>
                  <a:srgbClr val="142E42"/>
                </a:solidFill>
                <a:latin typeface="Aptos"/>
              </a:defRPr>
            </a:pPr>
            <a:r>
              <a:rPr>
                <a:hlinkClick r:id="rId4"/>
              </a:rPr>
              <a:t>Datadog · Building Bits AI SRE</a:t>
            </a:r>
          </a:p>
        </p:txBody>
      </p:sp>
      <p:sp>
        <p:nvSpPr>
          <p:cNvPr id="17" name="TextBox 16"/>
          <p:cNvSpPr txBox="1"/>
          <p:nvPr/>
        </p:nvSpPr>
        <p:spPr>
          <a:xfrm>
            <a:off x="1325880" y="2944368"/>
            <a:ext cx="4449927" cy="182880"/>
          </a:xfrm>
          <a:prstGeom prst="rect">
            <a:avLst/>
          </a:prstGeom>
          <a:noFill/>
        </p:spPr>
        <p:txBody>
          <a:bodyPr wrap="square" lIns="0" rIns="0" tIns="0" bIns="0">
            <a:spAutoFit/>
          </a:bodyPr>
          <a:lstStyle/>
          <a:p>
            <a:pPr>
              <a:spcAft>
                <a:spcPts val="300"/>
              </a:spcAft>
              <a:defRPr sz="1000" b="0">
                <a:solidFill>
                  <a:srgbClr val="596A76"/>
                </a:solidFill>
                <a:latin typeface="Aptos"/>
              </a:defRPr>
            </a:pPr>
            <a:r>
              <a:t>Linked primary source</a:t>
            </a:r>
          </a:p>
        </p:txBody>
      </p:sp>
      <p:sp>
        <p:nvSpPr>
          <p:cNvPr id="18" name="Rectangle 17"/>
          <p:cNvSpPr/>
          <p:nvPr/>
        </p:nvSpPr>
        <p:spPr>
          <a:xfrm>
            <a:off x="548640" y="3346704"/>
            <a:ext cx="5364327" cy="694944"/>
          </a:xfrm>
          <a:prstGeom prst="rect">
            <a:avLst/>
          </a:prstGeom>
          <a:solidFill>
            <a:srgbClr val="F8FAFB"/>
          </a:solidFill>
          <a:ln>
            <a:noFill/>
          </a:ln>
          <a:effectLst/>
        </p:spPr>
        <p:txBody>
          <a:bodyPr rtlCol="0" anchor="ctr"/>
          <a:lstStyle/>
          <a:p>
            <a:pPr algn="ctr"/>
          </a:p>
        </p:txBody>
      </p:sp>
      <p:sp>
        <p:nvSpPr>
          <p:cNvPr id="19" name="Rectangle 18"/>
          <p:cNvSpPr/>
          <p:nvPr/>
        </p:nvSpPr>
        <p:spPr>
          <a:xfrm>
            <a:off x="548640" y="3346704"/>
            <a:ext cx="566928" cy="694944"/>
          </a:xfrm>
          <a:prstGeom prst="rect">
            <a:avLst/>
          </a:prstGeom>
          <a:solidFill>
            <a:srgbClr val="007F82"/>
          </a:solidFill>
          <a:ln>
            <a:noFill/>
          </a:ln>
          <a:effectLst/>
        </p:spPr>
        <p:txBody>
          <a:bodyPr rtlCol="0" anchor="ctr"/>
          <a:lstStyle/>
          <a:p>
            <a:pPr algn="ctr"/>
          </a:p>
        </p:txBody>
      </p:sp>
      <p:sp>
        <p:nvSpPr>
          <p:cNvPr id="20" name="TextBox 19"/>
          <p:cNvSpPr txBox="1"/>
          <p:nvPr/>
        </p:nvSpPr>
        <p:spPr>
          <a:xfrm>
            <a:off x="548640" y="3346704"/>
            <a:ext cx="566928" cy="694944"/>
          </a:xfrm>
          <a:prstGeom prst="rect">
            <a:avLst/>
          </a:prstGeom>
          <a:noFill/>
        </p:spPr>
        <p:txBody>
          <a:bodyPr wrap="square" lIns="0" rIns="0" tIns="0" bIns="0" anchor="ctr">
            <a:spAutoFit/>
          </a:bodyPr>
          <a:lstStyle/>
          <a:p>
            <a:pPr algn="ctr">
              <a:spcAft>
                <a:spcPts val="300"/>
              </a:spcAft>
              <a:defRPr sz="1500" b="1">
                <a:solidFill>
                  <a:srgbClr val="FFFFFF"/>
                </a:solidFill>
                <a:latin typeface="Aptos"/>
              </a:defRPr>
            </a:pPr>
            <a:r>
              <a:t>S3</a:t>
            </a:r>
          </a:p>
        </p:txBody>
      </p:sp>
      <p:sp>
        <p:nvSpPr>
          <p:cNvPr id="21" name="TextBox 20"/>
          <p:cNvSpPr txBox="1"/>
          <p:nvPr/>
        </p:nvSpPr>
        <p:spPr>
          <a:xfrm>
            <a:off x="1325880" y="3465576"/>
            <a:ext cx="4449927" cy="274320"/>
          </a:xfrm>
          <a:prstGeom prst="rect">
            <a:avLst/>
          </a:prstGeom>
          <a:noFill/>
        </p:spPr>
        <p:txBody>
          <a:bodyPr wrap="square" lIns="0" rIns="0" tIns="0" bIns="0">
            <a:spAutoFit/>
          </a:bodyPr>
          <a:lstStyle/>
          <a:p>
            <a:pPr>
              <a:spcAft>
                <a:spcPts val="300"/>
              </a:spcAft>
              <a:defRPr sz="1500" b="1">
                <a:solidFill>
                  <a:srgbClr val="142E42"/>
                </a:solidFill>
                <a:latin typeface="Aptos"/>
              </a:defRPr>
            </a:pPr>
            <a:r>
              <a:rPr>
                <a:hlinkClick r:id="rId5"/>
              </a:rPr>
              <a:t>AWS · DevOps Agent general availability</a:t>
            </a:r>
          </a:p>
        </p:txBody>
      </p:sp>
      <p:sp>
        <p:nvSpPr>
          <p:cNvPr id="22" name="TextBox 21"/>
          <p:cNvSpPr txBox="1"/>
          <p:nvPr/>
        </p:nvSpPr>
        <p:spPr>
          <a:xfrm>
            <a:off x="1325880" y="3767328"/>
            <a:ext cx="4449927" cy="182880"/>
          </a:xfrm>
          <a:prstGeom prst="rect">
            <a:avLst/>
          </a:prstGeom>
          <a:noFill/>
        </p:spPr>
        <p:txBody>
          <a:bodyPr wrap="square" lIns="0" rIns="0" tIns="0" bIns="0">
            <a:spAutoFit/>
          </a:bodyPr>
          <a:lstStyle/>
          <a:p>
            <a:pPr>
              <a:spcAft>
                <a:spcPts val="300"/>
              </a:spcAft>
              <a:defRPr sz="1000" b="0">
                <a:solidFill>
                  <a:srgbClr val="596A76"/>
                </a:solidFill>
                <a:latin typeface="Aptos"/>
              </a:defRPr>
            </a:pPr>
            <a:r>
              <a:t>Linked primary source</a:t>
            </a:r>
          </a:p>
        </p:txBody>
      </p:sp>
      <p:sp>
        <p:nvSpPr>
          <p:cNvPr id="23" name="Rectangle 22"/>
          <p:cNvSpPr/>
          <p:nvPr/>
        </p:nvSpPr>
        <p:spPr>
          <a:xfrm>
            <a:off x="548640" y="4169664"/>
            <a:ext cx="5364327" cy="694944"/>
          </a:xfrm>
          <a:prstGeom prst="rect">
            <a:avLst/>
          </a:prstGeom>
          <a:solidFill>
            <a:srgbClr val="F8FAFB"/>
          </a:solidFill>
          <a:ln>
            <a:noFill/>
          </a:ln>
          <a:effectLst/>
        </p:spPr>
        <p:txBody>
          <a:bodyPr rtlCol="0" anchor="ctr"/>
          <a:lstStyle/>
          <a:p>
            <a:pPr algn="ctr"/>
          </a:p>
        </p:txBody>
      </p:sp>
      <p:sp>
        <p:nvSpPr>
          <p:cNvPr id="24" name="Rectangle 23"/>
          <p:cNvSpPr/>
          <p:nvPr/>
        </p:nvSpPr>
        <p:spPr>
          <a:xfrm>
            <a:off x="548640" y="4169664"/>
            <a:ext cx="566928" cy="694944"/>
          </a:xfrm>
          <a:prstGeom prst="rect">
            <a:avLst/>
          </a:prstGeom>
          <a:solidFill>
            <a:srgbClr val="007F82"/>
          </a:solidFill>
          <a:ln>
            <a:noFill/>
          </a:ln>
          <a:effectLst/>
        </p:spPr>
        <p:txBody>
          <a:bodyPr rtlCol="0" anchor="ctr"/>
          <a:lstStyle/>
          <a:p>
            <a:pPr algn="ctr"/>
          </a:p>
        </p:txBody>
      </p:sp>
      <p:sp>
        <p:nvSpPr>
          <p:cNvPr id="25" name="TextBox 24"/>
          <p:cNvSpPr txBox="1"/>
          <p:nvPr/>
        </p:nvSpPr>
        <p:spPr>
          <a:xfrm>
            <a:off x="548640" y="4169664"/>
            <a:ext cx="566928" cy="694944"/>
          </a:xfrm>
          <a:prstGeom prst="rect">
            <a:avLst/>
          </a:prstGeom>
          <a:noFill/>
        </p:spPr>
        <p:txBody>
          <a:bodyPr wrap="square" lIns="0" rIns="0" tIns="0" bIns="0" anchor="ctr">
            <a:spAutoFit/>
          </a:bodyPr>
          <a:lstStyle/>
          <a:p>
            <a:pPr algn="ctr">
              <a:spcAft>
                <a:spcPts val="300"/>
              </a:spcAft>
              <a:defRPr sz="1500" b="1">
                <a:solidFill>
                  <a:srgbClr val="FFFFFF"/>
                </a:solidFill>
                <a:latin typeface="Aptos"/>
              </a:defRPr>
            </a:pPr>
            <a:r>
              <a:t>S4</a:t>
            </a:r>
          </a:p>
        </p:txBody>
      </p:sp>
      <p:sp>
        <p:nvSpPr>
          <p:cNvPr id="26" name="TextBox 25"/>
          <p:cNvSpPr txBox="1"/>
          <p:nvPr/>
        </p:nvSpPr>
        <p:spPr>
          <a:xfrm>
            <a:off x="1325880" y="4288536"/>
            <a:ext cx="4449927" cy="274320"/>
          </a:xfrm>
          <a:prstGeom prst="rect">
            <a:avLst/>
          </a:prstGeom>
          <a:noFill/>
        </p:spPr>
        <p:txBody>
          <a:bodyPr wrap="square" lIns="0" rIns="0" tIns="0" bIns="0">
            <a:spAutoFit/>
          </a:bodyPr>
          <a:lstStyle/>
          <a:p>
            <a:pPr>
              <a:spcAft>
                <a:spcPts val="300"/>
              </a:spcAft>
              <a:defRPr sz="1500" b="1">
                <a:solidFill>
                  <a:srgbClr val="142E42"/>
                </a:solidFill>
                <a:latin typeface="Aptos"/>
              </a:defRPr>
            </a:pPr>
            <a:r>
              <a:rPr>
                <a:hlinkClick r:id="rId6"/>
              </a:rPr>
              <a:t>Dynatrace · Multicloud SRE agents</a:t>
            </a:r>
          </a:p>
        </p:txBody>
      </p:sp>
      <p:sp>
        <p:nvSpPr>
          <p:cNvPr id="27" name="TextBox 26"/>
          <p:cNvSpPr txBox="1"/>
          <p:nvPr/>
        </p:nvSpPr>
        <p:spPr>
          <a:xfrm>
            <a:off x="1325880" y="4590288"/>
            <a:ext cx="4449927" cy="182880"/>
          </a:xfrm>
          <a:prstGeom prst="rect">
            <a:avLst/>
          </a:prstGeom>
          <a:noFill/>
        </p:spPr>
        <p:txBody>
          <a:bodyPr wrap="square" lIns="0" rIns="0" tIns="0" bIns="0">
            <a:spAutoFit/>
          </a:bodyPr>
          <a:lstStyle/>
          <a:p>
            <a:pPr>
              <a:spcAft>
                <a:spcPts val="300"/>
              </a:spcAft>
              <a:defRPr sz="1000" b="0">
                <a:solidFill>
                  <a:srgbClr val="596A76"/>
                </a:solidFill>
                <a:latin typeface="Aptos"/>
              </a:defRPr>
            </a:pPr>
            <a:r>
              <a:t>Linked primary source</a:t>
            </a:r>
          </a:p>
        </p:txBody>
      </p:sp>
      <p:sp>
        <p:nvSpPr>
          <p:cNvPr id="28" name="Rectangle 27"/>
          <p:cNvSpPr/>
          <p:nvPr/>
        </p:nvSpPr>
        <p:spPr>
          <a:xfrm>
            <a:off x="6278727" y="1700784"/>
            <a:ext cx="5364327" cy="694944"/>
          </a:xfrm>
          <a:prstGeom prst="rect">
            <a:avLst/>
          </a:prstGeom>
          <a:solidFill>
            <a:srgbClr val="F8FAFB"/>
          </a:solidFill>
          <a:ln>
            <a:noFill/>
          </a:ln>
          <a:effectLst/>
        </p:spPr>
        <p:txBody>
          <a:bodyPr rtlCol="0" anchor="ctr"/>
          <a:lstStyle/>
          <a:p>
            <a:pPr algn="ctr"/>
          </a:p>
        </p:txBody>
      </p:sp>
      <p:sp>
        <p:nvSpPr>
          <p:cNvPr id="29" name="Rectangle 28"/>
          <p:cNvSpPr/>
          <p:nvPr/>
        </p:nvSpPr>
        <p:spPr>
          <a:xfrm>
            <a:off x="6278727" y="1700784"/>
            <a:ext cx="566928" cy="694944"/>
          </a:xfrm>
          <a:prstGeom prst="rect">
            <a:avLst/>
          </a:prstGeom>
          <a:solidFill>
            <a:srgbClr val="007F82"/>
          </a:solidFill>
          <a:ln>
            <a:noFill/>
          </a:ln>
          <a:effectLst/>
        </p:spPr>
        <p:txBody>
          <a:bodyPr rtlCol="0" anchor="ctr"/>
          <a:lstStyle/>
          <a:p>
            <a:pPr algn="ctr"/>
          </a:p>
        </p:txBody>
      </p:sp>
      <p:sp>
        <p:nvSpPr>
          <p:cNvPr id="30" name="TextBox 29"/>
          <p:cNvSpPr txBox="1"/>
          <p:nvPr/>
        </p:nvSpPr>
        <p:spPr>
          <a:xfrm>
            <a:off x="6278727" y="1700784"/>
            <a:ext cx="566928" cy="694944"/>
          </a:xfrm>
          <a:prstGeom prst="rect">
            <a:avLst/>
          </a:prstGeom>
          <a:noFill/>
        </p:spPr>
        <p:txBody>
          <a:bodyPr wrap="square" lIns="0" rIns="0" tIns="0" bIns="0" anchor="ctr">
            <a:spAutoFit/>
          </a:bodyPr>
          <a:lstStyle/>
          <a:p>
            <a:pPr algn="ctr">
              <a:spcAft>
                <a:spcPts val="300"/>
              </a:spcAft>
              <a:defRPr sz="1500" b="1">
                <a:solidFill>
                  <a:srgbClr val="FFFFFF"/>
                </a:solidFill>
                <a:latin typeface="Aptos"/>
              </a:defRPr>
            </a:pPr>
            <a:r>
              <a:t>S5</a:t>
            </a:r>
          </a:p>
        </p:txBody>
      </p:sp>
      <p:sp>
        <p:nvSpPr>
          <p:cNvPr id="31" name="TextBox 30"/>
          <p:cNvSpPr txBox="1"/>
          <p:nvPr/>
        </p:nvSpPr>
        <p:spPr>
          <a:xfrm>
            <a:off x="7055967" y="1819655"/>
            <a:ext cx="4449927" cy="274320"/>
          </a:xfrm>
          <a:prstGeom prst="rect">
            <a:avLst/>
          </a:prstGeom>
          <a:noFill/>
        </p:spPr>
        <p:txBody>
          <a:bodyPr wrap="square" lIns="0" rIns="0" tIns="0" bIns="0">
            <a:spAutoFit/>
          </a:bodyPr>
          <a:lstStyle/>
          <a:p>
            <a:pPr>
              <a:spcAft>
                <a:spcPts val="300"/>
              </a:spcAft>
              <a:defRPr sz="1500" b="1">
                <a:solidFill>
                  <a:srgbClr val="142E42"/>
                </a:solidFill>
                <a:latin typeface="Aptos"/>
              </a:defRPr>
            </a:pPr>
            <a:r>
              <a:rPr>
                <a:hlinkClick r:id="rId7"/>
              </a:rPr>
              <a:t>Resolve AI · AI SRE platform</a:t>
            </a:r>
          </a:p>
        </p:txBody>
      </p:sp>
      <p:sp>
        <p:nvSpPr>
          <p:cNvPr id="32" name="TextBox 31"/>
          <p:cNvSpPr txBox="1"/>
          <p:nvPr/>
        </p:nvSpPr>
        <p:spPr>
          <a:xfrm>
            <a:off x="7055967" y="2121408"/>
            <a:ext cx="4449927" cy="182880"/>
          </a:xfrm>
          <a:prstGeom prst="rect">
            <a:avLst/>
          </a:prstGeom>
          <a:noFill/>
        </p:spPr>
        <p:txBody>
          <a:bodyPr wrap="square" lIns="0" rIns="0" tIns="0" bIns="0">
            <a:spAutoFit/>
          </a:bodyPr>
          <a:lstStyle/>
          <a:p>
            <a:pPr>
              <a:spcAft>
                <a:spcPts val="300"/>
              </a:spcAft>
              <a:defRPr sz="1000" b="0">
                <a:solidFill>
                  <a:srgbClr val="596A76"/>
                </a:solidFill>
                <a:latin typeface="Aptos"/>
              </a:defRPr>
            </a:pPr>
            <a:r>
              <a:t>Linked primary source</a:t>
            </a:r>
          </a:p>
        </p:txBody>
      </p:sp>
      <p:sp>
        <p:nvSpPr>
          <p:cNvPr id="33" name="Rectangle 32"/>
          <p:cNvSpPr/>
          <p:nvPr/>
        </p:nvSpPr>
        <p:spPr>
          <a:xfrm>
            <a:off x="6278727" y="2523744"/>
            <a:ext cx="5364327" cy="694944"/>
          </a:xfrm>
          <a:prstGeom prst="rect">
            <a:avLst/>
          </a:prstGeom>
          <a:solidFill>
            <a:srgbClr val="F8FAFB"/>
          </a:solidFill>
          <a:ln>
            <a:noFill/>
          </a:ln>
          <a:effectLst/>
        </p:spPr>
        <p:txBody>
          <a:bodyPr rtlCol="0" anchor="ctr"/>
          <a:lstStyle/>
          <a:p>
            <a:pPr algn="ctr"/>
          </a:p>
        </p:txBody>
      </p:sp>
      <p:sp>
        <p:nvSpPr>
          <p:cNvPr id="34" name="Rectangle 33"/>
          <p:cNvSpPr/>
          <p:nvPr/>
        </p:nvSpPr>
        <p:spPr>
          <a:xfrm>
            <a:off x="6278727" y="2523744"/>
            <a:ext cx="566928" cy="694944"/>
          </a:xfrm>
          <a:prstGeom prst="rect">
            <a:avLst/>
          </a:prstGeom>
          <a:solidFill>
            <a:srgbClr val="007F82"/>
          </a:solidFill>
          <a:ln>
            <a:noFill/>
          </a:ln>
          <a:effectLst/>
        </p:spPr>
        <p:txBody>
          <a:bodyPr rtlCol="0" anchor="ctr"/>
          <a:lstStyle/>
          <a:p>
            <a:pPr algn="ctr"/>
          </a:p>
        </p:txBody>
      </p:sp>
      <p:sp>
        <p:nvSpPr>
          <p:cNvPr id="35" name="TextBox 34"/>
          <p:cNvSpPr txBox="1"/>
          <p:nvPr/>
        </p:nvSpPr>
        <p:spPr>
          <a:xfrm>
            <a:off x="6278727" y="2523744"/>
            <a:ext cx="566928" cy="694944"/>
          </a:xfrm>
          <a:prstGeom prst="rect">
            <a:avLst/>
          </a:prstGeom>
          <a:noFill/>
        </p:spPr>
        <p:txBody>
          <a:bodyPr wrap="square" lIns="0" rIns="0" tIns="0" bIns="0" anchor="ctr">
            <a:spAutoFit/>
          </a:bodyPr>
          <a:lstStyle/>
          <a:p>
            <a:pPr algn="ctr">
              <a:spcAft>
                <a:spcPts val="300"/>
              </a:spcAft>
              <a:defRPr sz="1500" b="1">
                <a:solidFill>
                  <a:srgbClr val="FFFFFF"/>
                </a:solidFill>
                <a:latin typeface="Aptos"/>
              </a:defRPr>
            </a:pPr>
            <a:r>
              <a:t>S6</a:t>
            </a:r>
          </a:p>
        </p:txBody>
      </p:sp>
      <p:sp>
        <p:nvSpPr>
          <p:cNvPr id="36" name="TextBox 35"/>
          <p:cNvSpPr txBox="1"/>
          <p:nvPr/>
        </p:nvSpPr>
        <p:spPr>
          <a:xfrm>
            <a:off x="7055967" y="2642615"/>
            <a:ext cx="4449927" cy="274320"/>
          </a:xfrm>
          <a:prstGeom prst="rect">
            <a:avLst/>
          </a:prstGeom>
          <a:noFill/>
        </p:spPr>
        <p:txBody>
          <a:bodyPr wrap="square" lIns="0" rIns="0" tIns="0" bIns="0">
            <a:spAutoFit/>
          </a:bodyPr>
          <a:lstStyle/>
          <a:p>
            <a:pPr>
              <a:spcAft>
                <a:spcPts val="300"/>
              </a:spcAft>
              <a:defRPr sz="1500" b="1">
                <a:solidFill>
                  <a:srgbClr val="142E42"/>
                </a:solidFill>
                <a:latin typeface="Aptos"/>
              </a:defRPr>
            </a:pPr>
            <a:r>
              <a:rPr>
                <a:hlinkClick r:id="rId8"/>
              </a:rPr>
              <a:t>TypeSafe · Jev introduction</a:t>
            </a:r>
          </a:p>
        </p:txBody>
      </p:sp>
      <p:sp>
        <p:nvSpPr>
          <p:cNvPr id="37" name="TextBox 36"/>
          <p:cNvSpPr txBox="1"/>
          <p:nvPr/>
        </p:nvSpPr>
        <p:spPr>
          <a:xfrm>
            <a:off x="7055967" y="2944368"/>
            <a:ext cx="4449927" cy="182880"/>
          </a:xfrm>
          <a:prstGeom prst="rect">
            <a:avLst/>
          </a:prstGeom>
          <a:noFill/>
        </p:spPr>
        <p:txBody>
          <a:bodyPr wrap="square" lIns="0" rIns="0" tIns="0" bIns="0">
            <a:spAutoFit/>
          </a:bodyPr>
          <a:lstStyle/>
          <a:p>
            <a:pPr>
              <a:spcAft>
                <a:spcPts val="300"/>
              </a:spcAft>
              <a:defRPr sz="1000" b="0">
                <a:solidFill>
                  <a:srgbClr val="596A76"/>
                </a:solidFill>
                <a:latin typeface="Aptos"/>
              </a:defRPr>
            </a:pPr>
            <a:r>
              <a:t>Linked primary source</a:t>
            </a:r>
          </a:p>
        </p:txBody>
      </p:sp>
      <p:sp>
        <p:nvSpPr>
          <p:cNvPr id="38" name="Rectangle 37"/>
          <p:cNvSpPr/>
          <p:nvPr/>
        </p:nvSpPr>
        <p:spPr>
          <a:xfrm>
            <a:off x="6278727" y="3346704"/>
            <a:ext cx="5364327" cy="694944"/>
          </a:xfrm>
          <a:prstGeom prst="rect">
            <a:avLst/>
          </a:prstGeom>
          <a:solidFill>
            <a:srgbClr val="F8FAFB"/>
          </a:solidFill>
          <a:ln>
            <a:noFill/>
          </a:ln>
          <a:effectLst/>
        </p:spPr>
        <p:txBody>
          <a:bodyPr rtlCol="0" anchor="ctr"/>
          <a:lstStyle/>
          <a:p>
            <a:pPr algn="ctr"/>
          </a:p>
        </p:txBody>
      </p:sp>
      <p:sp>
        <p:nvSpPr>
          <p:cNvPr id="39" name="Rectangle 38"/>
          <p:cNvSpPr/>
          <p:nvPr/>
        </p:nvSpPr>
        <p:spPr>
          <a:xfrm>
            <a:off x="6278727" y="3346704"/>
            <a:ext cx="566928" cy="694944"/>
          </a:xfrm>
          <a:prstGeom prst="rect">
            <a:avLst/>
          </a:prstGeom>
          <a:solidFill>
            <a:srgbClr val="007F82"/>
          </a:solidFill>
          <a:ln>
            <a:noFill/>
          </a:ln>
          <a:effectLst/>
        </p:spPr>
        <p:txBody>
          <a:bodyPr rtlCol="0" anchor="ctr"/>
          <a:lstStyle/>
          <a:p>
            <a:pPr algn="ctr"/>
          </a:p>
        </p:txBody>
      </p:sp>
      <p:sp>
        <p:nvSpPr>
          <p:cNvPr id="40" name="TextBox 39"/>
          <p:cNvSpPr txBox="1"/>
          <p:nvPr/>
        </p:nvSpPr>
        <p:spPr>
          <a:xfrm>
            <a:off x="6278727" y="3346704"/>
            <a:ext cx="566928" cy="694944"/>
          </a:xfrm>
          <a:prstGeom prst="rect">
            <a:avLst/>
          </a:prstGeom>
          <a:noFill/>
        </p:spPr>
        <p:txBody>
          <a:bodyPr wrap="square" lIns="0" rIns="0" tIns="0" bIns="0" anchor="ctr">
            <a:spAutoFit/>
          </a:bodyPr>
          <a:lstStyle/>
          <a:p>
            <a:pPr algn="ctr">
              <a:spcAft>
                <a:spcPts val="300"/>
              </a:spcAft>
              <a:defRPr sz="1500" b="1">
                <a:solidFill>
                  <a:srgbClr val="FFFFFF"/>
                </a:solidFill>
                <a:latin typeface="Aptos"/>
              </a:defRPr>
            </a:pPr>
            <a:r>
              <a:t>S7</a:t>
            </a:r>
          </a:p>
        </p:txBody>
      </p:sp>
      <p:sp>
        <p:nvSpPr>
          <p:cNvPr id="41" name="TextBox 40"/>
          <p:cNvSpPr txBox="1"/>
          <p:nvPr/>
        </p:nvSpPr>
        <p:spPr>
          <a:xfrm>
            <a:off x="7055967" y="3465576"/>
            <a:ext cx="4449927" cy="274320"/>
          </a:xfrm>
          <a:prstGeom prst="rect">
            <a:avLst/>
          </a:prstGeom>
          <a:noFill/>
        </p:spPr>
        <p:txBody>
          <a:bodyPr wrap="square" lIns="0" rIns="0" tIns="0" bIns="0">
            <a:spAutoFit/>
          </a:bodyPr>
          <a:lstStyle/>
          <a:p>
            <a:pPr>
              <a:spcAft>
                <a:spcPts val="300"/>
              </a:spcAft>
              <a:defRPr sz="1500" b="1">
                <a:solidFill>
                  <a:srgbClr val="142E42"/>
                </a:solidFill>
                <a:latin typeface="Aptos"/>
              </a:defRPr>
            </a:pPr>
            <a:r>
              <a:rPr>
                <a:hlinkClick r:id="rId9"/>
              </a:rPr>
              <a:t>TypeSafe · API reference</a:t>
            </a:r>
          </a:p>
        </p:txBody>
      </p:sp>
      <p:sp>
        <p:nvSpPr>
          <p:cNvPr id="42" name="TextBox 41"/>
          <p:cNvSpPr txBox="1"/>
          <p:nvPr/>
        </p:nvSpPr>
        <p:spPr>
          <a:xfrm>
            <a:off x="7055967" y="3767328"/>
            <a:ext cx="4449927" cy="182880"/>
          </a:xfrm>
          <a:prstGeom prst="rect">
            <a:avLst/>
          </a:prstGeom>
          <a:noFill/>
        </p:spPr>
        <p:txBody>
          <a:bodyPr wrap="square" lIns="0" rIns="0" tIns="0" bIns="0">
            <a:spAutoFit/>
          </a:bodyPr>
          <a:lstStyle/>
          <a:p>
            <a:pPr>
              <a:spcAft>
                <a:spcPts val="300"/>
              </a:spcAft>
              <a:defRPr sz="1000" b="0">
                <a:solidFill>
                  <a:srgbClr val="596A76"/>
                </a:solidFill>
                <a:latin typeface="Aptos"/>
              </a:defRPr>
            </a:pPr>
            <a:r>
              <a:t>Linked primary source</a:t>
            </a:r>
          </a:p>
        </p:txBody>
      </p:sp>
      <p:sp>
        <p:nvSpPr>
          <p:cNvPr id="43" name="TextBox 42"/>
          <p:cNvSpPr txBox="1"/>
          <p:nvPr/>
        </p:nvSpPr>
        <p:spPr>
          <a:xfrm>
            <a:off x="548640" y="5084064"/>
            <a:ext cx="11094415" cy="228600"/>
          </a:xfrm>
          <a:prstGeom prst="rect">
            <a:avLst/>
          </a:prstGeom>
          <a:noFill/>
        </p:spPr>
        <p:txBody>
          <a:bodyPr wrap="square" lIns="0" rIns="0" tIns="0" bIns="0">
            <a:spAutoFit/>
          </a:bodyPr>
          <a:lstStyle/>
          <a:p>
            <a:pPr>
              <a:spcAft>
                <a:spcPts val="300"/>
              </a:spcAft>
              <a:defRPr sz="1100" b="0">
                <a:solidFill>
                  <a:srgbClr val="596A76"/>
                </a:solidFill>
                <a:latin typeface="Aptos"/>
              </a:defRPr>
            </a:pPr>
            <a:r>
              <a:t>Example figures: saved facts and the results report; corpus 0b4839761e06</a:t>
            </a:r>
          </a:p>
        </p:txBody>
      </p:sp>
      <p:sp>
        <p:nvSpPr>
          <p:cNvPr id="44" name="Rectangle 43"/>
          <p:cNvSpPr/>
          <p:nvPr/>
        </p:nvSpPr>
        <p:spPr>
          <a:xfrm>
            <a:off x="548640" y="6309360"/>
            <a:ext cx="11094415" cy="10972"/>
          </a:xfrm>
          <a:prstGeom prst="rect">
            <a:avLst/>
          </a:prstGeom>
          <a:solidFill>
            <a:srgbClr val="CCD7DD"/>
          </a:solidFill>
          <a:ln>
            <a:noFill/>
          </a:ln>
          <a:effectLst/>
        </p:spPr>
        <p:txBody>
          <a:bodyPr rtlCol="0" anchor="ctr"/>
          <a:lstStyle/>
          <a:p>
            <a:pPr algn="ctr"/>
          </a:p>
        </p:txBody>
      </p:sp>
      <p:sp>
        <p:nvSpPr>
          <p:cNvPr id="45" name="TextBox 44"/>
          <p:cNvSpPr txBox="1"/>
          <p:nvPr/>
        </p:nvSpPr>
        <p:spPr>
          <a:xfrm>
            <a:off x="548640" y="6400800"/>
            <a:ext cx="4572000" cy="201168"/>
          </a:xfrm>
          <a:prstGeom prst="rect">
            <a:avLst/>
          </a:prstGeom>
          <a:noFill/>
        </p:spPr>
        <p:txBody>
          <a:bodyPr wrap="square" lIns="0" rIns="0" tIns="0" bIns="0">
            <a:spAutoFit/>
          </a:bodyPr>
          <a:lstStyle/>
          <a:p>
            <a:pPr>
              <a:spcAft>
                <a:spcPts val="300"/>
              </a:spcAft>
              <a:defRPr sz="900" b="0">
                <a:solidFill>
                  <a:srgbClr val="596A76"/>
                </a:solidFill>
                <a:latin typeface="Aptos"/>
              </a:defRPr>
            </a:pPr>
            <a:r>
              <a:t>For discussion · October 2026</a:t>
            </a:r>
          </a:p>
        </p:txBody>
      </p:sp>
      <p:sp>
        <p:nvSpPr>
          <p:cNvPr id="46" name="TextBox 45"/>
          <p:cNvSpPr txBox="1"/>
          <p:nvPr/>
        </p:nvSpPr>
        <p:spPr>
          <a:xfrm>
            <a:off x="10929480" y="6400800"/>
            <a:ext cx="164934" cy="201168"/>
          </a:xfrm>
          <a:prstGeom prst="rect">
            <a:avLst/>
          </a:prstGeom>
          <a:noFill/>
        </p:spPr>
        <p:txBody>
          <a:bodyPr wrap="square" lIns="0" rIns="0" tIns="0" bIns="0">
            <a:spAutoFit/>
          </a:bodyPr>
          <a:lstStyle/>
          <a:p>
            <a:pPr>
              <a:spcAft>
                <a:spcPts val="300"/>
              </a:spcAft>
              <a:defRPr sz="900" b="1">
                <a:solidFill>
                  <a:srgbClr val="007F82"/>
                </a:solidFill>
                <a:latin typeface="Aptos"/>
              </a:defRPr>
            </a:pPr>
            <a:r>
              <a:rPr>
                <a:hlinkClick r:id="rId9"/>
              </a:rPr>
              <a:t>S7</a:t>
            </a:r>
          </a:p>
        </p:txBody>
      </p:sp>
      <p:sp>
        <p:nvSpPr>
          <p:cNvPr id="47" name="TextBox 46"/>
          <p:cNvSpPr txBox="1"/>
          <p:nvPr/>
        </p:nvSpPr>
        <p:spPr>
          <a:xfrm>
            <a:off x="10783176" y="6400800"/>
            <a:ext cx="91440" cy="201168"/>
          </a:xfrm>
          <a:prstGeom prst="rect">
            <a:avLst/>
          </a:prstGeom>
          <a:noFill/>
        </p:spPr>
        <p:txBody>
          <a:bodyPr wrap="square" lIns="0" rIns="0" tIns="0" bIns="0">
            <a:spAutoFit/>
          </a:bodyPr>
          <a:lstStyle/>
          <a:p>
            <a:pPr algn="ctr">
              <a:spcAft>
                <a:spcPts val="300"/>
              </a:spcAft>
              <a:defRPr sz="900" b="0">
                <a:solidFill>
                  <a:srgbClr val="596A76"/>
                </a:solidFill>
                <a:latin typeface="Aptos"/>
              </a:defRPr>
            </a:pPr>
            <a:r>
              <a:t>·</a:t>
            </a:r>
          </a:p>
        </p:txBody>
      </p:sp>
      <p:sp>
        <p:nvSpPr>
          <p:cNvPr id="48" name="TextBox 47"/>
          <p:cNvSpPr txBox="1"/>
          <p:nvPr/>
        </p:nvSpPr>
        <p:spPr>
          <a:xfrm>
            <a:off x="10618241" y="6400800"/>
            <a:ext cx="164934" cy="201168"/>
          </a:xfrm>
          <a:prstGeom prst="rect">
            <a:avLst/>
          </a:prstGeom>
          <a:noFill/>
        </p:spPr>
        <p:txBody>
          <a:bodyPr wrap="square" lIns="0" rIns="0" tIns="0" bIns="0">
            <a:spAutoFit/>
          </a:bodyPr>
          <a:lstStyle/>
          <a:p>
            <a:pPr>
              <a:spcAft>
                <a:spcPts val="300"/>
              </a:spcAft>
              <a:defRPr sz="900" b="1">
                <a:solidFill>
                  <a:srgbClr val="007F82"/>
                </a:solidFill>
                <a:latin typeface="Aptos"/>
              </a:defRPr>
            </a:pPr>
            <a:r>
              <a:rPr>
                <a:hlinkClick r:id="rId8"/>
              </a:rPr>
              <a:t>S6</a:t>
            </a:r>
          </a:p>
        </p:txBody>
      </p:sp>
      <p:sp>
        <p:nvSpPr>
          <p:cNvPr id="49" name="TextBox 48"/>
          <p:cNvSpPr txBox="1"/>
          <p:nvPr/>
        </p:nvSpPr>
        <p:spPr>
          <a:xfrm>
            <a:off x="10471937" y="6400800"/>
            <a:ext cx="91440" cy="201168"/>
          </a:xfrm>
          <a:prstGeom prst="rect">
            <a:avLst/>
          </a:prstGeom>
          <a:noFill/>
        </p:spPr>
        <p:txBody>
          <a:bodyPr wrap="square" lIns="0" rIns="0" tIns="0" bIns="0">
            <a:spAutoFit/>
          </a:bodyPr>
          <a:lstStyle/>
          <a:p>
            <a:pPr algn="ctr">
              <a:spcAft>
                <a:spcPts val="300"/>
              </a:spcAft>
              <a:defRPr sz="900" b="0">
                <a:solidFill>
                  <a:srgbClr val="596A76"/>
                </a:solidFill>
                <a:latin typeface="Aptos"/>
              </a:defRPr>
            </a:pPr>
            <a:r>
              <a:t>·</a:t>
            </a:r>
          </a:p>
        </p:txBody>
      </p:sp>
      <p:sp>
        <p:nvSpPr>
          <p:cNvPr id="50" name="TextBox 49"/>
          <p:cNvSpPr txBox="1"/>
          <p:nvPr/>
        </p:nvSpPr>
        <p:spPr>
          <a:xfrm>
            <a:off x="10307002" y="6400800"/>
            <a:ext cx="164934" cy="201168"/>
          </a:xfrm>
          <a:prstGeom prst="rect">
            <a:avLst/>
          </a:prstGeom>
          <a:noFill/>
        </p:spPr>
        <p:txBody>
          <a:bodyPr wrap="square" lIns="0" rIns="0" tIns="0" bIns="0">
            <a:spAutoFit/>
          </a:bodyPr>
          <a:lstStyle/>
          <a:p>
            <a:pPr>
              <a:spcAft>
                <a:spcPts val="300"/>
              </a:spcAft>
              <a:defRPr sz="900" b="1">
                <a:solidFill>
                  <a:srgbClr val="007F82"/>
                </a:solidFill>
                <a:latin typeface="Aptos"/>
              </a:defRPr>
            </a:pPr>
            <a:r>
              <a:rPr>
                <a:hlinkClick r:id="rId7"/>
              </a:rPr>
              <a:t>S5</a:t>
            </a:r>
          </a:p>
        </p:txBody>
      </p:sp>
      <p:sp>
        <p:nvSpPr>
          <p:cNvPr id="51" name="TextBox 50"/>
          <p:cNvSpPr txBox="1"/>
          <p:nvPr/>
        </p:nvSpPr>
        <p:spPr>
          <a:xfrm>
            <a:off x="10160698" y="6400800"/>
            <a:ext cx="91440" cy="201168"/>
          </a:xfrm>
          <a:prstGeom prst="rect">
            <a:avLst/>
          </a:prstGeom>
          <a:noFill/>
        </p:spPr>
        <p:txBody>
          <a:bodyPr wrap="square" lIns="0" rIns="0" tIns="0" bIns="0">
            <a:spAutoFit/>
          </a:bodyPr>
          <a:lstStyle/>
          <a:p>
            <a:pPr algn="ctr">
              <a:spcAft>
                <a:spcPts val="300"/>
              </a:spcAft>
              <a:defRPr sz="900" b="0">
                <a:solidFill>
                  <a:srgbClr val="596A76"/>
                </a:solidFill>
                <a:latin typeface="Aptos"/>
              </a:defRPr>
            </a:pPr>
            <a:r>
              <a:t>·</a:t>
            </a:r>
          </a:p>
        </p:txBody>
      </p:sp>
      <p:sp>
        <p:nvSpPr>
          <p:cNvPr id="52" name="TextBox 51"/>
          <p:cNvSpPr txBox="1"/>
          <p:nvPr/>
        </p:nvSpPr>
        <p:spPr>
          <a:xfrm>
            <a:off x="9995763" y="6400800"/>
            <a:ext cx="164934" cy="201168"/>
          </a:xfrm>
          <a:prstGeom prst="rect">
            <a:avLst/>
          </a:prstGeom>
          <a:noFill/>
        </p:spPr>
        <p:txBody>
          <a:bodyPr wrap="square" lIns="0" rIns="0" tIns="0" bIns="0">
            <a:spAutoFit/>
          </a:bodyPr>
          <a:lstStyle/>
          <a:p>
            <a:pPr>
              <a:spcAft>
                <a:spcPts val="300"/>
              </a:spcAft>
              <a:defRPr sz="900" b="1">
                <a:solidFill>
                  <a:srgbClr val="007F82"/>
                </a:solidFill>
                <a:latin typeface="Aptos"/>
              </a:defRPr>
            </a:pPr>
            <a:r>
              <a:rPr>
                <a:hlinkClick r:id="rId6"/>
              </a:rPr>
              <a:t>S4</a:t>
            </a:r>
          </a:p>
        </p:txBody>
      </p:sp>
      <p:sp>
        <p:nvSpPr>
          <p:cNvPr id="53" name="TextBox 52"/>
          <p:cNvSpPr txBox="1"/>
          <p:nvPr/>
        </p:nvSpPr>
        <p:spPr>
          <a:xfrm>
            <a:off x="9849459" y="6400800"/>
            <a:ext cx="91440" cy="201168"/>
          </a:xfrm>
          <a:prstGeom prst="rect">
            <a:avLst/>
          </a:prstGeom>
          <a:noFill/>
        </p:spPr>
        <p:txBody>
          <a:bodyPr wrap="square" lIns="0" rIns="0" tIns="0" bIns="0">
            <a:spAutoFit/>
          </a:bodyPr>
          <a:lstStyle/>
          <a:p>
            <a:pPr algn="ctr">
              <a:spcAft>
                <a:spcPts val="300"/>
              </a:spcAft>
              <a:defRPr sz="900" b="0">
                <a:solidFill>
                  <a:srgbClr val="596A76"/>
                </a:solidFill>
                <a:latin typeface="Aptos"/>
              </a:defRPr>
            </a:pPr>
            <a:r>
              <a:t>·</a:t>
            </a:r>
          </a:p>
        </p:txBody>
      </p:sp>
      <p:sp>
        <p:nvSpPr>
          <p:cNvPr id="54" name="TextBox 53"/>
          <p:cNvSpPr txBox="1"/>
          <p:nvPr/>
        </p:nvSpPr>
        <p:spPr>
          <a:xfrm>
            <a:off x="9684524" y="6400800"/>
            <a:ext cx="164934" cy="201168"/>
          </a:xfrm>
          <a:prstGeom prst="rect">
            <a:avLst/>
          </a:prstGeom>
          <a:noFill/>
        </p:spPr>
        <p:txBody>
          <a:bodyPr wrap="square" lIns="0" rIns="0" tIns="0" bIns="0">
            <a:spAutoFit/>
          </a:bodyPr>
          <a:lstStyle/>
          <a:p>
            <a:pPr>
              <a:spcAft>
                <a:spcPts val="300"/>
              </a:spcAft>
              <a:defRPr sz="900" b="1">
                <a:solidFill>
                  <a:srgbClr val="007F82"/>
                </a:solidFill>
                <a:latin typeface="Aptos"/>
              </a:defRPr>
            </a:pPr>
            <a:r>
              <a:rPr>
                <a:hlinkClick r:id="rId5"/>
              </a:rPr>
              <a:t>S3</a:t>
            </a:r>
          </a:p>
        </p:txBody>
      </p:sp>
      <p:sp>
        <p:nvSpPr>
          <p:cNvPr id="55" name="TextBox 54"/>
          <p:cNvSpPr txBox="1"/>
          <p:nvPr/>
        </p:nvSpPr>
        <p:spPr>
          <a:xfrm>
            <a:off x="9538220" y="6400800"/>
            <a:ext cx="91440" cy="201168"/>
          </a:xfrm>
          <a:prstGeom prst="rect">
            <a:avLst/>
          </a:prstGeom>
          <a:noFill/>
        </p:spPr>
        <p:txBody>
          <a:bodyPr wrap="square" lIns="0" rIns="0" tIns="0" bIns="0">
            <a:spAutoFit/>
          </a:bodyPr>
          <a:lstStyle/>
          <a:p>
            <a:pPr algn="ctr">
              <a:spcAft>
                <a:spcPts val="300"/>
              </a:spcAft>
              <a:defRPr sz="900" b="0">
                <a:solidFill>
                  <a:srgbClr val="596A76"/>
                </a:solidFill>
                <a:latin typeface="Aptos"/>
              </a:defRPr>
            </a:pPr>
            <a:r>
              <a:t>·</a:t>
            </a:r>
          </a:p>
        </p:txBody>
      </p:sp>
      <p:sp>
        <p:nvSpPr>
          <p:cNvPr id="56" name="TextBox 55"/>
          <p:cNvSpPr txBox="1"/>
          <p:nvPr/>
        </p:nvSpPr>
        <p:spPr>
          <a:xfrm>
            <a:off x="9373285" y="6400800"/>
            <a:ext cx="164934" cy="201168"/>
          </a:xfrm>
          <a:prstGeom prst="rect">
            <a:avLst/>
          </a:prstGeom>
          <a:noFill/>
        </p:spPr>
        <p:txBody>
          <a:bodyPr wrap="square" lIns="0" rIns="0" tIns="0" bIns="0">
            <a:spAutoFit/>
          </a:bodyPr>
          <a:lstStyle/>
          <a:p>
            <a:pPr>
              <a:spcAft>
                <a:spcPts val="300"/>
              </a:spcAft>
              <a:defRPr sz="900" b="1">
                <a:solidFill>
                  <a:srgbClr val="007F82"/>
                </a:solidFill>
                <a:latin typeface="Aptos"/>
              </a:defRPr>
            </a:pPr>
            <a:r>
              <a:rPr>
                <a:hlinkClick r:id="rId4"/>
              </a:rPr>
              <a:t>S2</a:t>
            </a:r>
          </a:p>
        </p:txBody>
      </p:sp>
      <p:sp>
        <p:nvSpPr>
          <p:cNvPr id="57" name="TextBox 56"/>
          <p:cNvSpPr txBox="1"/>
          <p:nvPr/>
        </p:nvSpPr>
        <p:spPr>
          <a:xfrm>
            <a:off x="9226981" y="6400800"/>
            <a:ext cx="91440" cy="201168"/>
          </a:xfrm>
          <a:prstGeom prst="rect">
            <a:avLst/>
          </a:prstGeom>
          <a:noFill/>
        </p:spPr>
        <p:txBody>
          <a:bodyPr wrap="square" lIns="0" rIns="0" tIns="0" bIns="0">
            <a:spAutoFit/>
          </a:bodyPr>
          <a:lstStyle/>
          <a:p>
            <a:pPr algn="ctr">
              <a:spcAft>
                <a:spcPts val="300"/>
              </a:spcAft>
              <a:defRPr sz="900" b="0">
                <a:solidFill>
                  <a:srgbClr val="596A76"/>
                </a:solidFill>
                <a:latin typeface="Aptos"/>
              </a:defRPr>
            </a:pPr>
            <a:r>
              <a:t>·</a:t>
            </a:r>
          </a:p>
        </p:txBody>
      </p:sp>
      <p:sp>
        <p:nvSpPr>
          <p:cNvPr id="58" name="TextBox 57"/>
          <p:cNvSpPr txBox="1"/>
          <p:nvPr/>
        </p:nvSpPr>
        <p:spPr>
          <a:xfrm>
            <a:off x="9062046" y="6400800"/>
            <a:ext cx="164934" cy="201168"/>
          </a:xfrm>
          <a:prstGeom prst="rect">
            <a:avLst/>
          </a:prstGeom>
          <a:noFill/>
        </p:spPr>
        <p:txBody>
          <a:bodyPr wrap="square" lIns="0" rIns="0" tIns="0" bIns="0">
            <a:spAutoFit/>
          </a:bodyPr>
          <a:lstStyle/>
          <a:p>
            <a:pPr>
              <a:spcAft>
                <a:spcPts val="300"/>
              </a:spcAft>
              <a:defRPr sz="900" b="1">
                <a:solidFill>
                  <a:srgbClr val="007F82"/>
                </a:solidFill>
                <a:latin typeface="Aptos"/>
              </a:defRPr>
            </a:pPr>
            <a:r>
              <a:rPr>
                <a:hlinkClick r:id="rId3"/>
              </a:rPr>
              <a:t>S1</a:t>
            </a:r>
          </a:p>
        </p:txBody>
      </p:sp>
      <p:sp>
        <p:nvSpPr>
          <p:cNvPr id="59" name="TextBox 58"/>
          <p:cNvSpPr txBox="1"/>
          <p:nvPr/>
        </p:nvSpPr>
        <p:spPr>
          <a:xfrm>
            <a:off x="8513406" y="6400800"/>
            <a:ext cx="493776" cy="201168"/>
          </a:xfrm>
          <a:prstGeom prst="rect">
            <a:avLst/>
          </a:prstGeom>
          <a:noFill/>
        </p:spPr>
        <p:txBody>
          <a:bodyPr wrap="square" lIns="0" rIns="0" tIns="0" bIns="0">
            <a:spAutoFit/>
          </a:bodyPr>
          <a:lstStyle/>
          <a:p>
            <a:pPr algn="r">
              <a:spcAft>
                <a:spcPts val="300"/>
              </a:spcAft>
              <a:defRPr sz="900" b="0">
                <a:solidFill>
                  <a:srgbClr val="596A76"/>
                </a:solidFill>
                <a:latin typeface="Aptos"/>
              </a:defRPr>
            </a:pPr>
            <a:r>
              <a:t>Sources</a:t>
            </a:r>
          </a:p>
        </p:txBody>
      </p:sp>
      <p:sp>
        <p:nvSpPr>
          <p:cNvPr id="60" name="TextBox 59"/>
          <p:cNvSpPr txBox="1"/>
          <p:nvPr/>
        </p:nvSpPr>
        <p:spPr>
          <a:xfrm>
            <a:off x="11185855" y="6400800"/>
            <a:ext cx="457200" cy="201168"/>
          </a:xfrm>
          <a:prstGeom prst="rect">
            <a:avLst/>
          </a:prstGeom>
          <a:noFill/>
        </p:spPr>
        <p:txBody>
          <a:bodyPr wrap="square" lIns="0" rIns="0" tIns="0" bIns="0">
            <a:spAutoFit/>
          </a:bodyPr>
          <a:lstStyle/>
          <a:p>
            <a:pPr algn="r">
              <a:spcAft>
                <a:spcPts val="300"/>
              </a:spcAft>
              <a:defRPr sz="900" b="0">
                <a:solidFill>
                  <a:srgbClr val="596A76"/>
                </a:solidFill>
                <a:latin typeface="Aptos"/>
              </a:defRPr>
            </a:pPr>
            <a: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7F82"/>
      </a:hlink>
      <a:folHlink>
        <a:srgbClr val="007F8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 IT operations: the emerging role of a decision model</dc:title>
  <dc:subject>ZeroOps / Jev - CIO discussion edition (v4)</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