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charts/chart21_1.xml" ContentType="application/vnd.openxmlformats-officedocument.drawingml.chart+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12192000" cy="6858000" type="custom"/>
  <p:notesSz cx="12192000" cy="6858000"/>
  <p:embeddedFontLst>
    <p:embeddedFont>
      <p:font typeface="Liter" charset="-122" pitchFamily="34"/>
      <p:regular r:id="rId29"/>
    </p:embeddedFont>
    <p:embeddedFont>
      <p:font typeface="EB Garamond" charset="-122" pitchFamily="34"/>
      <p:regular r:id="rId3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ableStyles" Target="tableStyles.xml"/></Relationships>
</file>

<file path=ppt/charts/chart21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v>Exact action</c:v>
          </c:tx>
          <c:spPr>
            <a:solidFill>
              <a:srgbClr val="16365C"/>
            </a:solidFill>
          </c:spPr>
          <c:cat>
            <c:strLit>
              <c:ptCount val="4"/>
              <c:pt idx="0">
                <c:v>Jev (TypeSafe API)</c:v>
              </c:pt>
              <c:pt idx="1">
                <c:v>Jev via OpenRouter</c:v>
              </c:pt>
              <c:pt idx="2">
                <c:v>Kev-4B (local GPU)</c:v>
              </c:pt>
              <c:pt idx="3">
                <c:v>Laya (local GPU)</c:v>
              </c:pt>
            </c:strLit>
          </c:cat>
          <c:val>
            <c:numLit>
              <c:formatCode>General</c:formatCode>
              <c:ptCount val="4"/>
              <c:pt idx="0">
                <c:v>50</c:v>
              </c:pt>
              <c:pt idx="1">
                <c:v>50</c:v>
              </c:pt>
              <c:pt idx="2">
                <c:v>70</c:v>
              </c:pt>
              <c:pt idx="3">
                <c:v>20</c:v>
              </c:pt>
            </c:numLit>
          </c:val>
        </c:ser>
        <c:ser>
          <c:idx val="1"/>
          <c:order val="1"/>
          <c:tx>
            <c:v>Acceptable action</c:v>
          </c:tx>
          <c:spPr>
            <a:solidFill>
              <a:srgbClr val="3D5F8A"/>
            </a:solidFill>
          </c:spPr>
          <c:cat>
            <c:strLit>
              <c:ptCount val="4"/>
              <c:pt idx="0">
                <c:v>Jev (TypeSafe API)</c:v>
              </c:pt>
              <c:pt idx="1">
                <c:v>Jev via OpenRouter</c:v>
              </c:pt>
              <c:pt idx="2">
                <c:v>Kev-4B (local GPU)</c:v>
              </c:pt>
              <c:pt idx="3">
                <c:v>Laya (local GPU)</c:v>
              </c:pt>
            </c:strLit>
          </c:cat>
          <c:val>
            <c:numLit>
              <c:formatCode>General</c:formatCode>
              <c:ptCount val="4"/>
              <c:pt idx="0">
                <c:v>93</c:v>
              </c:pt>
              <c:pt idx="1">
                <c:v>93</c:v>
              </c:pt>
              <c:pt idx="2">
                <c:v>86</c:v>
              </c:pt>
              <c:pt idx="3">
                <c:v>34</c:v>
              </c:pt>
            </c:numLit>
          </c:val>
        </c:ser>
        <c:ser>
          <c:idx val="2"/>
          <c:order val="2"/>
          <c:tx>
            <c:v>Category right</c:v>
          </c:tx>
          <c:spPr>
            <a:solidFill>
              <a:srgbClr val="CBD9E8"/>
            </a:solidFill>
          </c:spPr>
          <c:cat>
            <c:strLit>
              <c:ptCount val="4"/>
              <c:pt idx="0">
                <c:v>Jev (TypeSafe API)</c:v>
              </c:pt>
              <c:pt idx="1">
                <c:v>Jev via OpenRouter</c:v>
              </c:pt>
              <c:pt idx="2">
                <c:v>Kev-4B (local GPU)</c:v>
              </c:pt>
              <c:pt idx="3">
                <c:v>Laya (local GPU)</c:v>
              </c:pt>
            </c:strLit>
          </c:cat>
          <c:val>
            <c:numLit>
              <c:formatCode>General</c:formatCode>
              <c:ptCount val="4"/>
              <c:pt idx="0">
                <c:v>80</c:v>
              </c:pt>
              <c:pt idx="1">
                <c:v>79</c:v>
              </c:pt>
              <c:pt idx="2">
                <c:v>71</c:v>
              </c:pt>
              <c:pt idx="3">
                <c:v>41</c:v>
              </c:pt>
            </c:numLit>
          </c:val>
        </c:ser>
        <c:gapWidth val="56"/>
        <c:overlap val="0"/>
        <c:axId val="1"/>
        <c:axId val="2"/>
      </c:bar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888888"/>
            </a:solidFill>
          </a:ln>
        </c:spPr>
        <c:txPr>
          <a:bodyPr/>
          <a:lstStyle/>
          <a:p>
            <a:pPr>
              <a:defRPr sz="750" noProof="1" b="0" i="0" u="none" strike="noStrike">
                <a:solidFill>
                  <a:srgbClr val="5B6472"/>
                </a:solidFill>
                <a:latin typeface="Liter"/>
              </a:defRPr>
            </a:pPr>
            <a:endParaRPr lang="en-US" noProof="1"/>
          </a:p>
        </c:txPr>
        <c:crossAx val="2"/>
        <c:crosses val="autoZero"/>
        <c:auto val="1"/>
        <c:lblAlgn val="ctr"/>
        <c:noMultiLvlLbl val="1"/>
      </c:catAx>
      <c:valAx>
        <c:axId val="2"/>
        <c:scaling>
          <c:orientation val="minMax"/>
          <c:max val="100"/>
          <c:min val="0"/>
        </c:scaling>
        <c:delete val="0"/>
        <c:axPos val="l"/>
        <c:majorGridlines>
          <c:spPr>
            <a:ln w="6350">
              <a:solidFill>
                <a:srgbClr val="EDF1F6"/>
              </a:solidFill>
            </a:ln>
          </c:spPr>
        </c:majorGridlines>
        <c:numFmt formatCode="General" sourceLinked="0"/>
        <c:majorTickMark val="out"/>
        <c:minorTickMark val="none"/>
        <c:tickLblPos val="nextTo"/>
        <c:spPr>
          <a:ln w="12700">
            <a:solidFill>
              <a:srgbClr val="888888"/>
            </a:solidFill>
          </a:ln>
        </c:spPr>
        <c:txPr>
          <a:bodyPr/>
          <a:lstStyle/>
          <a:p>
            <a:pPr>
              <a:defRPr sz="800" noProof="1" b="0" i="0" u="none" strike="noStrike">
                <a:solidFill>
                  <a:srgbClr val="98A1AD"/>
                </a:solidFill>
                <a:latin typeface="Liter"/>
              </a:defRPr>
            </a:pPr>
            <a:endParaRPr lang="en-US" noProof="1"/>
          </a:p>
        </c:txPr>
        <c:crossAx val="1"/>
        <c:crosses val="autoZero"/>
        <c:crossBetween val="between"/>
      </c:valAx>
      <c:spPr>
        <a:noFill/>
        <a:ln>
          <a:noFill/>
        </a:ln>
      </c:spPr>
    </c:plotArea>
    <c:legend>
      <c:legendPos val="b"/>
      <c:layout/>
      <c:overlay val="0"/>
      <c:txPr>
        <a:bodyPr/>
        <a:lstStyle/>
        <a:p>
          <a:pPr>
            <a:defRPr sz="800" noProof="1" b="0" i="0" u="none" strike="noStrike">
              <a:solidFill>
                <a:srgbClr val="5B6472"/>
              </a:solidFill>
              <a:latin typeface="Liter"/>
            </a:defRPr>
          </a:pPr>
          <a:endParaRPr lang="en-US" noProof="1"/>
        </a:p>
      </c:txPr>
    </c:legend>
    <c:plotVisOnly val="1"/>
    <c:dispBlanksAs val="gap"/>
  </c:chart>
  <c:spPr>
    <a:noFill/>
    <a:ln>
      <a:noFill/>
    </a:ln>
  </c:spPr>
  <c:txPr>
    <a:bodyPr/>
    <a:lstStyle/>
    <a:p>
      <a:pPr>
        <a:defRPr noProof="1" b="0" i="0" u="none" strike="noStrike">
          <a:latin typeface="Liter"/>
        </a:defRPr>
      </a:pPr>
      <a:endParaRPr lang="en-US" noProof="1"/>
    </a:p>
  </c:txPr>
</c:chartSpace>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1_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812800" y="990600"/>
            <a:ext cx="6350000" cy="2032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ZEROOPS FOR IT OPERATIONS</a:t>
            </a:r>
            <a:endParaRPr lang="en-US" sz="950" noProof="1"/>
          </a:p>
        </p:txBody>
      </p:sp>
      <p:sp>
        <p:nvSpPr>
          <p:cNvPr id="3" name="title"/>
          <p:cNvSpPr txBox="1"/>
          <p:nvPr/>
        </p:nvSpPr>
        <p:spPr>
          <a:xfrm>
            <a:off x="812800" y="1295400"/>
            <a:ext cx="9906000" cy="1473200"/>
          </a:xfrm>
          <a:prstGeom prst="rect">
            <a:avLst/>
          </a:prstGeom>
          <a:noFill/>
          <a:ln>
            <a:noFill/>
          </a:ln>
        </p:spPr>
        <p:txBody>
          <a:bodyPr lIns="0" rIns="0" tIns="0" bIns="0" wrap="square" rtlCol="0"/>
          <a:lstStyle/>
          <a:p>
            <a:pPr>
              <a:lnSpc>
                <a:spcPct val="115000"/>
              </a:lnSpc>
            </a:pPr>
            <a:r>
              <a:rPr lang="en-US" sz="4200" noProof="1" b="1">
                <a:solidFill>
                  <a:srgbClr val="1A2433"/>
                </a:solidFill>
                <a:latin typeface="EB Garamond"/>
                <a:ea typeface="EB Garamond"/>
              </a:rPr>
              <a:t>ZeroOps for IT operations</a:t>
            </a:r>
            <a:endParaRPr lang="en-US" sz="4200" noProof="1"/>
          </a:p>
        </p:txBody>
      </p:sp>
      <p:sp>
        <p:nvSpPr>
          <p:cNvPr id="4" name="rule"/>
          <p:cNvSpPr/>
          <p:nvPr/>
        </p:nvSpPr>
        <p:spPr>
          <a:xfrm>
            <a:off x="812800" y="2870200"/>
            <a:ext cx="711200" cy="38100"/>
          </a:xfrm>
          <a:prstGeom prst="rect">
            <a:avLst/>
          </a:prstGeom>
          <a:solidFill>
            <a:srgbClr val="16365C"/>
          </a:solidFill>
          <a:ln>
            <a:noFill/>
          </a:ln>
        </p:spPr>
      </p:sp>
      <p:sp>
        <p:nvSpPr>
          <p:cNvPr id="5" name="subtitle"/>
          <p:cNvSpPr txBox="1"/>
          <p:nvPr/>
        </p:nvSpPr>
        <p:spPr>
          <a:xfrm>
            <a:off x="812800" y="3098800"/>
            <a:ext cx="8128000" cy="1219200"/>
          </a:xfrm>
          <a:prstGeom prst="rect">
            <a:avLst/>
          </a:prstGeom>
          <a:noFill/>
          <a:ln>
            <a:noFill/>
          </a:ln>
        </p:spPr>
        <p:txBody>
          <a:bodyPr lIns="0" rIns="0" tIns="0" bIns="0" wrap="square" rtlCol="0"/>
          <a:lstStyle/>
          <a:p>
            <a:pPr>
              <a:lnSpc>
                <a:spcPct val="155000"/>
              </a:lnSpc>
            </a:pPr>
            <a:r>
              <a:rPr lang="en-US" sz="1300" noProof="1">
                <a:solidFill>
                  <a:srgbClr val="5B6472"/>
                </a:solidFill>
                <a:latin typeface="Liter"/>
                <a:ea typeface="Liter"/>
              </a:rPr>
              <a:t>AI agents for incident response became a real category in 2026 — every major platform now ships one. Yet the routine judgment calls in incident management — is it real, whose is it, how bad, act or page — still sit with whoever is on call. This deck sets out where a fast decision model like TypeSafe's Jev could help, and how to test it cheaply on real tickets.</a:t>
            </a:r>
            <a:endParaRPr lang="en-US" sz="1300" noProof="1"/>
          </a:p>
        </p:txBody>
      </p:sp>
      <p:sp>
        <p:nvSpPr>
          <p:cNvPr id="6" name="meta"/>
          <p:cNvSpPr txBox="1"/>
          <p:nvPr/>
        </p:nvSpPr>
        <p:spPr>
          <a:xfrm>
            <a:off x="812800" y="4470400"/>
            <a:ext cx="8128000" cy="203200"/>
          </a:xfrm>
          <a:prstGeom prst="rect">
            <a:avLst/>
          </a:prstGeom>
          <a:noFill/>
          <a:ln>
            <a:noFill/>
          </a:ln>
        </p:spPr>
        <p:txBody>
          <a:bodyPr lIns="0" rIns="0" tIns="0" bIns="0" wrap="none" rtlCol="0"/>
          <a:lstStyle/>
          <a:p>
            <a:pPr>
              <a:lnSpc>
                <a:spcPct val="120000"/>
              </a:lnSpc>
            </a:pPr>
            <a:r>
              <a:rPr lang="en-US" sz="900" noProof="1">
                <a:solidFill>
                  <a:srgbClr val="98A1AD"/>
                </a:solidFill>
                <a:latin typeface="Liter"/>
                <a:ea typeface="Liter"/>
              </a:rPr>
              <a:t>Working demo on 56 synthetic incidents · measurements are ours unless labelled · October 2026</a:t>
            </a:r>
            <a:endParaRPr lang="en-US" sz="900" noProof="1"/>
          </a:p>
        </p:txBody>
      </p:sp>
      <p:sp>
        <p:nvSpPr>
          <p:cNvPr id="7" name="motif-line"/>
          <p:cNvSpPr/>
          <p:nvPr/>
        </p:nvSpPr>
        <p:spPr>
          <a:xfrm>
            <a:off x="812800" y="5740400"/>
            <a:ext cx="10566400" cy="12700"/>
          </a:xfrm>
          <a:prstGeom prst="rect">
            <a:avLst/>
          </a:prstGeom>
          <a:solidFill>
            <a:srgbClr val="CBD9E8"/>
          </a:solidFill>
          <a:ln>
            <a:noFill/>
          </a:ln>
        </p:spPr>
      </p:sp>
      <p:sp>
        <p:nvSpPr>
          <p:cNvPr id="8" name="m1"/>
          <p:cNvSpPr/>
          <p:nvPr/>
        </p:nvSpPr>
        <p:spPr>
          <a:xfrm>
            <a:off x="812800" y="5689600"/>
            <a:ext cx="114300" cy="114300"/>
          </a:xfrm>
          <a:prstGeom prst="rect">
            <a:avLst/>
          </a:prstGeom>
          <a:solidFill>
            <a:srgbClr val="CBD9E8"/>
          </a:solidFill>
          <a:ln>
            <a:noFill/>
          </a:ln>
        </p:spPr>
      </p:sp>
      <p:sp>
        <p:nvSpPr>
          <p:cNvPr id="9" name="m1-label"/>
          <p:cNvSpPr txBox="1"/>
          <p:nvPr/>
        </p:nvSpPr>
        <p:spPr>
          <a:xfrm>
            <a:off x="812800" y="5892800"/>
            <a:ext cx="2032000" cy="177800"/>
          </a:xfrm>
          <a:prstGeom prst="rect">
            <a:avLst/>
          </a:prstGeom>
          <a:noFill/>
          <a:ln>
            <a:noFill/>
          </a:ln>
        </p:spPr>
        <p:txBody>
          <a:bodyPr lIns="0" rIns="0" tIns="0" bIns="0" wrap="none" rtlCol="0"/>
          <a:lstStyle/>
          <a:p>
            <a:pPr>
              <a:lnSpc>
                <a:spcPct val="120000"/>
              </a:lnSpc>
            </a:pPr>
            <a:r>
              <a:rPr lang="en-US" sz="950" noProof="1" spc="150" kern="0">
                <a:solidFill>
                  <a:srgbClr val="98A1AD"/>
                </a:solidFill>
                <a:latin typeface="Liter"/>
                <a:ea typeface="Liter"/>
              </a:rPr>
              <a:t>DETECT</a:t>
            </a:r>
            <a:endParaRPr lang="en-US" sz="950" noProof="1"/>
          </a:p>
        </p:txBody>
      </p:sp>
      <p:sp>
        <p:nvSpPr>
          <p:cNvPr id="10" name="m2"/>
          <p:cNvSpPr/>
          <p:nvPr/>
        </p:nvSpPr>
        <p:spPr>
          <a:xfrm>
            <a:off x="2946400" y="5689600"/>
            <a:ext cx="114300" cy="114300"/>
          </a:xfrm>
          <a:prstGeom prst="rect">
            <a:avLst/>
          </a:prstGeom>
          <a:solidFill>
            <a:srgbClr val="CBD9E8"/>
          </a:solidFill>
          <a:ln>
            <a:noFill/>
          </a:ln>
        </p:spPr>
      </p:sp>
      <p:sp>
        <p:nvSpPr>
          <p:cNvPr id="11" name="m2-label"/>
          <p:cNvSpPr txBox="1"/>
          <p:nvPr/>
        </p:nvSpPr>
        <p:spPr>
          <a:xfrm>
            <a:off x="2946400" y="5892800"/>
            <a:ext cx="2032000" cy="177800"/>
          </a:xfrm>
          <a:prstGeom prst="rect">
            <a:avLst/>
          </a:prstGeom>
          <a:noFill/>
          <a:ln>
            <a:noFill/>
          </a:ln>
        </p:spPr>
        <p:txBody>
          <a:bodyPr lIns="0" rIns="0" tIns="0" bIns="0" wrap="none" rtlCol="0"/>
          <a:lstStyle/>
          <a:p>
            <a:pPr>
              <a:lnSpc>
                <a:spcPct val="120000"/>
              </a:lnSpc>
            </a:pPr>
            <a:r>
              <a:rPr lang="en-US" sz="950" noProof="1" spc="150" kern="0">
                <a:solidFill>
                  <a:srgbClr val="98A1AD"/>
                </a:solidFill>
                <a:latin typeface="Liter"/>
                <a:ea typeface="Liter"/>
              </a:rPr>
              <a:t>CORRELATE</a:t>
            </a:r>
            <a:endParaRPr lang="en-US" sz="950" noProof="1"/>
          </a:p>
        </p:txBody>
      </p:sp>
      <p:sp>
        <p:nvSpPr>
          <p:cNvPr id="12" name="m3"/>
          <p:cNvSpPr/>
          <p:nvPr/>
        </p:nvSpPr>
        <p:spPr>
          <a:xfrm>
            <a:off x="5080000" y="5689600"/>
            <a:ext cx="114300" cy="114300"/>
          </a:xfrm>
          <a:prstGeom prst="rect">
            <a:avLst/>
          </a:prstGeom>
          <a:solidFill>
            <a:srgbClr val="16365C"/>
          </a:solidFill>
          <a:ln>
            <a:noFill/>
          </a:ln>
        </p:spPr>
      </p:sp>
      <p:sp>
        <p:nvSpPr>
          <p:cNvPr id="13" name="m3-label"/>
          <p:cNvSpPr txBox="1"/>
          <p:nvPr/>
        </p:nvSpPr>
        <p:spPr>
          <a:xfrm>
            <a:off x="5080000" y="5892800"/>
            <a:ext cx="2032000" cy="177800"/>
          </a:xfrm>
          <a:prstGeom prst="rect">
            <a:avLst/>
          </a:prstGeom>
          <a:noFill/>
          <a:ln>
            <a:noFill/>
          </a:ln>
        </p:spPr>
        <p:txBody>
          <a:bodyPr lIns="0" rIns="0" tIns="0" bIns="0" wrap="none" rtlCol="0"/>
          <a:lstStyle/>
          <a:p>
            <a:pPr>
              <a:lnSpc>
                <a:spcPct val="120000"/>
              </a:lnSpc>
            </a:pPr>
            <a:r>
              <a:rPr lang="en-US" sz="950" noProof="1" b="1" spc="150" kern="0">
                <a:solidFill>
                  <a:srgbClr val="16365C"/>
                </a:solidFill>
                <a:latin typeface="Liter"/>
                <a:ea typeface="Liter"/>
              </a:rPr>
              <a:t>DECIDE</a:t>
            </a:r>
            <a:endParaRPr lang="en-US" sz="950" noProof="1"/>
          </a:p>
        </p:txBody>
      </p:sp>
      <p:sp>
        <p:nvSpPr>
          <p:cNvPr id="14" name="m3-sub"/>
          <p:cNvSpPr txBox="1"/>
          <p:nvPr/>
        </p:nvSpPr>
        <p:spPr>
          <a:xfrm>
            <a:off x="5080000" y="6096000"/>
            <a:ext cx="2540000" cy="152400"/>
          </a:xfrm>
          <a:prstGeom prst="rect">
            <a:avLst/>
          </a:prstGeom>
          <a:noFill/>
          <a:ln>
            <a:noFill/>
          </a:ln>
        </p:spPr>
        <p:txBody>
          <a:bodyPr lIns="0" rIns="0" tIns="0" bIns="0" wrap="none" rtlCol="0"/>
          <a:lstStyle/>
          <a:p>
            <a:pPr>
              <a:lnSpc>
                <a:spcPct val="120000"/>
              </a:lnSpc>
            </a:pPr>
            <a:r>
              <a:rPr lang="en-US" sz="800" noProof="1">
                <a:solidFill>
                  <a:srgbClr val="16365C"/>
                </a:solidFill>
                <a:latin typeface="Liter"/>
                <a:ea typeface="Liter"/>
              </a:rPr>
              <a:t>the call this deck is about</a:t>
            </a:r>
            <a:endParaRPr lang="en-US" sz="800" noProof="1"/>
          </a:p>
        </p:txBody>
      </p:sp>
      <p:sp>
        <p:nvSpPr>
          <p:cNvPr id="15" name="m4"/>
          <p:cNvSpPr/>
          <p:nvPr/>
        </p:nvSpPr>
        <p:spPr>
          <a:xfrm>
            <a:off x="7213600" y="5689600"/>
            <a:ext cx="114300" cy="114300"/>
          </a:xfrm>
          <a:prstGeom prst="rect">
            <a:avLst/>
          </a:prstGeom>
          <a:solidFill>
            <a:srgbClr val="CBD9E8"/>
          </a:solidFill>
          <a:ln>
            <a:noFill/>
          </a:ln>
        </p:spPr>
      </p:sp>
      <p:sp>
        <p:nvSpPr>
          <p:cNvPr id="16" name="m4-label"/>
          <p:cNvSpPr txBox="1"/>
          <p:nvPr/>
        </p:nvSpPr>
        <p:spPr>
          <a:xfrm>
            <a:off x="7213600" y="5892800"/>
            <a:ext cx="2032000" cy="177800"/>
          </a:xfrm>
          <a:prstGeom prst="rect">
            <a:avLst/>
          </a:prstGeom>
          <a:noFill/>
          <a:ln>
            <a:noFill/>
          </a:ln>
        </p:spPr>
        <p:txBody>
          <a:bodyPr lIns="0" rIns="0" tIns="0" bIns="0" wrap="none" rtlCol="0"/>
          <a:lstStyle/>
          <a:p>
            <a:pPr>
              <a:lnSpc>
                <a:spcPct val="120000"/>
              </a:lnSpc>
            </a:pPr>
            <a:r>
              <a:rPr lang="en-US" sz="950" noProof="1" spc="150" kern="0">
                <a:solidFill>
                  <a:srgbClr val="98A1AD"/>
                </a:solidFill>
                <a:latin typeface="Liter"/>
                <a:ea typeface="Liter"/>
              </a:rPr>
              <a:t>ACT</a:t>
            </a:r>
            <a:endParaRPr lang="en-US" sz="950" noProof="1"/>
          </a:p>
        </p:txBody>
      </p:sp>
      <p:sp>
        <p:nvSpPr>
          <p:cNvPr id="17" name="m5"/>
          <p:cNvSpPr/>
          <p:nvPr/>
        </p:nvSpPr>
        <p:spPr>
          <a:xfrm>
            <a:off x="9347200" y="5689600"/>
            <a:ext cx="114300" cy="114300"/>
          </a:xfrm>
          <a:prstGeom prst="rect">
            <a:avLst/>
          </a:prstGeom>
          <a:solidFill>
            <a:srgbClr val="CBD9E8"/>
          </a:solidFill>
          <a:ln>
            <a:noFill/>
          </a:ln>
        </p:spPr>
      </p:sp>
      <p:sp>
        <p:nvSpPr>
          <p:cNvPr id="18" name="m5-label"/>
          <p:cNvSpPr txBox="1"/>
          <p:nvPr/>
        </p:nvSpPr>
        <p:spPr>
          <a:xfrm>
            <a:off x="9347200" y="5892800"/>
            <a:ext cx="2032000" cy="177800"/>
          </a:xfrm>
          <a:prstGeom prst="rect">
            <a:avLst/>
          </a:prstGeom>
          <a:noFill/>
          <a:ln>
            <a:noFill/>
          </a:ln>
        </p:spPr>
        <p:txBody>
          <a:bodyPr lIns="0" rIns="0" tIns="0" bIns="0" wrap="none" rtlCol="0"/>
          <a:lstStyle/>
          <a:p>
            <a:pPr>
              <a:lnSpc>
                <a:spcPct val="120000"/>
              </a:lnSpc>
            </a:pPr>
            <a:r>
              <a:rPr lang="en-US" sz="950" noProof="1" spc="150" kern="0">
                <a:solidFill>
                  <a:srgbClr val="98A1AD"/>
                </a:solidFill>
                <a:latin typeface="Liter"/>
                <a:ea typeface="Liter"/>
              </a:rPr>
              <a:t>RECORD</a:t>
            </a:r>
            <a:endParaRPr lang="en-US" sz="950" noProof="1"/>
          </a:p>
        </p:txBody>
      </p:sp>
    </p:spTree>
  </p:cSld>
  <p:clrMapOvr>
    <a:masterClrMapping/>
  </p:clrMapOvr>
</p:sld>
</file>

<file path=ppt/slides/slide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STORY ON A PAGE</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A fast decision model could take routine incident calls off on-call teams — and finding out on real tickets is cheap</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s1-num"/>
          <p:cNvSpPr txBox="1"/>
          <p:nvPr/>
        </p:nvSpPr>
        <p:spPr>
          <a:xfrm>
            <a:off x="711200" y="1574800"/>
            <a:ext cx="508000" cy="381000"/>
          </a:xfrm>
          <a:prstGeom prst="rect">
            <a:avLst/>
          </a:prstGeom>
          <a:noFill/>
          <a:ln>
            <a:noFill/>
          </a:ln>
        </p:spPr>
        <p:txBody>
          <a:bodyPr lIns="0" rIns="0" tIns="0" bIns="0" wrap="none" rtlCol="0"/>
          <a:lstStyle/>
          <a:p>
            <a:pPr>
              <a:lnSpc>
                <a:spcPct val="120000"/>
              </a:lnSpc>
            </a:pPr>
            <a:r>
              <a:rPr lang="en-US" sz="2200" noProof="1" b="1">
                <a:solidFill>
                  <a:srgbClr val="16365C"/>
                </a:solidFill>
                <a:latin typeface="EB Garamond"/>
                <a:ea typeface="EB Garamond"/>
              </a:rPr>
              <a:t>1</a:t>
            </a:r>
            <a:endParaRPr lang="en-US" sz="2200" noProof="1"/>
          </a:p>
        </p:txBody>
      </p:sp>
      <p:sp>
        <p:nvSpPr>
          <p:cNvPr id="6" name="s1-label"/>
          <p:cNvSpPr txBox="1"/>
          <p:nvPr/>
        </p:nvSpPr>
        <p:spPr>
          <a:xfrm>
            <a:off x="1320800" y="1574800"/>
            <a:ext cx="2159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The industry</a:t>
            </a:r>
            <a:endParaRPr lang="en-US" sz="1100" noProof="1"/>
          </a:p>
        </p:txBody>
      </p:sp>
      <p:sp>
        <p:nvSpPr>
          <p:cNvPr id="7" name="s1-desc"/>
          <p:cNvSpPr txBox="1"/>
          <p:nvPr/>
        </p:nvSpPr>
        <p:spPr>
          <a:xfrm>
            <a:off x="1320800" y="1803400"/>
            <a:ext cx="10160000" cy="431800"/>
          </a:xfrm>
          <a:prstGeom prst="rect">
            <a:avLst/>
          </a:prstGeom>
          <a:noFill/>
          <a:ln>
            <a:noFill/>
          </a:ln>
        </p:spPr>
        <p:txBody>
          <a:bodyPr lIns="0" rIns="0" tIns="0" bIns="0" wrap="square" rtlCol="0"/>
          <a:lstStyle/>
          <a:p>
            <a:pPr>
              <a:lnSpc>
                <a:spcPct val="140000"/>
              </a:lnSpc>
            </a:pPr>
            <a:r>
              <a:rPr lang="en-US" sz="1000" noProof="1">
                <a:solidFill>
                  <a:srgbClr val="1A2433"/>
                </a:solidFill>
                <a:latin typeface="Liter"/>
                <a:ea typeface="Liter"/>
              </a:rPr>
              <a:t>AI SRE became a real category in 2026: Microsoft runs 1,300+ agents on its own services, every major observability and cloud platform ships one, and investors have valued a pure-play at $1B. Investigation is being handed to AI; the routine judgment calls are the part still left manual.</a:t>
            </a:r>
            <a:endParaRPr lang="en-US" sz="1000" noProof="1"/>
          </a:p>
        </p:txBody>
      </p:sp>
      <p:sp>
        <p:nvSpPr>
          <p:cNvPr id="8" name="s1-line"/>
          <p:cNvSpPr/>
          <p:nvPr/>
        </p:nvSpPr>
        <p:spPr>
          <a:xfrm>
            <a:off x="711200" y="2362200"/>
            <a:ext cx="10769600" cy="9525"/>
          </a:xfrm>
          <a:prstGeom prst="rect">
            <a:avLst/>
          </a:prstGeom>
          <a:solidFill>
            <a:srgbClr val="DCE3EB"/>
          </a:solidFill>
          <a:ln>
            <a:noFill/>
          </a:ln>
        </p:spPr>
      </p:sp>
      <p:sp>
        <p:nvSpPr>
          <p:cNvPr id="9" name="s2-num"/>
          <p:cNvSpPr txBox="1"/>
          <p:nvPr/>
        </p:nvSpPr>
        <p:spPr>
          <a:xfrm>
            <a:off x="711200" y="2489200"/>
            <a:ext cx="508000" cy="381000"/>
          </a:xfrm>
          <a:prstGeom prst="rect">
            <a:avLst/>
          </a:prstGeom>
          <a:noFill/>
          <a:ln>
            <a:noFill/>
          </a:ln>
        </p:spPr>
        <p:txBody>
          <a:bodyPr lIns="0" rIns="0" tIns="0" bIns="0" wrap="none" rtlCol="0"/>
          <a:lstStyle/>
          <a:p>
            <a:pPr>
              <a:lnSpc>
                <a:spcPct val="120000"/>
              </a:lnSpc>
            </a:pPr>
            <a:r>
              <a:rPr lang="en-US" sz="2200" noProof="1" b="1">
                <a:solidFill>
                  <a:srgbClr val="16365C"/>
                </a:solidFill>
                <a:latin typeface="EB Garamond"/>
                <a:ea typeface="EB Garamond"/>
              </a:rPr>
              <a:t>2</a:t>
            </a:r>
            <a:endParaRPr lang="en-US" sz="2200" noProof="1"/>
          </a:p>
        </p:txBody>
      </p:sp>
      <p:sp>
        <p:nvSpPr>
          <p:cNvPr id="10" name="s2-label"/>
          <p:cNvSpPr txBox="1"/>
          <p:nvPr/>
        </p:nvSpPr>
        <p:spPr>
          <a:xfrm>
            <a:off x="1320800" y="2489200"/>
            <a:ext cx="2159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The gap</a:t>
            </a:r>
            <a:endParaRPr lang="en-US" sz="1100" noProof="1"/>
          </a:p>
        </p:txBody>
      </p:sp>
      <p:sp>
        <p:nvSpPr>
          <p:cNvPr id="11" name="s2-desc"/>
          <p:cNvSpPr txBox="1"/>
          <p:nvPr/>
        </p:nvSpPr>
        <p:spPr>
          <a:xfrm>
            <a:off x="1320800" y="2717800"/>
            <a:ext cx="10160000" cy="431800"/>
          </a:xfrm>
          <a:prstGeom prst="rect">
            <a:avLst/>
          </a:prstGeom>
          <a:noFill/>
          <a:ln>
            <a:noFill/>
          </a:ln>
        </p:spPr>
        <p:txBody>
          <a:bodyPr lIns="0" rIns="0" tIns="0" bIns="0" wrap="square" rtlCol="0"/>
          <a:lstStyle/>
          <a:p>
            <a:pPr>
              <a:lnSpc>
                <a:spcPct val="140000"/>
              </a:lnSpc>
            </a:pPr>
            <a:r>
              <a:rPr lang="en-US" sz="1000" noProof="1">
                <a:solidFill>
                  <a:srgbClr val="1A2433"/>
                </a:solidFill>
                <a:latin typeface="Liter"/>
                <a:ea typeface="Liter"/>
              </a:rPr>
              <a:t>Detection, correlation, execution and record-keeping are largely automated in a modern estate. The judgment calls in between — is it real, whose is it, how bad, act or page — still run on rules and whoever is on call, and they set MTTR and on-call load.</a:t>
            </a:r>
            <a:endParaRPr lang="en-US" sz="1000" noProof="1"/>
          </a:p>
        </p:txBody>
      </p:sp>
      <p:sp>
        <p:nvSpPr>
          <p:cNvPr id="12" name="s2-line"/>
          <p:cNvSpPr/>
          <p:nvPr/>
        </p:nvSpPr>
        <p:spPr>
          <a:xfrm>
            <a:off x="711200" y="3276600"/>
            <a:ext cx="10769600" cy="9525"/>
          </a:xfrm>
          <a:prstGeom prst="rect">
            <a:avLst/>
          </a:prstGeom>
          <a:solidFill>
            <a:srgbClr val="DCE3EB"/>
          </a:solidFill>
          <a:ln>
            <a:noFill/>
          </a:ln>
        </p:spPr>
      </p:sp>
      <p:sp>
        <p:nvSpPr>
          <p:cNvPr id="13" name="s3-num"/>
          <p:cNvSpPr txBox="1"/>
          <p:nvPr/>
        </p:nvSpPr>
        <p:spPr>
          <a:xfrm>
            <a:off x="711200" y="3403600"/>
            <a:ext cx="508000" cy="381000"/>
          </a:xfrm>
          <a:prstGeom prst="rect">
            <a:avLst/>
          </a:prstGeom>
          <a:noFill/>
          <a:ln>
            <a:noFill/>
          </a:ln>
        </p:spPr>
        <p:txBody>
          <a:bodyPr lIns="0" rIns="0" tIns="0" bIns="0" wrap="none" rtlCol="0"/>
          <a:lstStyle/>
          <a:p>
            <a:pPr>
              <a:lnSpc>
                <a:spcPct val="120000"/>
              </a:lnSpc>
            </a:pPr>
            <a:r>
              <a:rPr lang="en-US" sz="2200" noProof="1" b="1">
                <a:solidFill>
                  <a:srgbClr val="16365C"/>
                </a:solidFill>
                <a:latin typeface="EB Garamond"/>
                <a:ea typeface="EB Garamond"/>
              </a:rPr>
              <a:t>3</a:t>
            </a:r>
            <a:endParaRPr lang="en-US" sz="2200" noProof="1"/>
          </a:p>
        </p:txBody>
      </p:sp>
      <p:sp>
        <p:nvSpPr>
          <p:cNvPr id="14" name="s3-label"/>
          <p:cNvSpPr txBox="1"/>
          <p:nvPr/>
        </p:nvSpPr>
        <p:spPr>
          <a:xfrm>
            <a:off x="1320800" y="3403600"/>
            <a:ext cx="2794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What a decision model adds</a:t>
            </a:r>
            <a:endParaRPr lang="en-US" sz="1100" noProof="1"/>
          </a:p>
        </p:txBody>
      </p:sp>
      <p:sp>
        <p:nvSpPr>
          <p:cNvPr id="15" name="s3-desc"/>
          <p:cNvSpPr txBox="1"/>
          <p:nvPr/>
        </p:nvSpPr>
        <p:spPr>
          <a:xfrm>
            <a:off x="1320800" y="3632200"/>
            <a:ext cx="10160000" cy="431800"/>
          </a:xfrm>
          <a:prstGeom prst="rect">
            <a:avLst/>
          </a:prstGeom>
          <a:noFill/>
          <a:ln>
            <a:noFill/>
          </a:ln>
        </p:spPr>
        <p:txBody>
          <a:bodyPr lIns="0" rIns="0" tIns="0" bIns="0" wrap="square" rtlCol="0"/>
          <a:lstStyle/>
          <a:p>
            <a:pPr>
              <a:lnSpc>
                <a:spcPct val="140000"/>
              </a:lnSpc>
            </a:pPr>
            <a:r>
              <a:rPr lang="en-US" sz="1000" noProof="1">
                <a:solidFill>
                  <a:srgbClr val="1A2433"/>
                </a:solidFill>
                <a:latin typeface="Liter"/>
                <a:ea typeface="Liter"/>
              </a:rPr>
              <a:t>TypeSafe's Jev answers fixed questions about an incident with probabilities — all 12 in one call, in a median 91 ms. Code the organisation owns decides whether to act, ask a person or log, inside tools such as ServiceNow or PagerDuty.</a:t>
            </a:r>
            <a:endParaRPr lang="en-US" sz="1000" noProof="1"/>
          </a:p>
        </p:txBody>
      </p:sp>
      <p:sp>
        <p:nvSpPr>
          <p:cNvPr id="16" name="s3-line"/>
          <p:cNvSpPr/>
          <p:nvPr/>
        </p:nvSpPr>
        <p:spPr>
          <a:xfrm>
            <a:off x="711200" y="4191000"/>
            <a:ext cx="10769600" cy="9525"/>
          </a:xfrm>
          <a:prstGeom prst="rect">
            <a:avLst/>
          </a:prstGeom>
          <a:solidFill>
            <a:srgbClr val="DCE3EB"/>
          </a:solidFill>
          <a:ln>
            <a:noFill/>
          </a:ln>
        </p:spPr>
      </p:sp>
      <p:sp>
        <p:nvSpPr>
          <p:cNvPr id="17" name="s4-num"/>
          <p:cNvSpPr txBox="1"/>
          <p:nvPr/>
        </p:nvSpPr>
        <p:spPr>
          <a:xfrm>
            <a:off x="711200" y="4318000"/>
            <a:ext cx="508000" cy="381000"/>
          </a:xfrm>
          <a:prstGeom prst="rect">
            <a:avLst/>
          </a:prstGeom>
          <a:noFill/>
          <a:ln>
            <a:noFill/>
          </a:ln>
        </p:spPr>
        <p:txBody>
          <a:bodyPr lIns="0" rIns="0" tIns="0" bIns="0" wrap="none" rtlCol="0"/>
          <a:lstStyle/>
          <a:p>
            <a:pPr>
              <a:lnSpc>
                <a:spcPct val="120000"/>
              </a:lnSpc>
            </a:pPr>
            <a:r>
              <a:rPr lang="en-US" sz="2200" noProof="1" b="1">
                <a:solidFill>
                  <a:srgbClr val="16365C"/>
                </a:solidFill>
                <a:latin typeface="EB Garamond"/>
                <a:ea typeface="EB Garamond"/>
              </a:rPr>
              <a:t>4</a:t>
            </a:r>
            <a:endParaRPr lang="en-US" sz="2200" noProof="1"/>
          </a:p>
        </p:txBody>
      </p:sp>
      <p:sp>
        <p:nvSpPr>
          <p:cNvPr id="18" name="s4-label"/>
          <p:cNvSpPr txBox="1"/>
          <p:nvPr/>
        </p:nvSpPr>
        <p:spPr>
          <a:xfrm>
            <a:off x="1320800" y="4318000"/>
            <a:ext cx="2159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The evidence</a:t>
            </a:r>
            <a:endParaRPr lang="en-US" sz="1100" noProof="1"/>
          </a:p>
        </p:txBody>
      </p:sp>
      <p:sp>
        <p:nvSpPr>
          <p:cNvPr id="19" name="s4-desc"/>
          <p:cNvSpPr txBox="1"/>
          <p:nvPr/>
        </p:nvSpPr>
        <p:spPr>
          <a:xfrm>
            <a:off x="1320800" y="4546600"/>
            <a:ext cx="10160000" cy="431800"/>
          </a:xfrm>
          <a:prstGeom prst="rect">
            <a:avLst/>
          </a:prstGeom>
          <a:noFill/>
          <a:ln>
            <a:noFill/>
          </a:ln>
        </p:spPr>
        <p:txBody>
          <a:bodyPr lIns="0" rIns="0" tIns="0" bIns="0" wrap="square" rtlCol="0"/>
          <a:lstStyle/>
          <a:p>
            <a:pPr>
              <a:lnSpc>
                <a:spcPct val="140000"/>
              </a:lnSpc>
            </a:pPr>
            <a:r>
              <a:rPr lang="en-US" sz="1000" noProof="1">
                <a:solidFill>
                  <a:srgbClr val="1A2433"/>
                </a:solidFill>
                <a:latin typeface="Liter"/>
                <a:ea typeface="Liter"/>
              </a:rPr>
              <a:t>A gate in ordinary Python handled 22 of 56 synthetic incidents end to end and automated none of the 20 unsafe cases, at about 6 cents per 1,000 (estimate). The open question is accuracy on real tickets — which is what the pilot measures.</a:t>
            </a:r>
            <a:endParaRPr lang="en-US" sz="1000" noProof="1"/>
          </a:p>
        </p:txBody>
      </p:sp>
      <p:sp>
        <p:nvSpPr>
          <p:cNvPr id="20" name="s4-line"/>
          <p:cNvSpPr/>
          <p:nvPr/>
        </p:nvSpPr>
        <p:spPr>
          <a:xfrm>
            <a:off x="711200" y="5105400"/>
            <a:ext cx="10769600" cy="9525"/>
          </a:xfrm>
          <a:prstGeom prst="rect">
            <a:avLst/>
          </a:prstGeom>
          <a:solidFill>
            <a:srgbClr val="DCE3EB"/>
          </a:solidFill>
          <a:ln>
            <a:noFill/>
          </a:ln>
        </p:spPr>
      </p:sp>
      <p:sp>
        <p:nvSpPr>
          <p:cNvPr id="21" name="s5-num"/>
          <p:cNvSpPr txBox="1"/>
          <p:nvPr/>
        </p:nvSpPr>
        <p:spPr>
          <a:xfrm>
            <a:off x="711200" y="5232400"/>
            <a:ext cx="508000" cy="381000"/>
          </a:xfrm>
          <a:prstGeom prst="rect">
            <a:avLst/>
          </a:prstGeom>
          <a:noFill/>
          <a:ln>
            <a:noFill/>
          </a:ln>
        </p:spPr>
        <p:txBody>
          <a:bodyPr lIns="0" rIns="0" tIns="0" bIns="0" wrap="none" rtlCol="0"/>
          <a:lstStyle/>
          <a:p>
            <a:pPr>
              <a:lnSpc>
                <a:spcPct val="120000"/>
              </a:lnSpc>
            </a:pPr>
            <a:r>
              <a:rPr lang="en-US" sz="2200" noProof="1" b="1">
                <a:solidFill>
                  <a:srgbClr val="16365C"/>
                </a:solidFill>
                <a:latin typeface="EB Garamond"/>
                <a:ea typeface="EB Garamond"/>
              </a:rPr>
              <a:t>5</a:t>
            </a:r>
            <a:endParaRPr lang="en-US" sz="2200" noProof="1"/>
          </a:p>
        </p:txBody>
      </p:sp>
      <p:sp>
        <p:nvSpPr>
          <p:cNvPr id="22" name="s5-label"/>
          <p:cNvSpPr txBox="1"/>
          <p:nvPr/>
        </p:nvSpPr>
        <p:spPr>
          <a:xfrm>
            <a:off x="1320800" y="5232400"/>
            <a:ext cx="2159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The path</a:t>
            </a:r>
            <a:endParaRPr lang="en-US" sz="1100" noProof="1"/>
          </a:p>
        </p:txBody>
      </p:sp>
      <p:sp>
        <p:nvSpPr>
          <p:cNvPr id="23" name="s5-desc"/>
          <p:cNvSpPr txBox="1"/>
          <p:nvPr/>
        </p:nvSpPr>
        <p:spPr>
          <a:xfrm>
            <a:off x="1320800" y="5461000"/>
            <a:ext cx="10160000" cy="431800"/>
          </a:xfrm>
          <a:prstGeom prst="rect">
            <a:avLst/>
          </a:prstGeom>
          <a:noFill/>
          <a:ln>
            <a:noFill/>
          </a:ln>
        </p:spPr>
        <p:txBody>
          <a:bodyPr lIns="0" rIns="0" tIns="0" bIns="0" wrap="square" rtlCol="0"/>
          <a:lstStyle/>
          <a:p>
            <a:pPr>
              <a:lnSpc>
                <a:spcPct val="140000"/>
              </a:lnSpc>
            </a:pPr>
            <a:r>
              <a:rPr lang="en-US" sz="1000" noProof="1">
                <a:solidFill>
                  <a:srgbClr val="1A2433"/>
                </a:solidFill>
                <a:latin typeface="Liter"/>
                <a:ea typeface="Liter"/>
              </a:rPr>
              <a:t>Diagnostic (2–3 weeks) → offline replay (3–4 weeks) → shadow, then assist (6–8 weeks), each ending in a decision. Nothing is committed beyond the first stage, and no data leaves the network in it.</a:t>
            </a:r>
            <a:endParaRPr lang="en-US" sz="1000" noProof="1"/>
          </a:p>
        </p:txBody>
      </p:sp>
      <p:sp>
        <p:nvSpPr>
          <p:cNvPr id="24" name="s5-line"/>
          <p:cNvSpPr/>
          <p:nvPr/>
        </p:nvSpPr>
        <p:spPr>
          <a:xfrm>
            <a:off x="711200" y="6019800"/>
            <a:ext cx="10769600" cy="9525"/>
          </a:xfrm>
          <a:prstGeom prst="rect">
            <a:avLst/>
          </a:prstGeom>
          <a:solidFill>
            <a:srgbClr val="DCE3EB"/>
          </a:solidFill>
          <a:ln>
            <a:noFill/>
          </a:ln>
        </p:spPr>
      </p:sp>
      <p:sp>
        <p:nvSpPr>
          <p:cNvPr id="25" name="footline"/>
          <p:cNvSpPr/>
          <p:nvPr/>
        </p:nvSpPr>
        <p:spPr>
          <a:xfrm>
            <a:off x="711200" y="6477000"/>
            <a:ext cx="10769600" cy="9525"/>
          </a:xfrm>
          <a:prstGeom prst="rect">
            <a:avLst/>
          </a:prstGeom>
          <a:solidFill>
            <a:srgbClr val="DCE3EB"/>
          </a:solidFill>
          <a:ln>
            <a:noFill/>
          </a:ln>
        </p:spPr>
      </p:sp>
      <p:sp>
        <p:nvSpPr>
          <p:cNvPr id="26"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our measurement (results/facts.json, Jev via TypeSafe API, n=56 synthetic incidents); native API cost is an estimate at OpenRouter's billed per-token rate. Industry figures on pages 3–4 are vendor-reported or third-party coverage, as labelled there.</a:t>
            </a:r>
            <a:endParaRPr lang="en-US" sz="750" noProof="1"/>
          </a:p>
        </p:txBody>
      </p:sp>
      <p:sp>
        <p:nvSpPr>
          <p:cNvPr id="27"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2</a:t>
            </a:r>
            <a:endParaRPr lang="en-US" sz="800" noProof="1"/>
          </a:p>
        </p:txBody>
      </p:sp>
    </p:spTree>
  </p:cSld>
  <p:clrMapOvr>
    <a:masterClrMapping/>
  </p:clrMapOvr>
</p:sld>
</file>

<file path=ppt/slides/slide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INDUSTRY</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AI agents for incident response became a real category in 2026 — the judgment calls are what is left</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lead1-head"/>
          <p:cNvSpPr txBox="1"/>
          <p:nvPr/>
        </p:nvSpPr>
        <p:spPr>
          <a:xfrm>
            <a:off x="711200" y="1574800"/>
            <a:ext cx="6350000" cy="203200"/>
          </a:xfrm>
          <a:prstGeom prst="rect">
            <a:avLst/>
          </a:prstGeom>
          <a:noFill/>
          <a:ln>
            <a:noFill/>
          </a:ln>
        </p:spPr>
        <p:txBody>
          <a:bodyPr lIns="0" rIns="0" tIns="0" bIns="0" wrap="none" rtlCol="0"/>
          <a:lstStyle/>
          <a:p>
            <a:pPr>
              <a:lnSpc>
                <a:spcPct val="120000"/>
              </a:lnSpc>
            </a:pPr>
            <a:r>
              <a:rPr lang="en-US" sz="1100" noProof="1" b="1">
                <a:solidFill>
                  <a:srgbClr val="1A2433"/>
                </a:solidFill>
                <a:latin typeface="Liter"/>
                <a:ea typeface="Liter"/>
              </a:rPr>
              <a:t>A category crystallised</a:t>
            </a:r>
            <a:endParaRPr lang="en-US" sz="1100" noProof="1"/>
          </a:p>
        </p:txBody>
      </p:sp>
      <p:sp>
        <p:nvSpPr>
          <p:cNvPr id="6" name="lead1-body"/>
          <p:cNvSpPr txBox="1"/>
          <p:nvPr/>
        </p:nvSpPr>
        <p:spPr>
          <a:xfrm>
            <a:off x="711200" y="1828800"/>
            <a:ext cx="6350000" cy="711200"/>
          </a:xfrm>
          <a:prstGeom prst="rect">
            <a:avLst/>
          </a:prstGeom>
          <a:noFill/>
          <a:ln>
            <a:noFill/>
          </a:ln>
        </p:spPr>
        <p:txBody>
          <a:bodyPr lIns="0" rIns="0" tIns="0" bIns="0" wrap="square" rtlCol="0"/>
          <a:lstStyle/>
          <a:p>
            <a:pPr>
              <a:lnSpc>
                <a:spcPct val="145000"/>
              </a:lnSpc>
            </a:pPr>
            <a:r>
              <a:rPr lang="en-US" sz="1000" noProof="1">
                <a:solidFill>
                  <a:srgbClr val="5B6472"/>
                </a:solidFill>
                <a:latin typeface="Liter"/>
                <a:ea typeface="Liter"/>
              </a:rPr>
              <a:t>Microsoft made Azure SRE Agent generally available in March 2026 and reports 1,300+ agents running on its own services — 35,000+ incidents mitigated, 20,000+ engineering hours saved. PagerDuty, Datadog, Dynatrace and AWS all ship agents; Resolve AI raised $125M at a $1B valuation, the category's largest round.</a:t>
            </a:r>
            <a:endParaRPr lang="en-US" sz="1000" noProof="1"/>
          </a:p>
        </p:txBody>
      </p:sp>
      <p:sp>
        <p:nvSpPr>
          <p:cNvPr id="7" name="lead2-head"/>
          <p:cNvSpPr txBox="1"/>
          <p:nvPr/>
        </p:nvSpPr>
        <p:spPr>
          <a:xfrm>
            <a:off x="711200" y="2743200"/>
            <a:ext cx="6350000" cy="203200"/>
          </a:xfrm>
          <a:prstGeom prst="rect">
            <a:avLst/>
          </a:prstGeom>
          <a:noFill/>
          <a:ln>
            <a:noFill/>
          </a:ln>
        </p:spPr>
        <p:txBody>
          <a:bodyPr lIns="0" rIns="0" tIns="0" bIns="0" wrap="none" rtlCol="0"/>
          <a:lstStyle/>
          <a:p>
            <a:pPr>
              <a:lnSpc>
                <a:spcPct val="120000"/>
              </a:lnSpc>
            </a:pPr>
            <a:r>
              <a:rPr lang="en-US" sz="1100" noProof="1" b="1">
                <a:solidFill>
                  <a:srgbClr val="1A2433"/>
                </a:solidFill>
                <a:latin typeface="Liter"/>
                <a:ea typeface="Liter"/>
              </a:rPr>
              <a:t>The cost pressure is documented</a:t>
            </a:r>
            <a:endParaRPr lang="en-US" sz="1100" noProof="1"/>
          </a:p>
        </p:txBody>
      </p:sp>
      <p:sp>
        <p:nvSpPr>
          <p:cNvPr id="8" name="lead2-body"/>
          <p:cNvSpPr txBox="1"/>
          <p:nvPr/>
        </p:nvSpPr>
        <p:spPr>
          <a:xfrm>
            <a:off x="711200" y="2997200"/>
            <a:ext cx="6350000" cy="711200"/>
          </a:xfrm>
          <a:prstGeom prst="rect">
            <a:avLst/>
          </a:prstGeom>
          <a:noFill/>
          <a:ln>
            <a:noFill/>
          </a:ln>
        </p:spPr>
        <p:txBody>
          <a:bodyPr lIns="0" rIns="0" tIns="0" bIns="0" wrap="square" rtlCol="0"/>
          <a:lstStyle/>
          <a:p>
            <a:pPr>
              <a:lnSpc>
                <a:spcPct val="145000"/>
              </a:lnSpc>
            </a:pPr>
            <a:r>
              <a:rPr lang="en-US" sz="1000" noProof="1">
                <a:solidFill>
                  <a:srgbClr val="5B6472"/>
                </a:solidFill>
                <a:latin typeface="Liter"/>
                <a:ea typeface="Liter"/>
              </a:rPr>
              <a:t>PagerDuty's study of 500 IT leaders puts the average customer-facing incident at 175 minutes to resolve and nearly $794,000 in cost, with incident counts up 43% year on year. Splunk and Oxford Economics estimate unplanned downtime at about $200M a year for a large enterprise.</a:t>
            </a:r>
            <a:endParaRPr lang="en-US" sz="1000" noProof="1"/>
          </a:p>
        </p:txBody>
      </p:sp>
      <p:sp>
        <p:nvSpPr>
          <p:cNvPr id="9" name="lead3-head"/>
          <p:cNvSpPr txBox="1"/>
          <p:nvPr/>
        </p:nvSpPr>
        <p:spPr>
          <a:xfrm>
            <a:off x="711200" y="3911600"/>
            <a:ext cx="6350000" cy="203200"/>
          </a:xfrm>
          <a:prstGeom prst="rect">
            <a:avLst/>
          </a:prstGeom>
          <a:noFill/>
          <a:ln>
            <a:noFill/>
          </a:ln>
        </p:spPr>
        <p:txBody>
          <a:bodyPr lIns="0" rIns="0" tIns="0" bIns="0" wrap="none" rtlCol="0"/>
          <a:lstStyle/>
          <a:p>
            <a:pPr>
              <a:lnSpc>
                <a:spcPct val="120000"/>
              </a:lnSpc>
            </a:pPr>
            <a:r>
              <a:rPr lang="en-US" sz="1100" noProof="1" b="1">
                <a:solidFill>
                  <a:srgbClr val="1A2433"/>
                </a:solidFill>
                <a:latin typeface="Liter"/>
                <a:ea typeface="Liter"/>
              </a:rPr>
              <a:t>Adoption still lags ambition</a:t>
            </a:r>
            <a:endParaRPr lang="en-US" sz="1100" noProof="1"/>
          </a:p>
        </p:txBody>
      </p:sp>
      <p:sp>
        <p:nvSpPr>
          <p:cNvPr id="10" name="lead3-body"/>
          <p:cNvSpPr txBox="1"/>
          <p:nvPr/>
        </p:nvSpPr>
        <p:spPr>
          <a:xfrm>
            <a:off x="711200" y="4165600"/>
            <a:ext cx="6350000" cy="711200"/>
          </a:xfrm>
          <a:prstGeom prst="rect">
            <a:avLst/>
          </a:prstGeom>
          <a:noFill/>
          <a:ln>
            <a:noFill/>
          </a:ln>
        </p:spPr>
        <p:txBody>
          <a:bodyPr lIns="0" rIns="0" tIns="0" bIns="0" wrap="square" rtlCol="0"/>
          <a:lstStyle/>
          <a:p>
            <a:pPr>
              <a:lnSpc>
                <a:spcPct val="145000"/>
              </a:lnSpc>
            </a:pPr>
            <a:r>
              <a:rPr lang="en-US" sz="1000" noProof="1">
                <a:solidFill>
                  <a:srgbClr val="5B6472"/>
                </a:solidFill>
                <a:latin typeface="Liter"/>
                <a:ea typeface="Liter"/>
              </a:rPr>
              <a:t>Gartner projects 70% of enterprises will run agentic AI on IT infrastructure by 2029, up from under 5% in 2025 — yet its April 2026 survey of 782 I&amp;O leaders found only 28% of AI use cases in infrastructure and operations fully succeed. The gap is operationalising, not experimenting.</a:t>
            </a:r>
            <a:endParaRPr lang="en-US" sz="1000" noProof="1"/>
          </a:p>
        </p:txBody>
      </p:sp>
      <p:sp>
        <p:nvSpPr>
          <p:cNvPr id="11" name="vline"/>
          <p:cNvSpPr/>
          <p:nvPr/>
        </p:nvSpPr>
        <p:spPr>
          <a:xfrm>
            <a:off x="7518400" y="1574800"/>
            <a:ext cx="9525" cy="3810000"/>
          </a:xfrm>
          <a:prstGeom prst="rect">
            <a:avLst/>
          </a:prstGeom>
          <a:solidFill>
            <a:srgbClr val="DCE3EB"/>
          </a:solidFill>
          <a:ln>
            <a:noFill/>
          </a:ln>
        </p:spPr>
      </p:sp>
      <p:sp>
        <p:nvSpPr>
          <p:cNvPr id="12" name="right-head"/>
          <p:cNvSpPr txBox="1"/>
          <p:nvPr/>
        </p:nvSpPr>
        <p:spPr>
          <a:xfrm>
            <a:off x="7823200" y="1574800"/>
            <a:ext cx="36576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Why the judgment calls are next</a:t>
            </a:r>
            <a:endParaRPr lang="en-US" sz="1100" noProof="1"/>
          </a:p>
        </p:txBody>
      </p:sp>
      <p:sp>
        <p:nvSpPr>
          <p:cNvPr id="13" name="right-b1"/>
          <p:cNvSpPr txBox="1"/>
          <p:nvPr/>
        </p:nvSpPr>
        <p:spPr>
          <a:xfrm>
            <a:off x="7823200" y="1879600"/>
            <a:ext cx="3657600" cy="7366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Toil is still a third of the job.</a:t>
            </a:r>
            <a:r>
              <a:rPr lang="en-US" sz="1000" noProof="1">
                <a:solidFill>
                  <a:srgbClr val="1A2433"/>
                </a:solidFill>
                <a:latin typeface="Liter"/>
                <a:ea typeface="Liter"/>
              </a:rPr>
              <a:t> </a:t>
            </a:r>
            <a:r>
              <a:rPr lang="en-US" sz="1000" noProof="1">
                <a:solidFill>
                  <a:srgbClr val="5B6472"/>
                </a:solidFill>
                <a:latin typeface="Liter"/>
                <a:ea typeface="Liter"/>
              </a:rPr>
              <a:t>The 2026 SRE Report puts toil at 34% of engineer time.</a:t>
            </a:r>
            <a:endParaRPr lang="en-US" sz="1000" noProof="1"/>
          </a:p>
        </p:txBody>
      </p:sp>
      <p:sp>
        <p:nvSpPr>
          <p:cNvPr id="14" name="right-b2"/>
          <p:cNvSpPr txBox="1"/>
          <p:nvPr/>
        </p:nvSpPr>
        <p:spPr>
          <a:xfrm>
            <a:off x="7823200" y="2717800"/>
            <a:ext cx="3657600" cy="7366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Every incident passes through the same four calls.</a:t>
            </a:r>
            <a:r>
              <a:rPr lang="en-US" sz="1000" noProof="1">
                <a:solidFill>
                  <a:srgbClr val="1A2433"/>
                </a:solidFill>
                <a:latin typeface="Liter"/>
                <a:ea typeface="Liter"/>
              </a:rPr>
              <a:t> </a:t>
            </a:r>
            <a:r>
              <a:rPr lang="en-US" sz="1000" noProof="1">
                <a:solidFill>
                  <a:srgbClr val="5B6472"/>
                </a:solidFill>
                <a:latin typeface="Liter"/>
                <a:ea typeface="Liter"/>
              </a:rPr>
              <a:t>Is it real, whose is it, how bad, act or page — made from ticket text, many times a day.</a:t>
            </a:r>
            <a:endParaRPr lang="en-US" sz="1000" noProof="1"/>
          </a:p>
        </p:txBody>
      </p:sp>
      <p:sp>
        <p:nvSpPr>
          <p:cNvPr id="15" name="right-b3"/>
          <p:cNvSpPr txBox="1"/>
          <p:nvPr/>
        </p:nvSpPr>
        <p:spPr>
          <a:xfrm>
            <a:off x="7823200" y="3556000"/>
            <a:ext cx="3657600" cy="7366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The neighbours are already automated.</a:t>
            </a:r>
            <a:r>
              <a:rPr lang="en-US" sz="1000" noProof="1">
                <a:solidFill>
                  <a:srgbClr val="1A2433"/>
                </a:solidFill>
                <a:latin typeface="Liter"/>
                <a:ea typeface="Liter"/>
              </a:rPr>
              <a:t> </a:t>
            </a:r>
            <a:r>
              <a:rPr lang="en-US" sz="1000" noProof="1">
                <a:solidFill>
                  <a:srgbClr val="5B6472"/>
                </a:solidFill>
                <a:latin typeface="Liter"/>
                <a:ea typeface="Liter"/>
              </a:rPr>
              <a:t>Detection, correlation, execution and record-keeping largely run themselves; the middle does not.</a:t>
            </a:r>
            <a:endParaRPr lang="en-US" sz="1000" noProof="1"/>
          </a:p>
        </p:txBody>
      </p:sp>
      <p:sp>
        <p:nvSpPr>
          <p:cNvPr id="16" name="right-rule"/>
          <p:cNvSpPr/>
          <p:nvPr/>
        </p:nvSpPr>
        <p:spPr>
          <a:xfrm>
            <a:off x="7823200" y="4445000"/>
            <a:ext cx="3657600" cy="9525"/>
          </a:xfrm>
          <a:prstGeom prst="rect">
            <a:avLst/>
          </a:prstGeom>
          <a:solidFill>
            <a:srgbClr val="DCE3EB"/>
          </a:solidFill>
          <a:ln>
            <a:noFill/>
          </a:ln>
        </p:spPr>
      </p:sp>
      <p:sp>
        <p:nvSpPr>
          <p:cNvPr id="17" name="right-note"/>
          <p:cNvSpPr txBox="1"/>
          <p:nvPr/>
        </p:nvSpPr>
        <p:spPr>
          <a:xfrm>
            <a:off x="7823200" y="4572000"/>
            <a:ext cx="3657600" cy="812800"/>
          </a:xfrm>
          <a:prstGeom prst="rect">
            <a:avLst/>
          </a:prstGeom>
          <a:noFill/>
          <a:ln>
            <a:noFill/>
          </a:ln>
        </p:spPr>
        <p:txBody>
          <a:bodyPr lIns="0" rIns="0" tIns="0" bIns="0" wrap="square" rtlCol="0"/>
          <a:lstStyle/>
          <a:p>
            <a:pPr>
              <a:lnSpc>
                <a:spcPct val="140000"/>
              </a:lnSpc>
            </a:pPr>
            <a:r>
              <a:rPr lang="en-US" sz="950" noProof="1">
                <a:solidFill>
                  <a:srgbClr val="5B6472"/>
                </a:solidFill>
                <a:latin typeface="Liter"/>
                <a:ea typeface="Liter"/>
              </a:rPr>
              <a:t>A decision that is frequent, text-based and short-answer is the cheapest kind to automate — and the easiest to test offline on closed tickets.</a:t>
            </a:r>
            <a:endParaRPr lang="en-US" sz="950" noProof="1"/>
          </a:p>
        </p:txBody>
      </p:sp>
      <p:sp>
        <p:nvSpPr>
          <p:cNvPr id="18" name="stat-bg"/>
          <p:cNvSpPr/>
          <p:nvPr/>
        </p:nvSpPr>
        <p:spPr>
          <a:xfrm>
            <a:off x="711200" y="5461000"/>
            <a:ext cx="10769600" cy="711200"/>
          </a:xfrm>
          <a:prstGeom prst="rect">
            <a:avLst/>
          </a:prstGeom>
          <a:solidFill>
            <a:srgbClr val="EDF2F8"/>
          </a:solidFill>
          <a:ln>
            <a:noFill/>
          </a:ln>
        </p:spPr>
      </p:sp>
      <p:sp>
        <p:nvSpPr>
          <p:cNvPr id="19" name="stat1-num"/>
          <p:cNvSpPr txBox="1"/>
          <p:nvPr/>
        </p:nvSpPr>
        <p:spPr>
          <a:xfrm>
            <a:off x="1117600" y="5613400"/>
            <a:ext cx="1524000" cy="406400"/>
          </a:xfrm>
          <a:prstGeom prst="rect">
            <a:avLst/>
          </a:prstGeom>
          <a:noFill/>
          <a:ln>
            <a:noFill/>
          </a:ln>
        </p:spPr>
        <p:txBody>
          <a:bodyPr lIns="0" rIns="0" tIns="0" bIns="0" wrap="none" rtlCol="0"/>
          <a:lstStyle/>
          <a:p>
            <a:pPr>
              <a:lnSpc>
                <a:spcPct val="120000"/>
              </a:lnSpc>
            </a:pPr>
            <a:r>
              <a:rPr lang="en-US" sz="2600" noProof="1" b="1">
                <a:solidFill>
                  <a:srgbClr val="16365C"/>
                </a:solidFill>
                <a:latin typeface="EB Garamond"/>
                <a:ea typeface="EB Garamond"/>
              </a:rPr>
              <a:t>175 min</a:t>
            </a:r>
            <a:endParaRPr lang="en-US" sz="2600" noProof="1"/>
          </a:p>
        </p:txBody>
      </p:sp>
      <p:sp>
        <p:nvSpPr>
          <p:cNvPr id="20" name="stat1-label"/>
          <p:cNvSpPr txBox="1"/>
          <p:nvPr/>
        </p:nvSpPr>
        <p:spPr>
          <a:xfrm>
            <a:off x="2692400" y="5664200"/>
            <a:ext cx="2921000" cy="355600"/>
          </a:xfrm>
          <a:prstGeom prst="rect">
            <a:avLst/>
          </a:prstGeom>
          <a:noFill/>
          <a:ln>
            <a:noFill/>
          </a:ln>
        </p:spPr>
        <p:txBody>
          <a:bodyPr lIns="0" rIns="0" tIns="0" bIns="0" wrap="square" rtlCol="0"/>
          <a:lstStyle/>
          <a:p>
            <a:pPr>
              <a:lnSpc>
                <a:spcPct val="130000"/>
              </a:lnSpc>
            </a:pPr>
            <a:r>
              <a:rPr lang="en-US" sz="900" noProof="1">
                <a:solidFill>
                  <a:srgbClr val="5B6472"/>
                </a:solidFill>
                <a:latin typeface="Liter"/>
                <a:ea typeface="Liter"/>
              </a:rPr>
              <a:t>average time to resolve a customer-facing incident (PagerDuty study of 500 IT leaders, 2024)</a:t>
            </a:r>
            <a:endParaRPr lang="en-US" sz="900" noProof="1"/>
          </a:p>
        </p:txBody>
      </p:sp>
      <p:sp>
        <p:nvSpPr>
          <p:cNvPr id="21" name="stat2-num"/>
          <p:cNvSpPr txBox="1"/>
          <p:nvPr/>
        </p:nvSpPr>
        <p:spPr>
          <a:xfrm>
            <a:off x="6248400" y="5613400"/>
            <a:ext cx="1651000" cy="406400"/>
          </a:xfrm>
          <a:prstGeom prst="rect">
            <a:avLst/>
          </a:prstGeom>
          <a:noFill/>
          <a:ln>
            <a:noFill/>
          </a:ln>
        </p:spPr>
        <p:txBody>
          <a:bodyPr lIns="0" rIns="0" tIns="0" bIns="0" wrap="none" rtlCol="0"/>
          <a:lstStyle/>
          <a:p>
            <a:pPr>
              <a:lnSpc>
                <a:spcPct val="120000"/>
              </a:lnSpc>
            </a:pPr>
            <a:r>
              <a:rPr lang="en-US" sz="2600" noProof="1" b="1">
                <a:solidFill>
                  <a:srgbClr val="16365C"/>
                </a:solidFill>
                <a:latin typeface="EB Garamond"/>
                <a:ea typeface="EB Garamond"/>
              </a:rPr>
              <a:t>&lt;5% → 70%</a:t>
            </a:r>
            <a:endParaRPr lang="en-US" sz="2600" noProof="1"/>
          </a:p>
        </p:txBody>
      </p:sp>
      <p:sp>
        <p:nvSpPr>
          <p:cNvPr id="22" name="stat2-label"/>
          <p:cNvSpPr txBox="1"/>
          <p:nvPr/>
        </p:nvSpPr>
        <p:spPr>
          <a:xfrm>
            <a:off x="8077200" y="5664200"/>
            <a:ext cx="3175000" cy="355600"/>
          </a:xfrm>
          <a:prstGeom prst="rect">
            <a:avLst/>
          </a:prstGeom>
          <a:noFill/>
          <a:ln>
            <a:noFill/>
          </a:ln>
        </p:spPr>
        <p:txBody>
          <a:bodyPr lIns="0" rIns="0" tIns="0" bIns="0" wrap="square" rtlCol="0"/>
          <a:lstStyle/>
          <a:p>
            <a:pPr>
              <a:lnSpc>
                <a:spcPct val="130000"/>
              </a:lnSpc>
            </a:pPr>
            <a:r>
              <a:rPr lang="en-US" sz="900" noProof="1">
                <a:solidFill>
                  <a:srgbClr val="5B6472"/>
                </a:solidFill>
                <a:latin typeface="Liter"/>
                <a:ea typeface="Liter"/>
              </a:rPr>
              <a:t>enterprises running agentic AI on IT infrastructure, 2025 → 2029 projected (Gartner)</a:t>
            </a:r>
            <a:endParaRPr lang="en-US" sz="900" noProof="1"/>
          </a:p>
        </p:txBody>
      </p:sp>
      <p:sp>
        <p:nvSpPr>
          <p:cNvPr id="23" name="footline"/>
          <p:cNvSpPr/>
          <p:nvPr/>
        </p:nvSpPr>
        <p:spPr>
          <a:xfrm>
            <a:off x="711200" y="6477000"/>
            <a:ext cx="10769600" cy="9525"/>
          </a:xfrm>
          <a:prstGeom prst="rect">
            <a:avLst/>
          </a:prstGeom>
          <a:solidFill>
            <a:srgbClr val="DCE3EB"/>
          </a:solidFill>
          <a:ln>
            <a:noFill/>
          </a:ln>
        </p:spPr>
      </p:sp>
      <p:sp>
        <p:nvSpPr>
          <p:cNvPr id="24"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Microsoft Azure SRE Agent GA coverage (March 2026, vendor-reported figures); PagerDuty incident-cost study (2024, vendor-commissioned); Splunk / Oxford Economics downtime research; Gartner projections and April 2026 I&amp;O survey as reported in secondary coverage; 2026 SRE Report (toil).</a:t>
            </a:r>
            <a:endParaRPr lang="en-US" sz="750" noProof="1"/>
          </a:p>
        </p:txBody>
      </p:sp>
      <p:sp>
        <p:nvSpPr>
          <p:cNvPr id="25"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3</a:t>
            </a:r>
            <a:endParaRPr lang="en-US" sz="800" noProof="1"/>
          </a:p>
        </p:txBody>
      </p:sp>
    </p:spTree>
  </p:cSld>
  <p:clrMapOvr>
    <a:masterClrMapping/>
  </p:clrMapOvr>
</p:sld>
</file>

<file path=ppt/slides/slide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INDUSTRY</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Enterprises already trust AI with investigation and correlation — the accountable call still sits with a person</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graphicFrame>
        <p:nvGraphicFramePr>
          <p:cNvPr id="5" name="examples"/>
          <p:cNvGraphicFramePr>
            <a:graphicFrameLocks noGrp="1"/>
          </p:cNvGraphicFramePr>
          <p:nvPr/>
        </p:nvGraphicFramePr>
        <p:xfrm>
          <a:off x="711200" y="1574800"/>
          <a:ext cx="10769600" cy="3759200"/>
        </p:xfrm>
        <a:graphic>
          <a:graphicData uri="http://schemas.openxmlformats.org/drawingml/2006/table">
            <a:tbl>
              <a:tblPr/>
              <a:tblGrid>
                <a:gridCol w="1830832"/>
                <a:gridCol w="4846320"/>
                <a:gridCol w="4092448"/>
              </a:tblGrid>
              <a:tr h="451104">
                <a:tc>
                  <a:txBody>
                    <a:bodyPr wrap="square" rtlCol="0" anchor="ctr"/>
                    <a:lstStyle/>
                    <a:p>
                      <a:pPr algn="l">
                        <a:lnSpc>
                          <a:spcPct val="130000"/>
                        </a:lnSpc>
                      </a:pPr>
                      <a:r>
                        <a:rPr lang="en-US" sz="900" noProof="1" b="1">
                          <a:solidFill>
                            <a:srgbClr val="FFFFFF"/>
                          </a:solidFill>
                          <a:latin typeface="Liter"/>
                          <a:ea typeface="Liter"/>
                        </a:rPr>
                        <a:t>Organisation</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30000"/>
                        </a:lnSpc>
                      </a:pPr>
                      <a:r>
                        <a:rPr lang="en-US" sz="900" noProof="1" b="1">
                          <a:solidFill>
                            <a:srgbClr val="FFFFFF"/>
                          </a:solidFill>
                          <a:latin typeface="Liter"/>
                          <a:ea typeface="Liter"/>
                        </a:rPr>
                        <a:t>What AI already does there</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30000"/>
                        </a:lnSpc>
                      </a:pPr>
                      <a:r>
                        <a:rPr lang="en-US" sz="900" noProof="1" b="1">
                          <a:solidFill>
                            <a:srgbClr val="FFFFFF"/>
                          </a:solidFill>
                          <a:latin typeface="Liter"/>
                          <a:ea typeface="Liter"/>
                        </a:rPr>
                        <a:t>What still waits for a person</a:t>
                      </a:r>
                    </a:p>
                  </a:txBody>
                  <a:tcPr marL="91440" marR="91440" marT="45720" marB="45720" anchor="ctr">
                    <a:lnL>
                      <a:noFill/>
                    </a:lnL>
                    <a:lnR>
                      <a:noFill/>
                    </a:lnR>
                    <a:lnT>
                      <a:noFill/>
                    </a:lnT>
                    <a:lnB>
                      <a:noFill/>
                    </a:lnB>
                    <a:solidFill>
                      <a:srgbClr val="16365C"/>
                    </a:solidFill>
                  </a:tcPr>
                </a:tc>
              </a:tr>
              <a:tr h="827024">
                <a:tc>
                  <a:txBody>
                    <a:bodyPr wrap="square" rtlCol="0" anchor="ctr"/>
                    <a:lstStyle/>
                    <a:p>
                      <a:pPr algn="l">
                        <a:lnSpc>
                          <a:spcPct val="130000"/>
                        </a:lnSpc>
                      </a:pPr>
                      <a:r>
                        <a:rPr lang="en-US" sz="900" noProof="1" b="1">
                          <a:solidFill>
                            <a:srgbClr val="1A2433"/>
                          </a:solidFill>
                          <a:latin typeface="Liter"/>
                          <a:ea typeface="Liter"/>
                        </a:rPr>
                        <a:t>Microsoft</a:t>
                      </a:r>
                    </a:p>
                  </a:txBody>
                  <a:tcPr marL="91440" marR="91440" marT="45720" marB="45720" anchor="ctr">
                    <a:lnL>
                      <a:noFill/>
                    </a:lnL>
                    <a:lnR>
                      <a:noFill/>
                    </a:lnR>
                    <a:lnT>
                      <a:noFill/>
                    </a:lnT>
                    <a:lnB w="9525">
                      <a:solidFill>
                        <a:srgbClr val="DCE3EB"/>
                      </a:solidFill>
                    </a:lnB>
                    <a:solidFill>
                      <a:srgbClr val="FFFFFF"/>
                    </a:solidFill>
                  </a:tcPr>
                </a:tc>
                <a:tc>
                  <a:txBody>
                    <a:bodyPr wrap="square" rtlCol="0" anchor="ctr"/>
                    <a:lstStyle/>
                    <a:p>
                      <a:pPr algn="l">
                        <a:lnSpc>
                          <a:spcPct val="130000"/>
                        </a:lnSpc>
                      </a:pPr>
                      <a:r>
                        <a:rPr lang="en-US" sz="900" noProof="1">
                          <a:solidFill>
                            <a:srgbClr val="1A2433"/>
                          </a:solidFill>
                          <a:latin typeface="Liter"/>
                          <a:ea typeface="Liter"/>
                        </a:rPr>
                        <a:t>Azure SRE Agent runs on Microsoft's own services: 1,300+ agents deployed, 35,000+ incidents mitigated, 20,000+ engineering hours saved</a:t>
                      </a:r>
                    </a:p>
                  </a:txBody>
                  <a:tcPr marL="91440" marR="91440" marT="45720" marB="45720" anchor="ctr">
                    <a:lnL>
                      <a:noFill/>
                    </a:lnL>
                    <a:lnR>
                      <a:noFill/>
                    </a:lnR>
                    <a:lnT>
                      <a:noFill/>
                    </a:lnT>
                    <a:lnB w="9525">
                      <a:solidFill>
                        <a:srgbClr val="DCE3EB"/>
                      </a:solidFill>
                    </a:lnB>
                    <a:solidFill>
                      <a:srgbClr val="FFFFFF"/>
                    </a:solidFill>
                  </a:tcPr>
                </a:tc>
                <a:tc>
                  <a:txBody>
                    <a:bodyPr wrap="square" rtlCol="0" anchor="ctr"/>
                    <a:lstStyle/>
                    <a:p>
                      <a:pPr algn="l">
                        <a:lnSpc>
                          <a:spcPct val="130000"/>
                        </a:lnSpc>
                      </a:pPr>
                      <a:r>
                        <a:rPr lang="en-US" sz="900" noProof="1">
                          <a:solidFill>
                            <a:srgbClr val="1A2433"/>
                          </a:solidFill>
                          <a:latin typeface="Liter"/>
                          <a:ea typeface="Liter"/>
                        </a:rPr>
                        <a:t>Mitigations execute under a permissions model; high-impact calls stay with engineers</a:t>
                      </a:r>
                    </a:p>
                  </a:txBody>
                  <a:tcPr marL="91440" marR="91440" marT="45720" marB="45720" anchor="ctr">
                    <a:lnL>
                      <a:noFill/>
                    </a:lnL>
                    <a:lnR>
                      <a:noFill/>
                    </a:lnR>
                    <a:lnT>
                      <a:noFill/>
                    </a:lnT>
                    <a:lnB w="9525">
                      <a:solidFill>
                        <a:srgbClr val="DCE3EB"/>
                      </a:solidFill>
                    </a:lnB>
                    <a:solidFill>
                      <a:srgbClr val="FFFFFF"/>
                    </a:solidFill>
                  </a:tcPr>
                </a:tc>
              </a:tr>
              <a:tr h="827024">
                <a:tc>
                  <a:txBody>
                    <a:bodyPr wrap="square" rtlCol="0" anchor="ctr"/>
                    <a:lstStyle/>
                    <a:p>
                      <a:pPr algn="l">
                        <a:lnSpc>
                          <a:spcPct val="130000"/>
                        </a:lnSpc>
                      </a:pPr>
                      <a:r>
                        <a:rPr lang="en-US" sz="900" noProof="1" b="1">
                          <a:solidFill>
                            <a:srgbClr val="1A2433"/>
                          </a:solidFill>
                          <a:latin typeface="Liter"/>
                          <a:ea typeface="Liter"/>
                        </a:rPr>
                        <a:t>DigitalOcean</a:t>
                      </a:r>
                    </a:p>
                  </a:txBody>
                  <a:tcPr marL="91440" marR="91440" marT="45720" marB="45720" anchor="ctr">
                    <a:lnL>
                      <a:noFill/>
                    </a:lnL>
                    <a:lnR>
                      <a:noFill/>
                    </a:lnR>
                    <a:lnT>
                      <a:noFill/>
                    </a:lnT>
                    <a:lnB w="9525">
                      <a:solidFill>
                        <a:srgbClr val="DCE3EB"/>
                      </a:solidFill>
                    </a:lnB>
                    <a:solidFill>
                      <a:srgbClr val="F4F7FA"/>
                    </a:solidFill>
                  </a:tcPr>
                </a:tc>
                <a:tc>
                  <a:txBody>
                    <a:bodyPr wrap="square" rtlCol="0" anchor="ctr"/>
                    <a:lstStyle/>
                    <a:p>
                      <a:pPr algn="l">
                        <a:lnSpc>
                          <a:spcPct val="130000"/>
                        </a:lnSpc>
                      </a:pPr>
                      <a:r>
                        <a:rPr lang="en-US" sz="900" noProof="1">
                          <a:solidFill>
                            <a:srgbClr val="1A2433"/>
                          </a:solidFill>
                          <a:latin typeface="Liter"/>
                          <a:ea typeface="Liter"/>
                        </a:rPr>
                        <a:t>Traversal's causal-search RCA investigates incidents across its fleet; 36,000 engineering hours a year reported saved</a:t>
                      </a:r>
                    </a:p>
                  </a:txBody>
                  <a:tcPr marL="91440" marR="91440" marT="45720" marB="45720" anchor="ctr">
                    <a:lnL>
                      <a:noFill/>
                    </a:lnL>
                    <a:lnR>
                      <a:noFill/>
                    </a:lnR>
                    <a:lnT>
                      <a:noFill/>
                    </a:lnT>
                    <a:lnB w="9525">
                      <a:solidFill>
                        <a:srgbClr val="DCE3EB"/>
                      </a:solidFill>
                    </a:lnB>
                    <a:solidFill>
                      <a:srgbClr val="F4F7FA"/>
                    </a:solidFill>
                  </a:tcPr>
                </a:tc>
                <a:tc>
                  <a:txBody>
                    <a:bodyPr wrap="square" rtlCol="0" anchor="ctr"/>
                    <a:lstStyle/>
                    <a:p>
                      <a:pPr algn="l">
                        <a:lnSpc>
                          <a:spcPct val="130000"/>
                        </a:lnSpc>
                      </a:pPr>
                      <a:r>
                        <a:rPr lang="en-US" sz="900" noProof="1">
                          <a:solidFill>
                            <a:srgbClr val="1A2433"/>
                          </a:solidFill>
                          <a:latin typeface="Liter"/>
                          <a:ea typeface="Liter"/>
                        </a:rPr>
                        <a:t>Investigation only — findings go to a human for action</a:t>
                      </a:r>
                    </a:p>
                  </a:txBody>
                  <a:tcPr marL="91440" marR="91440" marT="45720" marB="45720" anchor="ctr">
                    <a:lnL>
                      <a:noFill/>
                    </a:lnL>
                    <a:lnR>
                      <a:noFill/>
                    </a:lnR>
                    <a:lnT>
                      <a:noFill/>
                    </a:lnT>
                    <a:lnB w="9525">
                      <a:solidFill>
                        <a:srgbClr val="DCE3EB"/>
                      </a:solidFill>
                    </a:lnB>
                    <a:solidFill>
                      <a:srgbClr val="F4F7FA"/>
                    </a:solidFill>
                  </a:tcPr>
                </a:tc>
              </a:tr>
              <a:tr h="827024">
                <a:tc>
                  <a:txBody>
                    <a:bodyPr wrap="square" rtlCol="0" anchor="ctr"/>
                    <a:lstStyle/>
                    <a:p>
                      <a:pPr algn="l">
                        <a:lnSpc>
                          <a:spcPct val="130000"/>
                        </a:lnSpc>
                      </a:pPr>
                      <a:r>
                        <a:rPr lang="en-US" sz="900" noProof="1" b="1">
                          <a:solidFill>
                            <a:srgbClr val="1A2433"/>
                          </a:solidFill>
                          <a:latin typeface="Liter"/>
                          <a:ea typeface="Liter"/>
                        </a:rPr>
                        <a:t>Netflix, Etsy and 600+ companies</a:t>
                      </a:r>
                    </a:p>
                  </a:txBody>
                  <a:tcPr marL="91440" marR="91440" marT="45720" marB="45720" anchor="ctr">
                    <a:lnL>
                      <a:noFill/>
                    </a:lnL>
                    <a:lnR>
                      <a:noFill/>
                    </a:lnR>
                    <a:lnT>
                      <a:noFill/>
                    </a:lnT>
                    <a:lnB w="9525">
                      <a:solidFill>
                        <a:srgbClr val="DCE3EB"/>
                      </a:solidFill>
                    </a:lnB>
                    <a:solidFill>
                      <a:srgbClr val="FFFFFF"/>
                    </a:solidFill>
                  </a:tcPr>
                </a:tc>
                <a:tc>
                  <a:txBody>
                    <a:bodyPr wrap="square" rtlCol="0" anchor="ctr"/>
                    <a:lstStyle/>
                    <a:p>
                      <a:pPr algn="l">
                        <a:lnSpc>
                          <a:spcPct val="130000"/>
                        </a:lnSpc>
                      </a:pPr>
                      <a:r>
                        <a:rPr lang="en-US" sz="900" noProof="1">
                          <a:solidFill>
                            <a:srgbClr val="1A2433"/>
                          </a:solidFill>
                          <a:latin typeface="Liter"/>
                          <a:ea typeface="Liter"/>
                        </a:rPr>
                        <a:t>incident.io's AI SRE triages alerts, investigates in Slack and drafts postmortems</a:t>
                      </a:r>
                    </a:p>
                  </a:txBody>
                  <a:tcPr marL="91440" marR="91440" marT="45720" marB="45720" anchor="ctr">
                    <a:lnL>
                      <a:noFill/>
                    </a:lnL>
                    <a:lnR>
                      <a:noFill/>
                    </a:lnR>
                    <a:lnT>
                      <a:noFill/>
                    </a:lnT>
                    <a:lnB w="9525">
                      <a:solidFill>
                        <a:srgbClr val="DCE3EB"/>
                      </a:solidFill>
                    </a:lnB>
                    <a:solidFill>
                      <a:srgbClr val="FFFFFF"/>
                    </a:solidFill>
                  </a:tcPr>
                </a:tc>
                <a:tc>
                  <a:txBody>
                    <a:bodyPr wrap="square" rtlCol="0" anchor="ctr"/>
                    <a:lstStyle/>
                    <a:p>
                      <a:pPr algn="l">
                        <a:lnSpc>
                          <a:spcPct val="130000"/>
                        </a:lnSpc>
                      </a:pPr>
                      <a:r>
                        <a:rPr lang="en-US" sz="900" noProof="1">
                          <a:solidFill>
                            <a:srgbClr val="1A2433"/>
                          </a:solidFill>
                          <a:latin typeface="Liter"/>
                          <a:ea typeface="Liter"/>
                        </a:rPr>
                        <a:t>Paging, severity and customer-communication calls</a:t>
                      </a:r>
                    </a:p>
                  </a:txBody>
                  <a:tcPr marL="91440" marR="91440" marT="45720" marB="45720" anchor="ctr">
                    <a:lnL>
                      <a:noFill/>
                    </a:lnL>
                    <a:lnR>
                      <a:noFill/>
                    </a:lnR>
                    <a:lnT>
                      <a:noFill/>
                    </a:lnT>
                    <a:lnB w="9525">
                      <a:solidFill>
                        <a:srgbClr val="DCE3EB"/>
                      </a:solidFill>
                    </a:lnB>
                    <a:solidFill>
                      <a:srgbClr val="FFFFFF"/>
                    </a:solidFill>
                  </a:tcPr>
                </a:tc>
              </a:tr>
              <a:tr h="827024">
                <a:tc>
                  <a:txBody>
                    <a:bodyPr wrap="square" rtlCol="0" anchor="ctr"/>
                    <a:lstStyle/>
                    <a:p>
                      <a:pPr algn="l">
                        <a:lnSpc>
                          <a:spcPct val="130000"/>
                        </a:lnSpc>
                      </a:pPr>
                      <a:r>
                        <a:rPr lang="en-US" sz="900" noProof="1" b="1">
                          <a:solidFill>
                            <a:srgbClr val="1A2433"/>
                          </a:solidFill>
                          <a:latin typeface="Liter"/>
                          <a:ea typeface="Liter"/>
                        </a:rPr>
                        <a:t>Intel, Cisco, United, Marriott</a:t>
                      </a:r>
                    </a:p>
                  </a:txBody>
                  <a:tcPr marL="91440" marR="91440" marT="45720" marB="45720" anchor="ctr">
                    <a:lnL>
                      <a:noFill/>
                    </a:lnL>
                    <a:lnR>
                      <a:noFill/>
                    </a:lnR>
                    <a:lnT>
                      <a:noFill/>
                    </a:lnT>
                    <a:lnB w="9525">
                      <a:solidFill>
                        <a:srgbClr val="DCE3EB"/>
                      </a:solidFill>
                    </a:lnB>
                    <a:solidFill>
                      <a:srgbClr val="F4F7FA"/>
                    </a:solidFill>
                  </a:tcPr>
                </a:tc>
                <a:tc>
                  <a:txBody>
                    <a:bodyPr wrap="square" rtlCol="0" anchor="ctr"/>
                    <a:lstStyle/>
                    <a:p>
                      <a:pPr algn="l">
                        <a:lnSpc>
                          <a:spcPct val="130000"/>
                        </a:lnSpc>
                      </a:pPr>
                      <a:r>
                        <a:rPr lang="en-US" sz="900" noProof="1">
                          <a:solidFill>
                            <a:srgbClr val="1A2433"/>
                          </a:solidFill>
                          <a:latin typeface="Liter"/>
                          <a:ea typeface="Liter"/>
                        </a:rPr>
                        <a:t>BigPanda correlates alert floods into grouped incidents for Fortune 500 IT operations</a:t>
                      </a:r>
                    </a:p>
                  </a:txBody>
                  <a:tcPr marL="91440" marR="91440" marT="45720" marB="45720" anchor="ctr">
                    <a:lnL>
                      <a:noFill/>
                    </a:lnL>
                    <a:lnR>
                      <a:noFill/>
                    </a:lnR>
                    <a:lnT>
                      <a:noFill/>
                    </a:lnT>
                    <a:lnB w="9525">
                      <a:solidFill>
                        <a:srgbClr val="DCE3EB"/>
                      </a:solidFill>
                    </a:lnB>
                    <a:solidFill>
                      <a:srgbClr val="F4F7FA"/>
                    </a:solidFill>
                  </a:tcPr>
                </a:tc>
                <a:tc>
                  <a:txBody>
                    <a:bodyPr wrap="square" rtlCol="0" anchor="ctr"/>
                    <a:lstStyle/>
                    <a:p>
                      <a:pPr algn="l">
                        <a:lnSpc>
                          <a:spcPct val="130000"/>
                        </a:lnSpc>
                      </a:pPr>
                      <a:r>
                        <a:rPr lang="en-US" sz="900" noProof="1">
                          <a:solidFill>
                            <a:srgbClr val="1A2433"/>
                          </a:solidFill>
                          <a:latin typeface="Liter"/>
                          <a:ea typeface="Liter"/>
                        </a:rPr>
                        <a:t>What each incident means, how bad it is, and what to do about it</a:t>
                      </a:r>
                    </a:p>
                  </a:txBody>
                  <a:tcPr marL="91440" marR="91440" marT="45720" marB="45720" anchor="ctr">
                    <a:lnL>
                      <a:noFill/>
                    </a:lnL>
                    <a:lnR>
                      <a:noFill/>
                    </a:lnR>
                    <a:lnT>
                      <a:noFill/>
                    </a:lnT>
                    <a:lnB w="9525">
                      <a:solidFill>
                        <a:srgbClr val="DCE3EB"/>
                      </a:solidFill>
                    </a:lnB>
                    <a:solidFill>
                      <a:srgbClr val="F4F7FA"/>
                    </a:solidFill>
                  </a:tcPr>
                </a:tc>
              </a:tr>
            </a:tbl>
          </a:graphicData>
        </a:graphic>
      </p:graphicFrame>
      <p:sp>
        <p:nvSpPr>
          <p:cNvPr id="6" name="pattern-rule"/>
          <p:cNvSpPr/>
          <p:nvPr/>
        </p:nvSpPr>
        <p:spPr>
          <a:xfrm>
            <a:off x="711200" y="5562600"/>
            <a:ext cx="10769600" cy="9525"/>
          </a:xfrm>
          <a:prstGeom prst="rect">
            <a:avLst/>
          </a:prstGeom>
          <a:solidFill>
            <a:srgbClr val="DCE3EB"/>
          </a:solidFill>
          <a:ln>
            <a:noFill/>
          </a:ln>
        </p:spPr>
      </p:sp>
      <p:sp>
        <p:nvSpPr>
          <p:cNvPr id="7" name="pattern"/>
          <p:cNvSpPr txBox="1"/>
          <p:nvPr/>
        </p:nvSpPr>
        <p:spPr>
          <a:xfrm>
            <a:off x="711200" y="5715000"/>
            <a:ext cx="10769600" cy="558800"/>
          </a:xfrm>
          <a:prstGeom prst="rect">
            <a:avLst/>
          </a:prstGeom>
          <a:noFill/>
          <a:ln>
            <a:noFill/>
          </a:ln>
        </p:spPr>
        <p:txBody>
          <a:bodyPr lIns="0" rIns="0" tIns="0" bIns="0" wrap="square" rtlCol="0"/>
          <a:lstStyle/>
          <a:p>
            <a:pPr>
              <a:lnSpc>
                <a:spcPct val="145000"/>
              </a:lnSpc>
            </a:pPr>
            <a:r>
              <a:rPr lang="en-US" sz="1050" noProof="1" b="1">
                <a:solidFill>
                  <a:srgbClr val="16365C"/>
                </a:solidFill>
                <a:latin typeface="Liter"/>
                <a:ea typeface="Liter"/>
              </a:rPr>
              <a:t>The pattern is consistent:</a:t>
            </a:r>
            <a:r>
              <a:rPr lang="en-US" sz="1050" noProof="1">
                <a:solidFill>
                  <a:srgbClr val="1A2433"/>
                </a:solidFill>
                <a:latin typeface="Liter"/>
                <a:ea typeface="Liter"/>
              </a:rPr>
              <a:t> investigation, correlation and drafting are handed to AI. Where a decision carries accountability — severity, paging, executing a fix — a person still makes it. That decision layer is the opportunity.</a:t>
            </a:r>
            <a:endParaRPr lang="en-US" sz="1050" noProof="1"/>
          </a:p>
        </p:txBody>
      </p:sp>
      <p:sp>
        <p:nvSpPr>
          <p:cNvPr id="8" name="footline"/>
          <p:cNvSpPr/>
          <p:nvPr/>
        </p:nvSpPr>
        <p:spPr>
          <a:xfrm>
            <a:off x="711200" y="6477000"/>
            <a:ext cx="10769600" cy="9525"/>
          </a:xfrm>
          <a:prstGeom prst="rect">
            <a:avLst/>
          </a:prstGeom>
          <a:solidFill>
            <a:srgbClr val="DCE3EB"/>
          </a:solidFill>
          <a:ln>
            <a:noFill/>
          </a:ln>
        </p:spPr>
      </p:sp>
      <p:sp>
        <p:nvSpPr>
          <p:cNvPr id="9"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Microsoft Azure SRE Agent GA coverage (March 2026); Traversal / DigitalOcean case coverage; incident.io customer reporting; BigPanda press materials (Fortune 500 deployments). Middle column vendor-reported; right column Judgement.</a:t>
            </a:r>
            <a:endParaRPr lang="en-US" sz="750" noProof="1"/>
          </a:p>
        </p:txBody>
      </p:sp>
      <p:sp>
        <p:nvSpPr>
          <p:cNvPr id="10"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4</a:t>
            </a:r>
            <a:endParaRPr lang="en-US" sz="800" noProof="1"/>
          </a:p>
        </p:txBody>
      </p:sp>
    </p:spTree>
  </p:cSld>
  <p:clrMapOvr>
    <a:masterClrMapping/>
  </p:clrMapOvr>
</p:sld>
</file>

<file path=ppt/slides/slide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GAP</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Across a modern IT estate, detection and execution are automated — the decisions between them are not</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intro"/>
          <p:cNvSpPr txBox="1"/>
          <p:nvPr/>
        </p:nvSpPr>
        <p:spPr>
          <a:xfrm>
            <a:off x="711200" y="1473200"/>
            <a:ext cx="10769600" cy="381000"/>
          </a:xfrm>
          <a:prstGeom prst="rect">
            <a:avLst/>
          </a:prstGeom>
          <a:noFill/>
          <a:ln>
            <a:noFill/>
          </a:ln>
        </p:spPr>
        <p:txBody>
          <a:bodyPr lIns="0" rIns="0" tIns="0" bIns="0" wrap="square" rtlCol="0"/>
          <a:lstStyle/>
          <a:p>
            <a:pPr>
              <a:lnSpc>
                <a:spcPct val="135000"/>
              </a:lnSpc>
            </a:pPr>
            <a:r>
              <a:rPr lang="en-US" sz="900" noProof="1">
                <a:solidFill>
                  <a:srgbClr val="5B6472"/>
                </a:solidFill>
                <a:latin typeface="Liter"/>
                <a:ea typeface="Liter"/>
              </a:rPr>
              <a:t>ZeroOps is the aim of running routine incidents with no manual work: detected, triaged and resolved automatically, with people focused on the novel and the risky. A typical IT estate looks like this:</a:t>
            </a:r>
            <a:endParaRPr lang="en-US" sz="900" noProof="1"/>
          </a:p>
        </p:txBody>
      </p:sp>
      <p:sp>
        <p:nvSpPr>
          <p:cNvPr id="6" name="st1-bar"/>
          <p:cNvSpPr/>
          <p:nvPr/>
        </p:nvSpPr>
        <p:spPr>
          <a:xfrm>
            <a:off x="711200" y="1981200"/>
            <a:ext cx="2032000" cy="31750"/>
          </a:xfrm>
          <a:prstGeom prst="rect">
            <a:avLst/>
          </a:prstGeom>
          <a:solidFill>
            <a:srgbClr val="16365C"/>
          </a:solidFill>
          <a:ln>
            <a:noFill/>
          </a:ln>
        </p:spPr>
      </p:sp>
      <p:sp>
        <p:nvSpPr>
          <p:cNvPr id="7" name="st1-name"/>
          <p:cNvSpPr txBox="1"/>
          <p:nvPr/>
        </p:nvSpPr>
        <p:spPr>
          <a:xfrm>
            <a:off x="711200" y="2082800"/>
            <a:ext cx="2032000" cy="203200"/>
          </a:xfrm>
          <a:prstGeom prst="rect">
            <a:avLst/>
          </a:prstGeom>
          <a:noFill/>
          <a:ln>
            <a:noFill/>
          </a:ln>
        </p:spPr>
        <p:txBody>
          <a:bodyPr lIns="0" rIns="0" tIns="0" bIns="0" wrap="none" rtlCol="0"/>
          <a:lstStyle/>
          <a:p>
            <a:pPr>
              <a:lnSpc>
                <a:spcPct val="120000"/>
              </a:lnSpc>
            </a:pPr>
            <a:r>
              <a:rPr lang="en-US" sz="1150" noProof="1" b="1">
                <a:solidFill>
                  <a:srgbClr val="1A2433"/>
                </a:solidFill>
                <a:latin typeface="Liter"/>
                <a:ea typeface="Liter"/>
              </a:rPr>
              <a:t>Detect</a:t>
            </a:r>
            <a:endParaRPr lang="en-US" sz="1150" noProof="1"/>
          </a:p>
        </p:txBody>
      </p:sp>
      <p:sp>
        <p:nvSpPr>
          <p:cNvPr id="8" name="st1-tools"/>
          <p:cNvSpPr txBox="1"/>
          <p:nvPr/>
        </p:nvSpPr>
        <p:spPr>
          <a:xfrm>
            <a:off x="711200" y="2311400"/>
            <a:ext cx="2032000" cy="381000"/>
          </a:xfrm>
          <a:prstGeom prst="rect">
            <a:avLst/>
          </a:prstGeom>
          <a:noFill/>
          <a:ln>
            <a:noFill/>
          </a:ln>
        </p:spPr>
        <p:txBody>
          <a:bodyPr lIns="0" rIns="0" tIns="0" bIns="0" wrap="square" rtlCol="0"/>
          <a:lstStyle/>
          <a:p>
            <a:pPr>
              <a:lnSpc>
                <a:spcPct val="135000"/>
              </a:lnSpc>
            </a:pPr>
            <a:r>
              <a:rPr lang="en-US" sz="850" noProof="1">
                <a:solidFill>
                  <a:srgbClr val="5B6472"/>
                </a:solidFill>
                <a:latin typeface="Liter"/>
                <a:ea typeface="Liter"/>
              </a:rPr>
              <a:t>Datadog · Dynatrace · Splunk</a:t>
            </a:r>
            <a:endParaRPr lang="en-US" sz="850" noProof="1"/>
          </a:p>
        </p:txBody>
      </p:sp>
      <p:sp>
        <p:nvSpPr>
          <p:cNvPr id="9" name="st1-status"/>
          <p:cNvSpPr txBox="1"/>
          <p:nvPr/>
        </p:nvSpPr>
        <p:spPr>
          <a:xfrm>
            <a:off x="711200" y="2743200"/>
            <a:ext cx="2032000" cy="177800"/>
          </a:xfrm>
          <a:prstGeom prst="rect">
            <a:avLst/>
          </a:prstGeom>
          <a:noFill/>
          <a:ln>
            <a:noFill/>
          </a:ln>
        </p:spPr>
        <p:txBody>
          <a:bodyPr lIns="0" rIns="0" tIns="0" bIns="0" wrap="none" rtlCol="0"/>
          <a:lstStyle/>
          <a:p>
            <a:pPr>
              <a:lnSpc>
                <a:spcPct val="120000"/>
              </a:lnSpc>
            </a:pPr>
            <a:r>
              <a:rPr lang="en-US" sz="850" noProof="1" b="1">
                <a:solidFill>
                  <a:srgbClr val="16365C"/>
                </a:solidFill>
                <a:latin typeface="Liter"/>
                <a:ea typeface="Liter"/>
              </a:rPr>
              <a:t>Largely automated</a:t>
            </a:r>
            <a:endParaRPr lang="en-US" sz="850" noProof="1"/>
          </a:p>
        </p:txBody>
      </p:sp>
      <p:sp>
        <p:nvSpPr>
          <p:cNvPr id="10" name="st2-bar"/>
          <p:cNvSpPr/>
          <p:nvPr/>
        </p:nvSpPr>
        <p:spPr>
          <a:xfrm>
            <a:off x="2895600" y="1981200"/>
            <a:ext cx="2032000" cy="31750"/>
          </a:xfrm>
          <a:prstGeom prst="rect">
            <a:avLst/>
          </a:prstGeom>
          <a:solidFill>
            <a:srgbClr val="16365C"/>
          </a:solidFill>
          <a:ln>
            <a:noFill/>
          </a:ln>
        </p:spPr>
      </p:sp>
      <p:sp>
        <p:nvSpPr>
          <p:cNvPr id="11" name="st2-name"/>
          <p:cNvSpPr txBox="1"/>
          <p:nvPr/>
        </p:nvSpPr>
        <p:spPr>
          <a:xfrm>
            <a:off x="2895600" y="2082800"/>
            <a:ext cx="2032000" cy="203200"/>
          </a:xfrm>
          <a:prstGeom prst="rect">
            <a:avLst/>
          </a:prstGeom>
          <a:noFill/>
          <a:ln>
            <a:noFill/>
          </a:ln>
        </p:spPr>
        <p:txBody>
          <a:bodyPr lIns="0" rIns="0" tIns="0" bIns="0" wrap="none" rtlCol="0"/>
          <a:lstStyle/>
          <a:p>
            <a:pPr>
              <a:lnSpc>
                <a:spcPct val="120000"/>
              </a:lnSpc>
            </a:pPr>
            <a:r>
              <a:rPr lang="en-US" sz="1150" noProof="1" b="1">
                <a:solidFill>
                  <a:srgbClr val="1A2433"/>
                </a:solidFill>
                <a:latin typeface="Liter"/>
                <a:ea typeface="Liter"/>
              </a:rPr>
              <a:t>Correlate</a:t>
            </a:r>
            <a:endParaRPr lang="en-US" sz="1150" noProof="1"/>
          </a:p>
        </p:txBody>
      </p:sp>
      <p:sp>
        <p:nvSpPr>
          <p:cNvPr id="12" name="st2-tools"/>
          <p:cNvSpPr txBox="1"/>
          <p:nvPr/>
        </p:nvSpPr>
        <p:spPr>
          <a:xfrm>
            <a:off x="2895600" y="2311400"/>
            <a:ext cx="2032000" cy="381000"/>
          </a:xfrm>
          <a:prstGeom prst="rect">
            <a:avLst/>
          </a:prstGeom>
          <a:noFill/>
          <a:ln>
            <a:noFill/>
          </a:ln>
        </p:spPr>
        <p:txBody>
          <a:bodyPr lIns="0" rIns="0" tIns="0" bIns="0" wrap="square" rtlCol="0"/>
          <a:lstStyle/>
          <a:p>
            <a:pPr>
              <a:lnSpc>
                <a:spcPct val="135000"/>
              </a:lnSpc>
            </a:pPr>
            <a:r>
              <a:rPr lang="en-US" sz="850" noProof="1">
                <a:solidFill>
                  <a:srgbClr val="5B6472"/>
                </a:solidFill>
                <a:latin typeface="Liter"/>
                <a:ea typeface="Liter"/>
              </a:rPr>
              <a:t>ServiceNow Event Mgmt · BigPanda</a:t>
            </a:r>
            <a:endParaRPr lang="en-US" sz="850" noProof="1"/>
          </a:p>
        </p:txBody>
      </p:sp>
      <p:sp>
        <p:nvSpPr>
          <p:cNvPr id="13" name="st2-status"/>
          <p:cNvSpPr txBox="1"/>
          <p:nvPr/>
        </p:nvSpPr>
        <p:spPr>
          <a:xfrm>
            <a:off x="2895600" y="2743200"/>
            <a:ext cx="2032000" cy="177800"/>
          </a:xfrm>
          <a:prstGeom prst="rect">
            <a:avLst/>
          </a:prstGeom>
          <a:noFill/>
          <a:ln>
            <a:noFill/>
          </a:ln>
        </p:spPr>
        <p:txBody>
          <a:bodyPr lIns="0" rIns="0" tIns="0" bIns="0" wrap="none" rtlCol="0"/>
          <a:lstStyle/>
          <a:p>
            <a:pPr>
              <a:lnSpc>
                <a:spcPct val="120000"/>
              </a:lnSpc>
            </a:pPr>
            <a:r>
              <a:rPr lang="en-US" sz="850" noProof="1" b="1">
                <a:solidFill>
                  <a:srgbClr val="16365C"/>
                </a:solidFill>
                <a:latin typeface="Liter"/>
                <a:ea typeface="Liter"/>
              </a:rPr>
              <a:t>Mostly automated</a:t>
            </a:r>
            <a:endParaRPr lang="en-US" sz="850" noProof="1"/>
          </a:p>
        </p:txBody>
      </p:sp>
      <p:sp>
        <p:nvSpPr>
          <p:cNvPr id="14" name="st3-bar"/>
          <p:cNvSpPr/>
          <p:nvPr/>
        </p:nvSpPr>
        <p:spPr>
          <a:xfrm>
            <a:off x="5080000" y="1981200"/>
            <a:ext cx="2032000" cy="31750"/>
          </a:xfrm>
          <a:prstGeom prst="rect">
            <a:avLst/>
          </a:prstGeom>
          <a:solidFill>
            <a:srgbClr val="B97A10"/>
          </a:solidFill>
          <a:ln>
            <a:noFill/>
          </a:ln>
        </p:spPr>
      </p:sp>
      <p:sp>
        <p:nvSpPr>
          <p:cNvPr id="15" name="st3-name"/>
          <p:cNvSpPr txBox="1"/>
          <p:nvPr/>
        </p:nvSpPr>
        <p:spPr>
          <a:xfrm>
            <a:off x="5080000" y="2082800"/>
            <a:ext cx="2032000" cy="203200"/>
          </a:xfrm>
          <a:prstGeom prst="rect">
            <a:avLst/>
          </a:prstGeom>
          <a:noFill/>
          <a:ln>
            <a:noFill/>
          </a:ln>
        </p:spPr>
        <p:txBody>
          <a:bodyPr lIns="0" rIns="0" tIns="0" bIns="0" wrap="none" rtlCol="0"/>
          <a:lstStyle/>
          <a:p>
            <a:pPr>
              <a:lnSpc>
                <a:spcPct val="120000"/>
              </a:lnSpc>
            </a:pPr>
            <a:r>
              <a:rPr lang="en-US" sz="1150" noProof="1" b="1">
                <a:solidFill>
                  <a:srgbClr val="B97A10"/>
                </a:solidFill>
                <a:latin typeface="Liter"/>
                <a:ea typeface="Liter"/>
              </a:rPr>
              <a:t>Decide</a:t>
            </a:r>
            <a:endParaRPr lang="en-US" sz="1150" noProof="1"/>
          </a:p>
        </p:txBody>
      </p:sp>
      <p:sp>
        <p:nvSpPr>
          <p:cNvPr id="16" name="st3-tools"/>
          <p:cNvSpPr txBox="1"/>
          <p:nvPr/>
        </p:nvSpPr>
        <p:spPr>
          <a:xfrm>
            <a:off x="5080000" y="2311400"/>
            <a:ext cx="2032000" cy="381000"/>
          </a:xfrm>
          <a:prstGeom prst="rect">
            <a:avLst/>
          </a:prstGeom>
          <a:noFill/>
          <a:ln>
            <a:noFill/>
          </a:ln>
        </p:spPr>
        <p:txBody>
          <a:bodyPr lIns="0" rIns="0" tIns="0" bIns="0" wrap="square" rtlCol="0"/>
          <a:lstStyle/>
          <a:p>
            <a:pPr>
              <a:lnSpc>
                <a:spcPct val="135000"/>
              </a:lnSpc>
            </a:pPr>
            <a:r>
              <a:rPr lang="en-US" sz="850" noProof="1">
                <a:solidFill>
                  <a:srgbClr val="5B6472"/>
                </a:solidFill>
                <a:latin typeface="Liter"/>
                <a:ea typeface="Liter"/>
              </a:rPr>
              <a:t>Routing rules · the on-call engineer</a:t>
            </a:r>
            <a:endParaRPr lang="en-US" sz="850" noProof="1"/>
          </a:p>
        </p:txBody>
      </p:sp>
      <p:sp>
        <p:nvSpPr>
          <p:cNvPr id="17" name="st3-status"/>
          <p:cNvSpPr txBox="1"/>
          <p:nvPr/>
        </p:nvSpPr>
        <p:spPr>
          <a:xfrm>
            <a:off x="5080000" y="2743200"/>
            <a:ext cx="2032000" cy="177800"/>
          </a:xfrm>
          <a:prstGeom prst="rect">
            <a:avLst/>
          </a:prstGeom>
          <a:noFill/>
          <a:ln>
            <a:noFill/>
          </a:ln>
        </p:spPr>
        <p:txBody>
          <a:bodyPr lIns="0" rIns="0" tIns="0" bIns="0" wrap="none" rtlCol="0"/>
          <a:lstStyle/>
          <a:p>
            <a:pPr>
              <a:lnSpc>
                <a:spcPct val="120000"/>
              </a:lnSpc>
            </a:pPr>
            <a:r>
              <a:rPr lang="en-US" sz="850" noProof="1" b="1">
                <a:solidFill>
                  <a:srgbClr val="B97A10"/>
                </a:solidFill>
                <a:latin typeface="Liter"/>
                <a:ea typeface="Liter"/>
              </a:rPr>
              <a:t>Rules and people</a:t>
            </a:r>
            <a:endParaRPr lang="en-US" sz="850" noProof="1"/>
          </a:p>
        </p:txBody>
      </p:sp>
      <p:sp>
        <p:nvSpPr>
          <p:cNvPr id="18" name="st4-bar"/>
          <p:cNvSpPr/>
          <p:nvPr/>
        </p:nvSpPr>
        <p:spPr>
          <a:xfrm>
            <a:off x="7264400" y="1981200"/>
            <a:ext cx="2032000" cy="31750"/>
          </a:xfrm>
          <a:prstGeom prst="rect">
            <a:avLst/>
          </a:prstGeom>
          <a:solidFill>
            <a:srgbClr val="16365C"/>
          </a:solidFill>
          <a:ln>
            <a:noFill/>
          </a:ln>
        </p:spPr>
      </p:sp>
      <p:sp>
        <p:nvSpPr>
          <p:cNvPr id="19" name="st4-name"/>
          <p:cNvSpPr txBox="1"/>
          <p:nvPr/>
        </p:nvSpPr>
        <p:spPr>
          <a:xfrm>
            <a:off x="7264400" y="2082800"/>
            <a:ext cx="2032000" cy="203200"/>
          </a:xfrm>
          <a:prstGeom prst="rect">
            <a:avLst/>
          </a:prstGeom>
          <a:noFill/>
          <a:ln>
            <a:noFill/>
          </a:ln>
        </p:spPr>
        <p:txBody>
          <a:bodyPr lIns="0" rIns="0" tIns="0" bIns="0" wrap="none" rtlCol="0"/>
          <a:lstStyle/>
          <a:p>
            <a:pPr>
              <a:lnSpc>
                <a:spcPct val="120000"/>
              </a:lnSpc>
            </a:pPr>
            <a:r>
              <a:rPr lang="en-US" sz="1150" noProof="1" b="1">
                <a:solidFill>
                  <a:srgbClr val="1A2433"/>
                </a:solidFill>
                <a:latin typeface="Liter"/>
                <a:ea typeface="Liter"/>
              </a:rPr>
              <a:t>Act</a:t>
            </a:r>
            <a:endParaRPr lang="en-US" sz="1150" noProof="1"/>
          </a:p>
        </p:txBody>
      </p:sp>
      <p:sp>
        <p:nvSpPr>
          <p:cNvPr id="20" name="st4-tools"/>
          <p:cNvSpPr txBox="1"/>
          <p:nvPr/>
        </p:nvSpPr>
        <p:spPr>
          <a:xfrm>
            <a:off x="7264400" y="2311400"/>
            <a:ext cx="2032000" cy="381000"/>
          </a:xfrm>
          <a:prstGeom prst="rect">
            <a:avLst/>
          </a:prstGeom>
          <a:noFill/>
          <a:ln>
            <a:noFill/>
          </a:ln>
        </p:spPr>
        <p:txBody>
          <a:bodyPr lIns="0" rIns="0" tIns="0" bIns="0" wrap="square" rtlCol="0"/>
          <a:lstStyle/>
          <a:p>
            <a:pPr>
              <a:lnSpc>
                <a:spcPct val="135000"/>
              </a:lnSpc>
            </a:pPr>
            <a:r>
              <a:rPr lang="en-US" sz="850" noProof="1">
                <a:solidFill>
                  <a:srgbClr val="5B6472"/>
                </a:solidFill>
                <a:latin typeface="Liter"/>
                <a:ea typeface="Liter"/>
              </a:rPr>
              <a:t>Rundeck · Ansible · Flow Designer</a:t>
            </a:r>
            <a:endParaRPr lang="en-US" sz="850" noProof="1"/>
          </a:p>
        </p:txBody>
      </p:sp>
      <p:sp>
        <p:nvSpPr>
          <p:cNvPr id="21" name="st4-status"/>
          <p:cNvSpPr txBox="1"/>
          <p:nvPr/>
        </p:nvSpPr>
        <p:spPr>
          <a:xfrm>
            <a:off x="7264400" y="2743200"/>
            <a:ext cx="2032000" cy="177800"/>
          </a:xfrm>
          <a:prstGeom prst="rect">
            <a:avLst/>
          </a:prstGeom>
          <a:noFill/>
          <a:ln>
            <a:noFill/>
          </a:ln>
        </p:spPr>
        <p:txBody>
          <a:bodyPr lIns="0" rIns="0" tIns="0" bIns="0" wrap="none" rtlCol="0"/>
          <a:lstStyle/>
          <a:p>
            <a:pPr>
              <a:lnSpc>
                <a:spcPct val="120000"/>
              </a:lnSpc>
            </a:pPr>
            <a:r>
              <a:rPr lang="en-US" sz="850" noProof="1" b="1">
                <a:solidFill>
                  <a:srgbClr val="16365C"/>
                </a:solidFill>
                <a:latin typeface="Liter"/>
                <a:ea typeface="Liter"/>
              </a:rPr>
              <a:t>Automated once decided</a:t>
            </a:r>
            <a:endParaRPr lang="en-US" sz="850" noProof="1"/>
          </a:p>
        </p:txBody>
      </p:sp>
      <p:sp>
        <p:nvSpPr>
          <p:cNvPr id="22" name="st5-bar"/>
          <p:cNvSpPr/>
          <p:nvPr/>
        </p:nvSpPr>
        <p:spPr>
          <a:xfrm>
            <a:off x="9448800" y="1981200"/>
            <a:ext cx="2032000" cy="31750"/>
          </a:xfrm>
          <a:prstGeom prst="rect">
            <a:avLst/>
          </a:prstGeom>
          <a:solidFill>
            <a:srgbClr val="16365C"/>
          </a:solidFill>
          <a:ln>
            <a:noFill/>
          </a:ln>
        </p:spPr>
      </p:sp>
      <p:sp>
        <p:nvSpPr>
          <p:cNvPr id="23" name="st5-name"/>
          <p:cNvSpPr txBox="1"/>
          <p:nvPr/>
        </p:nvSpPr>
        <p:spPr>
          <a:xfrm>
            <a:off x="9448800" y="2082800"/>
            <a:ext cx="2032000" cy="203200"/>
          </a:xfrm>
          <a:prstGeom prst="rect">
            <a:avLst/>
          </a:prstGeom>
          <a:noFill/>
          <a:ln>
            <a:noFill/>
          </a:ln>
        </p:spPr>
        <p:txBody>
          <a:bodyPr lIns="0" rIns="0" tIns="0" bIns="0" wrap="none" rtlCol="0"/>
          <a:lstStyle/>
          <a:p>
            <a:pPr>
              <a:lnSpc>
                <a:spcPct val="120000"/>
              </a:lnSpc>
            </a:pPr>
            <a:r>
              <a:rPr lang="en-US" sz="1150" noProof="1" b="1">
                <a:solidFill>
                  <a:srgbClr val="1A2433"/>
                </a:solidFill>
                <a:latin typeface="Liter"/>
                <a:ea typeface="Liter"/>
              </a:rPr>
              <a:t>Record</a:t>
            </a:r>
            <a:endParaRPr lang="en-US" sz="1150" noProof="1"/>
          </a:p>
        </p:txBody>
      </p:sp>
      <p:sp>
        <p:nvSpPr>
          <p:cNvPr id="24" name="st5-tools"/>
          <p:cNvSpPr txBox="1"/>
          <p:nvPr/>
        </p:nvSpPr>
        <p:spPr>
          <a:xfrm>
            <a:off x="9448800" y="2311400"/>
            <a:ext cx="2032000" cy="381000"/>
          </a:xfrm>
          <a:prstGeom prst="rect">
            <a:avLst/>
          </a:prstGeom>
          <a:noFill/>
          <a:ln>
            <a:noFill/>
          </a:ln>
        </p:spPr>
        <p:txBody>
          <a:bodyPr lIns="0" rIns="0" tIns="0" bIns="0" wrap="square" rtlCol="0"/>
          <a:lstStyle/>
          <a:p>
            <a:pPr>
              <a:lnSpc>
                <a:spcPct val="135000"/>
              </a:lnSpc>
            </a:pPr>
            <a:r>
              <a:rPr lang="en-US" sz="850" noProof="1">
                <a:solidFill>
                  <a:srgbClr val="5B6472"/>
                </a:solidFill>
                <a:latin typeface="Liter"/>
                <a:ea typeface="Liter"/>
              </a:rPr>
              <a:t>ServiceNow ITSM · CMDB</a:t>
            </a:r>
            <a:endParaRPr lang="en-US" sz="850" noProof="1"/>
          </a:p>
        </p:txBody>
      </p:sp>
      <p:sp>
        <p:nvSpPr>
          <p:cNvPr id="25" name="st5-status"/>
          <p:cNvSpPr txBox="1"/>
          <p:nvPr/>
        </p:nvSpPr>
        <p:spPr>
          <a:xfrm>
            <a:off x="9448800" y="2743200"/>
            <a:ext cx="2032000" cy="177800"/>
          </a:xfrm>
          <a:prstGeom prst="rect">
            <a:avLst/>
          </a:prstGeom>
          <a:noFill/>
          <a:ln>
            <a:noFill/>
          </a:ln>
        </p:spPr>
        <p:txBody>
          <a:bodyPr lIns="0" rIns="0" tIns="0" bIns="0" wrap="none" rtlCol="0"/>
          <a:lstStyle/>
          <a:p>
            <a:pPr>
              <a:lnSpc>
                <a:spcPct val="120000"/>
              </a:lnSpc>
            </a:pPr>
            <a:r>
              <a:rPr lang="en-US" sz="850" noProof="1" b="1">
                <a:solidFill>
                  <a:srgbClr val="16365C"/>
                </a:solidFill>
                <a:latin typeface="Liter"/>
                <a:ea typeface="Liter"/>
              </a:rPr>
              <a:t>Automated</a:t>
            </a:r>
            <a:endParaRPr lang="en-US" sz="850" noProof="1"/>
          </a:p>
        </p:txBody>
      </p:sp>
      <p:sp>
        <p:nvSpPr>
          <p:cNvPr id="26" name="mid-rule"/>
          <p:cNvSpPr/>
          <p:nvPr/>
        </p:nvSpPr>
        <p:spPr>
          <a:xfrm>
            <a:off x="711200" y="3149600"/>
            <a:ext cx="10769600" cy="9525"/>
          </a:xfrm>
          <a:prstGeom prst="rect">
            <a:avLst/>
          </a:prstGeom>
          <a:solidFill>
            <a:srgbClr val="DCE3EB"/>
          </a:solidFill>
          <a:ln>
            <a:noFill/>
          </a:ln>
        </p:spPr>
      </p:sp>
      <p:sp>
        <p:nvSpPr>
          <p:cNvPr id="27" name="calls-head"/>
          <p:cNvSpPr txBox="1"/>
          <p:nvPr/>
        </p:nvSpPr>
        <p:spPr>
          <a:xfrm>
            <a:off x="711200" y="3302000"/>
            <a:ext cx="6350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The judgment calls still made by hand</a:t>
            </a:r>
            <a:endParaRPr lang="en-US" sz="1100" noProof="1"/>
          </a:p>
        </p:txBody>
      </p:sp>
      <p:sp>
        <p:nvSpPr>
          <p:cNvPr id="28" name="c1-head"/>
          <p:cNvSpPr txBox="1"/>
          <p:nvPr/>
        </p:nvSpPr>
        <p:spPr>
          <a:xfrm>
            <a:off x="711200" y="3657600"/>
            <a:ext cx="2489200" cy="1905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Is it real?</a:t>
            </a:r>
            <a:endParaRPr lang="en-US" sz="1050" noProof="1"/>
          </a:p>
        </p:txBody>
      </p:sp>
      <p:sp>
        <p:nvSpPr>
          <p:cNvPr id="29" name="c1-body"/>
          <p:cNvSpPr txBox="1"/>
          <p:nvPr/>
        </p:nvSpPr>
        <p:spPr>
          <a:xfrm>
            <a:off x="711200" y="3886200"/>
            <a:ext cx="2489200" cy="558800"/>
          </a:xfrm>
          <a:prstGeom prst="rect">
            <a:avLst/>
          </a:prstGeom>
          <a:noFill/>
          <a:ln>
            <a:noFill/>
          </a:ln>
        </p:spPr>
        <p:txBody>
          <a:bodyPr lIns="0" rIns="0" tIns="0" bIns="0" wrap="square" rtlCol="0"/>
          <a:lstStyle/>
          <a:p>
            <a:pPr>
              <a:lnSpc>
                <a:spcPct val="135000"/>
              </a:lnSpc>
            </a:pPr>
            <a:r>
              <a:rPr lang="en-US" sz="900" noProof="1">
                <a:solidFill>
                  <a:srgbClr val="5B6472"/>
                </a:solidFill>
                <a:latin typeface="Liter"/>
                <a:ea typeface="Liter"/>
              </a:rPr>
              <a:t>Noise, planned work or a real incident</a:t>
            </a:r>
            <a:endParaRPr lang="en-US" sz="900" noProof="1"/>
          </a:p>
        </p:txBody>
      </p:sp>
      <p:sp>
        <p:nvSpPr>
          <p:cNvPr id="30" name="c2-head"/>
          <p:cNvSpPr txBox="1"/>
          <p:nvPr/>
        </p:nvSpPr>
        <p:spPr>
          <a:xfrm>
            <a:off x="3467100" y="3657600"/>
            <a:ext cx="2489200" cy="1905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Whose is it?</a:t>
            </a:r>
            <a:endParaRPr lang="en-US" sz="1050" noProof="1"/>
          </a:p>
        </p:txBody>
      </p:sp>
      <p:sp>
        <p:nvSpPr>
          <p:cNvPr id="31" name="c2-body"/>
          <p:cNvSpPr txBox="1"/>
          <p:nvPr/>
        </p:nvSpPr>
        <p:spPr>
          <a:xfrm>
            <a:off x="3467100" y="3886200"/>
            <a:ext cx="2489200" cy="558800"/>
          </a:xfrm>
          <a:prstGeom prst="rect">
            <a:avLst/>
          </a:prstGeom>
          <a:noFill/>
          <a:ln>
            <a:noFill/>
          </a:ln>
        </p:spPr>
        <p:txBody>
          <a:bodyPr lIns="0" rIns="0" tIns="0" bIns="0" wrap="square" rtlCol="0"/>
          <a:lstStyle/>
          <a:p>
            <a:pPr>
              <a:lnSpc>
                <a:spcPct val="135000"/>
              </a:lnSpc>
            </a:pPr>
            <a:r>
              <a:rPr lang="en-US" sz="900" noProof="1">
                <a:solidFill>
                  <a:srgbClr val="5B6472"/>
                </a:solidFill>
                <a:latin typeface="Liter"/>
                <a:ea typeface="Liter"/>
              </a:rPr>
              <a:t>Assignment group and routing</a:t>
            </a:r>
            <a:endParaRPr lang="en-US" sz="900" noProof="1"/>
          </a:p>
        </p:txBody>
      </p:sp>
      <p:sp>
        <p:nvSpPr>
          <p:cNvPr id="32" name="c3-head"/>
          <p:cNvSpPr txBox="1"/>
          <p:nvPr/>
        </p:nvSpPr>
        <p:spPr>
          <a:xfrm>
            <a:off x="6223000" y="3657600"/>
            <a:ext cx="2489200" cy="1905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How bad is it?</a:t>
            </a:r>
            <a:endParaRPr lang="en-US" sz="1050" noProof="1"/>
          </a:p>
        </p:txBody>
      </p:sp>
      <p:sp>
        <p:nvSpPr>
          <p:cNvPr id="33" name="c3-body"/>
          <p:cNvSpPr txBox="1"/>
          <p:nvPr/>
        </p:nvSpPr>
        <p:spPr>
          <a:xfrm>
            <a:off x="6223000" y="3886200"/>
            <a:ext cx="2489200" cy="558800"/>
          </a:xfrm>
          <a:prstGeom prst="rect">
            <a:avLst/>
          </a:prstGeom>
          <a:noFill/>
          <a:ln>
            <a:noFill/>
          </a:ln>
        </p:spPr>
        <p:txBody>
          <a:bodyPr lIns="0" rIns="0" tIns="0" bIns="0" wrap="square" rtlCol="0"/>
          <a:lstStyle/>
          <a:p>
            <a:pPr>
              <a:lnSpc>
                <a:spcPct val="135000"/>
              </a:lnSpc>
            </a:pPr>
            <a:r>
              <a:rPr lang="en-US" sz="900" noProof="1">
                <a:solidFill>
                  <a:srgbClr val="5B6472"/>
                </a:solidFill>
                <a:latin typeface="Liter"/>
                <a:ea typeface="Liter"/>
              </a:rPr>
              <a:t>Severity, major incident, who to wake</a:t>
            </a:r>
            <a:endParaRPr lang="en-US" sz="900" noProof="1"/>
          </a:p>
        </p:txBody>
      </p:sp>
      <p:sp>
        <p:nvSpPr>
          <p:cNvPr id="34" name="c4-head"/>
          <p:cNvSpPr txBox="1"/>
          <p:nvPr/>
        </p:nvSpPr>
        <p:spPr>
          <a:xfrm>
            <a:off x="8978900" y="3657600"/>
            <a:ext cx="2501900" cy="1905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Act or page?</a:t>
            </a:r>
            <a:endParaRPr lang="en-US" sz="1050" noProof="1"/>
          </a:p>
        </p:txBody>
      </p:sp>
      <p:sp>
        <p:nvSpPr>
          <p:cNvPr id="35" name="c4-body"/>
          <p:cNvSpPr txBox="1"/>
          <p:nvPr/>
        </p:nvSpPr>
        <p:spPr>
          <a:xfrm>
            <a:off x="8978900" y="3886200"/>
            <a:ext cx="2501900" cy="558800"/>
          </a:xfrm>
          <a:prstGeom prst="rect">
            <a:avLst/>
          </a:prstGeom>
          <a:noFill/>
          <a:ln>
            <a:noFill/>
          </a:ln>
        </p:spPr>
        <p:txBody>
          <a:bodyPr lIns="0" rIns="0" tIns="0" bIns="0" wrap="square" rtlCol="0"/>
          <a:lstStyle/>
          <a:p>
            <a:pPr>
              <a:lnSpc>
                <a:spcPct val="135000"/>
              </a:lnSpc>
            </a:pPr>
            <a:r>
              <a:rPr lang="en-US" sz="900" noProof="1">
                <a:solidFill>
                  <a:srgbClr val="5B6472"/>
                </a:solidFill>
                <a:latin typeface="Liter"/>
                <a:ea typeface="Liter"/>
              </a:rPr>
              <a:t>Run the fix, or call someone</a:t>
            </a:r>
            <a:endParaRPr lang="en-US" sz="900" noProof="1"/>
          </a:p>
        </p:txBody>
      </p:sp>
      <p:sp>
        <p:nvSpPr>
          <p:cNvPr id="36" name="calls-note"/>
          <p:cNvSpPr txBox="1"/>
          <p:nvPr/>
        </p:nvSpPr>
        <p:spPr>
          <a:xfrm>
            <a:off x="711200" y="4597400"/>
            <a:ext cx="10769600" cy="609600"/>
          </a:xfrm>
          <a:prstGeom prst="rect">
            <a:avLst/>
          </a:prstGeom>
          <a:noFill/>
          <a:ln>
            <a:noFill/>
          </a:ln>
        </p:spPr>
        <p:txBody>
          <a:bodyPr lIns="0" rIns="0" tIns="0" bIns="0" wrap="square" rtlCol="0"/>
          <a:lstStyle/>
          <a:p>
            <a:pPr>
              <a:lnSpc>
                <a:spcPct val="145000"/>
              </a:lnSpc>
            </a:pPr>
            <a:r>
              <a:rPr lang="en-US" sz="1000" noProof="1">
                <a:solidFill>
                  <a:srgbClr val="1A2433"/>
                </a:solidFill>
                <a:latin typeface="Liter"/>
                <a:ea typeface="Liter"/>
              </a:rPr>
              <a:t>These calls come up on every incident. When they are slow or wrong, the incident waits, goes to the wrong team, or a fix that is already scripted waits for someone to approve it. The names of the tools change from estate to estate; the four calls do not.</a:t>
            </a:r>
            <a:endParaRPr lang="en-US" sz="1000" noProof="1"/>
          </a:p>
        </p:txBody>
      </p:sp>
      <p:sp>
        <p:nvSpPr>
          <p:cNvPr id="37" name="note-bg"/>
          <p:cNvSpPr/>
          <p:nvPr/>
        </p:nvSpPr>
        <p:spPr>
          <a:xfrm>
            <a:off x="711200" y="5384800"/>
            <a:ext cx="10769600" cy="711200"/>
          </a:xfrm>
          <a:prstGeom prst="rect">
            <a:avLst/>
          </a:prstGeom>
          <a:solidFill>
            <a:srgbClr val="EDF2F8"/>
          </a:solidFill>
          <a:ln>
            <a:noFill/>
          </a:ln>
        </p:spPr>
      </p:sp>
      <p:sp>
        <p:nvSpPr>
          <p:cNvPr id="38" name="note-text"/>
          <p:cNvSpPr txBox="1"/>
          <p:nvPr/>
        </p:nvSpPr>
        <p:spPr>
          <a:xfrm>
            <a:off x="965200" y="5537200"/>
            <a:ext cx="10261600" cy="431800"/>
          </a:xfrm>
          <a:prstGeom prst="rect">
            <a:avLst/>
          </a:prstGeom>
          <a:noFill/>
          <a:ln>
            <a:noFill/>
          </a:ln>
        </p:spPr>
        <p:txBody>
          <a:bodyPr lIns="0" rIns="0" tIns="0" bIns="0" wrap="square" rtlCol="0"/>
          <a:lstStyle/>
          <a:p>
            <a:pPr>
              <a:lnSpc>
                <a:spcPct val="140000"/>
              </a:lnSpc>
            </a:pPr>
            <a:r>
              <a:rPr lang="en-US" sz="1000" noProof="1" b="1">
                <a:solidFill>
                  <a:srgbClr val="16365C"/>
                </a:solidFill>
                <a:latin typeface="Liter"/>
                <a:ea typeface="Liter"/>
              </a:rPr>
              <a:t>Where to start.</a:t>
            </a:r>
            <a:r>
              <a:rPr lang="en-US" sz="1000" noProof="1">
                <a:solidFill>
                  <a:srgbClr val="1A2433"/>
                </a:solidFill>
                <a:latin typeface="Liter"/>
                <a:ea typeface="Liter"/>
              </a:rPr>
              <a:t> Routing, triage and reversible fixes: text-heavy calls made many times a day, each with a short list of answers — exactly the shape a typed decision model is built for.</a:t>
            </a:r>
            <a:endParaRPr lang="en-US" sz="1000" noProof="1"/>
          </a:p>
        </p:txBody>
      </p:sp>
      <p:sp>
        <p:nvSpPr>
          <p:cNvPr id="39" name="footline"/>
          <p:cNvSpPr/>
          <p:nvPr/>
        </p:nvSpPr>
        <p:spPr>
          <a:xfrm>
            <a:off x="711200" y="6477000"/>
            <a:ext cx="10769600" cy="9525"/>
          </a:xfrm>
          <a:prstGeom prst="rect">
            <a:avLst/>
          </a:prstGeom>
          <a:solidFill>
            <a:srgbClr val="DCE3EB"/>
          </a:solidFill>
          <a:ln>
            <a:noFill/>
          </a:ln>
        </p:spPr>
      </p:sp>
      <p:sp>
        <p:nvSpPr>
          <p:cNvPr id="40"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vendor documentation; research/independent-review-claude.md (landscape and component analysis, Oct 2026). Tooling shown is the typical industry stack, not a claim about any specific estate. Judgement.</a:t>
            </a:r>
            <a:endParaRPr lang="en-US" sz="750" noProof="1"/>
          </a:p>
        </p:txBody>
      </p:sp>
      <p:sp>
        <p:nvSpPr>
          <p:cNvPr id="41"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5</a:t>
            </a:r>
            <a:endParaRPr lang="en-US" sz="800" noProof="1"/>
          </a:p>
        </p:txBody>
      </p:sp>
    </p:spTree>
  </p:cSld>
  <p:clrMapOvr>
    <a:masterClrMapping/>
  </p:clrMapOvr>
</p:sld>
</file>

<file path=ppt/slides/slide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GAP</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These calls set MTTR and on-call load — and the major platforms are now building for them</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left-head"/>
          <p:cNvSpPr txBox="1"/>
          <p:nvPr/>
        </p:nvSpPr>
        <p:spPr>
          <a:xfrm>
            <a:off x="711200" y="1549400"/>
            <a:ext cx="5334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Where time and risk go in the middle</a:t>
            </a:r>
            <a:endParaRPr lang="en-US" sz="1100" noProof="1"/>
          </a:p>
        </p:txBody>
      </p:sp>
      <p:sp>
        <p:nvSpPr>
          <p:cNvPr id="6" name="l1"/>
          <p:cNvSpPr txBox="1"/>
          <p:nvPr/>
        </p:nvSpPr>
        <p:spPr>
          <a:xfrm>
            <a:off x="711200" y="1854200"/>
            <a:ext cx="5334000" cy="7112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Reassignment.</a:t>
            </a:r>
            <a:r>
              <a:rPr lang="en-US" sz="1000" noProof="1">
                <a:solidFill>
                  <a:srgbClr val="1A2433"/>
                </a:solidFill>
                <a:latin typeface="Liter"/>
                <a:ea typeface="Liter"/>
              </a:rPr>
              <a:t> </a:t>
            </a:r>
            <a:r>
              <a:rPr lang="en-US" sz="1000" noProof="1">
                <a:solidFill>
                  <a:srgbClr val="5B6472"/>
                </a:solidFill>
                <a:latin typeface="Liter"/>
                <a:ea typeface="Liter"/>
              </a:rPr>
              <a:t>A ticket that starts with the wrong team waits at every hop; during an incident surge, so does the fix.</a:t>
            </a:r>
            <a:endParaRPr lang="en-US" sz="1000" noProof="1"/>
          </a:p>
        </p:txBody>
      </p:sp>
      <p:sp>
        <p:nvSpPr>
          <p:cNvPr id="7" name="l2"/>
          <p:cNvSpPr txBox="1"/>
          <p:nvPr/>
        </p:nvSpPr>
        <p:spPr>
          <a:xfrm>
            <a:off x="711200" y="2641600"/>
            <a:ext cx="5334000" cy="7112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Waiting for triage.</a:t>
            </a:r>
            <a:r>
              <a:rPr lang="en-US" sz="1000" noProof="1">
                <a:solidFill>
                  <a:srgbClr val="1A2433"/>
                </a:solidFill>
                <a:latin typeface="Liter"/>
                <a:ea typeface="Liter"/>
              </a:rPr>
              <a:t> </a:t>
            </a:r>
            <a:r>
              <a:rPr lang="en-US" sz="1000" noProof="1">
                <a:solidFill>
                  <a:srgbClr val="5B6472"/>
                </a:solidFill>
                <a:latin typeface="Liter"/>
                <a:ea typeface="Liter"/>
              </a:rPr>
              <a:t>Severity and major-incident calls wait for a person to read the alert.</a:t>
            </a:r>
            <a:endParaRPr lang="en-US" sz="1000" noProof="1"/>
          </a:p>
        </p:txBody>
      </p:sp>
      <p:sp>
        <p:nvSpPr>
          <p:cNvPr id="8" name="l3"/>
          <p:cNvSpPr txBox="1"/>
          <p:nvPr/>
        </p:nvSpPr>
        <p:spPr>
          <a:xfrm>
            <a:off x="711200" y="3429000"/>
            <a:ext cx="5334000" cy="7112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Night and weekend pages.</a:t>
            </a:r>
            <a:r>
              <a:rPr lang="en-US" sz="1000" noProof="1">
                <a:solidFill>
                  <a:srgbClr val="1A2433"/>
                </a:solidFill>
                <a:latin typeface="Liter"/>
                <a:ea typeface="Liter"/>
              </a:rPr>
              <a:t> </a:t>
            </a:r>
            <a:r>
              <a:rPr lang="en-US" sz="1000" noProof="1">
                <a:solidFill>
                  <a:srgbClr val="5B6472"/>
                </a:solidFill>
                <a:latin typeface="Liter"/>
                <a:ea typeface="Liter"/>
              </a:rPr>
              <a:t>Incident surges multiply volume, and on-call engineers are woken for calls a confident answer could have made.</a:t>
            </a:r>
            <a:endParaRPr lang="en-US" sz="1000" noProof="1"/>
          </a:p>
        </p:txBody>
      </p:sp>
      <p:sp>
        <p:nvSpPr>
          <p:cNvPr id="9" name="l4"/>
          <p:cNvSpPr txBox="1"/>
          <p:nvPr/>
        </p:nvSpPr>
        <p:spPr>
          <a:xfrm>
            <a:off x="711200" y="4216400"/>
            <a:ext cx="5334000" cy="7112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Automation held back.</a:t>
            </a:r>
            <a:r>
              <a:rPr lang="en-US" sz="1000" noProof="1">
                <a:solidFill>
                  <a:srgbClr val="1A2433"/>
                </a:solidFill>
                <a:latin typeface="Liter"/>
                <a:ea typeface="Liter"/>
              </a:rPr>
              <a:t> </a:t>
            </a:r>
            <a:r>
              <a:rPr lang="en-US" sz="1000" noProof="1">
                <a:solidFill>
                  <a:srgbClr val="5B6472"/>
                </a:solidFill>
                <a:latin typeface="Liter"/>
                <a:ea typeface="Liter"/>
              </a:rPr>
              <a:t>Fixes already scripted in Rundeck or Ansible wait for approval because nobody trusts the decision that triggers them.</a:t>
            </a:r>
            <a:endParaRPr lang="en-US" sz="1000" noProof="1"/>
          </a:p>
        </p:txBody>
      </p:sp>
      <p:sp>
        <p:nvSpPr>
          <p:cNvPr id="10" name="l-note"/>
          <p:cNvSpPr txBox="1"/>
          <p:nvPr/>
        </p:nvSpPr>
        <p:spPr>
          <a:xfrm>
            <a:off x="711200" y="5080000"/>
            <a:ext cx="5334000" cy="558800"/>
          </a:xfrm>
          <a:prstGeom prst="rect">
            <a:avLst/>
          </a:prstGeom>
          <a:noFill/>
          <a:ln>
            <a:noFill/>
          </a:ln>
        </p:spPr>
        <p:txBody>
          <a:bodyPr lIns="0" rIns="0" tIns="0" bIns="0" wrap="square" rtlCol="0"/>
          <a:lstStyle/>
          <a:p>
            <a:pPr>
              <a:lnSpc>
                <a:spcPct val="140000"/>
              </a:lnSpc>
            </a:pPr>
            <a:r>
              <a:rPr lang="en-US" sz="950" noProof="1">
                <a:solidFill>
                  <a:srgbClr val="5B6472"/>
                </a:solidFill>
                <a:latin typeface="Liter"/>
                <a:ea typeface="Liter"/>
              </a:rPr>
              <a:t>What each of these costs — in downtime, engineer hours and on-call health — is the first thing a diagnostic measures (Q1, Q20).</a:t>
            </a:r>
            <a:endParaRPr lang="en-US" sz="950" noProof="1"/>
          </a:p>
        </p:txBody>
      </p:sp>
      <p:sp>
        <p:nvSpPr>
          <p:cNvPr id="11" name="vline"/>
          <p:cNvSpPr/>
          <p:nvPr/>
        </p:nvSpPr>
        <p:spPr>
          <a:xfrm>
            <a:off x="6350000" y="1549400"/>
            <a:ext cx="9525" cy="4191000"/>
          </a:xfrm>
          <a:prstGeom prst="rect">
            <a:avLst/>
          </a:prstGeom>
          <a:solidFill>
            <a:srgbClr val="DCE3EB"/>
          </a:solidFill>
          <a:ln>
            <a:noFill/>
          </a:ln>
        </p:spPr>
      </p:sp>
      <p:sp>
        <p:nvSpPr>
          <p:cNvPr id="12" name="right-head"/>
          <p:cNvSpPr txBox="1"/>
          <p:nvPr/>
        </p:nvSpPr>
        <p:spPr>
          <a:xfrm>
            <a:off x="6654800" y="1549400"/>
            <a:ext cx="4826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The platforms are moving here</a:t>
            </a:r>
            <a:endParaRPr lang="en-US" sz="1100" noProof="1"/>
          </a:p>
        </p:txBody>
      </p:sp>
      <p:sp>
        <p:nvSpPr>
          <p:cNvPr id="13" name="r1"/>
          <p:cNvSpPr txBox="1"/>
          <p:nvPr/>
        </p:nvSpPr>
        <p:spPr>
          <a:xfrm>
            <a:off x="6654800" y="1854200"/>
            <a:ext cx="4826000" cy="5842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PagerDuty:</a:t>
            </a:r>
            <a:r>
              <a:rPr lang="en-US" sz="1000" noProof="1">
                <a:solidFill>
                  <a:srgbClr val="1A2433"/>
                </a:solidFill>
                <a:latin typeface="Liter"/>
                <a:ea typeface="Liter"/>
              </a:rPr>
              <a:t> </a:t>
            </a:r>
            <a:r>
              <a:rPr lang="en-US" sz="1000" noProof="1">
                <a:solidFill>
                  <a:srgbClr val="5B6472"/>
                </a:solidFill>
                <a:latin typeface="Liter"/>
                <a:ea typeface="Liter"/>
              </a:rPr>
              <a:t>SRE Agent generally available since October 2025.</a:t>
            </a:r>
            <a:endParaRPr lang="en-US" sz="1000" noProof="1"/>
          </a:p>
        </p:txBody>
      </p:sp>
      <p:sp>
        <p:nvSpPr>
          <p:cNvPr id="14" name="r2"/>
          <p:cNvSpPr txBox="1"/>
          <p:nvPr/>
        </p:nvSpPr>
        <p:spPr>
          <a:xfrm>
            <a:off x="6654800" y="2514600"/>
            <a:ext cx="4826000" cy="5842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Datadog:</a:t>
            </a:r>
            <a:r>
              <a:rPr lang="en-US" sz="1000" noProof="1">
                <a:solidFill>
                  <a:srgbClr val="1A2433"/>
                </a:solidFill>
                <a:latin typeface="Liter"/>
                <a:ea typeface="Liter"/>
              </a:rPr>
              <a:t> </a:t>
            </a:r>
            <a:r>
              <a:rPr lang="en-US" sz="1000" noProof="1">
                <a:solidFill>
                  <a:srgbClr val="5B6472"/>
                </a:solidFill>
                <a:latin typeface="Liter"/>
                <a:ea typeface="Liter"/>
              </a:rPr>
              <a:t>Bits AI SRE generally available since December 2025.</a:t>
            </a:r>
            <a:endParaRPr lang="en-US" sz="1000" noProof="1"/>
          </a:p>
        </p:txBody>
      </p:sp>
      <p:sp>
        <p:nvSpPr>
          <p:cNvPr id="15" name="r3"/>
          <p:cNvSpPr txBox="1"/>
          <p:nvPr/>
        </p:nvSpPr>
        <p:spPr>
          <a:xfrm>
            <a:off x="6654800" y="3175000"/>
            <a:ext cx="4826000" cy="5842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Dynatrace:</a:t>
            </a:r>
            <a:r>
              <a:rPr lang="en-US" sz="1000" noProof="1">
                <a:solidFill>
                  <a:srgbClr val="1A2433"/>
                </a:solidFill>
                <a:latin typeface="Liter"/>
                <a:ea typeface="Liter"/>
              </a:rPr>
              <a:t> </a:t>
            </a:r>
            <a:r>
              <a:rPr lang="en-US" sz="1000" noProof="1">
                <a:solidFill>
                  <a:srgbClr val="5B6472"/>
                </a:solidFill>
                <a:latin typeface="Liter"/>
                <a:ea typeface="Liter"/>
              </a:rPr>
              <a:t>Autonomous SRE Agent announced in July 2026.</a:t>
            </a:r>
            <a:endParaRPr lang="en-US" sz="1000" noProof="1"/>
          </a:p>
        </p:txBody>
      </p:sp>
      <p:sp>
        <p:nvSpPr>
          <p:cNvPr id="16" name="r4"/>
          <p:cNvSpPr txBox="1"/>
          <p:nvPr/>
        </p:nvSpPr>
        <p:spPr>
          <a:xfrm>
            <a:off x="6654800" y="3835400"/>
            <a:ext cx="4826000" cy="762000"/>
          </a:xfrm>
          <a:prstGeom prst="rect">
            <a:avLst/>
          </a:prstGeom>
          <a:noFill/>
          <a:ln>
            <a:noFill/>
          </a:ln>
        </p:spPr>
        <p:txBody>
          <a:bodyPr lIns="0" rIns="0" tIns="0" bIns="0" wrap="square" rtlCol="0"/>
          <a:lstStyle/>
          <a:p>
            <a:pPr>
              <a:lnSpc>
                <a:spcPct val="140000"/>
              </a:lnSpc>
            </a:pPr>
            <a:r>
              <a:rPr lang="en-US" sz="1000" noProof="1" b="1">
                <a:solidFill>
                  <a:srgbClr val="1A2433"/>
                </a:solidFill>
                <a:latin typeface="Liter"/>
                <a:ea typeface="Liter"/>
              </a:rPr>
              <a:t>Clouds:</a:t>
            </a:r>
            <a:r>
              <a:rPr lang="en-US" sz="1000" noProof="1">
                <a:solidFill>
                  <a:srgbClr val="1A2433"/>
                </a:solidFill>
                <a:latin typeface="Liter"/>
                <a:ea typeface="Liter"/>
              </a:rPr>
              <a:t> </a:t>
            </a:r>
            <a:r>
              <a:rPr lang="en-US" sz="1000" noProof="1">
                <a:solidFill>
                  <a:srgbClr val="5B6472"/>
                </a:solidFill>
                <a:latin typeface="Liter"/>
                <a:ea typeface="Liter"/>
              </a:rPr>
              <a:t>Azure SRE Agent and AWS DevOps Agent generally available since March 2026 — every major cloud now ships one.</a:t>
            </a:r>
            <a:endParaRPr lang="en-US" sz="1000" noProof="1"/>
          </a:p>
        </p:txBody>
      </p:sp>
      <p:sp>
        <p:nvSpPr>
          <p:cNvPr id="17" name="r-note"/>
          <p:cNvSpPr txBox="1"/>
          <p:nvPr/>
        </p:nvSpPr>
        <p:spPr>
          <a:xfrm>
            <a:off x="6654800" y="4749800"/>
            <a:ext cx="4826000" cy="889000"/>
          </a:xfrm>
          <a:prstGeom prst="rect">
            <a:avLst/>
          </a:prstGeom>
          <a:noFill/>
          <a:ln>
            <a:noFill/>
          </a:ln>
        </p:spPr>
        <p:txBody>
          <a:bodyPr lIns="0" rIns="0" tIns="0" bIns="0" wrap="square" rtlCol="0"/>
          <a:lstStyle/>
          <a:p>
            <a:pPr>
              <a:lnSpc>
                <a:spcPct val="140000"/>
              </a:lnSpc>
            </a:pPr>
            <a:r>
              <a:rPr lang="en-US" sz="950" noProof="1">
                <a:solidFill>
                  <a:srgbClr val="5B6472"/>
                </a:solidFill>
                <a:latin typeface="Liter"/>
                <a:ea typeface="Liter"/>
              </a:rPr>
              <a:t>Most of these agents are large language models that investigate and write text. A typed model like Jev answers fixed questions in a fraction of a second, which suits a decision inside a workflow. </a:t>
            </a:r>
            <a:r>
              <a:rPr lang="en-US" sz="950" noProof="1" i="1">
                <a:solidFill>
                  <a:srgbClr val="5B6472"/>
                </a:solidFill>
                <a:latin typeface="Liter"/>
                <a:ea typeface="Liter"/>
              </a:rPr>
              <a:t>(Judgement)</a:t>
            </a:r>
            <a:endParaRPr lang="en-US" sz="950" noProof="1"/>
          </a:p>
        </p:txBody>
      </p:sp>
      <p:sp>
        <p:nvSpPr>
          <p:cNvPr id="18" name="footline"/>
          <p:cNvSpPr/>
          <p:nvPr/>
        </p:nvSpPr>
        <p:spPr>
          <a:xfrm>
            <a:off x="711200" y="6477000"/>
            <a:ext cx="10769600" cy="9525"/>
          </a:xfrm>
          <a:prstGeom prst="rect">
            <a:avLst/>
          </a:prstGeom>
          <a:solidFill>
            <a:srgbClr val="DCE3EB"/>
          </a:solidFill>
          <a:ln>
            <a:noFill/>
          </a:ln>
        </p:spPr>
      </p:sp>
      <p:sp>
        <p:nvSpPr>
          <p:cNvPr id="19"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research/independent-review-claude.md (key findings; vendor table); questions Q1 and Q20 in deliverables/3_open-questions-and-next-steps.md. Vendor availability dates labelled Independent (third-party reporting).</a:t>
            </a:r>
            <a:endParaRPr lang="en-US" sz="750" noProof="1"/>
          </a:p>
        </p:txBody>
      </p:sp>
      <p:sp>
        <p:nvSpPr>
          <p:cNvPr id="20"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6</a:t>
            </a:r>
            <a:endParaRPr lang="en-US" sz="800" noProof="1"/>
          </a:p>
        </p:txBody>
      </p:sp>
    </p:spTree>
  </p:cSld>
  <p:clrMapOvr>
    <a:masterClrMapping/>
  </p:clrMapOvr>
</p:sld>
</file>

<file path=ppt/slides/slide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WHAT A DECISION MODEL ADDS</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Jev is built for these calls — fixed questions in, answers with probabilities out, and owned code decides</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t1-head"/>
          <p:cNvSpPr txBox="1"/>
          <p:nvPr/>
        </p:nvSpPr>
        <p:spPr>
          <a:xfrm>
            <a:off x="711200" y="1549400"/>
            <a:ext cx="34544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Pick one</a:t>
            </a:r>
            <a:endParaRPr lang="en-US" sz="1100" noProof="1"/>
          </a:p>
        </p:txBody>
      </p:sp>
      <p:sp>
        <p:nvSpPr>
          <p:cNvPr id="6" name="t1-type"/>
          <p:cNvSpPr txBox="1"/>
          <p:nvPr/>
        </p:nvSpPr>
        <p:spPr>
          <a:xfrm>
            <a:off x="711200" y="1778000"/>
            <a:ext cx="3454400" cy="165100"/>
          </a:xfrm>
          <a:prstGeom prst="rect">
            <a:avLst/>
          </a:prstGeom>
          <a:noFill/>
          <a:ln>
            <a:noFill/>
          </a:ln>
        </p:spPr>
        <p:txBody>
          <a:bodyPr lIns="0" rIns="0" tIns="0" bIns="0" wrap="none" rtlCol="0"/>
          <a:lstStyle/>
          <a:p>
            <a:pPr>
              <a:lnSpc>
                <a:spcPct val="120000"/>
              </a:lnSpc>
            </a:pPr>
            <a:r>
              <a:rPr lang="en-US" sz="850" noProof="1">
                <a:solidFill>
                  <a:srgbClr val="98A1AD"/>
                </a:solidFill>
                <a:latin typeface="Liter"/>
                <a:ea typeface="Liter"/>
              </a:rPr>
              <a:t>TypeSafe: "Choice"</a:t>
            </a:r>
            <a:endParaRPr lang="en-US" sz="850" noProof="1"/>
          </a:p>
        </p:txBody>
      </p:sp>
      <p:sp>
        <p:nvSpPr>
          <p:cNvPr id="7" name="t1-q"/>
          <p:cNvSpPr txBox="1"/>
          <p:nvPr/>
        </p:nvSpPr>
        <p:spPr>
          <a:xfrm>
            <a:off x="711200" y="2032000"/>
            <a:ext cx="3454400" cy="228600"/>
          </a:xfrm>
          <a:prstGeom prst="rect">
            <a:avLst/>
          </a:prstGeom>
          <a:noFill/>
          <a:ln>
            <a:noFill/>
          </a:ln>
        </p:spPr>
        <p:txBody>
          <a:bodyPr lIns="0" rIns="0" tIns="0" bIns="0" wrap="none" rtlCol="0"/>
          <a:lstStyle/>
          <a:p>
            <a:pPr>
              <a:lnSpc>
                <a:spcPct val="120000"/>
              </a:lnSpc>
            </a:pPr>
            <a:r>
              <a:rPr lang="en-US" sz="1050" noProof="1">
                <a:solidFill>
                  <a:srgbClr val="1A2433"/>
                </a:solidFill>
                <a:latin typeface="Liter"/>
                <a:ea typeface="Liter"/>
              </a:rPr>
              <a:t>Which failure category?</a:t>
            </a:r>
            <a:endParaRPr lang="en-US" sz="1050" noProof="1"/>
          </a:p>
        </p:txBody>
      </p:sp>
      <p:sp>
        <p:nvSpPr>
          <p:cNvPr id="8" name="t1-a"/>
          <p:cNvSpPr txBox="1"/>
          <p:nvPr/>
        </p:nvSpPr>
        <p:spPr>
          <a:xfrm>
            <a:off x="711200" y="2311400"/>
            <a:ext cx="3454400" cy="203200"/>
          </a:xfrm>
          <a:prstGeom prst="rect">
            <a:avLst/>
          </a:prstGeom>
          <a:noFill/>
          <a:ln>
            <a:noFill/>
          </a:ln>
        </p:spPr>
        <p:txBody>
          <a:bodyPr lIns="0" rIns="0" tIns="0" bIns="0" wrap="none" rtlCol="0"/>
          <a:lstStyle/>
          <a:p>
            <a:pPr>
              <a:lnSpc>
                <a:spcPct val="120000"/>
              </a:lnSpc>
            </a:pPr>
            <a:r>
              <a:rPr lang="en-US" sz="1000" noProof="1">
                <a:solidFill>
                  <a:srgbClr val="16365C"/>
                </a:solidFill>
                <a:latin typeface="Liter"/>
                <a:ea typeface="Liter"/>
              </a:rPr>
              <a:t>app, confidence 1.00</a:t>
            </a:r>
            <a:endParaRPr lang="en-US" sz="1000" noProof="1"/>
          </a:p>
        </p:txBody>
      </p:sp>
      <p:sp>
        <p:nvSpPr>
          <p:cNvPr id="9" name="t2-head"/>
          <p:cNvSpPr txBox="1"/>
          <p:nvPr/>
        </p:nvSpPr>
        <p:spPr>
          <a:xfrm>
            <a:off x="4368800" y="1549400"/>
            <a:ext cx="34544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Rate on a scale</a:t>
            </a:r>
            <a:endParaRPr lang="en-US" sz="1100" noProof="1"/>
          </a:p>
        </p:txBody>
      </p:sp>
      <p:sp>
        <p:nvSpPr>
          <p:cNvPr id="10" name="t2-type"/>
          <p:cNvSpPr txBox="1"/>
          <p:nvPr/>
        </p:nvSpPr>
        <p:spPr>
          <a:xfrm>
            <a:off x="4368800" y="1778000"/>
            <a:ext cx="3454400" cy="165100"/>
          </a:xfrm>
          <a:prstGeom prst="rect">
            <a:avLst/>
          </a:prstGeom>
          <a:noFill/>
          <a:ln>
            <a:noFill/>
          </a:ln>
        </p:spPr>
        <p:txBody>
          <a:bodyPr lIns="0" rIns="0" tIns="0" bIns="0" wrap="none" rtlCol="0"/>
          <a:lstStyle/>
          <a:p>
            <a:pPr>
              <a:lnSpc>
                <a:spcPct val="120000"/>
              </a:lnSpc>
            </a:pPr>
            <a:r>
              <a:rPr lang="en-US" sz="850" noProof="1">
                <a:solidFill>
                  <a:srgbClr val="98A1AD"/>
                </a:solidFill>
                <a:latin typeface="Liter"/>
                <a:ea typeface="Liter"/>
              </a:rPr>
              <a:t>TypeSafe: "Score"</a:t>
            </a:r>
            <a:endParaRPr lang="en-US" sz="850" noProof="1"/>
          </a:p>
        </p:txBody>
      </p:sp>
      <p:sp>
        <p:nvSpPr>
          <p:cNvPr id="11" name="t2-q"/>
          <p:cNvSpPr txBox="1"/>
          <p:nvPr/>
        </p:nvSpPr>
        <p:spPr>
          <a:xfrm>
            <a:off x="4368800" y="2032000"/>
            <a:ext cx="3454400" cy="228600"/>
          </a:xfrm>
          <a:prstGeom prst="rect">
            <a:avLst/>
          </a:prstGeom>
          <a:noFill/>
          <a:ln>
            <a:noFill/>
          </a:ln>
        </p:spPr>
        <p:txBody>
          <a:bodyPr lIns="0" rIns="0" tIns="0" bIns="0" wrap="none" rtlCol="0"/>
          <a:lstStyle/>
          <a:p>
            <a:pPr>
              <a:lnSpc>
                <a:spcPct val="120000"/>
              </a:lnSpc>
            </a:pPr>
            <a:r>
              <a:rPr lang="en-US" sz="1050" noProof="1">
                <a:solidFill>
                  <a:srgbClr val="1A2433"/>
                </a:solidFill>
                <a:latin typeface="Liter"/>
                <a:ea typeface="Liter"/>
              </a:rPr>
              <a:t>How severe, SEV4 to SEV1?</a:t>
            </a:r>
            <a:endParaRPr lang="en-US" sz="1050" noProof="1"/>
          </a:p>
        </p:txBody>
      </p:sp>
      <p:sp>
        <p:nvSpPr>
          <p:cNvPr id="12" name="t2-a"/>
          <p:cNvSpPr txBox="1"/>
          <p:nvPr/>
        </p:nvSpPr>
        <p:spPr>
          <a:xfrm>
            <a:off x="4368800" y="2311400"/>
            <a:ext cx="3454400" cy="203200"/>
          </a:xfrm>
          <a:prstGeom prst="rect">
            <a:avLst/>
          </a:prstGeom>
          <a:noFill/>
          <a:ln>
            <a:noFill/>
          </a:ln>
        </p:spPr>
        <p:txBody>
          <a:bodyPr lIns="0" rIns="0" tIns="0" bIns="0" wrap="none" rtlCol="0"/>
          <a:lstStyle/>
          <a:p>
            <a:pPr>
              <a:lnSpc>
                <a:spcPct val="120000"/>
              </a:lnSpc>
            </a:pPr>
            <a:r>
              <a:rPr lang="en-US" sz="1000" noProof="1">
                <a:solidFill>
                  <a:srgbClr val="16365C"/>
                </a:solidFill>
                <a:latin typeface="Liter"/>
                <a:ea typeface="Liter"/>
              </a:rPr>
              <a:t>2.12 on a 0–3 scale, about SEV2</a:t>
            </a:r>
            <a:endParaRPr lang="en-US" sz="1000" noProof="1"/>
          </a:p>
        </p:txBody>
      </p:sp>
      <p:sp>
        <p:nvSpPr>
          <p:cNvPr id="13" name="t3-head"/>
          <p:cNvSpPr txBox="1"/>
          <p:nvPr/>
        </p:nvSpPr>
        <p:spPr>
          <a:xfrm>
            <a:off x="8026400" y="1549400"/>
            <a:ext cx="34544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Yes or no</a:t>
            </a:r>
            <a:endParaRPr lang="en-US" sz="1100" noProof="1"/>
          </a:p>
        </p:txBody>
      </p:sp>
      <p:sp>
        <p:nvSpPr>
          <p:cNvPr id="14" name="t3-type"/>
          <p:cNvSpPr txBox="1"/>
          <p:nvPr/>
        </p:nvSpPr>
        <p:spPr>
          <a:xfrm>
            <a:off x="8026400" y="1778000"/>
            <a:ext cx="3454400" cy="165100"/>
          </a:xfrm>
          <a:prstGeom prst="rect">
            <a:avLst/>
          </a:prstGeom>
          <a:noFill/>
          <a:ln>
            <a:noFill/>
          </a:ln>
        </p:spPr>
        <p:txBody>
          <a:bodyPr lIns="0" rIns="0" tIns="0" bIns="0" wrap="none" rtlCol="0"/>
          <a:lstStyle/>
          <a:p>
            <a:pPr>
              <a:lnSpc>
                <a:spcPct val="120000"/>
              </a:lnSpc>
            </a:pPr>
            <a:r>
              <a:rPr lang="en-US" sz="850" noProof="1">
                <a:solidFill>
                  <a:srgbClr val="98A1AD"/>
                </a:solidFill>
                <a:latin typeface="Liter"/>
                <a:ea typeface="Liter"/>
              </a:rPr>
              <a:t>TypeSafe: "Noul"</a:t>
            </a:r>
            <a:endParaRPr lang="en-US" sz="850" noProof="1"/>
          </a:p>
        </p:txBody>
      </p:sp>
      <p:sp>
        <p:nvSpPr>
          <p:cNvPr id="15" name="t3-q"/>
          <p:cNvSpPr txBox="1"/>
          <p:nvPr/>
        </p:nvSpPr>
        <p:spPr>
          <a:xfrm>
            <a:off x="8026400" y="2032000"/>
            <a:ext cx="3454400" cy="228600"/>
          </a:xfrm>
          <a:prstGeom prst="rect">
            <a:avLst/>
          </a:prstGeom>
          <a:noFill/>
          <a:ln>
            <a:noFill/>
          </a:ln>
        </p:spPr>
        <p:txBody>
          <a:bodyPr lIns="0" rIns="0" tIns="0" bIns="0" wrap="none" rtlCol="0"/>
          <a:lstStyle/>
          <a:p>
            <a:pPr>
              <a:lnSpc>
                <a:spcPct val="120000"/>
              </a:lnSpc>
            </a:pPr>
            <a:r>
              <a:rPr lang="en-US" sz="1050" noProof="1">
                <a:solidFill>
                  <a:srgbClr val="1A2433"/>
                </a:solidFill>
                <a:latin typeface="Liter"/>
                <a:ea typeface="Liter"/>
              </a:rPr>
              <a:t>Should a human be paged now?</a:t>
            </a:r>
            <a:endParaRPr lang="en-US" sz="1050" noProof="1"/>
          </a:p>
        </p:txBody>
      </p:sp>
      <p:sp>
        <p:nvSpPr>
          <p:cNvPr id="16" name="t3-a"/>
          <p:cNvSpPr txBox="1"/>
          <p:nvPr/>
        </p:nvSpPr>
        <p:spPr>
          <a:xfrm>
            <a:off x="8026400" y="2311400"/>
            <a:ext cx="3454400" cy="203200"/>
          </a:xfrm>
          <a:prstGeom prst="rect">
            <a:avLst/>
          </a:prstGeom>
          <a:noFill/>
          <a:ln>
            <a:noFill/>
          </a:ln>
        </p:spPr>
        <p:txBody>
          <a:bodyPr lIns="0" rIns="0" tIns="0" bIns="0" wrap="none" rtlCol="0"/>
          <a:lstStyle/>
          <a:p>
            <a:pPr>
              <a:lnSpc>
                <a:spcPct val="120000"/>
              </a:lnSpc>
            </a:pPr>
            <a:r>
              <a:rPr lang="en-US" sz="1000" noProof="1">
                <a:solidFill>
                  <a:srgbClr val="16365C"/>
                </a:solidFill>
                <a:latin typeface="Liter"/>
                <a:ea typeface="Liter"/>
              </a:rPr>
              <a:t>probability 0.88</a:t>
            </a:r>
            <a:endParaRPr lang="en-US" sz="1000" noProof="1"/>
          </a:p>
        </p:txBody>
      </p:sp>
      <p:sp>
        <p:nvSpPr>
          <p:cNvPr id="17" name="types-rule"/>
          <p:cNvSpPr/>
          <p:nvPr/>
        </p:nvSpPr>
        <p:spPr>
          <a:xfrm>
            <a:off x="711200" y="2743200"/>
            <a:ext cx="10769600" cy="9525"/>
          </a:xfrm>
          <a:prstGeom prst="rect">
            <a:avLst/>
          </a:prstGeom>
          <a:solidFill>
            <a:srgbClr val="DCE3EB"/>
          </a:solidFill>
          <a:ln>
            <a:noFill/>
          </a:ln>
        </p:spPr>
      </p:sp>
      <p:sp>
        <p:nvSpPr>
          <p:cNvPr id="18" name="fit-head"/>
          <p:cNvSpPr txBox="1"/>
          <p:nvPr/>
        </p:nvSpPr>
        <p:spPr>
          <a:xfrm>
            <a:off x="711200" y="2921000"/>
            <a:ext cx="5334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Why it suits a decision inside a workflow</a:t>
            </a:r>
            <a:endParaRPr lang="en-US" sz="1100" noProof="1"/>
          </a:p>
        </p:txBody>
      </p:sp>
      <p:sp>
        <p:nvSpPr>
          <p:cNvPr id="19" name="fit-body"/>
          <p:cNvSpPr txBox="1"/>
          <p:nvPr/>
        </p:nvSpPr>
        <p:spPr>
          <a:xfrm>
            <a:off x="711200" y="3200400"/>
            <a:ext cx="5334000" cy="2540000"/>
          </a:xfrm>
          <a:prstGeom prst="rect">
            <a:avLst/>
          </a:prstGeom>
          <a:noFill/>
          <a:ln>
            <a:noFill/>
          </a:ln>
        </p:spPr>
        <p:txBody>
          <a:bodyPr lIns="0" rIns="0" tIns="0" bIns="0" wrap="square" rtlCol="0"/>
          <a:lstStyle/>
          <a:p>
            <a:pPr>
              <a:lnSpc>
                <a:spcPct val="145000"/>
              </a:lnSpc>
            </a:pPr>
            <a:r>
              <a:rPr lang="en-US" sz="1000" noProof="1">
                <a:solidFill>
                  <a:srgbClr val="1A2433"/>
                </a:solidFill>
                <a:latin typeface="Liter"/>
                <a:ea typeface="Liter"/>
              </a:rPr>
              <a:t>• </a:t>
            </a:r>
            <a:r>
              <a:rPr lang="en-US" sz="1000" noProof="1" b="1">
                <a:solidFill>
                  <a:srgbClr val="1A2433"/>
                </a:solidFill>
                <a:latin typeface="Liter"/>
                <a:ea typeface="Liter"/>
              </a:rPr>
              <a:t>Fast.</a:t>
            </a:r>
            <a:r>
              <a:rPr lang="en-US" sz="1000" noProof="1">
                <a:solidFill>
                  <a:srgbClr val="1A2433"/>
                </a:solidFill>
                <a:latin typeface="Liter"/>
                <a:ea typeface="Liter"/>
              </a:rPr>
              <a:t> All 12 questions go in one request and come back together: median 91 ms, 95th percentile 128 ms in our test, called from a workstation. </a:t>
            </a:r>
            <a:r>
              <a:rPr lang="en-US" sz="1000" noProof="1">
                <a:solidFill>
                  <a:srgbClr val="98A1AD"/>
                </a:solidFill>
                <a:latin typeface="Liter"/>
                <a:ea typeface="Liter"/>
              </a:rPr>
              <a:t>(Our measurement)</a:t>
            </a:r>
            <a:endParaRPr lang="en-US" sz="1000" noProof="1"/>
          </a:p>
          <a:p>
            <a:pPr>
              <a:lnSpc>
                <a:spcPct val="145000"/>
              </a:lnSpc>
              <a:spcBef>
                <a:spcPts val="800"/>
              </a:spcBef>
            </a:pPr>
            <a:r>
              <a:rPr lang="en-US" sz="1000" noProof="1">
                <a:solidFill>
                  <a:srgbClr val="1A2433"/>
                </a:solidFill>
                <a:latin typeface="Liter"/>
                <a:ea typeface="Liter"/>
              </a:rPr>
              <a:t>• </a:t>
            </a:r>
            <a:r>
              <a:rPr lang="en-US" sz="1000" noProof="1" b="1">
                <a:solidFill>
                  <a:srgbClr val="1A2433"/>
                </a:solidFill>
                <a:latin typeface="Liter"/>
                <a:ea typeface="Liter"/>
              </a:rPr>
              <a:t>Made for code.</a:t>
            </a:r>
            <a:r>
              <a:rPr lang="en-US" sz="1000" noProof="1">
                <a:solidFill>
                  <a:srgbClr val="1A2433"/>
                </a:solidFill>
                <a:latin typeface="Liter"/>
                <a:ea typeface="Liter"/>
              </a:rPr>
              <a:t> Answers are values, so owned code can compare them with a threshold, act on them and log them. There is no generated text to parse.</a:t>
            </a:r>
            <a:endParaRPr lang="en-US" sz="1000" noProof="1"/>
          </a:p>
          <a:p>
            <a:pPr>
              <a:lnSpc>
                <a:spcPct val="145000"/>
              </a:lnSpc>
              <a:spcBef>
                <a:spcPts val="800"/>
              </a:spcBef>
            </a:pPr>
            <a:r>
              <a:rPr lang="en-US" sz="1000" noProof="1">
                <a:solidFill>
                  <a:srgbClr val="1A2433"/>
                </a:solidFill>
                <a:latin typeface="Liter"/>
                <a:ea typeface="Liter"/>
              </a:rPr>
              <a:t>• </a:t>
            </a:r>
            <a:r>
              <a:rPr lang="en-US" sz="1000" noProof="1" b="1">
                <a:solidFill>
                  <a:srgbClr val="1A2433"/>
                </a:solidFill>
                <a:latin typeface="Liter"/>
                <a:ea typeface="Liter"/>
              </a:rPr>
              <a:t>Cheap.</a:t>
            </a:r>
            <a:r>
              <a:rPr lang="en-US" sz="1000" noProof="1">
                <a:solidFill>
                  <a:srgbClr val="1A2433"/>
                </a:solidFill>
                <a:latin typeface="Liter"/>
                <a:ea typeface="Liter"/>
              </a:rPr>
              <a:t> $0.042 per million input tokens, output free; quoted latency 70–500 ms. </a:t>
            </a:r>
            <a:r>
              <a:rPr lang="en-US" sz="1000" noProof="1">
                <a:solidFill>
                  <a:srgbClr val="98A1AD"/>
                </a:solidFill>
                <a:latin typeface="Liter"/>
                <a:ea typeface="Liter"/>
              </a:rPr>
              <a:t>(Vendor claim)</a:t>
            </a:r>
            <a:endParaRPr lang="en-US" sz="1000" noProof="1"/>
          </a:p>
        </p:txBody>
      </p:sp>
      <p:sp>
        <p:nvSpPr>
          <p:cNvPr id="20" name="vline"/>
          <p:cNvSpPr/>
          <p:nvPr/>
        </p:nvSpPr>
        <p:spPr>
          <a:xfrm>
            <a:off x="6350000" y="2921000"/>
            <a:ext cx="9525" cy="2794000"/>
          </a:xfrm>
          <a:prstGeom prst="rect">
            <a:avLst/>
          </a:prstGeom>
          <a:solidFill>
            <a:srgbClr val="DCE3EB"/>
          </a:solidFill>
          <a:ln>
            <a:noFill/>
          </a:ln>
        </p:spPr>
      </p:sp>
      <p:sp>
        <p:nvSpPr>
          <p:cNvPr id="21" name="lim-head"/>
          <p:cNvSpPr txBox="1"/>
          <p:nvPr/>
        </p:nvSpPr>
        <p:spPr>
          <a:xfrm>
            <a:off x="6654800" y="2921000"/>
            <a:ext cx="4826000" cy="203200"/>
          </a:xfrm>
          <a:prstGeom prst="rect">
            <a:avLst/>
          </a:prstGeom>
          <a:noFill/>
          <a:ln>
            <a:noFill/>
          </a:ln>
        </p:spPr>
        <p:txBody>
          <a:bodyPr lIns="0" rIns="0" tIns="0" bIns="0" wrap="none" rtlCol="0"/>
          <a:lstStyle/>
          <a:p>
            <a:pPr>
              <a:lnSpc>
                <a:spcPct val="120000"/>
              </a:lnSpc>
            </a:pPr>
            <a:r>
              <a:rPr lang="en-US" sz="1100" noProof="1" b="1">
                <a:solidFill>
                  <a:srgbClr val="B97A10"/>
                </a:solidFill>
                <a:latin typeface="Liter"/>
                <a:ea typeface="Liter"/>
              </a:rPr>
              <a:t>The vendor's own limits</a:t>
            </a:r>
            <a:endParaRPr lang="en-US" sz="1100" noProof="1"/>
          </a:p>
        </p:txBody>
      </p:sp>
      <p:sp>
        <p:nvSpPr>
          <p:cNvPr id="22" name="lim-body"/>
          <p:cNvSpPr txBox="1"/>
          <p:nvPr/>
        </p:nvSpPr>
        <p:spPr>
          <a:xfrm>
            <a:off x="6654800" y="3200400"/>
            <a:ext cx="4826000" cy="2540000"/>
          </a:xfrm>
          <a:prstGeom prst="rect">
            <a:avLst/>
          </a:prstGeom>
          <a:noFill/>
          <a:ln>
            <a:noFill/>
          </a:ln>
        </p:spPr>
        <p:txBody>
          <a:bodyPr lIns="0" rIns="0" tIns="0" bIns="0" wrap="square" rtlCol="0"/>
          <a:lstStyle/>
          <a:p>
            <a:pPr>
              <a:lnSpc>
                <a:spcPct val="145000"/>
              </a:lnSpc>
            </a:pPr>
            <a:r>
              <a:rPr lang="en-US" sz="1000" noProof="1">
                <a:solidFill>
                  <a:srgbClr val="1A2433"/>
                </a:solidFill>
                <a:latin typeface="Liter"/>
                <a:ea typeface="Liter"/>
              </a:rPr>
              <a:t>• No arithmetic or dates.</a:t>
            </a:r>
            <a:endParaRPr lang="en-US" sz="1000" noProof="1"/>
          </a:p>
          <a:p>
            <a:pPr>
              <a:lnSpc>
                <a:spcPct val="145000"/>
              </a:lnSpc>
              <a:spcBef>
                <a:spcPts val="800"/>
              </a:spcBef>
            </a:pPr>
            <a:r>
              <a:rPr lang="en-US" sz="1000" noProof="1">
                <a:solidFill>
                  <a:srgbClr val="1A2433"/>
                </a:solidFill>
                <a:latin typeface="Liter"/>
                <a:ea typeface="Liter"/>
              </a:rPr>
              <a:t>• Weaker on long, noisy input.</a:t>
            </a:r>
            <a:endParaRPr lang="en-US" sz="1000" noProof="1"/>
          </a:p>
          <a:p>
            <a:pPr>
              <a:lnSpc>
                <a:spcPct val="145000"/>
              </a:lnSpc>
              <a:spcBef>
                <a:spcPts val="800"/>
              </a:spcBef>
            </a:pPr>
            <a:r>
              <a:rPr lang="en-US" sz="1000" noProof="1">
                <a:solidFill>
                  <a:srgbClr val="1A2433"/>
                </a:solidFill>
                <a:latin typeface="Liter"/>
                <a:ea typeface="Liter"/>
              </a:rPr>
              <a:t>• Answers can be moved by planted text and by the order of the options.</a:t>
            </a:r>
            <a:endParaRPr lang="en-US" sz="1000" noProof="1"/>
          </a:p>
          <a:p>
            <a:pPr>
              <a:lnSpc>
                <a:spcPct val="145000"/>
              </a:lnSpc>
              <a:spcBef>
                <a:spcPts val="1200"/>
              </a:spcBef>
            </a:pPr>
            <a:r>
              <a:rPr lang="en-US" sz="1000" noProof="1">
                <a:solidFill>
                  <a:srgbClr val="5B6472"/>
                </a:solidFill>
                <a:latin typeface="Liter"/>
                <a:ea typeface="Liter"/>
              </a:rPr>
              <a:t>These limits shape the demo design and the pilot's test plan — they are reasons to gate and measure, not reasons to dismiss.</a:t>
            </a:r>
            <a:r>
              <a:rPr lang="en-US" sz="1000" noProof="1">
                <a:solidFill>
                  <a:srgbClr val="1A2433"/>
                </a:solidFill>
                <a:latin typeface="Liter"/>
                <a:ea typeface="Liter"/>
              </a:rPr>
              <a:t> </a:t>
            </a:r>
            <a:r>
              <a:rPr lang="en-US" sz="1000" noProof="1">
                <a:solidFill>
                  <a:srgbClr val="98A1AD"/>
                </a:solidFill>
                <a:latin typeface="Liter"/>
                <a:ea typeface="Liter"/>
              </a:rPr>
              <a:t>(Vendor claim; Judgement)</a:t>
            </a:r>
            <a:endParaRPr lang="en-US" sz="1000" noProof="1"/>
          </a:p>
        </p:txBody>
      </p:sp>
      <p:sp>
        <p:nvSpPr>
          <p:cNvPr id="23" name="footline"/>
          <p:cNvSpPr/>
          <p:nvPr/>
        </p:nvSpPr>
        <p:spPr>
          <a:xfrm>
            <a:off x="711200" y="6477000"/>
            <a:ext cx="10769600" cy="9525"/>
          </a:xfrm>
          <a:prstGeom prst="rect">
            <a:avLst/>
          </a:prstGeom>
          <a:solidFill>
            <a:srgbClr val="DCE3EB"/>
          </a:solidFill>
          <a:ln>
            <a:noFill/>
          </a:ln>
        </p:spPr>
      </p:sp>
      <p:sp>
        <p:nvSpPr>
          <p:cNvPr id="24"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TypeSafe documentation (jev-1.13) via research/independent-review-claude.md; results/facts.json (INC-0001, latency).</a:t>
            </a:r>
            <a:endParaRPr lang="en-US" sz="750" noProof="1"/>
          </a:p>
        </p:txBody>
      </p:sp>
      <p:sp>
        <p:nvSpPr>
          <p:cNvPr id="25"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7</a:t>
            </a:r>
            <a:endParaRPr lang="en-US" sz="800" noProof="1"/>
          </a:p>
        </p:txBody>
      </p:sp>
    </p:spTree>
  </p:cSld>
  <p:clrMapOvr>
    <a:masterClrMapping/>
  </p:clrMapOvr>
</p:sld>
</file>

<file path=ppt/slides/slide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WHAT A DECISION MODEL ADDS</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Jev would sit at three decision points — after the rules that run today, before a person</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f1"/>
          <p:cNvSpPr/>
          <p:nvPr/>
        </p:nvSpPr>
        <p:spPr>
          <a:xfrm>
            <a:off x="711200" y="1574800"/>
            <a:ext cx="2286000" cy="558800"/>
          </a:xfrm>
          <a:prstGeom prst="homePlate">
            <a:avLst>
              <a:gd name="adj" fmla="val 30000"/>
            </a:avLst>
          </a:prstGeom>
          <a:solidFill>
            <a:srgbClr val="EDF2F8"/>
          </a:solidFill>
          <a:ln>
            <a:noFill/>
          </a:ln>
        </p:spPr>
      </p:sp>
      <p:sp>
        <p:nvSpPr>
          <p:cNvPr id="6" name="f1-num"/>
          <p:cNvSpPr txBox="1"/>
          <p:nvPr/>
        </p:nvSpPr>
        <p:spPr>
          <a:xfrm>
            <a:off x="863600" y="1651000"/>
            <a:ext cx="2032000" cy="1778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1 · Existing rules</a:t>
            </a:r>
            <a:endParaRPr lang="en-US" sz="1050" noProof="1"/>
          </a:p>
        </p:txBody>
      </p:sp>
      <p:sp>
        <p:nvSpPr>
          <p:cNvPr id="7" name="f1-sub"/>
          <p:cNvSpPr txBox="1"/>
          <p:nvPr/>
        </p:nvSpPr>
        <p:spPr>
          <a:xfrm>
            <a:off x="863600" y="1854200"/>
            <a:ext cx="2032000" cy="165100"/>
          </a:xfrm>
          <a:prstGeom prst="rect">
            <a:avLst/>
          </a:prstGeom>
          <a:noFill/>
          <a:ln>
            <a:noFill/>
          </a:ln>
        </p:spPr>
        <p:txBody>
          <a:bodyPr lIns="0" rIns="0" tIns="0" bIns="0" wrap="none" rtlCol="0"/>
          <a:lstStyle/>
          <a:p>
            <a:pPr>
              <a:lnSpc>
                <a:spcPct val="120000"/>
              </a:lnSpc>
            </a:pPr>
            <a:r>
              <a:rPr lang="en-US" sz="850" noProof="1">
                <a:solidFill>
                  <a:srgbClr val="5B6472"/>
                </a:solidFill>
                <a:latin typeface="Liter"/>
                <a:ea typeface="Liter"/>
              </a:rPr>
              <a:t>Known cases, as today</a:t>
            </a:r>
            <a:endParaRPr lang="en-US" sz="850" noProof="1"/>
          </a:p>
        </p:txBody>
      </p:sp>
      <p:sp>
        <p:nvSpPr>
          <p:cNvPr id="8" name="f2"/>
          <p:cNvSpPr/>
          <p:nvPr/>
        </p:nvSpPr>
        <p:spPr>
          <a:xfrm>
            <a:off x="3505200" y="1574800"/>
            <a:ext cx="2286000" cy="558800"/>
          </a:xfrm>
          <a:prstGeom prst="homePlate">
            <a:avLst>
              <a:gd name="adj" fmla="val 30000"/>
            </a:avLst>
          </a:prstGeom>
          <a:solidFill>
            <a:srgbClr val="16365C"/>
          </a:solidFill>
          <a:ln>
            <a:noFill/>
          </a:ln>
        </p:spPr>
      </p:sp>
      <p:sp>
        <p:nvSpPr>
          <p:cNvPr id="9" name="f2-num"/>
          <p:cNvSpPr txBox="1"/>
          <p:nvPr/>
        </p:nvSpPr>
        <p:spPr>
          <a:xfrm>
            <a:off x="3657600" y="1651000"/>
            <a:ext cx="2032000" cy="177800"/>
          </a:xfrm>
          <a:prstGeom prst="rect">
            <a:avLst/>
          </a:prstGeom>
          <a:noFill/>
          <a:ln>
            <a:noFill/>
          </a:ln>
        </p:spPr>
        <p:txBody>
          <a:bodyPr lIns="0" rIns="0" tIns="0" bIns="0" wrap="none" rtlCol="0"/>
          <a:lstStyle/>
          <a:p>
            <a:pPr>
              <a:lnSpc>
                <a:spcPct val="120000"/>
              </a:lnSpc>
            </a:pPr>
            <a:r>
              <a:rPr lang="en-US" sz="1050" noProof="1" b="1">
                <a:solidFill>
                  <a:srgbClr val="FFFFFF"/>
                </a:solidFill>
                <a:latin typeface="Liter"/>
                <a:ea typeface="Liter"/>
              </a:rPr>
              <a:t>2 · Jev</a:t>
            </a:r>
            <a:endParaRPr lang="en-US" sz="1050" noProof="1"/>
          </a:p>
        </p:txBody>
      </p:sp>
      <p:sp>
        <p:nvSpPr>
          <p:cNvPr id="10" name="f2-sub"/>
          <p:cNvSpPr txBox="1"/>
          <p:nvPr/>
        </p:nvSpPr>
        <p:spPr>
          <a:xfrm>
            <a:off x="3657600" y="1854200"/>
            <a:ext cx="2032000" cy="165100"/>
          </a:xfrm>
          <a:prstGeom prst="rect">
            <a:avLst/>
          </a:prstGeom>
          <a:noFill/>
          <a:ln>
            <a:noFill/>
          </a:ln>
        </p:spPr>
        <p:txBody>
          <a:bodyPr lIns="0" rIns="0" tIns="0" bIns="0" wrap="none" rtlCol="0"/>
          <a:lstStyle/>
          <a:p>
            <a:pPr>
              <a:lnSpc>
                <a:spcPct val="120000"/>
              </a:lnSpc>
            </a:pPr>
            <a:r>
              <a:rPr lang="en-US" sz="850" noProof="1">
                <a:solidFill>
                  <a:srgbClr val="CBD9E8"/>
                </a:solidFill>
                <a:latin typeface="Liter"/>
                <a:ea typeface="Liter"/>
              </a:rPr>
              <a:t>The judgment call, with probabilities</a:t>
            </a:r>
            <a:endParaRPr lang="en-US" sz="850" noProof="1"/>
          </a:p>
        </p:txBody>
      </p:sp>
      <p:sp>
        <p:nvSpPr>
          <p:cNvPr id="11" name="f3"/>
          <p:cNvSpPr/>
          <p:nvPr/>
        </p:nvSpPr>
        <p:spPr>
          <a:xfrm>
            <a:off x="6299200" y="1574800"/>
            <a:ext cx="2286000" cy="558800"/>
          </a:xfrm>
          <a:prstGeom prst="homePlate">
            <a:avLst>
              <a:gd name="adj" fmla="val 30000"/>
            </a:avLst>
          </a:prstGeom>
          <a:solidFill>
            <a:srgbClr val="EDF2F8"/>
          </a:solidFill>
          <a:ln>
            <a:noFill/>
          </a:ln>
        </p:spPr>
      </p:sp>
      <p:sp>
        <p:nvSpPr>
          <p:cNvPr id="12" name="f3-num"/>
          <p:cNvSpPr txBox="1"/>
          <p:nvPr/>
        </p:nvSpPr>
        <p:spPr>
          <a:xfrm>
            <a:off x="6451600" y="1651000"/>
            <a:ext cx="2032000" cy="1778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3 · Gate in owned code</a:t>
            </a:r>
            <a:endParaRPr lang="en-US" sz="1050" noProof="1"/>
          </a:p>
        </p:txBody>
      </p:sp>
      <p:sp>
        <p:nvSpPr>
          <p:cNvPr id="13" name="f3-sub"/>
          <p:cNvSpPr txBox="1"/>
          <p:nvPr/>
        </p:nvSpPr>
        <p:spPr>
          <a:xfrm>
            <a:off x="6451600" y="1854200"/>
            <a:ext cx="2032000" cy="165100"/>
          </a:xfrm>
          <a:prstGeom prst="rect">
            <a:avLst/>
          </a:prstGeom>
          <a:noFill/>
          <a:ln>
            <a:noFill/>
          </a:ln>
        </p:spPr>
        <p:txBody>
          <a:bodyPr lIns="0" rIns="0" tIns="0" bIns="0" wrap="none" rtlCol="0"/>
          <a:lstStyle/>
          <a:p>
            <a:pPr>
              <a:lnSpc>
                <a:spcPct val="120000"/>
              </a:lnSpc>
            </a:pPr>
            <a:r>
              <a:rPr lang="en-US" sz="850" noProof="1">
                <a:solidFill>
                  <a:srgbClr val="5B6472"/>
                </a:solidFill>
                <a:latin typeface="Liter"/>
                <a:ea typeface="Liter"/>
              </a:rPr>
              <a:t>Act, ask a person, or log</a:t>
            </a:r>
            <a:endParaRPr lang="en-US" sz="850" noProof="1"/>
          </a:p>
        </p:txBody>
      </p:sp>
      <p:sp>
        <p:nvSpPr>
          <p:cNvPr id="14" name="f4"/>
          <p:cNvSpPr/>
          <p:nvPr/>
        </p:nvSpPr>
        <p:spPr>
          <a:xfrm>
            <a:off x="9093200" y="1574800"/>
            <a:ext cx="2387600" cy="558800"/>
          </a:xfrm>
          <a:prstGeom prst="homePlate">
            <a:avLst>
              <a:gd name="adj" fmla="val 30000"/>
            </a:avLst>
          </a:prstGeom>
          <a:solidFill>
            <a:srgbClr val="EDF2F8"/>
          </a:solidFill>
          <a:ln>
            <a:noFill/>
          </a:ln>
        </p:spPr>
      </p:sp>
      <p:sp>
        <p:nvSpPr>
          <p:cNvPr id="15" name="f4-num"/>
          <p:cNvSpPr txBox="1"/>
          <p:nvPr/>
        </p:nvSpPr>
        <p:spPr>
          <a:xfrm>
            <a:off x="9245600" y="1651000"/>
            <a:ext cx="2133600" cy="1778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4 · A person</a:t>
            </a:r>
            <a:endParaRPr lang="en-US" sz="1050" noProof="1"/>
          </a:p>
        </p:txBody>
      </p:sp>
      <p:sp>
        <p:nvSpPr>
          <p:cNvPr id="16" name="f4-sub"/>
          <p:cNvSpPr txBox="1"/>
          <p:nvPr/>
        </p:nvSpPr>
        <p:spPr>
          <a:xfrm>
            <a:off x="9245600" y="1854200"/>
            <a:ext cx="2133600" cy="165100"/>
          </a:xfrm>
          <a:prstGeom prst="rect">
            <a:avLst/>
          </a:prstGeom>
          <a:noFill/>
          <a:ln>
            <a:noFill/>
          </a:ln>
        </p:spPr>
        <p:txBody>
          <a:bodyPr lIns="0" rIns="0" tIns="0" bIns="0" wrap="none" rtlCol="0"/>
          <a:lstStyle/>
          <a:p>
            <a:pPr>
              <a:lnSpc>
                <a:spcPct val="120000"/>
              </a:lnSpc>
            </a:pPr>
            <a:r>
              <a:rPr lang="en-US" sz="850" noProof="1">
                <a:solidFill>
                  <a:srgbClr val="5B6472"/>
                </a:solidFill>
                <a:latin typeface="Liter"/>
                <a:ea typeface="Liter"/>
              </a:rPr>
              <a:t>Whenever the gate isn't sure</a:t>
            </a:r>
            <a:endParaRPr lang="en-US" sz="850" noProof="1"/>
          </a:p>
        </p:txBody>
      </p:sp>
      <p:sp>
        <p:nvSpPr>
          <p:cNvPr id="17" name="d1-head"/>
          <p:cNvSpPr txBox="1"/>
          <p:nvPr/>
        </p:nvSpPr>
        <p:spPr>
          <a:xfrm>
            <a:off x="711200" y="2489200"/>
            <a:ext cx="3454400" cy="1905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Whose is it? — Routing</a:t>
            </a:r>
            <a:endParaRPr lang="en-US" sz="1100" noProof="1"/>
          </a:p>
        </p:txBody>
      </p:sp>
      <p:sp>
        <p:nvSpPr>
          <p:cNvPr id="18" name="d1-body"/>
          <p:cNvSpPr txBox="1"/>
          <p:nvPr/>
        </p:nvSpPr>
        <p:spPr>
          <a:xfrm>
            <a:off x="711200" y="2717800"/>
            <a:ext cx="3454400" cy="762000"/>
          </a:xfrm>
          <a:prstGeom prst="rect">
            <a:avLst/>
          </a:prstGeom>
          <a:noFill/>
          <a:ln>
            <a:noFill/>
          </a:ln>
        </p:spPr>
        <p:txBody>
          <a:bodyPr lIns="0" rIns="0" tIns="0" bIns="0" wrap="square" rtlCol="0"/>
          <a:lstStyle/>
          <a:p>
            <a:pPr>
              <a:lnSpc>
                <a:spcPct val="140000"/>
              </a:lnSpc>
            </a:pPr>
            <a:r>
              <a:rPr lang="en-US" sz="950" noProof="1">
                <a:solidFill>
                  <a:srgbClr val="1A2433"/>
                </a:solidFill>
                <a:latin typeface="Liter"/>
                <a:ea typeface="Liter"/>
              </a:rPr>
              <a:t>Pick the assignment group from the ticket text and send it straight to the team that resolves it.</a:t>
            </a:r>
            <a:endParaRPr lang="en-US" sz="950" noProof="1"/>
          </a:p>
        </p:txBody>
      </p:sp>
      <p:sp>
        <p:nvSpPr>
          <p:cNvPr id="19" name="d1-from"/>
          <p:cNvSpPr txBox="1"/>
          <p:nvPr/>
        </p:nvSpPr>
        <p:spPr>
          <a:xfrm>
            <a:off x="711200" y="3530600"/>
            <a:ext cx="3454400" cy="355600"/>
          </a:xfrm>
          <a:prstGeom prst="rect">
            <a:avLst/>
          </a:prstGeom>
          <a:noFill/>
          <a:ln>
            <a:noFill/>
          </a:ln>
        </p:spPr>
        <p:txBody>
          <a:bodyPr lIns="0" rIns="0" tIns="0" bIns="0" wrap="square" rtlCol="0"/>
          <a:lstStyle/>
          <a:p>
            <a:pPr>
              <a:lnSpc>
                <a:spcPct val="135000"/>
              </a:lnSpc>
            </a:pPr>
            <a:r>
              <a:rPr lang="en-US" sz="850" noProof="1">
                <a:solidFill>
                  <a:srgbClr val="98A1AD"/>
                </a:solidFill>
                <a:latin typeface="Liter"/>
                <a:ea typeface="Liter"/>
              </a:rPr>
              <a:t>Called from: a ServiceNow assignment rule or Flow Designer step</a:t>
            </a:r>
            <a:endParaRPr lang="en-US" sz="850" noProof="1"/>
          </a:p>
        </p:txBody>
      </p:sp>
      <p:sp>
        <p:nvSpPr>
          <p:cNvPr id="20" name="d2-head"/>
          <p:cNvSpPr txBox="1"/>
          <p:nvPr/>
        </p:nvSpPr>
        <p:spPr>
          <a:xfrm>
            <a:off x="4368800" y="2489200"/>
            <a:ext cx="3454400" cy="1905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How bad is it? — Triage</a:t>
            </a:r>
            <a:endParaRPr lang="en-US" sz="1100" noProof="1"/>
          </a:p>
        </p:txBody>
      </p:sp>
      <p:sp>
        <p:nvSpPr>
          <p:cNvPr id="21" name="d2-body"/>
          <p:cNvSpPr txBox="1"/>
          <p:nvPr/>
        </p:nvSpPr>
        <p:spPr>
          <a:xfrm>
            <a:off x="4368800" y="2717800"/>
            <a:ext cx="3454400" cy="762000"/>
          </a:xfrm>
          <a:prstGeom prst="rect">
            <a:avLst/>
          </a:prstGeom>
          <a:noFill/>
          <a:ln>
            <a:noFill/>
          </a:ln>
        </p:spPr>
        <p:txBody>
          <a:bodyPr lIns="0" rIns="0" tIns="0" bIns="0" wrap="square" rtlCol="0"/>
          <a:lstStyle/>
          <a:p>
            <a:pPr>
              <a:lnSpc>
                <a:spcPct val="140000"/>
              </a:lnSpc>
            </a:pPr>
            <a:r>
              <a:rPr lang="en-US" sz="950" noProof="1">
                <a:solidFill>
                  <a:srgbClr val="1A2433"/>
                </a:solidFill>
                <a:latin typeface="Liter"/>
                <a:ea typeface="Liter"/>
              </a:rPr>
              <a:t>Rate severity, flag a likely major incident, and decide whether to wake someone.</a:t>
            </a:r>
            <a:endParaRPr lang="en-US" sz="950" noProof="1"/>
          </a:p>
        </p:txBody>
      </p:sp>
      <p:sp>
        <p:nvSpPr>
          <p:cNvPr id="22" name="d2-from"/>
          <p:cNvSpPr txBox="1"/>
          <p:nvPr/>
        </p:nvSpPr>
        <p:spPr>
          <a:xfrm>
            <a:off x="4368800" y="3530600"/>
            <a:ext cx="3454400" cy="355600"/>
          </a:xfrm>
          <a:prstGeom prst="rect">
            <a:avLst/>
          </a:prstGeom>
          <a:noFill/>
          <a:ln>
            <a:noFill/>
          </a:ln>
        </p:spPr>
        <p:txBody>
          <a:bodyPr lIns="0" rIns="0" tIns="0" bIns="0" wrap="square" rtlCol="0"/>
          <a:lstStyle/>
          <a:p>
            <a:pPr>
              <a:lnSpc>
                <a:spcPct val="135000"/>
              </a:lnSpc>
            </a:pPr>
            <a:r>
              <a:rPr lang="en-US" sz="850" noProof="1">
                <a:solidFill>
                  <a:srgbClr val="98A1AD"/>
                </a:solidFill>
                <a:latin typeface="Liter"/>
                <a:ea typeface="Liter"/>
              </a:rPr>
              <a:t>Called from: PagerDuty Event Orchestration or a ServiceNow flow</a:t>
            </a:r>
            <a:endParaRPr lang="en-US" sz="850" noProof="1"/>
          </a:p>
        </p:txBody>
      </p:sp>
      <p:sp>
        <p:nvSpPr>
          <p:cNvPr id="23" name="d3-head"/>
          <p:cNvSpPr txBox="1"/>
          <p:nvPr/>
        </p:nvSpPr>
        <p:spPr>
          <a:xfrm>
            <a:off x="8026400" y="2489200"/>
            <a:ext cx="3454400" cy="1905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Should the fix run? — Gate</a:t>
            </a:r>
            <a:endParaRPr lang="en-US" sz="1100" noProof="1"/>
          </a:p>
        </p:txBody>
      </p:sp>
      <p:sp>
        <p:nvSpPr>
          <p:cNvPr id="24" name="d3-body"/>
          <p:cNvSpPr txBox="1"/>
          <p:nvPr/>
        </p:nvSpPr>
        <p:spPr>
          <a:xfrm>
            <a:off x="8026400" y="2717800"/>
            <a:ext cx="3454400" cy="762000"/>
          </a:xfrm>
          <a:prstGeom prst="rect">
            <a:avLst/>
          </a:prstGeom>
          <a:noFill/>
          <a:ln>
            <a:noFill/>
          </a:ln>
        </p:spPr>
        <p:txBody>
          <a:bodyPr lIns="0" rIns="0" tIns="0" bIns="0" wrap="square" rtlCol="0"/>
          <a:lstStyle/>
          <a:p>
            <a:pPr>
              <a:lnSpc>
                <a:spcPct val="140000"/>
              </a:lnSpc>
            </a:pPr>
            <a:r>
              <a:rPr lang="en-US" sz="950" noProof="1">
                <a:solidFill>
                  <a:srgbClr val="1A2433"/>
                </a:solidFill>
                <a:latin typeface="Liter"/>
                <a:ea typeface="Liter"/>
              </a:rPr>
              <a:t>Check that a rollback, restart or scale-up fits this incident before it executes.</a:t>
            </a:r>
            <a:endParaRPr lang="en-US" sz="950" noProof="1"/>
          </a:p>
        </p:txBody>
      </p:sp>
      <p:sp>
        <p:nvSpPr>
          <p:cNvPr id="25" name="d3-from"/>
          <p:cNvSpPr txBox="1"/>
          <p:nvPr/>
        </p:nvSpPr>
        <p:spPr>
          <a:xfrm>
            <a:off x="8026400" y="3530600"/>
            <a:ext cx="3454400" cy="355600"/>
          </a:xfrm>
          <a:prstGeom prst="rect">
            <a:avLst/>
          </a:prstGeom>
          <a:noFill/>
          <a:ln>
            <a:noFill/>
          </a:ln>
        </p:spPr>
        <p:txBody>
          <a:bodyPr lIns="0" rIns="0" tIns="0" bIns="0" wrap="square" rtlCol="0"/>
          <a:lstStyle/>
          <a:p>
            <a:pPr>
              <a:lnSpc>
                <a:spcPct val="135000"/>
              </a:lnSpc>
            </a:pPr>
            <a:r>
              <a:rPr lang="en-US" sz="850" noProof="1">
                <a:solidFill>
                  <a:srgbClr val="98A1AD"/>
                </a:solidFill>
                <a:latin typeface="Liter"/>
                <a:ea typeface="Liter"/>
              </a:rPr>
              <a:t>Called from: Rundeck, Ansible or Flow Designer, before execution</a:t>
            </a:r>
            <a:endParaRPr lang="en-US" sz="850" noProof="1"/>
          </a:p>
        </p:txBody>
      </p:sp>
      <p:sp>
        <p:nvSpPr>
          <p:cNvPr id="26" name="sep"/>
          <p:cNvSpPr/>
          <p:nvPr/>
        </p:nvSpPr>
        <p:spPr>
          <a:xfrm>
            <a:off x="711200" y="4089400"/>
            <a:ext cx="10769600" cy="9525"/>
          </a:xfrm>
          <a:prstGeom prst="rect">
            <a:avLst/>
          </a:prstGeom>
          <a:solidFill>
            <a:srgbClr val="DCE3EB"/>
          </a:solidFill>
          <a:ln>
            <a:noFill/>
          </a:ln>
        </p:spPr>
      </p:sp>
      <p:sp>
        <p:nvSpPr>
          <p:cNvPr id="27" name="audit-bg"/>
          <p:cNvSpPr/>
          <p:nvPr/>
        </p:nvSpPr>
        <p:spPr>
          <a:xfrm>
            <a:off x="711200" y="4292600"/>
            <a:ext cx="10769600" cy="1524000"/>
          </a:xfrm>
          <a:prstGeom prst="rect">
            <a:avLst/>
          </a:prstGeom>
          <a:solidFill>
            <a:srgbClr val="EDF2F8"/>
          </a:solidFill>
          <a:ln>
            <a:noFill/>
          </a:ln>
        </p:spPr>
      </p:sp>
      <p:sp>
        <p:nvSpPr>
          <p:cNvPr id="28" name="audit-head"/>
          <p:cNvSpPr txBox="1"/>
          <p:nvPr/>
        </p:nvSpPr>
        <p:spPr>
          <a:xfrm>
            <a:off x="965200" y="4470400"/>
            <a:ext cx="102616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Every call is accountable</a:t>
            </a:r>
            <a:endParaRPr lang="en-US" sz="1100" noProof="1"/>
          </a:p>
        </p:txBody>
      </p:sp>
      <p:sp>
        <p:nvSpPr>
          <p:cNvPr id="29" name="audit-body"/>
          <p:cNvSpPr txBox="1"/>
          <p:nvPr/>
        </p:nvSpPr>
        <p:spPr>
          <a:xfrm>
            <a:off x="965200" y="4724400"/>
            <a:ext cx="10261600" cy="914400"/>
          </a:xfrm>
          <a:prstGeom prst="rect">
            <a:avLst/>
          </a:prstGeom>
          <a:noFill/>
          <a:ln>
            <a:noFill/>
          </a:ln>
        </p:spPr>
        <p:txBody>
          <a:bodyPr lIns="0" rIns="0" tIns="0" bIns="0" wrap="square" rtlCol="0"/>
          <a:lstStyle/>
          <a:p>
            <a:pPr>
              <a:lnSpc>
                <a:spcPct val="150000"/>
              </a:lnSpc>
            </a:pPr>
            <a:r>
              <a:rPr lang="en-US" sz="1000" noProof="1">
                <a:solidFill>
                  <a:srgbClr val="1A2433"/>
                </a:solidFill>
                <a:latin typeface="Liter"/>
                <a:ea typeface="Liter"/>
              </a:rPr>
              <a:t>Each decision is logged with the question, the answer, its probability, the model version and the threshold that acted — so any decision can be explained months later, to an auditor or a regulator.</a:t>
            </a:r>
            <a:endParaRPr lang="en-US" sz="1000" noProof="1"/>
          </a:p>
          <a:p>
            <a:pPr>
              <a:lnSpc>
                <a:spcPct val="150000"/>
              </a:lnSpc>
              <a:spcBef>
                <a:spcPts val="800"/>
              </a:spcBef>
            </a:pPr>
            <a:r>
              <a:rPr lang="en-US" sz="1000" noProof="1">
                <a:solidFill>
                  <a:srgbClr val="5B6472"/>
                </a:solidFill>
                <a:latin typeface="Liter"/>
                <a:ea typeface="Liter"/>
              </a:rPr>
              <a:t>Ingestion, correlation, runbooks and the ticket record stay where they are. Nothing about the existing stack needs to move.</a:t>
            </a:r>
            <a:endParaRPr lang="en-US" sz="1000" noProof="1"/>
          </a:p>
        </p:txBody>
      </p:sp>
      <p:sp>
        <p:nvSpPr>
          <p:cNvPr id="30" name="footline"/>
          <p:cNvSpPr/>
          <p:nvPr/>
        </p:nvSpPr>
        <p:spPr>
          <a:xfrm>
            <a:off x="711200" y="6477000"/>
            <a:ext cx="10769600" cy="9525"/>
          </a:xfrm>
          <a:prstGeom prst="rect">
            <a:avLst/>
          </a:prstGeom>
          <a:solidFill>
            <a:srgbClr val="DCE3EB"/>
          </a:solidFill>
          <a:ln>
            <a:noFill/>
          </a:ln>
        </p:spPr>
      </p:sp>
      <p:sp>
        <p:nvSpPr>
          <p:cNvPr id="31"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research/independent-review-claude.md (integration with ServiceNow and PagerDuty); zeroops/policy.py.</a:t>
            </a:r>
            <a:endParaRPr lang="en-US" sz="750" noProof="1"/>
          </a:p>
        </p:txBody>
      </p:sp>
      <p:sp>
        <p:nvSpPr>
          <p:cNvPr id="32"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8</a:t>
            </a:r>
            <a:endParaRPr lang="en-US" sz="800" noProof="1"/>
          </a:p>
        </p:txBody>
      </p:sp>
    </p:spTree>
  </p:cSld>
  <p:clrMapOvr>
    <a:masterClrMapping/>
  </p:clrMapOvr>
</p:sld>
</file>

<file path=ppt/slides/slide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EVIDENCE</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To make it concrete, we built a working demo — 56 synthetic incidents, 12 questions, one gate, four models</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fl1-head"/>
          <p:cNvSpPr txBox="1"/>
          <p:nvPr/>
        </p:nvSpPr>
        <p:spPr>
          <a:xfrm>
            <a:off x="711200" y="1600200"/>
            <a:ext cx="2413000" cy="1905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Incident text</a:t>
            </a:r>
            <a:endParaRPr lang="en-US" sz="1050" noProof="1"/>
          </a:p>
        </p:txBody>
      </p:sp>
      <p:sp>
        <p:nvSpPr>
          <p:cNvPr id="6" name="fl1-body"/>
          <p:cNvSpPr txBox="1"/>
          <p:nvPr/>
        </p:nvSpPr>
        <p:spPr>
          <a:xfrm>
            <a:off x="711200" y="1828800"/>
            <a:ext cx="2413000" cy="762000"/>
          </a:xfrm>
          <a:prstGeom prst="rect">
            <a:avLst/>
          </a:prstGeom>
          <a:noFill/>
          <a:ln>
            <a:noFill/>
          </a:ln>
        </p:spPr>
        <p:txBody>
          <a:bodyPr lIns="0" rIns="0" tIns="0" bIns="0" wrap="square" rtlCol="0"/>
          <a:lstStyle/>
          <a:p>
            <a:pPr>
              <a:lnSpc>
                <a:spcPct val="140000"/>
              </a:lnSpc>
            </a:pPr>
            <a:r>
              <a:rPr lang="en-US" sz="900" noProof="1">
                <a:solidFill>
                  <a:srgbClr val="5B6472"/>
                </a:solidFill>
                <a:latin typeface="Liter"/>
                <a:ea typeface="Liter"/>
              </a:rPr>
              <a:t>Alert, metrics, recent changes, logs, dependencies (34–45 words)</a:t>
            </a:r>
            <a:endParaRPr lang="en-US" sz="900" noProof="1"/>
          </a:p>
        </p:txBody>
      </p:sp>
      <p:sp>
        <p:nvSpPr>
          <p:cNvPr id="7" name="ar1"/>
          <p:cNvSpPr/>
          <p:nvPr/>
        </p:nvSpPr>
        <p:spPr>
          <a:xfrm>
            <a:off x="3200400" y="1981200"/>
            <a:ext cx="330200" cy="152400"/>
          </a:xfrm>
          <a:prstGeom prst="rightArrow">
            <a:avLst>
              <a:gd name="adj1" fmla="val 50000"/>
              <a:gd name="adj2" fmla="val 50000"/>
            </a:avLst>
          </a:prstGeom>
          <a:solidFill>
            <a:srgbClr val="CBD9E8"/>
          </a:solidFill>
          <a:ln>
            <a:noFill/>
          </a:ln>
        </p:spPr>
      </p:sp>
      <p:sp>
        <p:nvSpPr>
          <p:cNvPr id="8" name="fl2-head"/>
          <p:cNvSpPr txBox="1"/>
          <p:nvPr/>
        </p:nvSpPr>
        <p:spPr>
          <a:xfrm>
            <a:off x="3657600" y="1600200"/>
            <a:ext cx="2413000" cy="1905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12 typed questions, one call</a:t>
            </a:r>
            <a:endParaRPr lang="en-US" sz="1050" noProof="1"/>
          </a:p>
        </p:txBody>
      </p:sp>
      <p:sp>
        <p:nvSpPr>
          <p:cNvPr id="9" name="fl2-body"/>
          <p:cNvSpPr txBox="1"/>
          <p:nvPr/>
        </p:nvSpPr>
        <p:spPr>
          <a:xfrm>
            <a:off x="3657600" y="1828800"/>
            <a:ext cx="2413000" cy="762000"/>
          </a:xfrm>
          <a:prstGeom prst="rect">
            <a:avLst/>
          </a:prstGeom>
          <a:noFill/>
          <a:ln>
            <a:noFill/>
          </a:ln>
        </p:spPr>
        <p:txBody>
          <a:bodyPr lIns="0" rIns="0" tIns="0" bIns="0" wrap="square" rtlCol="0"/>
          <a:lstStyle/>
          <a:p>
            <a:pPr>
              <a:lnSpc>
                <a:spcPct val="140000"/>
              </a:lnSpc>
            </a:pPr>
            <a:r>
              <a:rPr lang="en-US" sz="900" noProof="1">
                <a:solidFill>
                  <a:srgbClr val="5B6472"/>
                </a:solidFill>
                <a:latin typeface="Liter"/>
                <a:ea typeface="Liter"/>
              </a:rPr>
              <a:t>Real? Category? Cause? Severity? Action? Page a human?</a:t>
            </a:r>
            <a:endParaRPr lang="en-US" sz="900" noProof="1"/>
          </a:p>
        </p:txBody>
      </p:sp>
      <p:sp>
        <p:nvSpPr>
          <p:cNvPr id="10" name="ar2"/>
          <p:cNvSpPr/>
          <p:nvPr/>
        </p:nvSpPr>
        <p:spPr>
          <a:xfrm>
            <a:off x="6146800" y="1981200"/>
            <a:ext cx="330200" cy="152400"/>
          </a:xfrm>
          <a:prstGeom prst="rightArrow">
            <a:avLst>
              <a:gd name="adj1" fmla="val 50000"/>
              <a:gd name="adj2" fmla="val 50000"/>
            </a:avLst>
          </a:prstGeom>
          <a:solidFill>
            <a:srgbClr val="CBD9E8"/>
          </a:solidFill>
          <a:ln>
            <a:noFill/>
          </a:ln>
        </p:spPr>
      </p:sp>
      <p:sp>
        <p:nvSpPr>
          <p:cNvPr id="11" name="fl3-head"/>
          <p:cNvSpPr txBox="1"/>
          <p:nvPr/>
        </p:nvSpPr>
        <p:spPr>
          <a:xfrm>
            <a:off x="6604000" y="1600200"/>
            <a:ext cx="2413000" cy="1905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Gate in plain Python</a:t>
            </a:r>
            <a:endParaRPr lang="en-US" sz="1050" noProof="1"/>
          </a:p>
        </p:txBody>
      </p:sp>
      <p:sp>
        <p:nvSpPr>
          <p:cNvPr id="12" name="fl3-body"/>
          <p:cNvSpPr txBox="1"/>
          <p:nvPr/>
        </p:nvSpPr>
        <p:spPr>
          <a:xfrm>
            <a:off x="6604000" y="1828800"/>
            <a:ext cx="2413000" cy="762000"/>
          </a:xfrm>
          <a:prstGeom prst="rect">
            <a:avLst/>
          </a:prstGeom>
          <a:noFill/>
          <a:ln>
            <a:noFill/>
          </a:ln>
        </p:spPr>
        <p:txBody>
          <a:bodyPr lIns="0" rIns="0" tIns="0" bIns="0" wrap="square" rtlCol="0"/>
          <a:lstStyle/>
          <a:p>
            <a:pPr>
              <a:lnSpc>
                <a:spcPct val="140000"/>
              </a:lnSpc>
            </a:pPr>
            <a:r>
              <a:rPr lang="en-US" sz="900" noProof="1">
                <a:solidFill>
                  <a:srgbClr val="5B6472"/>
                </a:solidFill>
                <a:latin typeface="Liter"/>
                <a:ea typeface="Liter"/>
              </a:rPr>
              <a:t>Thresholds anyone can read, checked top to bottom</a:t>
            </a:r>
            <a:endParaRPr lang="en-US" sz="900" noProof="1"/>
          </a:p>
        </p:txBody>
      </p:sp>
      <p:sp>
        <p:nvSpPr>
          <p:cNvPr id="13" name="ar3"/>
          <p:cNvSpPr/>
          <p:nvPr/>
        </p:nvSpPr>
        <p:spPr>
          <a:xfrm>
            <a:off x="9093200" y="1981200"/>
            <a:ext cx="330200" cy="152400"/>
          </a:xfrm>
          <a:prstGeom prst="rightArrow">
            <a:avLst>
              <a:gd name="adj1" fmla="val 50000"/>
              <a:gd name="adj2" fmla="val 50000"/>
            </a:avLst>
          </a:prstGeom>
          <a:solidFill>
            <a:srgbClr val="CBD9E8"/>
          </a:solidFill>
          <a:ln>
            <a:noFill/>
          </a:ln>
        </p:spPr>
      </p:sp>
      <p:sp>
        <p:nvSpPr>
          <p:cNvPr id="14" name="fl4-head"/>
          <p:cNvSpPr txBox="1"/>
          <p:nvPr/>
        </p:nvSpPr>
        <p:spPr>
          <a:xfrm>
            <a:off x="9550400" y="1600200"/>
            <a:ext cx="1930400" cy="190500"/>
          </a:xfrm>
          <a:prstGeom prst="rect">
            <a:avLst/>
          </a:prstGeom>
          <a:noFill/>
          <a:ln>
            <a:noFill/>
          </a:ln>
        </p:spPr>
        <p:txBody>
          <a:bodyPr lIns="0" rIns="0" tIns="0" bIns="0" wrap="none" rtlCol="0"/>
          <a:lstStyle/>
          <a:p>
            <a:pPr>
              <a:lnSpc>
                <a:spcPct val="120000"/>
              </a:lnSpc>
            </a:pPr>
            <a:r>
              <a:rPr lang="en-US" sz="1050" noProof="1" b="1">
                <a:solidFill>
                  <a:srgbClr val="1A2433"/>
                </a:solidFill>
                <a:latin typeface="Liter"/>
                <a:ea typeface="Liter"/>
              </a:rPr>
              <a:t>AUTO, ESCALATE, OBSERVE</a:t>
            </a:r>
            <a:endParaRPr lang="en-US" sz="1050" noProof="1"/>
          </a:p>
        </p:txBody>
      </p:sp>
      <p:sp>
        <p:nvSpPr>
          <p:cNvPr id="15" name="fl4-body"/>
          <p:cNvSpPr txBox="1"/>
          <p:nvPr/>
        </p:nvSpPr>
        <p:spPr>
          <a:xfrm>
            <a:off x="9550400" y="1828800"/>
            <a:ext cx="1930400" cy="762000"/>
          </a:xfrm>
          <a:prstGeom prst="rect">
            <a:avLst/>
          </a:prstGeom>
          <a:noFill/>
          <a:ln>
            <a:noFill/>
          </a:ln>
        </p:spPr>
        <p:txBody>
          <a:bodyPr lIns="0" rIns="0" tIns="0" bIns="0" wrap="square" rtlCol="0"/>
          <a:lstStyle/>
          <a:p>
            <a:pPr>
              <a:lnSpc>
                <a:spcPct val="140000"/>
              </a:lnSpc>
            </a:pPr>
            <a:r>
              <a:rPr lang="en-US" sz="900" noProof="1">
                <a:solidFill>
                  <a:srgbClr val="5B6472"/>
                </a:solidFill>
                <a:latin typeface="Liter"/>
                <a:ea typeface="Liter"/>
              </a:rPr>
              <a:t>With a written reason and every margin logged</a:t>
            </a:r>
            <a:endParaRPr lang="en-US" sz="900" noProof="1"/>
          </a:p>
        </p:txBody>
      </p:sp>
      <p:sp>
        <p:nvSpPr>
          <p:cNvPr id="16" name="sep"/>
          <p:cNvSpPr/>
          <p:nvPr/>
        </p:nvSpPr>
        <p:spPr>
          <a:xfrm>
            <a:off x="711200" y="2768600"/>
            <a:ext cx="10769600" cy="9525"/>
          </a:xfrm>
          <a:prstGeom prst="rect">
            <a:avLst/>
          </a:prstGeom>
          <a:solidFill>
            <a:srgbClr val="DCE3EB"/>
          </a:solidFill>
          <a:ln>
            <a:noFill/>
          </a:ln>
        </p:spPr>
      </p:sp>
      <p:sp>
        <p:nvSpPr>
          <p:cNvPr id="17" name="inside-head"/>
          <p:cNvSpPr txBox="1"/>
          <p:nvPr/>
        </p:nvSpPr>
        <p:spPr>
          <a:xfrm>
            <a:off x="711200" y="2946400"/>
            <a:ext cx="5080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What's in it</a:t>
            </a:r>
            <a:endParaRPr lang="en-US" sz="1100" noProof="1"/>
          </a:p>
        </p:txBody>
      </p:sp>
      <p:sp>
        <p:nvSpPr>
          <p:cNvPr id="18" name="inside-body"/>
          <p:cNvSpPr txBox="1"/>
          <p:nvPr/>
        </p:nvSpPr>
        <p:spPr>
          <a:xfrm>
            <a:off x="711200" y="3225800"/>
            <a:ext cx="6604000" cy="2540000"/>
          </a:xfrm>
          <a:prstGeom prst="rect">
            <a:avLst/>
          </a:prstGeom>
          <a:noFill/>
          <a:ln>
            <a:noFill/>
          </a:ln>
        </p:spPr>
        <p:txBody>
          <a:bodyPr lIns="0" rIns="0" tIns="0" bIns="0" wrap="square" rtlCol="0"/>
          <a:lstStyle/>
          <a:p>
            <a:pPr>
              <a:lnSpc>
                <a:spcPct val="150000"/>
              </a:lnSpc>
            </a:pPr>
            <a:r>
              <a:rPr lang="en-US" sz="1000" noProof="1">
                <a:solidFill>
                  <a:srgbClr val="1A2433"/>
                </a:solidFill>
                <a:latin typeface="Liter"/>
                <a:ea typeface="Liter"/>
              </a:rPr>
              <a:t>• 56 incidents from 14 fault types (four variants each), labelled with the right category, cause, severity, first action and whether it may be automated.</a:t>
            </a:r>
            <a:endParaRPr lang="en-US" sz="1000" noProof="1"/>
          </a:p>
          <a:p>
            <a:pPr>
              <a:lnSpc>
                <a:spcPct val="150000"/>
              </a:lnSpc>
              <a:spcBef>
                <a:spcPts val="700"/>
              </a:spcBef>
            </a:pPr>
            <a:r>
              <a:rPr lang="en-US" sz="1000" noProof="1">
                <a:solidFill>
                  <a:srgbClr val="1A2433"/>
                </a:solidFill>
                <a:latin typeface="Liter"/>
                <a:ea typeface="Liter"/>
              </a:rPr>
              <a:t>• Four models on the same harness: Jev (TypeSafe API), Jev via OpenRouter, Kev-4B (local GPU) and Laya (local GPU).</a:t>
            </a:r>
            <a:endParaRPr lang="en-US" sz="1000" noProof="1"/>
          </a:p>
          <a:p>
            <a:pPr>
              <a:lnSpc>
                <a:spcPct val="150000"/>
              </a:lnSpc>
              <a:spcBef>
                <a:spcPts val="700"/>
              </a:spcBef>
            </a:pPr>
            <a:r>
              <a:rPr lang="en-US" sz="1000" noProof="1">
                <a:solidFill>
                  <a:srgbClr val="1A2433"/>
                </a:solidFill>
                <a:latin typeface="Liter"/>
                <a:ea typeface="Liter"/>
              </a:rPr>
              <a:t>• Every decision logged: incident text, model version, every probability, the gate's checks and its reason.</a:t>
            </a:r>
            <a:endParaRPr lang="en-US" sz="1000" noProof="1"/>
          </a:p>
          <a:p>
            <a:pPr>
              <a:lnSpc>
                <a:spcPct val="150000"/>
              </a:lnSpc>
              <a:spcBef>
                <a:spcPts val="700"/>
              </a:spcBef>
            </a:pPr>
            <a:r>
              <a:rPr lang="en-US" sz="1000" noProof="1">
                <a:solidFill>
                  <a:srgbClr val="1A2433"/>
                </a:solidFill>
                <a:latin typeface="Liter"/>
                <a:ea typeface="Liter"/>
              </a:rPr>
              <a:t>• A Threshold Lab to move the cut-offs and watch decisions change, a dashboard and two short explainer videos.</a:t>
            </a:r>
            <a:endParaRPr lang="en-US" sz="1000" noProof="1"/>
          </a:p>
        </p:txBody>
      </p:sp>
      <p:sp>
        <p:nvSpPr>
          <p:cNvPr id="19" name="caveat-bg"/>
          <p:cNvSpPr/>
          <p:nvPr/>
        </p:nvSpPr>
        <p:spPr>
          <a:xfrm>
            <a:off x="7823200" y="3048000"/>
            <a:ext cx="3657600" cy="2667000"/>
          </a:xfrm>
          <a:prstGeom prst="rect">
            <a:avLst/>
          </a:prstGeom>
          <a:solidFill>
            <a:srgbClr val="EDF2F8"/>
          </a:solidFill>
          <a:ln>
            <a:noFill/>
          </a:ln>
        </p:spPr>
      </p:sp>
      <p:sp>
        <p:nvSpPr>
          <p:cNvPr id="20" name="caveat-head"/>
          <p:cNvSpPr txBox="1"/>
          <p:nvPr/>
        </p:nvSpPr>
        <p:spPr>
          <a:xfrm>
            <a:off x="8051800" y="3251200"/>
            <a:ext cx="3200400" cy="203200"/>
          </a:xfrm>
          <a:prstGeom prst="rect">
            <a:avLst/>
          </a:prstGeom>
          <a:noFill/>
          <a:ln>
            <a:noFill/>
          </a:ln>
        </p:spPr>
        <p:txBody>
          <a:bodyPr lIns="0" rIns="0" tIns="0" bIns="0" wrap="none" rtlCol="0"/>
          <a:lstStyle/>
          <a:p>
            <a:pPr>
              <a:lnSpc>
                <a:spcPct val="120000"/>
              </a:lnSpc>
            </a:pPr>
            <a:r>
              <a:rPr lang="en-US" sz="1050" noProof="1" b="1">
                <a:solidFill>
                  <a:srgbClr val="B97A10"/>
                </a:solidFill>
                <a:latin typeface="Liter"/>
                <a:ea typeface="Liter"/>
              </a:rPr>
              <a:t>What the demo is — and isn't</a:t>
            </a:r>
            <a:endParaRPr lang="en-US" sz="1050" noProof="1"/>
          </a:p>
        </p:txBody>
      </p:sp>
      <p:sp>
        <p:nvSpPr>
          <p:cNvPr id="21" name="caveat-body"/>
          <p:cNvSpPr txBox="1"/>
          <p:nvPr/>
        </p:nvSpPr>
        <p:spPr>
          <a:xfrm>
            <a:off x="8051800" y="3530600"/>
            <a:ext cx="3200400" cy="1981200"/>
          </a:xfrm>
          <a:prstGeom prst="rect">
            <a:avLst/>
          </a:prstGeom>
          <a:noFill/>
          <a:ln>
            <a:noFill/>
          </a:ln>
        </p:spPr>
        <p:txBody>
          <a:bodyPr lIns="0" rIns="0" tIns="0" bIns="0" wrap="square" rtlCol="0"/>
          <a:lstStyle/>
          <a:p>
            <a:pPr>
              <a:lnSpc>
                <a:spcPct val="145000"/>
              </a:lnSpc>
            </a:pPr>
            <a:r>
              <a:rPr lang="en-US" sz="950" noProof="1">
                <a:solidFill>
                  <a:srgbClr val="1A2433"/>
                </a:solidFill>
                <a:latin typeface="Liter"/>
                <a:ea typeface="Liter"/>
              </a:rPr>
              <a:t>The incidents are synthetic and written by us: good for showing the mechanism, and no forecast for real tickets.</a:t>
            </a:r>
            <a:endParaRPr lang="en-US" sz="950" noProof="1"/>
          </a:p>
          <a:p>
            <a:pPr>
              <a:lnSpc>
                <a:spcPct val="145000"/>
              </a:lnSpc>
              <a:spcBef>
                <a:spcPts val="800"/>
              </a:spcBef>
            </a:pPr>
            <a:r>
              <a:rPr lang="en-US" sz="950" noProof="1">
                <a:solidFill>
                  <a:srgbClr val="5B6472"/>
                </a:solidFill>
                <a:latin typeface="Liter"/>
                <a:ea typeface="Liter"/>
              </a:rPr>
              <a:t>That honesty is deliberate — the pilot exists to replace synthetic labels with real ones.</a:t>
            </a:r>
            <a:endParaRPr lang="en-US" sz="950" noProof="1"/>
          </a:p>
        </p:txBody>
      </p:sp>
      <p:sp>
        <p:nvSpPr>
          <p:cNvPr id="22" name="footline"/>
          <p:cNvSpPr/>
          <p:nvPr/>
        </p:nvSpPr>
        <p:spPr>
          <a:xfrm>
            <a:off x="711200" y="6477000"/>
            <a:ext cx="10769600" cy="9525"/>
          </a:xfrm>
          <a:prstGeom prst="rect">
            <a:avLst/>
          </a:prstGeom>
          <a:solidFill>
            <a:srgbClr val="DCE3EB"/>
          </a:solidFill>
          <a:ln>
            <a:noFill/>
          </a:ln>
        </p:spPr>
      </p:sp>
      <p:sp>
        <p:nvSpPr>
          <p:cNvPr id="23"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zeroops/corpus.py, zeroops/schema.py, zeroops/policy.py; deliverables/lab, deliverables/dashboard; results/facts.json.</a:t>
            </a:r>
            <a:endParaRPr lang="en-US" sz="750" noProof="1"/>
          </a:p>
        </p:txBody>
      </p:sp>
      <p:sp>
        <p:nvSpPr>
          <p:cNvPr id="24"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9</a:t>
            </a:r>
            <a:endParaRPr lang="en-US" sz="800" noProof="1"/>
          </a:p>
        </p:txBody>
      </p:sp>
    </p:spTree>
  </p:cSld>
  <p:clrMapOvr>
    <a:masterClrMapping/>
  </p:clrMapOvr>
</p:sld>
</file>

<file path=ppt/slides/slide1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EVIDENCE</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End to end — the gate rolled back a bad deploy on thin margins and stopped a wrong rollback on corrupted data</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inc1-head"/>
          <p:cNvSpPr txBox="1"/>
          <p:nvPr/>
        </p:nvSpPr>
        <p:spPr>
          <a:xfrm>
            <a:off x="711200" y="1498600"/>
            <a:ext cx="5207000" cy="190500"/>
          </a:xfrm>
          <a:prstGeom prst="rect">
            <a:avLst/>
          </a:prstGeom>
          <a:noFill/>
          <a:ln>
            <a:noFill/>
          </a:ln>
        </p:spPr>
        <p:txBody>
          <a:bodyPr lIns="0" rIns="0" tIns="0" bIns="0" wrap="none" rtlCol="0"/>
          <a:lstStyle/>
          <a:p>
            <a:pPr>
              <a:lnSpc>
                <a:spcPct val="120000"/>
              </a:lnSpc>
            </a:pPr>
            <a:r>
              <a:rPr lang="en-US" sz="1050" noProof="1" b="1">
                <a:solidFill>
                  <a:srgbClr val="16365C"/>
                </a:solidFill>
                <a:latin typeface="Liter"/>
                <a:ea typeface="Liter"/>
              </a:rPr>
              <a:t>INC-0001 · payment-svc · bad deploy</a:t>
            </a:r>
            <a:endParaRPr lang="en-US" sz="1050" noProof="1"/>
          </a:p>
        </p:txBody>
      </p:sp>
      <p:sp>
        <p:nvSpPr>
          <p:cNvPr id="6" name="inc1-signals"/>
          <p:cNvSpPr txBox="1"/>
          <p:nvPr/>
        </p:nvSpPr>
        <p:spPr>
          <a:xfrm>
            <a:off x="711200" y="1727200"/>
            <a:ext cx="5207000" cy="660400"/>
          </a:xfrm>
          <a:prstGeom prst="rect">
            <a:avLst/>
          </a:prstGeom>
          <a:noFill/>
          <a:ln>
            <a:noFill/>
          </a:ln>
        </p:spPr>
        <p:txBody>
          <a:bodyPr lIns="0" rIns="0" tIns="0" bIns="0" wrap="square" rtlCol="0"/>
          <a:lstStyle/>
          <a:p>
            <a:pPr>
              <a:lnSpc>
                <a:spcPct val="140000"/>
              </a:lnSpc>
            </a:pPr>
            <a:r>
              <a:rPr lang="en-US" sz="850" noProof="1">
                <a:solidFill>
                  <a:srgbClr val="5B6472"/>
                </a:solidFill>
                <a:latin typeface="Liter"/>
                <a:ea typeface="Liter"/>
              </a:rPr>
              <a:t>p99 latency 180ms → 1.9s; 5xx 0.3% → 12.4%; pods healthy</a:t>
            </a:r>
            <a:endParaRPr lang="en-US" sz="850" noProof="1"/>
          </a:p>
          <a:p>
            <a:pPr>
              <a:lnSpc>
                <a:spcPct val="140000"/>
              </a:lnSpc>
            </a:pPr>
            <a:r>
              <a:rPr lang="en-US" sz="850" noProof="1">
                <a:solidFill>
                  <a:srgbClr val="5B6472"/>
                </a:solidFill>
                <a:latin typeface="Liter"/>
                <a:ea typeface="Liter"/>
              </a:rPr>
              <a:t>payment-svc v6.2.0 deployed 6 min before onset</a:t>
            </a:r>
            <a:endParaRPr lang="en-US" sz="850" noProof="1"/>
          </a:p>
          <a:p>
            <a:pPr>
              <a:lnSpc>
                <a:spcPct val="140000"/>
              </a:lnSpc>
            </a:pPr>
            <a:r>
              <a:rPr lang="en-US" sz="850" noProof="1">
                <a:solidFill>
                  <a:srgbClr val="5B6472"/>
                </a:solidFill>
                <a:latin typeface="Liter"/>
                <a:ea typeface="Liter"/>
              </a:rPr>
              <a:t>NullPointerException in PaymentController.capture line 214</a:t>
            </a:r>
            <a:endParaRPr lang="en-US" sz="850" noProof="1"/>
          </a:p>
        </p:txBody>
      </p:sp>
      <p:sp>
        <p:nvSpPr>
          <p:cNvPr id="7" name="inc1-picks"/>
          <p:cNvSpPr txBox="1"/>
          <p:nvPr/>
        </p:nvSpPr>
        <p:spPr>
          <a:xfrm>
            <a:off x="711200" y="2438400"/>
            <a:ext cx="5207000" cy="381000"/>
          </a:xfrm>
          <a:prstGeom prst="rect">
            <a:avLst/>
          </a:prstGeom>
          <a:noFill/>
          <a:ln>
            <a:noFill/>
          </a:ln>
        </p:spPr>
        <p:txBody>
          <a:bodyPr lIns="0" rIns="0" tIns="0" bIns="0" wrap="square" rtlCol="0"/>
          <a:lstStyle/>
          <a:p>
            <a:pPr>
              <a:lnSpc>
                <a:spcPct val="140000"/>
              </a:lnSpc>
            </a:pPr>
            <a:r>
              <a:rPr lang="en-US" sz="850" noProof="1" b="1">
                <a:solidFill>
                  <a:srgbClr val="1A2433"/>
                </a:solidFill>
                <a:latin typeface="Liter"/>
                <a:ea typeface="Liter"/>
              </a:rPr>
              <a:t>Jev's picks:</a:t>
            </a:r>
            <a:r>
              <a:rPr lang="en-US" sz="850" noProof="1">
                <a:solidFill>
                  <a:srgbClr val="1A2433"/>
                </a:solidFill>
                <a:latin typeface="Liter"/>
                <a:ea typeface="Liter"/>
              </a:rPr>
              <a:t> root cause bad_deploy (right) · action rollback, confidence 1.00 (matches label) · severity 2.12 (label: SEV2)</a:t>
            </a:r>
            <a:endParaRPr lang="en-US" sz="850" noProof="1"/>
          </a:p>
        </p:txBody>
      </p:sp>
      <p:graphicFrame>
        <p:nvGraphicFramePr>
          <p:cNvPr id="8" name="inc1-table"/>
          <p:cNvGraphicFramePr>
            <a:graphicFrameLocks noGrp="1"/>
          </p:cNvGraphicFramePr>
          <p:nvPr/>
        </p:nvGraphicFramePr>
        <p:xfrm>
          <a:off x="711200" y="2870200"/>
          <a:ext cx="5207000" cy="2768600"/>
        </p:xfrm>
        <a:graphic>
          <a:graphicData uri="http://schemas.openxmlformats.org/drawingml/2006/table">
            <a:tbl>
              <a:tblPr/>
              <a:tblGrid>
                <a:gridCol w="2186940"/>
                <a:gridCol w="781050"/>
                <a:gridCol w="1041400"/>
                <a:gridCol w="1197610"/>
              </a:tblGrid>
              <a:tr h="346075">
                <a:tc>
                  <a:txBody>
                    <a:bodyPr wrap="square" rtlCol="0" anchor="ctr"/>
                    <a:lstStyle/>
                    <a:p>
                      <a:pPr algn="l">
                        <a:lnSpc>
                          <a:spcPct val="120000"/>
                        </a:lnSpc>
                      </a:pPr>
                      <a:r>
                        <a:rPr lang="en-US" sz="800" noProof="1" b="1">
                          <a:solidFill>
                            <a:srgbClr val="FFFFFF"/>
                          </a:solidFill>
                          <a:latin typeface="Liter"/>
                          <a:ea typeface="Liter"/>
                        </a:rPr>
                        <a:t>Check</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800" noProof="1" b="1">
                          <a:solidFill>
                            <a:srgbClr val="FFFFFF"/>
                          </a:solidFill>
                          <a:latin typeface="Liter"/>
                          <a:ea typeface="Liter"/>
                        </a:rPr>
                        <a:t>Jev</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800" noProof="1" b="1">
                          <a:solidFill>
                            <a:srgbClr val="FFFFFF"/>
                          </a:solidFill>
                          <a:latin typeface="Liter"/>
                          <a:ea typeface="Liter"/>
                        </a:rPr>
                        <a:t>Limit</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800" noProof="1" b="1">
                          <a:solidFill>
                            <a:srgbClr val="FFFFFF"/>
                          </a:solidFill>
                          <a:latin typeface="Liter"/>
                          <a:ea typeface="Liter"/>
                        </a:rPr>
                        <a:t>Result</a:t>
                      </a:r>
                    </a:p>
                  </a:txBody>
                  <a:tcPr marL="91440" marR="91440" marT="45720" marB="45720" anchor="ctr">
                    <a:lnL>
                      <a:noFill/>
                    </a:lnL>
                    <a:lnR>
                      <a:noFill/>
                    </a:lnR>
                    <a:lnT>
                      <a:noFill/>
                    </a:lnT>
                    <a:lnB>
                      <a:noFill/>
                    </a:lnB>
                    <a:solidFill>
                      <a:srgbClr val="16365C"/>
                    </a:solidFill>
                  </a:tcPr>
                </a:tc>
              </a:tr>
              <a:tr h="346075">
                <a:tc>
                  <a:txBody>
                    <a:bodyPr wrap="square" rtlCol="0" anchor="ctr"/>
                    <a:lstStyle/>
                    <a:p>
                      <a:pPr algn="l">
                        <a:lnSpc>
                          <a:spcPct val="120000"/>
                        </a:lnSpc>
                      </a:pPr>
                      <a:r>
                        <a:rPr lang="en-US" sz="800" noProof="1">
                          <a:solidFill>
                            <a:srgbClr val="1A2433"/>
                          </a:solidFill>
                          <a:latin typeface="Liter"/>
                          <a:ea typeface="Liter"/>
                        </a:rPr>
                        <a:t>Page a human</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0.88</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below 0.90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B97A10"/>
                          </a:solidFill>
                          <a:latin typeface="Liter"/>
                          <a:ea typeface="Liter"/>
                        </a:rPr>
                        <a:t>pass by 0.02</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Real incident</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0.93</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least 0.50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pass by 0.43</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Confidence in the action</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1.00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least 0.60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pass by 0.40</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Risk of the action (0–2)</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0.14</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most 1.0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pass by 0.86</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Severity (0–3)</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2.12</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most 2.5</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pass by 0.38</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Caused by a change</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0.95</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least 0.80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pass by 0.15</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Rollback is safe</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0.71</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least 0.70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B97A10"/>
                          </a:solidFill>
                          <a:latin typeface="Liter"/>
                          <a:ea typeface="Liter"/>
                        </a:rPr>
                        <a:t>pass by 0.01</a:t>
                      </a:r>
                    </a:p>
                  </a:txBody>
                  <a:tcPr marL="91440" marR="91440" marT="45720" marB="45720" anchor="ctr">
                    <a:lnL>
                      <a:noFill/>
                    </a:lnL>
                    <a:lnR>
                      <a:noFill/>
                    </a:lnR>
                    <a:lnT>
                      <a:noFill/>
                    </a:lnT>
                    <a:lnB w="6350">
                      <a:solidFill>
                        <a:srgbClr val="DCE3EB"/>
                      </a:solidFill>
                    </a:lnB>
                    <a:noFill/>
                  </a:tcPr>
                </a:tc>
              </a:tr>
            </a:tbl>
          </a:graphicData>
        </a:graphic>
      </p:graphicFrame>
      <p:sp>
        <p:nvSpPr>
          <p:cNvPr id="9" name="inc1-verdict"/>
          <p:cNvSpPr txBox="1"/>
          <p:nvPr/>
        </p:nvSpPr>
        <p:spPr>
          <a:xfrm>
            <a:off x="711200" y="5740400"/>
            <a:ext cx="5207000" cy="203200"/>
          </a:xfrm>
          <a:prstGeom prst="rect">
            <a:avLst/>
          </a:prstGeom>
          <a:noFill/>
          <a:ln>
            <a:noFill/>
          </a:ln>
        </p:spPr>
        <p:txBody>
          <a:bodyPr lIns="0" rIns="0" tIns="0" bIns="0" wrap="none" rtlCol="0"/>
          <a:lstStyle/>
          <a:p>
            <a:pPr>
              <a:lnSpc>
                <a:spcPct val="120000"/>
              </a:lnSpc>
            </a:pPr>
            <a:r>
              <a:rPr lang="en-US" sz="1050" noProof="1" b="1">
                <a:solidFill>
                  <a:srgbClr val="16365C"/>
                </a:solidFill>
                <a:latin typeface="Liter"/>
                <a:ea typeface="Liter"/>
              </a:rPr>
              <a:t>AUTO: rollback — every check passes</a:t>
            </a:r>
            <a:endParaRPr lang="en-US" sz="1050" noProof="1"/>
          </a:p>
        </p:txBody>
      </p:sp>
      <p:sp>
        <p:nvSpPr>
          <p:cNvPr id="10" name="inc1-note"/>
          <p:cNvSpPr txBox="1"/>
          <p:nvPr/>
        </p:nvSpPr>
        <p:spPr>
          <a:xfrm>
            <a:off x="711200" y="5969000"/>
            <a:ext cx="5207000" cy="177800"/>
          </a:xfrm>
          <a:prstGeom prst="rect">
            <a:avLst/>
          </a:prstGeom>
          <a:noFill/>
          <a:ln>
            <a:noFill/>
          </a:ln>
        </p:spPr>
        <p:txBody>
          <a:bodyPr lIns="0" rIns="0" tIns="0" bIns="0" wrap="none" rtlCol="0"/>
          <a:lstStyle/>
          <a:p>
            <a:pPr>
              <a:lnSpc>
                <a:spcPct val="120000"/>
              </a:lnSpc>
            </a:pPr>
            <a:r>
              <a:rPr lang="en-US" sz="800" noProof="1">
                <a:solidFill>
                  <a:srgbClr val="98A1AD"/>
                </a:solidFill>
                <a:latin typeface="Liter"/>
                <a:ea typeface="Liter"/>
              </a:rPr>
              <a:t>Closest calls: rollback is safe by 0.01; page a human by 0.02.</a:t>
            </a:r>
            <a:endParaRPr lang="en-US" sz="800" noProof="1"/>
          </a:p>
        </p:txBody>
      </p:sp>
      <p:sp>
        <p:nvSpPr>
          <p:cNvPr id="11" name="vline"/>
          <p:cNvSpPr/>
          <p:nvPr/>
        </p:nvSpPr>
        <p:spPr>
          <a:xfrm>
            <a:off x="6172200" y="1498600"/>
            <a:ext cx="9525" cy="4648200"/>
          </a:xfrm>
          <a:prstGeom prst="rect">
            <a:avLst/>
          </a:prstGeom>
          <a:solidFill>
            <a:srgbClr val="DCE3EB"/>
          </a:solidFill>
          <a:ln>
            <a:noFill/>
          </a:ln>
        </p:spPr>
      </p:sp>
      <p:sp>
        <p:nvSpPr>
          <p:cNvPr id="12" name="inc2-head"/>
          <p:cNvSpPr txBox="1"/>
          <p:nvPr/>
        </p:nvSpPr>
        <p:spPr>
          <a:xfrm>
            <a:off x="6477000" y="1498600"/>
            <a:ext cx="5003800" cy="190500"/>
          </a:xfrm>
          <a:prstGeom prst="rect">
            <a:avLst/>
          </a:prstGeom>
          <a:noFill/>
          <a:ln>
            <a:noFill/>
          </a:ln>
        </p:spPr>
        <p:txBody>
          <a:bodyPr lIns="0" rIns="0" tIns="0" bIns="0" wrap="none" rtlCol="0"/>
          <a:lstStyle/>
          <a:p>
            <a:pPr>
              <a:lnSpc>
                <a:spcPct val="120000"/>
              </a:lnSpc>
            </a:pPr>
            <a:r>
              <a:rPr lang="en-US" sz="1050" noProof="1" b="1">
                <a:solidFill>
                  <a:srgbClr val="16365C"/>
                </a:solidFill>
                <a:latin typeface="Liter"/>
                <a:ea typeface="Liter"/>
              </a:rPr>
              <a:t>INC-0011 · payment-svc · data corruption</a:t>
            </a:r>
            <a:endParaRPr lang="en-US" sz="1050" noProof="1"/>
          </a:p>
        </p:txBody>
      </p:sp>
      <p:sp>
        <p:nvSpPr>
          <p:cNvPr id="13" name="inc2-signals"/>
          <p:cNvSpPr txBox="1"/>
          <p:nvPr/>
        </p:nvSpPr>
        <p:spPr>
          <a:xfrm>
            <a:off x="6477000" y="1727200"/>
            <a:ext cx="5003800" cy="660400"/>
          </a:xfrm>
          <a:prstGeom prst="rect">
            <a:avLst/>
          </a:prstGeom>
          <a:noFill/>
          <a:ln>
            <a:noFill/>
          </a:ln>
        </p:spPr>
        <p:txBody>
          <a:bodyPr lIns="0" rIns="0" tIns="0" bIns="0" wrap="square" rtlCol="0"/>
          <a:lstStyle/>
          <a:p>
            <a:pPr>
              <a:lnSpc>
                <a:spcPct val="140000"/>
              </a:lnSpc>
            </a:pPr>
            <a:r>
              <a:rPr lang="en-US" sz="850" noProof="1">
                <a:solidFill>
                  <a:srgbClr val="5B6472"/>
                </a:solidFill>
                <a:latin typeface="Liter"/>
                <a:ea typeface="Liter"/>
              </a:rPr>
              <a:t>checksum mismatch on 0.4% of rows; no latency impact</a:t>
            </a:r>
            <a:endParaRPr lang="en-US" sz="850" noProof="1"/>
          </a:p>
          <a:p>
            <a:pPr>
              <a:lnSpc>
                <a:spcPct val="140000"/>
              </a:lnSpc>
            </a:pPr>
            <a:r>
              <a:rPr lang="en-US" sz="850" noProof="1">
                <a:solidFill>
                  <a:srgbClr val="5B6472"/>
                </a:solidFill>
                <a:latin typeface="Liter"/>
                <a:ea typeface="Liter"/>
              </a:rPr>
              <a:t>batch backfill job ran 2h before onset</a:t>
            </a:r>
            <a:endParaRPr lang="en-US" sz="850" noProof="1"/>
          </a:p>
          <a:p>
            <a:pPr>
              <a:lnSpc>
                <a:spcPct val="140000"/>
              </a:lnSpc>
            </a:pPr>
            <a:r>
              <a:rPr lang="en-US" sz="850" noProof="1">
                <a:solidFill>
                  <a:srgbClr val="5B6472"/>
                </a:solidFill>
                <a:latin typeface="Liter"/>
                <a:ea typeface="Liter"/>
              </a:rPr>
              <a:t>integrity check failed for table orders</a:t>
            </a:r>
            <a:endParaRPr lang="en-US" sz="850" noProof="1"/>
          </a:p>
        </p:txBody>
      </p:sp>
      <p:sp>
        <p:nvSpPr>
          <p:cNvPr id="14" name="inc2-picks"/>
          <p:cNvSpPr txBox="1"/>
          <p:nvPr/>
        </p:nvSpPr>
        <p:spPr>
          <a:xfrm>
            <a:off x="6477000" y="2438400"/>
            <a:ext cx="5003800" cy="381000"/>
          </a:xfrm>
          <a:prstGeom prst="rect">
            <a:avLst/>
          </a:prstGeom>
          <a:noFill/>
          <a:ln>
            <a:noFill/>
          </a:ln>
        </p:spPr>
        <p:txBody>
          <a:bodyPr lIns="0" rIns="0" tIns="0" bIns="0" wrap="square" rtlCol="0"/>
          <a:lstStyle/>
          <a:p>
            <a:pPr>
              <a:lnSpc>
                <a:spcPct val="140000"/>
              </a:lnSpc>
            </a:pPr>
            <a:r>
              <a:rPr lang="en-US" sz="850" noProof="1" b="1">
                <a:solidFill>
                  <a:srgbClr val="1A2433"/>
                </a:solidFill>
                <a:latin typeface="Liter"/>
                <a:ea typeface="Liter"/>
              </a:rPr>
              <a:t>Jev's picks:</a:t>
            </a:r>
            <a:r>
              <a:rPr lang="en-US" sz="850" noProof="1">
                <a:solidFill>
                  <a:srgbClr val="1A2433"/>
                </a:solidFill>
                <a:latin typeface="Liter"/>
                <a:ea typeface="Liter"/>
              </a:rPr>
              <a:t> root cause data_corruption (right) · action rollback, confidence 0.63 (label: escalate) · severity 1.35 (label: SEV1)</a:t>
            </a:r>
            <a:endParaRPr lang="en-US" sz="850" noProof="1"/>
          </a:p>
        </p:txBody>
      </p:sp>
      <p:graphicFrame>
        <p:nvGraphicFramePr>
          <p:cNvPr id="15" name="inc2-table"/>
          <p:cNvGraphicFramePr>
            <a:graphicFrameLocks noGrp="1"/>
          </p:cNvGraphicFramePr>
          <p:nvPr/>
        </p:nvGraphicFramePr>
        <p:xfrm>
          <a:off x="6477000" y="2870200"/>
          <a:ext cx="5003800" cy="2768600"/>
        </p:xfrm>
        <a:graphic>
          <a:graphicData uri="http://schemas.openxmlformats.org/drawingml/2006/table">
            <a:tbl>
              <a:tblPr/>
              <a:tblGrid>
                <a:gridCol w="2101596"/>
                <a:gridCol w="750570"/>
                <a:gridCol w="1000760"/>
                <a:gridCol w="1150874"/>
              </a:tblGrid>
              <a:tr h="346075">
                <a:tc>
                  <a:txBody>
                    <a:bodyPr wrap="square" rtlCol="0" anchor="ctr"/>
                    <a:lstStyle/>
                    <a:p>
                      <a:pPr algn="l">
                        <a:lnSpc>
                          <a:spcPct val="120000"/>
                        </a:lnSpc>
                      </a:pPr>
                      <a:r>
                        <a:rPr lang="en-US" sz="800" noProof="1" b="1">
                          <a:solidFill>
                            <a:srgbClr val="FFFFFF"/>
                          </a:solidFill>
                          <a:latin typeface="Liter"/>
                          <a:ea typeface="Liter"/>
                        </a:rPr>
                        <a:t>Check</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800" noProof="1" b="1">
                          <a:solidFill>
                            <a:srgbClr val="FFFFFF"/>
                          </a:solidFill>
                          <a:latin typeface="Liter"/>
                          <a:ea typeface="Liter"/>
                        </a:rPr>
                        <a:t>Jev</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800" noProof="1" b="1">
                          <a:solidFill>
                            <a:srgbClr val="FFFFFF"/>
                          </a:solidFill>
                          <a:latin typeface="Liter"/>
                          <a:ea typeface="Liter"/>
                        </a:rPr>
                        <a:t>Limit</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800" noProof="1" b="1">
                          <a:solidFill>
                            <a:srgbClr val="FFFFFF"/>
                          </a:solidFill>
                          <a:latin typeface="Liter"/>
                          <a:ea typeface="Liter"/>
                        </a:rPr>
                        <a:t>Result</a:t>
                      </a:r>
                    </a:p>
                  </a:txBody>
                  <a:tcPr marL="91440" marR="91440" marT="45720" marB="45720" anchor="ctr">
                    <a:lnL>
                      <a:noFill/>
                    </a:lnL>
                    <a:lnR>
                      <a:noFill/>
                    </a:lnR>
                    <a:lnT>
                      <a:noFill/>
                    </a:lnT>
                    <a:lnB>
                      <a:noFill/>
                    </a:lnB>
                    <a:solidFill>
                      <a:srgbClr val="16365C"/>
                    </a:solidFill>
                  </a:tcPr>
                </a:tc>
              </a:tr>
              <a:tr h="346075">
                <a:tc>
                  <a:txBody>
                    <a:bodyPr wrap="square" rtlCol="0" anchor="ctr"/>
                    <a:lstStyle/>
                    <a:p>
                      <a:pPr algn="l">
                        <a:lnSpc>
                          <a:spcPct val="120000"/>
                        </a:lnSpc>
                      </a:pPr>
                      <a:r>
                        <a:rPr lang="en-US" sz="800" noProof="1">
                          <a:solidFill>
                            <a:srgbClr val="1A2433"/>
                          </a:solidFill>
                          <a:latin typeface="Liter"/>
                          <a:ea typeface="Liter"/>
                        </a:rPr>
                        <a:t>Page a human</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0.64</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below 0.90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pass by 0.26</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Real incident</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0.69</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least 0.50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pass by 0.19</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Confidence in the action</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0.63</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least 0.60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B97A10"/>
                          </a:solidFill>
                          <a:latin typeface="Liter"/>
                          <a:ea typeface="Liter"/>
                        </a:rPr>
                        <a:t>pass by 0.03</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Risk of the action (0–2)</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0.91</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most 1.0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B97A10"/>
                          </a:solidFill>
                          <a:latin typeface="Liter"/>
                          <a:ea typeface="Liter"/>
                        </a:rPr>
                        <a:t>pass by 0.09</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Severity (0–3)</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1.35</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most 2.5</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pass by 1.15</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Caused by a change</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0.80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least 0.80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B97A10"/>
                          </a:solidFill>
                          <a:latin typeface="Liter"/>
                          <a:ea typeface="Liter"/>
                        </a:rPr>
                        <a:t>pass, exactly at limit</a:t>
                      </a:r>
                    </a:p>
                  </a:txBody>
                  <a:tcPr marL="91440" marR="91440" marT="45720" marB="45720" anchor="ctr">
                    <a:lnL>
                      <a:noFill/>
                    </a:lnL>
                    <a:lnR>
                      <a:noFill/>
                    </a:lnR>
                    <a:lnT>
                      <a:noFill/>
                    </a:lnT>
                    <a:lnB w="6350">
                      <a:solidFill>
                        <a:srgbClr val="DCE3EB"/>
                      </a:solidFill>
                    </a:lnB>
                    <a:noFill/>
                  </a:tcPr>
                </a:tc>
              </a:tr>
              <a:tr h="346075">
                <a:tc>
                  <a:txBody>
                    <a:bodyPr wrap="square" rtlCol="0" anchor="ctr"/>
                    <a:lstStyle/>
                    <a:p>
                      <a:pPr algn="l">
                        <a:lnSpc>
                          <a:spcPct val="120000"/>
                        </a:lnSpc>
                      </a:pPr>
                      <a:r>
                        <a:rPr lang="en-US" sz="800" noProof="1">
                          <a:solidFill>
                            <a:srgbClr val="1A2433"/>
                          </a:solidFill>
                          <a:latin typeface="Liter"/>
                          <a:ea typeface="Liter"/>
                        </a:rPr>
                        <a:t>Rollback is safe</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0.42</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a:solidFill>
                            <a:srgbClr val="1A2433"/>
                          </a:solidFill>
                          <a:latin typeface="Liter"/>
                          <a:ea typeface="Liter"/>
                        </a:rPr>
                        <a:t>at least 0.70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20000"/>
                        </a:lnSpc>
                      </a:pPr>
                      <a:r>
                        <a:rPr lang="en-US" sz="800" noProof="1" b="1">
                          <a:solidFill>
                            <a:srgbClr val="B97A10"/>
                          </a:solidFill>
                          <a:latin typeface="Liter"/>
                          <a:ea typeface="Liter"/>
                        </a:rPr>
                        <a:t>FAIL, short by 0.28</a:t>
                      </a:r>
                    </a:p>
                  </a:txBody>
                  <a:tcPr marL="91440" marR="91440" marT="45720" marB="45720" anchor="ctr">
                    <a:lnL>
                      <a:noFill/>
                    </a:lnL>
                    <a:lnR>
                      <a:noFill/>
                    </a:lnR>
                    <a:lnT>
                      <a:noFill/>
                    </a:lnT>
                    <a:lnB w="6350">
                      <a:solidFill>
                        <a:srgbClr val="DCE3EB"/>
                      </a:solidFill>
                    </a:lnB>
                    <a:noFill/>
                  </a:tcPr>
                </a:tc>
              </a:tr>
            </a:tbl>
          </a:graphicData>
        </a:graphic>
      </p:graphicFrame>
      <p:sp>
        <p:nvSpPr>
          <p:cNvPr id="16" name="inc2-verdict"/>
          <p:cNvSpPr txBox="1"/>
          <p:nvPr/>
        </p:nvSpPr>
        <p:spPr>
          <a:xfrm>
            <a:off x="6477000" y="5740400"/>
            <a:ext cx="5003800" cy="203200"/>
          </a:xfrm>
          <a:prstGeom prst="rect">
            <a:avLst/>
          </a:prstGeom>
          <a:noFill/>
          <a:ln>
            <a:noFill/>
          </a:ln>
        </p:spPr>
        <p:txBody>
          <a:bodyPr lIns="0" rIns="0" tIns="0" bIns="0" wrap="none" rtlCol="0"/>
          <a:lstStyle/>
          <a:p>
            <a:pPr>
              <a:lnSpc>
                <a:spcPct val="120000"/>
              </a:lnSpc>
            </a:pPr>
            <a:r>
              <a:rPr lang="en-US" sz="1050" noProof="1" b="1">
                <a:solidFill>
                  <a:srgbClr val="B97A10"/>
                </a:solidFill>
                <a:latin typeface="Liter"/>
                <a:ea typeface="Liter"/>
              </a:rPr>
              <a:t>ESCALATE to a person — one check fails</a:t>
            </a:r>
            <a:endParaRPr lang="en-US" sz="1050" noProof="1"/>
          </a:p>
        </p:txBody>
      </p:sp>
      <p:sp>
        <p:nvSpPr>
          <p:cNvPr id="17" name="inc2-note"/>
          <p:cNvSpPr txBox="1"/>
          <p:nvPr/>
        </p:nvSpPr>
        <p:spPr>
          <a:xfrm>
            <a:off x="6477000" y="5969000"/>
            <a:ext cx="5003800" cy="177800"/>
          </a:xfrm>
          <a:prstGeom prst="rect">
            <a:avLst/>
          </a:prstGeom>
          <a:noFill/>
          <a:ln>
            <a:noFill/>
          </a:ln>
        </p:spPr>
        <p:txBody>
          <a:bodyPr lIns="0" rIns="0" tIns="0" bIns="0" wrap="none" rtlCol="0"/>
          <a:lstStyle/>
          <a:p>
            <a:pPr>
              <a:lnSpc>
                <a:spcPct val="120000"/>
              </a:lnSpc>
            </a:pPr>
            <a:r>
              <a:rPr lang="en-US" sz="800" noProof="1">
                <a:solidFill>
                  <a:srgbClr val="98A1AD"/>
                </a:solidFill>
                <a:latin typeface="Liter"/>
                <a:ea typeface="Liter"/>
              </a:rPr>
              <a:t>Stopped by the "rollback is safe" check. Our label: escalate, SEV1.</a:t>
            </a:r>
            <a:endParaRPr lang="en-US" sz="800" noProof="1"/>
          </a:p>
        </p:txBody>
      </p:sp>
      <p:sp>
        <p:nvSpPr>
          <p:cNvPr id="18" name="bottom-note"/>
          <p:cNvSpPr txBox="1"/>
          <p:nvPr/>
        </p:nvSpPr>
        <p:spPr>
          <a:xfrm>
            <a:off x="711200" y="6248400"/>
            <a:ext cx="10769600" cy="177800"/>
          </a:xfrm>
          <a:prstGeom prst="rect">
            <a:avLst/>
          </a:prstGeom>
          <a:noFill/>
          <a:ln>
            <a:noFill/>
          </a:ln>
        </p:spPr>
        <p:txBody>
          <a:bodyPr lIns="0" rIns="0" tIns="0" bIns="0" wrap="none" rtlCol="0"/>
          <a:lstStyle/>
          <a:p>
            <a:pPr>
              <a:lnSpc>
                <a:spcPct val="120000"/>
              </a:lnSpc>
            </a:pPr>
            <a:r>
              <a:rPr lang="en-US" sz="900" noProof="1">
                <a:solidFill>
                  <a:srgbClr val="5B6472"/>
                </a:solidFill>
                <a:latin typeface="Liter"/>
                <a:ea typeface="Liter"/>
              </a:rPr>
              <a:t>The gate in code is what keeps autonomy under control — every threshold visible, every margin logged, and one failed check hands the incident to a person.</a:t>
            </a:r>
            <a:endParaRPr lang="en-US" sz="900" noProof="1"/>
          </a:p>
        </p:txBody>
      </p:sp>
      <p:sp>
        <p:nvSpPr>
          <p:cNvPr id="19"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our measurement — results/facts.json, examples INC-0001 (130 ms) and INC-0011 (87 ms); checks from zeroops/policy.py explain(). Amber = within 0.05 of the limit.</a:t>
            </a:r>
            <a:endParaRPr lang="en-US" sz="750" noProof="1"/>
          </a:p>
        </p:txBody>
      </p:sp>
      <p:sp>
        <p:nvSpPr>
          <p:cNvPr id="20"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10</a:t>
            </a:r>
            <a:endParaRPr lang="en-US" sz="800" noProof="1"/>
          </a:p>
        </p:txBody>
      </p:sp>
    </p:spTree>
  </p:cSld>
  <p:clrMapOvr>
    <a:masterClrMapping/>
  </p:clrMapOvr>
</p:sld>
</file>

<file path=ppt/slides/slide1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EVIDENCE</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The gate answered in a median 91 ms and handled 22 of 56 incidents end to end — with nothing unsafe automated</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big-bg"/>
          <p:cNvSpPr/>
          <p:nvPr/>
        </p:nvSpPr>
        <p:spPr>
          <a:xfrm>
            <a:off x="711200" y="1498600"/>
            <a:ext cx="10769600" cy="787400"/>
          </a:xfrm>
          <a:prstGeom prst="rect">
            <a:avLst/>
          </a:prstGeom>
          <a:solidFill>
            <a:srgbClr val="EDF2F8"/>
          </a:solidFill>
          <a:ln>
            <a:noFill/>
          </a:ln>
        </p:spPr>
      </p:sp>
      <p:sp>
        <p:nvSpPr>
          <p:cNvPr id="6" name="b1-num"/>
          <p:cNvSpPr txBox="1"/>
          <p:nvPr/>
        </p:nvSpPr>
        <p:spPr>
          <a:xfrm>
            <a:off x="965200" y="1600200"/>
            <a:ext cx="1524000" cy="381000"/>
          </a:xfrm>
          <a:prstGeom prst="rect">
            <a:avLst/>
          </a:prstGeom>
          <a:noFill/>
          <a:ln>
            <a:noFill/>
          </a:ln>
        </p:spPr>
        <p:txBody>
          <a:bodyPr lIns="0" rIns="0" tIns="0" bIns="0" wrap="none" rtlCol="0"/>
          <a:lstStyle/>
          <a:p>
            <a:pPr>
              <a:lnSpc>
                <a:spcPct val="120000"/>
              </a:lnSpc>
            </a:pPr>
            <a:r>
              <a:rPr lang="en-US" sz="2400" noProof="1" b="1">
                <a:solidFill>
                  <a:srgbClr val="16365C"/>
                </a:solidFill>
                <a:latin typeface="EB Garamond"/>
                <a:ea typeface="EB Garamond"/>
              </a:rPr>
              <a:t>91 ms</a:t>
            </a:r>
            <a:endParaRPr lang="en-US" sz="2400" noProof="1"/>
          </a:p>
        </p:txBody>
      </p:sp>
      <p:sp>
        <p:nvSpPr>
          <p:cNvPr id="7" name="b1-label"/>
          <p:cNvSpPr txBox="1"/>
          <p:nvPr/>
        </p:nvSpPr>
        <p:spPr>
          <a:xfrm>
            <a:off x="965200" y="1981200"/>
            <a:ext cx="1778000" cy="254000"/>
          </a:xfrm>
          <a:prstGeom prst="rect">
            <a:avLst/>
          </a:prstGeom>
          <a:noFill/>
          <a:ln>
            <a:noFill/>
          </a:ln>
        </p:spPr>
        <p:txBody>
          <a:bodyPr lIns="0" rIns="0" tIns="0" bIns="0" wrap="square" rtlCol="0"/>
          <a:lstStyle/>
          <a:p>
            <a:pPr>
              <a:lnSpc>
                <a:spcPct val="125000"/>
              </a:lnSpc>
            </a:pPr>
            <a:r>
              <a:rPr lang="en-US" sz="800" noProof="1">
                <a:solidFill>
                  <a:srgbClr val="5B6472"/>
                </a:solidFill>
                <a:latin typeface="Liter"/>
                <a:ea typeface="Liter"/>
              </a:rPr>
              <a:t>median per incident, all 12 questions</a:t>
            </a:r>
            <a:endParaRPr lang="en-US" sz="800" noProof="1"/>
          </a:p>
        </p:txBody>
      </p:sp>
      <p:sp>
        <p:nvSpPr>
          <p:cNvPr id="8" name="b2-num"/>
          <p:cNvSpPr txBox="1"/>
          <p:nvPr/>
        </p:nvSpPr>
        <p:spPr>
          <a:xfrm>
            <a:off x="2997200" y="1600200"/>
            <a:ext cx="1524000" cy="381000"/>
          </a:xfrm>
          <a:prstGeom prst="rect">
            <a:avLst/>
          </a:prstGeom>
          <a:noFill/>
          <a:ln>
            <a:noFill/>
          </a:ln>
        </p:spPr>
        <p:txBody>
          <a:bodyPr lIns="0" rIns="0" tIns="0" bIns="0" wrap="none" rtlCol="0"/>
          <a:lstStyle/>
          <a:p>
            <a:pPr>
              <a:lnSpc>
                <a:spcPct val="120000"/>
              </a:lnSpc>
            </a:pPr>
            <a:r>
              <a:rPr lang="en-US" sz="2400" noProof="1" b="1">
                <a:solidFill>
                  <a:srgbClr val="16365C"/>
                </a:solidFill>
                <a:latin typeface="EB Garamond"/>
                <a:ea typeface="EB Garamond"/>
              </a:rPr>
              <a:t>~6¢</a:t>
            </a:r>
            <a:endParaRPr lang="en-US" sz="2400" noProof="1"/>
          </a:p>
        </p:txBody>
      </p:sp>
      <p:sp>
        <p:nvSpPr>
          <p:cNvPr id="9" name="b2-label"/>
          <p:cNvSpPr txBox="1"/>
          <p:nvPr/>
        </p:nvSpPr>
        <p:spPr>
          <a:xfrm>
            <a:off x="2997200" y="1981200"/>
            <a:ext cx="1778000" cy="254000"/>
          </a:xfrm>
          <a:prstGeom prst="rect">
            <a:avLst/>
          </a:prstGeom>
          <a:noFill/>
          <a:ln>
            <a:noFill/>
          </a:ln>
        </p:spPr>
        <p:txBody>
          <a:bodyPr lIns="0" rIns="0" tIns="0" bIns="0" wrap="square" rtlCol="0"/>
          <a:lstStyle/>
          <a:p>
            <a:pPr>
              <a:lnSpc>
                <a:spcPct val="125000"/>
              </a:lnSpc>
            </a:pPr>
            <a:r>
              <a:rPr lang="en-US" sz="800" noProof="1">
                <a:solidFill>
                  <a:srgbClr val="5B6472"/>
                </a:solidFill>
                <a:latin typeface="Liter"/>
                <a:ea typeface="Liter"/>
              </a:rPr>
              <a:t>per 1,000 incidents (estimate)</a:t>
            </a:r>
            <a:endParaRPr lang="en-US" sz="800" noProof="1"/>
          </a:p>
        </p:txBody>
      </p:sp>
      <p:sp>
        <p:nvSpPr>
          <p:cNvPr id="10" name="b3-num"/>
          <p:cNvSpPr txBox="1"/>
          <p:nvPr/>
        </p:nvSpPr>
        <p:spPr>
          <a:xfrm>
            <a:off x="5029200" y="1600200"/>
            <a:ext cx="1524000" cy="381000"/>
          </a:xfrm>
          <a:prstGeom prst="rect">
            <a:avLst/>
          </a:prstGeom>
          <a:noFill/>
          <a:ln>
            <a:noFill/>
          </a:ln>
        </p:spPr>
        <p:txBody>
          <a:bodyPr lIns="0" rIns="0" tIns="0" bIns="0" wrap="none" rtlCol="0"/>
          <a:lstStyle/>
          <a:p>
            <a:pPr>
              <a:lnSpc>
                <a:spcPct val="120000"/>
              </a:lnSpc>
            </a:pPr>
            <a:r>
              <a:rPr lang="en-US" sz="2400" noProof="1" b="1">
                <a:solidFill>
                  <a:srgbClr val="16365C"/>
                </a:solidFill>
                <a:latin typeface="EB Garamond"/>
                <a:ea typeface="EB Garamond"/>
              </a:rPr>
              <a:t>56 of 56</a:t>
            </a:r>
            <a:endParaRPr lang="en-US" sz="2400" noProof="1"/>
          </a:p>
        </p:txBody>
      </p:sp>
      <p:sp>
        <p:nvSpPr>
          <p:cNvPr id="11" name="b3-label"/>
          <p:cNvSpPr txBox="1"/>
          <p:nvPr/>
        </p:nvSpPr>
        <p:spPr>
          <a:xfrm>
            <a:off x="5029200" y="1981200"/>
            <a:ext cx="1778000" cy="254000"/>
          </a:xfrm>
          <a:prstGeom prst="rect">
            <a:avLst/>
          </a:prstGeom>
          <a:noFill/>
          <a:ln>
            <a:noFill/>
          </a:ln>
        </p:spPr>
        <p:txBody>
          <a:bodyPr lIns="0" rIns="0" tIns="0" bIns="0" wrap="square" rtlCol="0"/>
          <a:lstStyle/>
          <a:p>
            <a:pPr>
              <a:lnSpc>
                <a:spcPct val="125000"/>
              </a:lnSpc>
            </a:pPr>
            <a:r>
              <a:rPr lang="en-US" sz="800" noProof="1">
                <a:solidFill>
                  <a:srgbClr val="5B6472"/>
                </a:solidFill>
                <a:latin typeface="Liter"/>
                <a:ea typeface="Liter"/>
              </a:rPr>
              <a:t>root cause right</a:t>
            </a:r>
            <a:endParaRPr lang="en-US" sz="800" noProof="1"/>
          </a:p>
        </p:txBody>
      </p:sp>
      <p:sp>
        <p:nvSpPr>
          <p:cNvPr id="12" name="b4-num"/>
          <p:cNvSpPr txBox="1"/>
          <p:nvPr/>
        </p:nvSpPr>
        <p:spPr>
          <a:xfrm>
            <a:off x="7061200" y="1600200"/>
            <a:ext cx="1524000" cy="381000"/>
          </a:xfrm>
          <a:prstGeom prst="rect">
            <a:avLst/>
          </a:prstGeom>
          <a:noFill/>
          <a:ln>
            <a:noFill/>
          </a:ln>
        </p:spPr>
        <p:txBody>
          <a:bodyPr lIns="0" rIns="0" tIns="0" bIns="0" wrap="none" rtlCol="0"/>
          <a:lstStyle/>
          <a:p>
            <a:pPr>
              <a:lnSpc>
                <a:spcPct val="120000"/>
              </a:lnSpc>
            </a:pPr>
            <a:r>
              <a:rPr lang="en-US" sz="2400" noProof="1" b="1">
                <a:solidFill>
                  <a:srgbClr val="16365C"/>
                </a:solidFill>
                <a:latin typeface="EB Garamond"/>
                <a:ea typeface="EB Garamond"/>
              </a:rPr>
              <a:t>22 of 56</a:t>
            </a:r>
            <a:endParaRPr lang="en-US" sz="2400" noProof="1"/>
          </a:p>
        </p:txBody>
      </p:sp>
      <p:sp>
        <p:nvSpPr>
          <p:cNvPr id="13" name="b4-label"/>
          <p:cNvSpPr txBox="1"/>
          <p:nvPr/>
        </p:nvSpPr>
        <p:spPr>
          <a:xfrm>
            <a:off x="7061200" y="1981200"/>
            <a:ext cx="1905000" cy="254000"/>
          </a:xfrm>
          <a:prstGeom prst="rect">
            <a:avLst/>
          </a:prstGeom>
          <a:noFill/>
          <a:ln>
            <a:noFill/>
          </a:ln>
        </p:spPr>
        <p:txBody>
          <a:bodyPr lIns="0" rIns="0" tIns="0" bIns="0" wrap="square" rtlCol="0"/>
          <a:lstStyle/>
          <a:p>
            <a:pPr>
              <a:lnSpc>
                <a:spcPct val="125000"/>
              </a:lnSpc>
            </a:pPr>
            <a:r>
              <a:rPr lang="en-US" sz="800" noProof="1">
                <a:solidFill>
                  <a:srgbClr val="5B6472"/>
                </a:solidFill>
                <a:latin typeface="Liter"/>
                <a:ea typeface="Liter"/>
              </a:rPr>
              <a:t>handled end to end by the gate</a:t>
            </a:r>
            <a:endParaRPr lang="en-US" sz="800" noProof="1"/>
          </a:p>
        </p:txBody>
      </p:sp>
      <p:sp>
        <p:nvSpPr>
          <p:cNvPr id="14" name="b5-num"/>
          <p:cNvSpPr txBox="1"/>
          <p:nvPr/>
        </p:nvSpPr>
        <p:spPr>
          <a:xfrm>
            <a:off x="9220200" y="1600200"/>
            <a:ext cx="1524000" cy="381000"/>
          </a:xfrm>
          <a:prstGeom prst="rect">
            <a:avLst/>
          </a:prstGeom>
          <a:noFill/>
          <a:ln>
            <a:noFill/>
          </a:ln>
        </p:spPr>
        <p:txBody>
          <a:bodyPr lIns="0" rIns="0" tIns="0" bIns="0" wrap="none" rtlCol="0"/>
          <a:lstStyle/>
          <a:p>
            <a:pPr>
              <a:lnSpc>
                <a:spcPct val="120000"/>
              </a:lnSpc>
            </a:pPr>
            <a:r>
              <a:rPr lang="en-US" sz="2400" noProof="1" b="1">
                <a:solidFill>
                  <a:srgbClr val="16365C"/>
                </a:solidFill>
                <a:latin typeface="EB Garamond"/>
                <a:ea typeface="EB Garamond"/>
              </a:rPr>
              <a:t>0 of 20</a:t>
            </a:r>
            <a:endParaRPr lang="en-US" sz="2400" noProof="1"/>
          </a:p>
        </p:txBody>
      </p:sp>
      <p:sp>
        <p:nvSpPr>
          <p:cNvPr id="15" name="b5-label"/>
          <p:cNvSpPr txBox="1"/>
          <p:nvPr/>
        </p:nvSpPr>
        <p:spPr>
          <a:xfrm>
            <a:off x="9220200" y="1981200"/>
            <a:ext cx="2032000" cy="254000"/>
          </a:xfrm>
          <a:prstGeom prst="rect">
            <a:avLst/>
          </a:prstGeom>
          <a:noFill/>
          <a:ln>
            <a:noFill/>
          </a:ln>
        </p:spPr>
        <p:txBody>
          <a:bodyPr lIns="0" rIns="0" tIns="0" bIns="0" wrap="square" rtlCol="0"/>
          <a:lstStyle/>
          <a:p>
            <a:pPr>
              <a:lnSpc>
                <a:spcPct val="125000"/>
              </a:lnSpc>
            </a:pPr>
            <a:r>
              <a:rPr lang="en-US" sz="800" noProof="1">
                <a:solidFill>
                  <a:srgbClr val="5B6472"/>
                </a:solidFill>
                <a:latin typeface="Liter"/>
                <a:ea typeface="Liter"/>
              </a:rPr>
              <a:t>unsafe cases automated</a:t>
            </a:r>
            <a:endParaRPr lang="en-US" sz="800" noProof="1"/>
          </a:p>
        </p:txBody>
      </p:sp>
      <p:graphicFrame>
        <p:nvGraphicFramePr>
          <p:cNvPr id="16" name="results-table"/>
          <p:cNvGraphicFramePr>
            <a:graphicFrameLocks noGrp="1"/>
          </p:cNvGraphicFramePr>
          <p:nvPr/>
        </p:nvGraphicFramePr>
        <p:xfrm>
          <a:off x="711200" y="2489200"/>
          <a:ext cx="10769600" cy="1905000"/>
        </p:xfrm>
        <a:graphic>
          <a:graphicData uri="http://schemas.openxmlformats.org/drawingml/2006/table">
            <a:tbl>
              <a:tblPr/>
              <a:tblGrid>
                <a:gridCol w="2369312"/>
                <a:gridCol w="1400048"/>
                <a:gridCol w="1723136"/>
                <a:gridCol w="1507744"/>
                <a:gridCol w="1292352"/>
                <a:gridCol w="1184656"/>
                <a:gridCol w="1292352"/>
              </a:tblGrid>
              <a:tr h="381000">
                <a:tc>
                  <a:txBody>
                    <a:bodyPr wrap="square" rtlCol="0" anchor="ctr"/>
                    <a:lstStyle/>
                    <a:p>
                      <a:pPr algn="l">
                        <a:lnSpc>
                          <a:spcPct val="125000"/>
                        </a:lnSpc>
                      </a:pPr>
                      <a:r>
                        <a:rPr lang="en-US" sz="850" noProof="1" b="1">
                          <a:solidFill>
                            <a:srgbClr val="FFFFFF"/>
                          </a:solidFill>
                          <a:latin typeface="Liter"/>
                          <a:ea typeface="Liter"/>
                        </a:rPr>
                        <a:t>Model</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50" noProof="1" b="1">
                          <a:solidFill>
                            <a:srgbClr val="FFFFFF"/>
                          </a:solidFill>
                          <a:latin typeface="Liter"/>
                          <a:ea typeface="Liter"/>
                        </a:rPr>
                        <a:t>Exact action</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50" noProof="1" b="1">
                          <a:solidFill>
                            <a:srgbClr val="FFFFFF"/>
                          </a:solidFill>
                          <a:latin typeface="Liter"/>
                          <a:ea typeface="Liter"/>
                        </a:rPr>
                        <a:t>Acceptable action*</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50" noProof="1" b="1">
                          <a:solidFill>
                            <a:srgbClr val="FFFFFF"/>
                          </a:solidFill>
                          <a:latin typeface="Liter"/>
                          <a:ea typeface="Liter"/>
                        </a:rPr>
                        <a:t>Category right</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50" noProof="1" b="1">
                          <a:solidFill>
                            <a:srgbClr val="FFFFFF"/>
                          </a:solidFill>
                          <a:latin typeface="Liter"/>
                          <a:ea typeface="Liter"/>
                        </a:rPr>
                        <a:t>Automated (of 56)</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50" noProof="1" b="1">
                          <a:solidFill>
                            <a:srgbClr val="FFFFFF"/>
                          </a:solidFill>
                          <a:latin typeface="Liter"/>
                          <a:ea typeface="Liter"/>
                        </a:rPr>
                        <a:t>Unsafe automations</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50" noProof="1" b="1">
                          <a:solidFill>
                            <a:srgbClr val="FFFFFF"/>
                          </a:solidFill>
                          <a:latin typeface="Liter"/>
                          <a:ea typeface="Liter"/>
                        </a:rPr>
                        <a:t>Latency med / p95</a:t>
                      </a:r>
                    </a:p>
                  </a:txBody>
                  <a:tcPr marL="91440" marR="91440" marT="45720" marB="45720" anchor="ctr">
                    <a:lnL>
                      <a:noFill/>
                    </a:lnL>
                    <a:lnR>
                      <a:noFill/>
                    </a:lnR>
                    <a:lnT>
                      <a:noFill/>
                    </a:lnT>
                    <a:lnB>
                      <a:noFill/>
                    </a:lnB>
                    <a:solidFill>
                      <a:srgbClr val="16365C"/>
                    </a:solidFill>
                  </a:tcPr>
                </a:tc>
              </a:tr>
              <a:tr h="381000">
                <a:tc>
                  <a:txBody>
                    <a:bodyPr wrap="square" rtlCol="0" anchor="ctr"/>
                    <a:lstStyle/>
                    <a:p>
                      <a:pPr algn="l">
                        <a:lnSpc>
                          <a:spcPct val="125000"/>
                        </a:lnSpc>
                      </a:pPr>
                      <a:r>
                        <a:rPr lang="en-US" sz="850" noProof="1" b="1">
                          <a:solidFill>
                            <a:srgbClr val="1A2433"/>
                          </a:solidFill>
                          <a:latin typeface="Liter"/>
                          <a:ea typeface="Liter"/>
                        </a:rPr>
                        <a:t>Jev (TypeSafe API)</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50%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93%</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80%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22</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91 / 128 ms</a:t>
                      </a:r>
                    </a:p>
                  </a:txBody>
                  <a:tcPr marL="91440" marR="91440" marT="45720" marB="45720" anchor="ctr">
                    <a:lnL>
                      <a:noFill/>
                    </a:lnL>
                    <a:lnR>
                      <a:noFill/>
                    </a:lnR>
                    <a:lnT>
                      <a:noFill/>
                    </a:lnT>
                    <a:lnB w="6350">
                      <a:solidFill>
                        <a:srgbClr val="DCE3EB"/>
                      </a:solidFill>
                    </a:lnB>
                    <a:solidFill>
                      <a:srgbClr val="FFFFFF"/>
                    </a:solidFill>
                  </a:tcPr>
                </a:tc>
              </a:tr>
              <a:tr h="381000">
                <a:tc>
                  <a:txBody>
                    <a:bodyPr wrap="square" rtlCol="0" anchor="ctr"/>
                    <a:lstStyle/>
                    <a:p>
                      <a:pPr algn="l">
                        <a:lnSpc>
                          <a:spcPct val="125000"/>
                        </a:lnSpc>
                      </a:pPr>
                      <a:r>
                        <a:rPr lang="en-US" sz="850" noProof="1" b="1">
                          <a:solidFill>
                            <a:srgbClr val="1A2433"/>
                          </a:solidFill>
                          <a:latin typeface="Liter"/>
                          <a:ea typeface="Liter"/>
                        </a:rPr>
                        <a:t>Jev via OpenRouter</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50%</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93%</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79%</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20</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0</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134 / 406 ms</a:t>
                      </a:r>
                    </a:p>
                  </a:txBody>
                  <a:tcPr marL="91440" marR="91440" marT="45720" marB="45720" anchor="ctr">
                    <a:lnL>
                      <a:noFill/>
                    </a:lnL>
                    <a:lnR>
                      <a:noFill/>
                    </a:lnR>
                    <a:lnT>
                      <a:noFill/>
                    </a:lnT>
                    <a:lnB w="6350">
                      <a:solidFill>
                        <a:srgbClr val="DCE3EB"/>
                      </a:solidFill>
                    </a:lnB>
                    <a:solidFill>
                      <a:srgbClr val="F4F7FA"/>
                    </a:solidFill>
                  </a:tcPr>
                </a:tc>
              </a:tr>
              <a:tr h="381000">
                <a:tc>
                  <a:txBody>
                    <a:bodyPr wrap="square" rtlCol="0" anchor="ctr"/>
                    <a:lstStyle/>
                    <a:p>
                      <a:pPr algn="l">
                        <a:lnSpc>
                          <a:spcPct val="125000"/>
                        </a:lnSpc>
                      </a:pPr>
                      <a:r>
                        <a:rPr lang="en-US" sz="850" noProof="1" b="1">
                          <a:solidFill>
                            <a:srgbClr val="1A2433"/>
                          </a:solidFill>
                          <a:latin typeface="Liter"/>
                          <a:ea typeface="Liter"/>
                        </a:rPr>
                        <a:t>Kev-4B (local GPU)</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70%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86%</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71%</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8</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50" noProof="1">
                          <a:solidFill>
                            <a:srgbClr val="1A2433"/>
                          </a:solidFill>
                          <a:latin typeface="Liter"/>
                          <a:ea typeface="Liter"/>
                        </a:rPr>
                        <a:t>589 / 609 ms</a:t>
                      </a:r>
                    </a:p>
                  </a:txBody>
                  <a:tcPr marL="91440" marR="91440" marT="45720" marB="45720" anchor="ctr">
                    <a:lnL>
                      <a:noFill/>
                    </a:lnL>
                    <a:lnR>
                      <a:noFill/>
                    </a:lnR>
                    <a:lnT>
                      <a:noFill/>
                    </a:lnT>
                    <a:lnB w="6350">
                      <a:solidFill>
                        <a:srgbClr val="DCE3EB"/>
                      </a:solidFill>
                    </a:lnB>
                    <a:solidFill>
                      <a:srgbClr val="FFFFFF"/>
                    </a:solidFill>
                  </a:tcPr>
                </a:tc>
              </a:tr>
              <a:tr h="381000">
                <a:tc>
                  <a:txBody>
                    <a:bodyPr wrap="square" rtlCol="0" anchor="ctr"/>
                    <a:lstStyle/>
                    <a:p>
                      <a:pPr algn="l">
                        <a:lnSpc>
                          <a:spcPct val="125000"/>
                        </a:lnSpc>
                      </a:pPr>
                      <a:r>
                        <a:rPr lang="en-US" sz="850" noProof="1" b="1">
                          <a:solidFill>
                            <a:srgbClr val="1A2433"/>
                          </a:solidFill>
                          <a:latin typeface="Liter"/>
                          <a:ea typeface="Liter"/>
                        </a:rPr>
                        <a:t>Laya (local GPU)</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20%</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34%</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41%</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0</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2</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50" noProof="1">
                          <a:solidFill>
                            <a:srgbClr val="1A2433"/>
                          </a:solidFill>
                          <a:latin typeface="Liter"/>
                          <a:ea typeface="Liter"/>
                        </a:rPr>
                        <a:t>91 / 128 ms</a:t>
                      </a:r>
                    </a:p>
                  </a:txBody>
                  <a:tcPr marL="91440" marR="91440" marT="45720" marB="45720" anchor="ctr">
                    <a:lnL>
                      <a:noFill/>
                    </a:lnL>
                    <a:lnR>
                      <a:noFill/>
                    </a:lnR>
                    <a:lnT>
                      <a:noFill/>
                    </a:lnT>
                    <a:lnB w="6350">
                      <a:solidFill>
                        <a:srgbClr val="DCE3EB"/>
                      </a:solidFill>
                    </a:lnB>
                    <a:solidFill>
                      <a:srgbClr val="F4F7FA"/>
                    </a:solidFill>
                  </a:tcPr>
                </a:tc>
              </a:tr>
            </a:tbl>
          </a:graphicData>
        </a:graphic>
      </p:graphicFrame>
      <p:sp>
        <p:nvSpPr>
          <p:cNvPr id="17" name="bullets"/>
          <p:cNvSpPr txBox="1"/>
          <p:nvPr/>
        </p:nvSpPr>
        <p:spPr>
          <a:xfrm>
            <a:off x="711200" y="4546600"/>
            <a:ext cx="10769600" cy="1066800"/>
          </a:xfrm>
          <a:prstGeom prst="rect">
            <a:avLst/>
          </a:prstGeom>
          <a:noFill/>
          <a:ln>
            <a:noFill/>
          </a:ln>
        </p:spPr>
        <p:txBody>
          <a:bodyPr lIns="0" rIns="0" tIns="0" bIns="0" wrap="square" rtlCol="0"/>
          <a:lstStyle/>
          <a:p>
            <a:pPr>
              <a:lnSpc>
                <a:spcPct val="145000"/>
              </a:lnSpc>
            </a:pPr>
            <a:r>
              <a:rPr lang="en-US" sz="950" noProof="1">
                <a:solidFill>
                  <a:srgbClr val="1A2433"/>
                </a:solidFill>
                <a:latin typeface="Liter"/>
                <a:ea typeface="Liter"/>
              </a:rPr>
              <a:t>• 13 of Jev's 22 automated actions matched the label exactly; the other 9 were acceptable alternatives — rollback instead of a config fix for DNS failure (3) and config drift (2); scale-up instead of restart for memory leak (4).</a:t>
            </a:r>
            <a:endParaRPr lang="en-US" sz="950" noProof="1"/>
          </a:p>
          <a:p>
            <a:pPr>
              <a:lnSpc>
                <a:spcPct val="145000"/>
              </a:lnSpc>
              <a:spcBef>
                <a:spcPts val="600"/>
              </a:spcBef>
            </a:pPr>
            <a:r>
              <a:rPr lang="en-US" sz="950" noProof="1">
                <a:solidFill>
                  <a:srgbClr val="1A2433"/>
                </a:solidFill>
                <a:latin typeface="Liter"/>
                <a:ea typeface="Liter"/>
              </a:rPr>
              <a:t>• Kev-4B, an open 4B model, was exactly right on all 8 incidents it automated, acted far less often and missed one real incident. Laya never acted.</a:t>
            </a:r>
            <a:endParaRPr lang="en-US" sz="950" noProof="1"/>
          </a:p>
          <a:p>
            <a:pPr>
              <a:lnSpc>
                <a:spcPct val="145000"/>
              </a:lnSpc>
              <a:spcBef>
                <a:spcPts val="600"/>
              </a:spcBef>
            </a:pPr>
            <a:r>
              <a:rPr lang="en-US" sz="950" noProof="1">
                <a:solidFill>
                  <a:srgbClr val="5B6472"/>
                </a:solidFill>
                <a:latin typeface="Liter"/>
                <a:ea typeface="Liter"/>
              </a:rPr>
              <a:t>* "Acceptable" uses a list of alternative actions per incident type written after the first run; for 6 of the 14 types (24 incidents) Jev scores only through that list. Zero unsafe automations covers 5 unsafe scenario types (95% upper bound 43%). Cost for Jev is estimated; local models: no API fee, GPU not costed.</a:t>
            </a:r>
            <a:endParaRPr lang="en-US" sz="950" noProof="1"/>
          </a:p>
        </p:txBody>
      </p:sp>
      <p:sp>
        <p:nvSpPr>
          <p:cNvPr id="18" name="footline"/>
          <p:cNvSpPr/>
          <p:nvPr/>
        </p:nvSpPr>
        <p:spPr>
          <a:xfrm>
            <a:off x="711200" y="6477000"/>
            <a:ext cx="10769600" cy="9525"/>
          </a:xfrm>
          <a:prstGeom prst="rect">
            <a:avLst/>
          </a:prstGeom>
          <a:solidFill>
            <a:srgbClr val="DCE3EB"/>
          </a:solidFill>
          <a:ln>
            <a:noFill/>
          </a:ln>
        </p:spPr>
      </p:sp>
      <p:sp>
        <p:nvSpPr>
          <p:cNvPr id="19"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our measurement — results/facts.json, results/decisions_*.jsonl; one corpus version (0b4839761e06) for all four models.</a:t>
            </a:r>
            <a:endParaRPr lang="en-US" sz="750" noProof="1"/>
          </a:p>
        </p:txBody>
      </p:sp>
      <p:sp>
        <p:nvSpPr>
          <p:cNvPr id="20"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11</a:t>
            </a:r>
            <a:endParaRPr lang="en-US" sz="800" noProof="1"/>
          </a:p>
        </p:txBody>
      </p:sp>
    </p:spTree>
  </p:cSld>
  <p:clrMapOvr>
    <a:masterClrMapping/>
  </p:clrMapOvr>
</p:sld>
</file>

<file path=ppt/slides/slide1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EVIDENCE</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The mechanism worked end to end — accuracy and margins on real tickets are what a pilot would test</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left-head"/>
          <p:cNvSpPr txBox="1"/>
          <p:nvPr/>
        </p:nvSpPr>
        <p:spPr>
          <a:xfrm>
            <a:off x="711200" y="1549400"/>
            <a:ext cx="53340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Encouraging signs</a:t>
            </a:r>
            <a:endParaRPr lang="en-US" sz="1100" noProof="1"/>
          </a:p>
        </p:txBody>
      </p:sp>
      <p:sp>
        <p:nvSpPr>
          <p:cNvPr id="6" name="left-body"/>
          <p:cNvSpPr txBox="1"/>
          <p:nvPr/>
        </p:nvSpPr>
        <p:spPr>
          <a:xfrm>
            <a:off x="711200" y="1854200"/>
            <a:ext cx="5334000" cy="4064000"/>
          </a:xfrm>
          <a:prstGeom prst="rect">
            <a:avLst/>
          </a:prstGeom>
          <a:noFill/>
          <a:ln>
            <a:noFill/>
          </a:ln>
        </p:spPr>
        <p:txBody>
          <a:bodyPr lIns="0" rIns="0" tIns="0" bIns="0" wrap="square" rtlCol="0"/>
          <a:lstStyle/>
          <a:p>
            <a:pPr>
              <a:lnSpc>
                <a:spcPct val="145000"/>
              </a:lnSpc>
            </a:pPr>
            <a:r>
              <a:rPr lang="en-US" sz="1000" noProof="1">
                <a:solidFill>
                  <a:srgbClr val="1A2433"/>
                </a:solidFill>
                <a:latin typeface="Liter"/>
                <a:ea typeface="Liter"/>
              </a:rPr>
              <a:t>• </a:t>
            </a:r>
            <a:r>
              <a:rPr lang="en-US" sz="1000" noProof="1" b="1">
                <a:solidFill>
                  <a:srgbClr val="1A2433"/>
                </a:solidFill>
                <a:latin typeface="Liter"/>
                <a:ea typeface="Liter"/>
              </a:rPr>
              <a:t>Speed and cost.</a:t>
            </a:r>
            <a:r>
              <a:rPr lang="en-US" sz="1000" noProof="1">
                <a:solidFill>
                  <a:srgbClr val="1A2433"/>
                </a:solidFill>
                <a:latin typeface="Liter"/>
                <a:ea typeface="Liter"/>
              </a:rPr>
              <a:t> </a:t>
            </a:r>
            <a:r>
              <a:rPr lang="en-US" sz="1000" noProof="1">
                <a:solidFill>
                  <a:srgbClr val="5B6472"/>
                </a:solidFill>
                <a:latin typeface="Liter"/>
                <a:ea typeface="Liter"/>
              </a:rPr>
              <a:t>Median 91 ms for all 12 answers; about 6 cents per 1,000 incidents (estimate).</a:t>
            </a:r>
            <a:endParaRPr lang="en-US" sz="1000" noProof="1"/>
          </a:p>
          <a:p>
            <a:pPr>
              <a:lnSpc>
                <a:spcPct val="145000"/>
              </a:lnSpc>
              <a:spcBef>
                <a:spcPts val="900"/>
              </a:spcBef>
            </a:pPr>
            <a:r>
              <a:rPr lang="en-US" sz="1000" noProof="1">
                <a:solidFill>
                  <a:srgbClr val="1A2433"/>
                </a:solidFill>
                <a:latin typeface="Liter"/>
                <a:ea typeface="Liter"/>
              </a:rPr>
              <a:t>• </a:t>
            </a:r>
            <a:r>
              <a:rPr lang="en-US" sz="1000" noProof="1" b="1">
                <a:solidFill>
                  <a:srgbClr val="1A2433"/>
                </a:solidFill>
                <a:latin typeface="Liter"/>
                <a:ea typeface="Liter"/>
              </a:rPr>
              <a:t>A transparent gate.</a:t>
            </a:r>
            <a:r>
              <a:rPr lang="en-US" sz="1000" noProof="1">
                <a:solidFill>
                  <a:srgbClr val="1A2433"/>
                </a:solidFill>
                <a:latin typeface="Liter"/>
                <a:ea typeface="Liter"/>
              </a:rPr>
              <a:t> </a:t>
            </a:r>
            <a:r>
              <a:rPr lang="en-US" sz="1000" noProof="1">
                <a:solidFill>
                  <a:srgbClr val="5B6472"/>
                </a:solidFill>
                <a:latin typeface="Liter"/>
                <a:ea typeface="Liter"/>
              </a:rPr>
              <a:t>Every decision shows each check, its value, its threshold and its margin, with a written reason.</a:t>
            </a:r>
            <a:endParaRPr lang="en-US" sz="1000" noProof="1"/>
          </a:p>
          <a:p>
            <a:pPr>
              <a:lnSpc>
                <a:spcPct val="145000"/>
              </a:lnSpc>
              <a:spcBef>
                <a:spcPts val="900"/>
              </a:spcBef>
            </a:pPr>
            <a:r>
              <a:rPr lang="en-US" sz="1000" noProof="1">
                <a:solidFill>
                  <a:srgbClr val="1A2433"/>
                </a:solidFill>
                <a:latin typeface="Liter"/>
                <a:ea typeface="Liter"/>
              </a:rPr>
              <a:t>• </a:t>
            </a:r>
            <a:r>
              <a:rPr lang="en-US" sz="1000" noProof="1" b="1">
                <a:solidFill>
                  <a:srgbClr val="1A2433"/>
                </a:solidFill>
                <a:latin typeface="Liter"/>
                <a:ea typeface="Liter"/>
              </a:rPr>
              <a:t>A full audit record.</a:t>
            </a:r>
            <a:r>
              <a:rPr lang="en-US" sz="1000" noProof="1">
                <a:solidFill>
                  <a:srgbClr val="1A2433"/>
                </a:solidFill>
                <a:latin typeface="Liter"/>
                <a:ea typeface="Liter"/>
              </a:rPr>
              <a:t> </a:t>
            </a:r>
            <a:r>
              <a:rPr lang="en-US" sz="1000" noProof="1">
                <a:solidFill>
                  <a:srgbClr val="5B6472"/>
                </a:solidFill>
                <a:latin typeface="Liter"/>
                <a:ea typeface="Liter"/>
              </a:rPr>
              <a:t>The logs keep the incident text, the model version and every probability.</a:t>
            </a:r>
            <a:endParaRPr lang="en-US" sz="1000" noProof="1"/>
          </a:p>
          <a:p>
            <a:pPr>
              <a:lnSpc>
                <a:spcPct val="145000"/>
              </a:lnSpc>
              <a:spcBef>
                <a:spcPts val="900"/>
              </a:spcBef>
            </a:pPr>
            <a:r>
              <a:rPr lang="en-US" sz="1000" noProof="1">
                <a:solidFill>
                  <a:srgbClr val="1A2433"/>
                </a:solidFill>
                <a:latin typeface="Liter"/>
                <a:ea typeface="Liter"/>
              </a:rPr>
              <a:t>• </a:t>
            </a:r>
            <a:r>
              <a:rPr lang="en-US" sz="1000" noProof="1" b="1">
                <a:solidFill>
                  <a:srgbClr val="1A2433"/>
                </a:solidFill>
                <a:latin typeface="Liter"/>
                <a:ea typeface="Liter"/>
              </a:rPr>
              <a:t>The model choice stays open.</a:t>
            </a:r>
            <a:r>
              <a:rPr lang="en-US" sz="1000" noProof="1">
                <a:solidFill>
                  <a:srgbClr val="1A2433"/>
                </a:solidFill>
                <a:latin typeface="Liter"/>
                <a:ea typeface="Liter"/>
              </a:rPr>
              <a:t> </a:t>
            </a:r>
            <a:r>
              <a:rPr lang="en-US" sz="1000" noProof="1">
                <a:solidFill>
                  <a:srgbClr val="5B6472"/>
                </a:solidFill>
                <a:latin typeface="Liter"/>
                <a:ea typeface="Liter"/>
              </a:rPr>
              <a:t>The same questions ran unchanged on four models, hosted and local.</a:t>
            </a:r>
            <a:endParaRPr lang="en-US" sz="1000" noProof="1"/>
          </a:p>
          <a:p>
            <a:pPr>
              <a:lnSpc>
                <a:spcPct val="145000"/>
              </a:lnSpc>
              <a:spcBef>
                <a:spcPts val="900"/>
              </a:spcBef>
            </a:pPr>
            <a:r>
              <a:rPr lang="en-US" sz="1000" noProof="1">
                <a:solidFill>
                  <a:srgbClr val="1A2433"/>
                </a:solidFill>
                <a:latin typeface="Liter"/>
                <a:ea typeface="Liter"/>
              </a:rPr>
              <a:t>• </a:t>
            </a:r>
            <a:r>
              <a:rPr lang="en-US" sz="1000" noProof="1" b="1">
                <a:solidFill>
                  <a:srgbClr val="1A2433"/>
                </a:solidFill>
                <a:latin typeface="Liter"/>
                <a:ea typeface="Liter"/>
              </a:rPr>
              <a:t>Nothing unsafe went ahead.</a:t>
            </a:r>
            <a:r>
              <a:rPr lang="en-US" sz="1000" noProof="1">
                <a:solidFill>
                  <a:srgbClr val="1A2433"/>
                </a:solidFill>
                <a:latin typeface="Liter"/>
                <a:ea typeface="Liter"/>
              </a:rPr>
              <a:t> </a:t>
            </a:r>
            <a:r>
              <a:rPr lang="en-US" sz="1000" noProof="1">
                <a:solidFill>
                  <a:srgbClr val="5B6472"/>
                </a:solidFill>
                <a:latin typeface="Liter"/>
                <a:ea typeface="Liter"/>
              </a:rPr>
              <a:t>None of the 20 incidents marked unsafe was automated, and no real incident was missed.</a:t>
            </a:r>
            <a:endParaRPr lang="en-US" sz="1000" noProof="1"/>
          </a:p>
        </p:txBody>
      </p:sp>
      <p:sp>
        <p:nvSpPr>
          <p:cNvPr id="7" name="vline"/>
          <p:cNvSpPr/>
          <p:nvPr/>
        </p:nvSpPr>
        <p:spPr>
          <a:xfrm>
            <a:off x="6350000" y="1549400"/>
            <a:ext cx="9525" cy="4368800"/>
          </a:xfrm>
          <a:prstGeom prst="rect">
            <a:avLst/>
          </a:prstGeom>
          <a:solidFill>
            <a:srgbClr val="DCE3EB"/>
          </a:solidFill>
          <a:ln>
            <a:noFill/>
          </a:ln>
        </p:spPr>
      </p:sp>
      <p:sp>
        <p:nvSpPr>
          <p:cNvPr id="8" name="right-head"/>
          <p:cNvSpPr txBox="1"/>
          <p:nvPr/>
        </p:nvSpPr>
        <p:spPr>
          <a:xfrm>
            <a:off x="6654800" y="1549400"/>
            <a:ext cx="4826000" cy="203200"/>
          </a:xfrm>
          <a:prstGeom prst="rect">
            <a:avLst/>
          </a:prstGeom>
          <a:noFill/>
          <a:ln>
            <a:noFill/>
          </a:ln>
        </p:spPr>
        <p:txBody>
          <a:bodyPr lIns="0" rIns="0" tIns="0" bIns="0" wrap="none" rtlCol="0"/>
          <a:lstStyle/>
          <a:p>
            <a:pPr>
              <a:lnSpc>
                <a:spcPct val="120000"/>
              </a:lnSpc>
            </a:pPr>
            <a:r>
              <a:rPr lang="en-US" sz="1100" noProof="1" b="1">
                <a:solidFill>
                  <a:srgbClr val="B97A10"/>
                </a:solidFill>
                <a:latin typeface="Liter"/>
                <a:ea typeface="Liter"/>
              </a:rPr>
              <a:t>What to test next</a:t>
            </a:r>
            <a:endParaRPr lang="en-US" sz="1100" noProof="1"/>
          </a:p>
        </p:txBody>
      </p:sp>
      <p:sp>
        <p:nvSpPr>
          <p:cNvPr id="9" name="right-body"/>
          <p:cNvSpPr txBox="1"/>
          <p:nvPr/>
        </p:nvSpPr>
        <p:spPr>
          <a:xfrm>
            <a:off x="6654800" y="1854200"/>
            <a:ext cx="4826000" cy="4064000"/>
          </a:xfrm>
          <a:prstGeom prst="rect">
            <a:avLst/>
          </a:prstGeom>
          <a:noFill/>
          <a:ln>
            <a:noFill/>
          </a:ln>
        </p:spPr>
        <p:txBody>
          <a:bodyPr lIns="0" rIns="0" tIns="0" bIns="0" wrap="square" rtlCol="0"/>
          <a:lstStyle/>
          <a:p>
            <a:pPr>
              <a:lnSpc>
                <a:spcPct val="145000"/>
              </a:lnSpc>
            </a:pPr>
            <a:r>
              <a:rPr lang="en-US" sz="1000" noProof="1">
                <a:solidFill>
                  <a:srgbClr val="1A2433"/>
                </a:solidFill>
                <a:latin typeface="Liter"/>
                <a:ea typeface="Liter"/>
              </a:rPr>
              <a:t>• </a:t>
            </a:r>
            <a:r>
              <a:rPr lang="en-US" sz="1000" noProof="1" b="1">
                <a:solidFill>
                  <a:srgbClr val="1A2433"/>
                </a:solidFill>
                <a:latin typeface="Liter"/>
                <a:ea typeface="Liter"/>
              </a:rPr>
              <a:t>Real tickets.</a:t>
            </a:r>
            <a:r>
              <a:rPr lang="en-US" sz="1000" noProof="1">
                <a:solidFill>
                  <a:srgbClr val="1A2433"/>
                </a:solidFill>
                <a:latin typeface="Liter"/>
                <a:ea typeface="Liter"/>
              </a:rPr>
              <a:t> </a:t>
            </a:r>
            <a:r>
              <a:rPr lang="en-US" sz="1000" noProof="1">
                <a:solidFill>
                  <a:srgbClr val="5B6472"/>
                </a:solidFill>
                <a:latin typeface="Liter"/>
                <a:ea typeface="Liter"/>
              </a:rPr>
              <a:t>The demo incidents are synthetic and easy: root cause was right for three of the four models.</a:t>
            </a:r>
            <a:endParaRPr lang="en-US" sz="1000" noProof="1"/>
          </a:p>
          <a:p>
            <a:pPr>
              <a:lnSpc>
                <a:spcPct val="145000"/>
              </a:lnSpc>
              <a:spcBef>
                <a:spcPts val="900"/>
              </a:spcBef>
            </a:pPr>
            <a:r>
              <a:rPr lang="en-US" sz="1000" noProof="1">
                <a:solidFill>
                  <a:srgbClr val="1A2433"/>
                </a:solidFill>
                <a:latin typeface="Liter"/>
                <a:ea typeface="Liter"/>
              </a:rPr>
              <a:t>• </a:t>
            </a:r>
            <a:r>
              <a:rPr lang="en-US" sz="1000" noProof="1" b="1">
                <a:solidFill>
                  <a:srgbClr val="1A2433"/>
                </a:solidFill>
                <a:latin typeface="Liter"/>
                <a:ea typeface="Liter"/>
              </a:rPr>
              <a:t>Thin margins.</a:t>
            </a:r>
            <a:r>
              <a:rPr lang="en-US" sz="1000" noProof="1">
                <a:solidFill>
                  <a:srgbClr val="1A2433"/>
                </a:solidFill>
                <a:latin typeface="Liter"/>
                <a:ea typeface="Liter"/>
              </a:rPr>
              <a:t> </a:t>
            </a:r>
            <a:r>
              <a:rPr lang="en-US" sz="1000" noProof="1">
                <a:solidFill>
                  <a:srgbClr val="5B6472"/>
                </a:solidFill>
                <a:latin typeface="Liter"/>
                <a:ea typeface="Liter"/>
              </a:rPr>
              <a:t>18 of the 22 automated incidents had "page a human" between 0.73 and 0.88, under a 0.90 cut-off; at 0.80 the gate would automate 12.</a:t>
            </a:r>
            <a:endParaRPr lang="en-US" sz="1000" noProof="1"/>
          </a:p>
          <a:p>
            <a:pPr>
              <a:lnSpc>
                <a:spcPct val="145000"/>
              </a:lnSpc>
              <a:spcBef>
                <a:spcPts val="900"/>
              </a:spcBef>
            </a:pPr>
            <a:r>
              <a:rPr lang="en-US" sz="1000" noProof="1">
                <a:solidFill>
                  <a:srgbClr val="1A2433"/>
                </a:solidFill>
                <a:latin typeface="Liter"/>
                <a:ea typeface="Liter"/>
              </a:rPr>
              <a:t>• </a:t>
            </a:r>
            <a:r>
              <a:rPr lang="en-US" sz="1000" noProof="1" b="1">
                <a:solidFill>
                  <a:srgbClr val="1A2433"/>
                </a:solidFill>
                <a:latin typeface="Liter"/>
                <a:ea typeface="Liter"/>
              </a:rPr>
              <a:t>Option order.</a:t>
            </a:r>
            <a:r>
              <a:rPr lang="en-US" sz="1000" noProof="1">
                <a:solidFill>
                  <a:srgbClr val="1A2433"/>
                </a:solidFill>
                <a:latin typeface="Liter"/>
                <a:ea typeface="Liter"/>
              </a:rPr>
              <a:t> </a:t>
            </a:r>
            <a:r>
              <a:rPr lang="en-US" sz="1000" noProof="1">
                <a:solidFill>
                  <a:srgbClr val="5B6472"/>
                </a:solidFill>
                <a:latin typeface="Liter"/>
                <a:ea typeface="Liter"/>
              </a:rPr>
              <a:t>Jev proposed rollback — the first option listed — 16 times where the labels called for it 4.</a:t>
            </a:r>
            <a:endParaRPr lang="en-US" sz="1000" noProof="1"/>
          </a:p>
          <a:p>
            <a:pPr>
              <a:lnSpc>
                <a:spcPct val="145000"/>
              </a:lnSpc>
              <a:spcBef>
                <a:spcPts val="900"/>
              </a:spcBef>
            </a:pPr>
            <a:r>
              <a:rPr lang="en-US" sz="1000" noProof="1">
                <a:solidFill>
                  <a:srgbClr val="1A2433"/>
                </a:solidFill>
                <a:latin typeface="Liter"/>
                <a:ea typeface="Liter"/>
              </a:rPr>
              <a:t>• </a:t>
            </a:r>
            <a:r>
              <a:rPr lang="en-US" sz="1000" noProof="1" b="1">
                <a:solidFill>
                  <a:srgbClr val="1A2433"/>
                </a:solidFill>
                <a:latin typeface="Liter"/>
                <a:ea typeface="Liter"/>
              </a:rPr>
              <a:t>Exact action.</a:t>
            </a:r>
            <a:r>
              <a:rPr lang="en-US" sz="1000" noProof="1">
                <a:solidFill>
                  <a:srgbClr val="1A2433"/>
                </a:solidFill>
                <a:latin typeface="Liter"/>
                <a:ea typeface="Liter"/>
              </a:rPr>
              <a:t> </a:t>
            </a:r>
            <a:r>
              <a:rPr lang="en-US" sz="1000" noProof="1">
                <a:solidFill>
                  <a:srgbClr val="5B6472"/>
                </a:solidFill>
                <a:latin typeface="Liter"/>
                <a:ea typeface="Liter"/>
              </a:rPr>
              <a:t>Matched the label half the time (28 of 56); 93% counting alternatives accepted after the first run.</a:t>
            </a:r>
            <a:endParaRPr lang="en-US" sz="1000" noProof="1"/>
          </a:p>
          <a:p>
            <a:pPr>
              <a:lnSpc>
                <a:spcPct val="145000"/>
              </a:lnSpc>
              <a:spcBef>
                <a:spcPts val="900"/>
              </a:spcBef>
            </a:pPr>
            <a:r>
              <a:rPr lang="en-US" sz="1000" noProof="1">
                <a:solidFill>
                  <a:srgbClr val="1A2433"/>
                </a:solidFill>
                <a:latin typeface="Liter"/>
                <a:ea typeface="Liter"/>
              </a:rPr>
              <a:t>• </a:t>
            </a:r>
            <a:r>
              <a:rPr lang="en-US" sz="1000" noProof="1" b="1">
                <a:solidFill>
                  <a:srgbClr val="1A2433"/>
                </a:solidFill>
                <a:latin typeface="Liter"/>
                <a:ea typeface="Liter"/>
              </a:rPr>
              <a:t>The paging question.</a:t>
            </a:r>
            <a:r>
              <a:rPr lang="en-US" sz="1000" noProof="1">
                <a:solidFill>
                  <a:srgbClr val="1A2433"/>
                </a:solidFill>
                <a:latin typeface="Liter"/>
                <a:ea typeface="Liter"/>
              </a:rPr>
              <a:t> </a:t>
            </a:r>
            <a:r>
              <a:rPr lang="en-US" sz="1000" noProof="1">
                <a:solidFill>
                  <a:srgbClr val="5B6472"/>
                </a:solidFill>
                <a:latin typeface="Liter"/>
                <a:ea typeface="Liter"/>
              </a:rPr>
              <a:t>"Page a human" averaged 0.77 on incidents fit for automation and 0.77 on unsafe ones, so its wording needs work.</a:t>
            </a:r>
            <a:endParaRPr lang="en-US" sz="1000" noProof="1"/>
          </a:p>
        </p:txBody>
      </p:sp>
      <p:sp>
        <p:nvSpPr>
          <p:cNvPr id="10" name="bottom-rule"/>
          <p:cNvSpPr/>
          <p:nvPr/>
        </p:nvSpPr>
        <p:spPr>
          <a:xfrm>
            <a:off x="711200" y="6070600"/>
            <a:ext cx="10769600" cy="9525"/>
          </a:xfrm>
          <a:prstGeom prst="rect">
            <a:avLst/>
          </a:prstGeom>
          <a:solidFill>
            <a:srgbClr val="DCE3EB"/>
          </a:solidFill>
          <a:ln>
            <a:noFill/>
          </a:ln>
        </p:spPr>
      </p:sp>
      <p:sp>
        <p:nvSpPr>
          <p:cNvPr id="11" name="bottom-note"/>
          <p:cNvSpPr txBox="1"/>
          <p:nvPr/>
        </p:nvSpPr>
        <p:spPr>
          <a:xfrm>
            <a:off x="711200" y="6197600"/>
            <a:ext cx="10769600" cy="203200"/>
          </a:xfrm>
          <a:prstGeom prst="rect">
            <a:avLst/>
          </a:prstGeom>
          <a:noFill/>
          <a:ln>
            <a:noFill/>
          </a:ln>
        </p:spPr>
        <p:txBody>
          <a:bodyPr lIns="0" rIns="0" tIns="0" bIns="0" wrap="none" rtlCol="0"/>
          <a:lstStyle/>
          <a:p>
            <a:pPr>
              <a:lnSpc>
                <a:spcPct val="120000"/>
              </a:lnSpc>
            </a:pPr>
            <a:r>
              <a:rPr lang="en-US" sz="950" noProof="1">
                <a:solidFill>
                  <a:srgbClr val="5B6472"/>
                </a:solidFill>
                <a:latin typeface="Liter"/>
                <a:ea typeface="Liter"/>
              </a:rPr>
              <a:t>Each item on the right maps to a stage in the pilot plan on the closing page.</a:t>
            </a:r>
            <a:endParaRPr lang="en-US" sz="950" noProof="1"/>
          </a:p>
        </p:txBody>
      </p:sp>
      <p:sp>
        <p:nvSpPr>
          <p:cNvPr id="12"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our measurement — results/facts.json (sensitivity = the gate re-run over stored answers with one threshold changed).</a:t>
            </a:r>
            <a:endParaRPr lang="en-US" sz="750" noProof="1"/>
          </a:p>
        </p:txBody>
      </p:sp>
      <p:sp>
        <p:nvSpPr>
          <p:cNvPr id="13"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12</a:t>
            </a:r>
            <a:endParaRPr lang="en-US" sz="800" noProof="1"/>
          </a:p>
        </p:txBody>
      </p:sp>
    </p:spTree>
  </p:cSld>
  <p:clrMapOvr>
    <a:masterClrMapping/>
  </p:clrMapOvr>
</p:sld>
</file>

<file path=ppt/slides/slide1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VALUE</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Four levers could move routine incidents toward ZeroOps — each is a hypothesis to test on real tickets</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graphicFrame>
        <p:nvGraphicFramePr>
          <p:cNvPr id="5" name="levers"/>
          <p:cNvGraphicFramePr>
            <a:graphicFrameLocks noGrp="1"/>
          </p:cNvGraphicFramePr>
          <p:nvPr/>
        </p:nvGraphicFramePr>
        <p:xfrm>
          <a:off x="711200" y="1549400"/>
          <a:ext cx="10769600" cy="3403600"/>
        </p:xfrm>
        <a:graphic>
          <a:graphicData uri="http://schemas.openxmlformats.org/drawingml/2006/table">
            <a:tbl>
              <a:tblPr/>
              <a:tblGrid>
                <a:gridCol w="969264"/>
                <a:gridCol w="2907792"/>
                <a:gridCol w="3553968"/>
                <a:gridCol w="3338576"/>
              </a:tblGrid>
              <a:tr h="374396">
                <a:tc>
                  <a:txBody>
                    <a:bodyPr wrap="square" rtlCol="0" anchor="ctr"/>
                    <a:lstStyle/>
                    <a:p>
                      <a:pPr algn="l">
                        <a:lnSpc>
                          <a:spcPct val="130000"/>
                        </a:lnSpc>
                      </a:pPr>
                      <a:r>
                        <a:rPr lang="en-US" sz="850" noProof="1" b="1">
                          <a:solidFill>
                            <a:srgbClr val="FFFFFF"/>
                          </a:solidFill>
                          <a:latin typeface="Liter"/>
                          <a:ea typeface="Liter"/>
                        </a:rPr>
                        <a:t>Lever</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30000"/>
                        </a:lnSpc>
                      </a:pPr>
                      <a:r>
                        <a:rPr lang="en-US" sz="850" noProof="1" b="1">
                          <a:solidFill>
                            <a:srgbClr val="FFFFFF"/>
                          </a:solidFill>
                          <a:latin typeface="Liter"/>
                          <a:ea typeface="Liter"/>
                        </a:rPr>
                        <a:t>What it could deliver</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30000"/>
                        </a:lnSpc>
                      </a:pPr>
                      <a:r>
                        <a:rPr lang="en-US" sz="850" noProof="1" b="1">
                          <a:solidFill>
                            <a:srgbClr val="FFFFFF"/>
                          </a:solidFill>
                          <a:latin typeface="Liter"/>
                          <a:ea typeface="Liter"/>
                        </a:rPr>
                        <a:t>What would need to be true</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30000"/>
                        </a:lnSpc>
                      </a:pPr>
                      <a:r>
                        <a:rPr lang="en-US" sz="850" noProof="1" b="1">
                          <a:solidFill>
                            <a:srgbClr val="FFFFFF"/>
                          </a:solidFill>
                          <a:latin typeface="Liter"/>
                          <a:ea typeface="Liter"/>
                        </a:rPr>
                        <a:t>How to measure it</a:t>
                      </a:r>
                    </a:p>
                  </a:txBody>
                  <a:tcPr marL="91440" marR="91440" marT="45720" marB="45720" anchor="ctr">
                    <a:lnL>
                      <a:noFill/>
                    </a:lnL>
                    <a:lnR>
                      <a:noFill/>
                    </a:lnR>
                    <a:lnT>
                      <a:noFill/>
                    </a:lnT>
                    <a:lnB>
                      <a:noFill/>
                    </a:lnB>
                    <a:solidFill>
                      <a:srgbClr val="16365C"/>
                    </a:solidFill>
                  </a:tcPr>
                </a:tc>
              </a:tr>
              <a:tr h="757301">
                <a:tc>
                  <a:txBody>
                    <a:bodyPr wrap="square" rtlCol="0" anchor="ctr"/>
                    <a:lstStyle/>
                    <a:p>
                      <a:pPr algn="l">
                        <a:lnSpc>
                          <a:spcPct val="130000"/>
                        </a:lnSpc>
                      </a:pPr>
                      <a:r>
                        <a:rPr lang="en-US" sz="850" noProof="1" b="1">
                          <a:solidFill>
                            <a:srgbClr val="1A2433"/>
                          </a:solidFill>
                          <a:latin typeface="Liter"/>
                          <a:ea typeface="Liter"/>
                        </a:rPr>
                        <a:t>Routing</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Fewer reassignment hops; tickets reach the resolving team sooner, during incident surges too</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Reassignment is frequent and costly; assignment groups can be told apart from ticket text; the licensed platform doesn't already do it (Q1, Q8, Q9)</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Reassignment count and time to the resolving group, replayed on closed tickets and surge periods</a:t>
                      </a:r>
                    </a:p>
                  </a:txBody>
                  <a:tcPr marL="91440" marR="91440" marT="45720" marB="45720" anchor="ctr">
                    <a:lnL>
                      <a:noFill/>
                    </a:lnL>
                    <a:lnR>
                      <a:noFill/>
                    </a:lnR>
                    <a:lnT>
                      <a:noFill/>
                    </a:lnT>
                    <a:lnB w="6350">
                      <a:solidFill>
                        <a:srgbClr val="DCE3EB"/>
                      </a:solidFill>
                    </a:lnB>
                    <a:noFill/>
                  </a:tcPr>
                </a:tc>
              </a:tr>
              <a:tr h="757301">
                <a:tc>
                  <a:txBody>
                    <a:bodyPr wrap="square" rtlCol="0" anchor="ctr"/>
                    <a:lstStyle/>
                    <a:p>
                      <a:pPr algn="l">
                        <a:lnSpc>
                          <a:spcPct val="130000"/>
                        </a:lnSpc>
                      </a:pPr>
                      <a:r>
                        <a:rPr lang="en-US" sz="850" noProof="1" b="1">
                          <a:solidFill>
                            <a:srgbClr val="1A2433"/>
                          </a:solidFill>
                          <a:latin typeface="Liter"/>
                          <a:ea typeface="Liter"/>
                        </a:rPr>
                        <a:t>Triage</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Consistent severity, major-incident and paging calls in about 91 ms, each logged</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Text at first triage says enough; past severity labels are good enough to score against (Q3, Q10)</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Agreement with postmortem severity; major-incident recall; pages avoided overnight and during surges</a:t>
                      </a:r>
                    </a:p>
                  </a:txBody>
                  <a:tcPr marL="91440" marR="91440" marT="45720" marB="45720" anchor="ctr">
                    <a:lnL>
                      <a:noFill/>
                    </a:lnL>
                    <a:lnR>
                      <a:noFill/>
                    </a:lnR>
                    <a:lnT>
                      <a:noFill/>
                    </a:lnT>
                    <a:lnB w="6350">
                      <a:solidFill>
                        <a:srgbClr val="DCE3EB"/>
                      </a:solidFill>
                    </a:lnB>
                    <a:noFill/>
                  </a:tcPr>
                </a:tc>
              </a:tr>
              <a:tr h="757301">
                <a:tc>
                  <a:txBody>
                    <a:bodyPr wrap="square" rtlCol="0" anchor="ctr"/>
                    <a:lstStyle/>
                    <a:p>
                      <a:pPr algn="l">
                        <a:lnSpc>
                          <a:spcPct val="130000"/>
                        </a:lnSpc>
                      </a:pPr>
                      <a:r>
                        <a:rPr lang="en-US" sz="850" noProof="1" b="1">
                          <a:solidFill>
                            <a:srgbClr val="1A2433"/>
                          </a:solidFill>
                          <a:latin typeface="Liter"/>
                          <a:ea typeface="Liter"/>
                        </a:rPr>
                        <a:t>Reversible fixes</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Rollback, restart and scale-up run automatically behind a gate in owned code; people take the novel and risky</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Fixes already scripted and trusted; thresholds set on held-out history; a named owner (Q5, Q6, Q23)</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Share automated at the agreed threshold; reversals; incidents that should have gone to a person</a:t>
                      </a:r>
                    </a:p>
                  </a:txBody>
                  <a:tcPr marL="91440" marR="91440" marT="45720" marB="45720" anchor="ctr">
                    <a:lnL>
                      <a:noFill/>
                    </a:lnL>
                    <a:lnR>
                      <a:noFill/>
                    </a:lnR>
                    <a:lnT>
                      <a:noFill/>
                    </a:lnT>
                    <a:lnB w="6350">
                      <a:solidFill>
                        <a:srgbClr val="DCE3EB"/>
                      </a:solidFill>
                    </a:lnB>
                    <a:noFill/>
                  </a:tcPr>
                </a:tc>
              </a:tr>
              <a:tr h="757301">
                <a:tc>
                  <a:txBody>
                    <a:bodyPr wrap="square" rtlCol="0" anchor="ctr"/>
                    <a:lstStyle/>
                    <a:p>
                      <a:pPr algn="l">
                        <a:lnSpc>
                          <a:spcPct val="130000"/>
                        </a:lnSpc>
                      </a:pPr>
                      <a:r>
                        <a:rPr lang="en-US" sz="850" noProof="1" b="1">
                          <a:solidFill>
                            <a:srgbClr val="1A2433"/>
                          </a:solidFill>
                          <a:latin typeface="Liter"/>
                          <a:ea typeface="Liter"/>
                        </a:rPr>
                        <a:t>Economics</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Inference is close to free (about 6 cents per 1,000 incidents), so the value rests on accuracy on real tickets</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Accuracy beats current rules and simple alternatives by enough to matter (Q19)</a:t>
                      </a:r>
                    </a:p>
                  </a:txBody>
                  <a:tcPr marL="91440" marR="91440" marT="45720" marB="45720" anchor="ctr">
                    <a:lnL>
                      <a:noFill/>
                    </a:lnL>
                    <a:lnR>
                      <a:noFill/>
                    </a:lnR>
                    <a:lnT>
                      <a:noFill/>
                    </a:lnT>
                    <a:lnB w="6350">
                      <a:solidFill>
                        <a:srgbClr val="DCE3EB"/>
                      </a:solidFill>
                    </a:lnB>
                    <a:noFill/>
                  </a:tcPr>
                </a:tc>
                <a:tc>
                  <a:txBody>
                    <a:bodyPr wrap="square" rtlCol="0" anchor="ctr"/>
                    <a:lstStyle/>
                    <a:p>
                      <a:pPr algn="l">
                        <a:lnSpc>
                          <a:spcPct val="130000"/>
                        </a:lnSpc>
                      </a:pPr>
                      <a:r>
                        <a:rPr lang="en-US" sz="850" noProof="1">
                          <a:solidFill>
                            <a:srgbClr val="1A2433"/>
                          </a:solidFill>
                          <a:latin typeface="Liter"/>
                          <a:ea typeface="Liter"/>
                        </a:rPr>
                        <a:t>Replay accuracy against current rules; fully loaded first-year cost</a:t>
                      </a:r>
                    </a:p>
                  </a:txBody>
                  <a:tcPr marL="91440" marR="91440" marT="45720" marB="45720" anchor="ctr">
                    <a:lnL>
                      <a:noFill/>
                    </a:lnL>
                    <a:lnR>
                      <a:noFill/>
                    </a:lnR>
                    <a:lnT>
                      <a:noFill/>
                    </a:lnT>
                    <a:lnB w="6350">
                      <a:solidFill>
                        <a:srgbClr val="DCE3EB"/>
                      </a:solidFill>
                    </a:lnB>
                    <a:noFill/>
                  </a:tcPr>
                </a:tc>
              </a:tr>
            </a:tbl>
          </a:graphicData>
        </a:graphic>
      </p:graphicFrame>
      <p:sp>
        <p:nvSpPr>
          <p:cNvPr id="6" name="notes"/>
          <p:cNvSpPr txBox="1"/>
          <p:nvPr/>
        </p:nvSpPr>
        <p:spPr>
          <a:xfrm>
            <a:off x="711200" y="5130800"/>
            <a:ext cx="10769600" cy="1066800"/>
          </a:xfrm>
          <a:prstGeom prst="rect">
            <a:avLst/>
          </a:prstGeom>
          <a:noFill/>
          <a:ln>
            <a:noFill/>
          </a:ln>
        </p:spPr>
        <p:txBody>
          <a:bodyPr lIns="0" rIns="0" tIns="0" bIns="0" wrap="square" rtlCol="0"/>
          <a:lstStyle/>
          <a:p>
            <a:pPr>
              <a:lnSpc>
                <a:spcPct val="150000"/>
              </a:lnSpc>
            </a:pPr>
            <a:r>
              <a:rPr lang="en-US" sz="950" noProof="1" b="1">
                <a:solidFill>
                  <a:srgbClr val="16365C"/>
                </a:solidFill>
                <a:latin typeface="Liter"/>
                <a:ea typeface="Liter"/>
              </a:rPr>
              <a:t>Where it fits:</a:t>
            </a:r>
            <a:r>
              <a:rPr lang="en-US" sz="950" noProof="1">
                <a:solidFill>
                  <a:srgbClr val="1A2433"/>
                </a:solidFill>
                <a:latin typeface="Liter"/>
                <a:ea typeface="Liter"/>
              </a:rPr>
              <a:t> </a:t>
            </a:r>
            <a:r>
              <a:rPr lang="en-US" sz="950" noProof="1">
                <a:solidFill>
                  <a:srgbClr val="5B6472"/>
                </a:solidFill>
                <a:latin typeface="Liter"/>
                <a:ea typeface="Liter"/>
              </a:rPr>
              <a:t>calls made from text many times a day, with a short list of answers. C1</a:t>
            </a:r>
            <a:endParaRPr lang="en-US" sz="950" noProof="1"/>
          </a:p>
          <a:p>
            <a:pPr>
              <a:lnSpc>
                <a:spcPct val="150000"/>
              </a:lnSpc>
            </a:pPr>
            <a:r>
              <a:rPr lang="en-US" sz="950" noProof="1" b="1">
                <a:solidFill>
                  <a:srgbClr val="16365C"/>
                </a:solidFill>
                <a:latin typeface="Liter"/>
                <a:ea typeface="Liter"/>
              </a:rPr>
              <a:t>Where it needs care:</a:t>
            </a:r>
            <a:r>
              <a:rPr lang="en-US" sz="950" noProof="1">
                <a:solidFill>
                  <a:srgbClr val="1A2433"/>
                </a:solidFill>
                <a:latin typeface="Liter"/>
                <a:ea typeface="Liter"/>
              </a:rPr>
              <a:t> </a:t>
            </a:r>
            <a:r>
              <a:rPr lang="en-US" sz="950" noProof="1">
                <a:solidFill>
                  <a:srgbClr val="5B6472"/>
                </a:solidFill>
                <a:latin typeface="Liter"/>
                <a:ea typeface="Liter"/>
              </a:rPr>
              <a:t>long, noisy tickets and novel failures C3; text that outsiders can write into a ticket. C6</a:t>
            </a:r>
            <a:endParaRPr lang="en-US" sz="950" noProof="1"/>
          </a:p>
          <a:p>
            <a:pPr>
              <a:lnSpc>
                <a:spcPct val="150000"/>
              </a:lnSpc>
            </a:pPr>
            <a:r>
              <a:rPr lang="en-US" sz="950" noProof="1" b="1">
                <a:solidFill>
                  <a:srgbClr val="16365C"/>
                </a:solidFill>
                <a:latin typeface="Liter"/>
                <a:ea typeface="Liter"/>
              </a:rPr>
              <a:t>What it is worth:</a:t>
            </a:r>
            <a:r>
              <a:rPr lang="en-US" sz="950" noProof="1">
                <a:solidFill>
                  <a:srgbClr val="1A2433"/>
                </a:solidFill>
                <a:latin typeface="Liter"/>
                <a:ea typeface="Liter"/>
              </a:rPr>
              <a:t> </a:t>
            </a:r>
            <a:r>
              <a:rPr lang="en-US" sz="950" noProof="1">
                <a:solidFill>
                  <a:srgbClr val="5B6472"/>
                </a:solidFill>
                <a:latin typeface="Liter"/>
                <a:ea typeface="Liter"/>
              </a:rPr>
              <a:t>set by downtime cost, out-of-hours pages and engineer hours; the diagnostic stage measures those baselines. Judgement</a:t>
            </a:r>
            <a:endParaRPr lang="en-US" sz="950" noProof="1"/>
          </a:p>
        </p:txBody>
      </p:sp>
      <p:sp>
        <p:nvSpPr>
          <p:cNvPr id="7" name="footline"/>
          <p:cNvSpPr/>
          <p:nvPr/>
        </p:nvSpPr>
        <p:spPr>
          <a:xfrm>
            <a:off x="711200" y="6477000"/>
            <a:ext cx="10769600" cy="9525"/>
          </a:xfrm>
          <a:prstGeom prst="rect">
            <a:avLst/>
          </a:prstGeom>
          <a:solidFill>
            <a:srgbClr val="DCE3EB"/>
          </a:solidFill>
          <a:ln>
            <a:noFill/>
          </a:ln>
        </p:spPr>
      </p:sp>
      <p:sp>
        <p:nvSpPr>
          <p:cNvPr id="8"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levers and conditions — content/claims.json; considerations C1, C3, C6 and questions in deliverables/3_open-questions-and-next-steps.md; results/facts.json (latency, cost).</a:t>
            </a:r>
            <a:endParaRPr lang="en-US" sz="750" noProof="1"/>
          </a:p>
        </p:txBody>
      </p:sp>
      <p:sp>
        <p:nvSpPr>
          <p:cNvPr id="9"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13</a:t>
            </a:r>
            <a:endParaRPr lang="en-US" sz="800" noProof="1"/>
          </a:p>
        </p:txBody>
      </p:sp>
    </p:spTree>
  </p:cSld>
  <p:clrMapOvr>
    <a:masterClrMapping/>
  </p:clrMapOvr>
</p:sld>
</file>

<file path=ppt/slides/slide1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PATH</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Eight questions would settle whether the opportunity is real — each has an owner</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graphicFrame>
        <p:nvGraphicFramePr>
          <p:cNvPr id="5" name="questions"/>
          <p:cNvGraphicFramePr>
            <a:graphicFrameLocks noGrp="1"/>
          </p:cNvGraphicFramePr>
          <p:nvPr/>
        </p:nvGraphicFramePr>
        <p:xfrm>
          <a:off x="711200" y="1524000"/>
          <a:ext cx="10769600" cy="4318000"/>
        </p:xfrm>
        <a:graphic>
          <a:graphicData uri="http://schemas.openxmlformats.org/drawingml/2006/table">
            <a:tbl>
              <a:tblPr/>
              <a:tblGrid>
                <a:gridCol w="538480"/>
                <a:gridCol w="4523232"/>
                <a:gridCol w="1830832"/>
                <a:gridCol w="3877056"/>
              </a:tblGrid>
              <a:tr h="388620">
                <a:tc>
                  <a:txBody>
                    <a:bodyPr wrap="square" rtlCol="0" anchor="ctr"/>
                    <a:lstStyle/>
                    <a:p>
                      <a:pPr algn="l">
                        <a:lnSpc>
                          <a:spcPct val="130000"/>
                        </a:lnSpc>
                      </a:pP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30000"/>
                        </a:lnSpc>
                      </a:pPr>
                      <a:r>
                        <a:rPr lang="en-US" sz="850" noProof="1" b="1">
                          <a:solidFill>
                            <a:srgbClr val="FFFFFF"/>
                          </a:solidFill>
                          <a:latin typeface="Liter"/>
                          <a:ea typeface="Liter"/>
                        </a:rPr>
                        <a:t>Question</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30000"/>
                        </a:lnSpc>
                      </a:pPr>
                      <a:r>
                        <a:rPr lang="en-US" sz="850" noProof="1" b="1">
                          <a:solidFill>
                            <a:srgbClr val="FFFFFF"/>
                          </a:solidFill>
                          <a:latin typeface="Liter"/>
                          <a:ea typeface="Liter"/>
                        </a:rPr>
                        <a:t>Owner</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30000"/>
                        </a:lnSpc>
                      </a:pPr>
                      <a:r>
                        <a:rPr lang="en-US" sz="850" noProof="1" b="1">
                          <a:solidFill>
                            <a:srgbClr val="FFFFFF"/>
                          </a:solidFill>
                          <a:latin typeface="Liter"/>
                          <a:ea typeface="Liter"/>
                        </a:rPr>
                        <a:t>Settled by</a:t>
                      </a:r>
                    </a:p>
                  </a:txBody>
                  <a:tcPr marL="91440" marR="91440" marT="45720" marB="45720" anchor="ctr">
                    <a:lnL>
                      <a:noFill/>
                    </a:lnL>
                    <a:lnR>
                      <a:noFill/>
                    </a:lnR>
                    <a:lnT>
                      <a:noFill/>
                    </a:lnT>
                    <a:lnB>
                      <a:noFill/>
                    </a:lnB>
                    <a:solidFill>
                      <a:srgbClr val="16365C"/>
                    </a:solidFill>
                  </a:tcPr>
                </a:tc>
              </a:tr>
              <a:tr h="491173">
                <a:tc>
                  <a:txBody>
                    <a:bodyPr wrap="square" rtlCol="0" anchor="ctr"/>
                    <a:lstStyle/>
                    <a:p>
                      <a:pPr algn="l">
                        <a:lnSpc>
                          <a:spcPct val="130000"/>
                        </a:lnSpc>
                      </a:pPr>
                      <a:r>
                        <a:rPr lang="en-US" sz="850" noProof="1" b="1">
                          <a:solidFill>
                            <a:srgbClr val="1A2433"/>
                          </a:solidFill>
                          <a:latin typeface="Liter"/>
                          <a:ea typeface="Liter"/>
                        </a:rPr>
                        <a:t>Q1</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What share of last quarter's P3/P4 incidents were reassigned, and how much time did each reassignment add?</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SRE, service desk</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reassignment_count and assignment audit history for one quarter</a:t>
                      </a:r>
                    </a:p>
                  </a:txBody>
                  <a:tcPr marL="91440" marR="91440" marT="45720" marB="45720" anchor="ctr">
                    <a:lnL>
                      <a:noFill/>
                    </a:lnL>
                    <a:lnR>
                      <a:noFill/>
                    </a:lnR>
                    <a:lnT>
                      <a:noFill/>
                    </a:lnT>
                    <a:lnB w="6350">
                      <a:solidFill>
                        <a:srgbClr val="DCE3EB"/>
                      </a:solidFill>
                    </a:lnB>
                    <a:solidFill>
                      <a:srgbClr val="FFFFFF"/>
                    </a:solidFill>
                  </a:tcPr>
                </a:tc>
              </a:tr>
              <a:tr h="491173">
                <a:tc>
                  <a:txBody>
                    <a:bodyPr wrap="square" rtlCol="0" anchor="ctr"/>
                    <a:lstStyle/>
                    <a:p>
                      <a:pPr algn="l">
                        <a:lnSpc>
                          <a:spcPct val="130000"/>
                        </a:lnSpc>
                      </a:pPr>
                      <a:r>
                        <a:rPr lang="en-US" sz="850" noProof="1" b="1">
                          <a:solidFill>
                            <a:srgbClr val="1A2433"/>
                          </a:solidFill>
                          <a:latin typeface="Liter"/>
                          <a:ea typeface="Liter"/>
                        </a:rPr>
                        <a:t>Q8</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What does the ServiceNow licence already include for routing, and how well does it do on the estate's groups?</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ITSM platform owner</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Entitlement check; Predictive Intelligence statistics or a backtest of current rules</a:t>
                      </a:r>
                    </a:p>
                  </a:txBody>
                  <a:tcPr marL="91440" marR="91440" marT="45720" marB="45720" anchor="ctr">
                    <a:lnL>
                      <a:noFill/>
                    </a:lnL>
                    <a:lnR>
                      <a:noFill/>
                    </a:lnR>
                    <a:lnT>
                      <a:noFill/>
                    </a:lnT>
                    <a:lnB w="6350">
                      <a:solidFill>
                        <a:srgbClr val="DCE3EB"/>
                      </a:solidFill>
                    </a:lnB>
                    <a:solidFill>
                      <a:srgbClr val="F4F7FA"/>
                    </a:solidFill>
                  </a:tcPr>
                </a:tc>
              </a:tr>
              <a:tr h="491173">
                <a:tc>
                  <a:txBody>
                    <a:bodyPr wrap="square" rtlCol="0" anchor="ctr"/>
                    <a:lstStyle/>
                    <a:p>
                      <a:pPr algn="l">
                        <a:lnSpc>
                          <a:spcPct val="130000"/>
                        </a:lnSpc>
                      </a:pPr>
                      <a:r>
                        <a:rPr lang="en-US" sz="850" noProof="1" b="1">
                          <a:solidFill>
                            <a:srgbClr val="1A2433"/>
                          </a:solidFill>
                          <a:latin typeface="Liter"/>
                          <a:ea typeface="Liter"/>
                        </a:rPr>
                        <a:t>Q10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Are the resolver group and closure codes on past incidents accurate enough to score a model against?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ITSM platform owner</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Audit of 200 closed incidents against postmortems</a:t>
                      </a:r>
                    </a:p>
                  </a:txBody>
                  <a:tcPr marL="91440" marR="91440" marT="45720" marB="45720" anchor="ctr">
                    <a:lnL>
                      <a:noFill/>
                    </a:lnL>
                    <a:lnR>
                      <a:noFill/>
                    </a:lnR>
                    <a:lnT>
                      <a:noFill/>
                    </a:lnT>
                    <a:lnB w="6350">
                      <a:solidFill>
                        <a:srgbClr val="DCE3EB"/>
                      </a:solidFill>
                    </a:lnB>
                    <a:solidFill>
                      <a:srgbClr val="FFFFFF"/>
                    </a:solidFill>
                  </a:tcPr>
                </a:tc>
              </a:tr>
              <a:tr h="491173">
                <a:tc>
                  <a:txBody>
                    <a:bodyPr wrap="square" rtlCol="0" anchor="ctr"/>
                    <a:lstStyle/>
                    <a:p>
                      <a:pPr algn="l">
                        <a:lnSpc>
                          <a:spcPct val="130000"/>
                        </a:lnSpc>
                      </a:pPr>
                      <a:r>
                        <a:rPr lang="en-US" sz="850" noProof="1" b="1">
                          <a:solidFill>
                            <a:srgbClr val="1A2433"/>
                          </a:solidFill>
                          <a:latin typeface="Liter"/>
                          <a:ea typeface="Liter"/>
                        </a:rPr>
                        <a:t>Q6</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What does a missed major incident cost against a misrouted P3 or an unneeded rollback?</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SRE, service owners, finance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Postmortem data and an agreed cost per error type; this is what sets thresholds</a:t>
                      </a:r>
                    </a:p>
                  </a:txBody>
                  <a:tcPr marL="91440" marR="91440" marT="45720" marB="45720" anchor="ctr">
                    <a:lnL>
                      <a:noFill/>
                    </a:lnL>
                    <a:lnR>
                      <a:noFill/>
                    </a:lnR>
                    <a:lnT>
                      <a:noFill/>
                    </a:lnT>
                    <a:lnB w="6350">
                      <a:solidFill>
                        <a:srgbClr val="DCE3EB"/>
                      </a:solidFill>
                    </a:lnB>
                    <a:solidFill>
                      <a:srgbClr val="F4F7FA"/>
                    </a:solidFill>
                  </a:tcPr>
                </a:tc>
              </a:tr>
              <a:tr h="491173">
                <a:tc>
                  <a:txBody>
                    <a:bodyPr wrap="square" rtlCol="0" anchor="ctr"/>
                    <a:lstStyle/>
                    <a:p>
                      <a:pPr algn="l">
                        <a:lnSpc>
                          <a:spcPct val="130000"/>
                        </a:lnSpc>
                      </a:pPr>
                      <a:r>
                        <a:rPr lang="en-US" sz="850" noProof="1" b="1">
                          <a:solidFill>
                            <a:srgbClr val="1A2433"/>
                          </a:solidFill>
                          <a:latin typeface="Liter"/>
                          <a:ea typeface="Liter"/>
                        </a:rPr>
                        <a:t>Q12</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Which fields can people outside IT write, and does that text reach a question that gates an action?</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Security</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A field-level data-flow map, then red-team tickets scored on how far answers move</a:t>
                      </a:r>
                    </a:p>
                  </a:txBody>
                  <a:tcPr marL="91440" marR="91440" marT="45720" marB="45720" anchor="ctr">
                    <a:lnL>
                      <a:noFill/>
                    </a:lnL>
                    <a:lnR>
                      <a:noFill/>
                    </a:lnR>
                    <a:lnT>
                      <a:noFill/>
                    </a:lnT>
                    <a:lnB w="6350">
                      <a:solidFill>
                        <a:srgbClr val="DCE3EB"/>
                      </a:solidFill>
                    </a:lnB>
                    <a:solidFill>
                      <a:srgbClr val="FFFFFF"/>
                    </a:solidFill>
                  </a:tcPr>
                </a:tc>
              </a:tr>
              <a:tr h="491173">
                <a:tc>
                  <a:txBody>
                    <a:bodyPr wrap="square" rtlCol="0" anchor="ctr"/>
                    <a:lstStyle/>
                    <a:p>
                      <a:pPr algn="l">
                        <a:lnSpc>
                          <a:spcPct val="130000"/>
                        </a:lnSpc>
                      </a:pPr>
                      <a:r>
                        <a:rPr lang="en-US" sz="850" noProof="1" b="1">
                          <a:solidFill>
                            <a:srgbClr val="1A2433"/>
                          </a:solidFill>
                          <a:latin typeface="Liter"/>
                          <a:ea typeface="Liter"/>
                        </a:rPr>
                        <a:t>Q17</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Will TypeSafe put SOC 2 Type II, a zero-retention DPA, regions, SLA, rate limits and version-retirement notice in writing?</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Procurement</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The documents and the contract</a:t>
                      </a:r>
                    </a:p>
                  </a:txBody>
                  <a:tcPr marL="91440" marR="91440" marT="45720" marB="45720" anchor="ctr">
                    <a:lnL>
                      <a:noFill/>
                    </a:lnL>
                    <a:lnR>
                      <a:noFill/>
                    </a:lnR>
                    <a:lnT>
                      <a:noFill/>
                    </a:lnT>
                    <a:lnB w="6350">
                      <a:solidFill>
                        <a:srgbClr val="DCE3EB"/>
                      </a:solidFill>
                    </a:lnB>
                    <a:solidFill>
                      <a:srgbClr val="F4F7FA"/>
                    </a:solidFill>
                  </a:tcPr>
                </a:tc>
              </a:tr>
              <a:tr h="491173">
                <a:tc>
                  <a:txBody>
                    <a:bodyPr wrap="square" rtlCol="0" anchor="ctr"/>
                    <a:lstStyle/>
                    <a:p>
                      <a:pPr algn="l">
                        <a:lnSpc>
                          <a:spcPct val="130000"/>
                        </a:lnSpc>
                      </a:pPr>
                      <a:r>
                        <a:rPr lang="en-US" sz="850" noProof="1" b="1">
                          <a:solidFill>
                            <a:srgbClr val="1A2433"/>
                          </a:solidFill>
                          <a:latin typeface="Liter"/>
                          <a:ea typeface="Liter"/>
                        </a:rPr>
                        <a:t>Q22</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How much autonomy will the organisation give a hosted model launched in September 2026?</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Leadership, risk committee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30000"/>
                        </a:lnSpc>
                      </a:pPr>
                      <a:r>
                        <a:rPr lang="en-US" sz="850" noProof="1">
                          <a:solidFill>
                            <a:srgbClr val="1A2433"/>
                          </a:solidFill>
                          <a:latin typeface="Liter"/>
                          <a:ea typeface="Liter"/>
                        </a:rPr>
                        <a:t>A recorded decision with its conditions</a:t>
                      </a:r>
                    </a:p>
                  </a:txBody>
                  <a:tcPr marL="91440" marR="91440" marT="45720" marB="45720" anchor="ctr">
                    <a:lnL>
                      <a:noFill/>
                    </a:lnL>
                    <a:lnR>
                      <a:noFill/>
                    </a:lnR>
                    <a:lnT>
                      <a:noFill/>
                    </a:lnT>
                    <a:lnB w="6350">
                      <a:solidFill>
                        <a:srgbClr val="DCE3EB"/>
                      </a:solidFill>
                    </a:lnB>
                    <a:solidFill>
                      <a:srgbClr val="FFFFFF"/>
                    </a:solidFill>
                  </a:tcPr>
                </a:tc>
              </a:tr>
              <a:tr h="491173">
                <a:tc>
                  <a:txBody>
                    <a:bodyPr wrap="square" rtlCol="0" anchor="ctr"/>
                    <a:lstStyle/>
                    <a:p>
                      <a:pPr algn="l">
                        <a:lnSpc>
                          <a:spcPct val="130000"/>
                        </a:lnSpc>
                      </a:pPr>
                      <a:r>
                        <a:rPr lang="en-US" sz="850" noProof="1" b="1">
                          <a:solidFill>
                            <a:srgbClr val="1A2433"/>
                          </a:solidFill>
                          <a:latin typeface="Liter"/>
                          <a:ea typeface="Liter"/>
                        </a:rPr>
                        <a:t>Q23</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Who owns the questions and thresholds after go-live, and who is accountable when the gate is wrong?</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Leadership</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30000"/>
                        </a:lnSpc>
                      </a:pPr>
                      <a:r>
                        <a:rPr lang="en-US" sz="850" noProof="1">
                          <a:solidFill>
                            <a:srgbClr val="1A2433"/>
                          </a:solidFill>
                          <a:latin typeface="Liter"/>
                          <a:ea typeface="Liter"/>
                        </a:rPr>
                        <a:t>A RACI and a change process through the change board</a:t>
                      </a:r>
                    </a:p>
                  </a:txBody>
                  <a:tcPr marL="91440" marR="91440" marT="45720" marB="45720" anchor="ctr">
                    <a:lnL>
                      <a:noFill/>
                    </a:lnL>
                    <a:lnR>
                      <a:noFill/>
                    </a:lnR>
                    <a:lnT>
                      <a:noFill/>
                    </a:lnT>
                    <a:lnB w="6350">
                      <a:solidFill>
                        <a:srgbClr val="DCE3EB"/>
                      </a:solidFill>
                    </a:lnB>
                    <a:solidFill>
                      <a:srgbClr val="F4F7FA"/>
                    </a:solidFill>
                  </a:tcPr>
                </a:tc>
              </a:tr>
            </a:tbl>
          </a:graphicData>
        </a:graphic>
      </p:graphicFrame>
      <p:sp>
        <p:nvSpPr>
          <p:cNvPr id="6" name="note"/>
          <p:cNvSpPr txBox="1"/>
          <p:nvPr/>
        </p:nvSpPr>
        <p:spPr>
          <a:xfrm>
            <a:off x="711200" y="6019800"/>
            <a:ext cx="10769600" cy="203200"/>
          </a:xfrm>
          <a:prstGeom prst="rect">
            <a:avLst/>
          </a:prstGeom>
          <a:noFill/>
          <a:ln>
            <a:noFill/>
          </a:ln>
        </p:spPr>
        <p:txBody>
          <a:bodyPr lIns="0" rIns="0" tIns="0" bIns="0" wrap="none" rtlCol="0"/>
          <a:lstStyle/>
          <a:p>
            <a:pPr>
              <a:lnSpc>
                <a:spcPct val="120000"/>
              </a:lnSpc>
            </a:pPr>
            <a:r>
              <a:rPr lang="en-US" sz="950" noProof="1">
                <a:solidFill>
                  <a:srgbClr val="5B6472"/>
                </a:solidFill>
                <a:latin typeface="Liter"/>
                <a:ea typeface="Liter"/>
              </a:rPr>
              <a:t>All 23 questions by owner — appendix A1. Considerations C1–C12 — appendix A2.</a:t>
            </a:r>
            <a:endParaRPr lang="en-US" sz="950" noProof="1"/>
          </a:p>
        </p:txBody>
      </p:sp>
      <p:sp>
        <p:nvSpPr>
          <p:cNvPr id="7" name="footline"/>
          <p:cNvSpPr/>
          <p:nvPr/>
        </p:nvSpPr>
        <p:spPr>
          <a:xfrm>
            <a:off x="711200" y="6477000"/>
            <a:ext cx="10769600" cy="9525"/>
          </a:xfrm>
          <a:prstGeom prst="rect">
            <a:avLst/>
          </a:prstGeom>
          <a:solidFill>
            <a:srgbClr val="DCE3EB"/>
          </a:solidFill>
          <a:ln>
            <a:noFill/>
          </a:ln>
        </p:spPr>
      </p:sp>
      <p:sp>
        <p:nvSpPr>
          <p:cNvPr id="8"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deliverables/3_open-questions-and-next-steps.md (questions Q1–Q23, numbering kept across deck, memo and videos).</a:t>
            </a:r>
            <a:endParaRPr lang="en-US" sz="750" noProof="1"/>
          </a:p>
        </p:txBody>
      </p:sp>
      <p:sp>
        <p:nvSpPr>
          <p:cNvPr id="9"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14</a:t>
            </a:r>
            <a:endParaRPr lang="en-US" sz="800" noProof="1"/>
          </a:p>
        </p:txBody>
      </p:sp>
    </p:spTree>
  </p:cSld>
  <p:clrMapOvr>
    <a:masterClrMapping/>
  </p:clrMapOvr>
</p:sld>
</file>

<file path=ppt/slides/slide1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THE PATH</a:t>
            </a:r>
            <a:endParaRPr lang="en-US" sz="950" noProof="1"/>
          </a:p>
        </p:txBody>
      </p:sp>
      <p:sp>
        <p:nvSpPr>
          <p:cNvPr id="3" name="title"/>
          <p:cNvSpPr txBox="1"/>
          <p:nvPr/>
        </p:nvSpPr>
        <p:spPr>
          <a:xfrm>
            <a:off x="711200" y="508000"/>
            <a:ext cx="10769600" cy="7112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Three short stages would show whether this works on real tickets — with a decision after each</a:t>
            </a:r>
            <a:endParaRPr lang="en-US" sz="2200" noProof="1"/>
          </a:p>
        </p:txBody>
      </p:sp>
      <p:sp>
        <p:nvSpPr>
          <p:cNvPr id="4" name="headline"/>
          <p:cNvSpPr/>
          <p:nvPr/>
        </p:nvSpPr>
        <p:spPr>
          <a:xfrm>
            <a:off x="711200" y="1358900"/>
            <a:ext cx="10769600" cy="9525"/>
          </a:xfrm>
          <a:prstGeom prst="rect">
            <a:avLst/>
          </a:prstGeom>
          <a:solidFill>
            <a:srgbClr val="CBD9E8"/>
          </a:solidFill>
          <a:ln>
            <a:noFill/>
          </a:ln>
        </p:spPr>
      </p:sp>
      <p:sp>
        <p:nvSpPr>
          <p:cNvPr id="5" name="s1-head"/>
          <p:cNvSpPr txBox="1"/>
          <p:nvPr/>
        </p:nvSpPr>
        <p:spPr>
          <a:xfrm>
            <a:off x="711200" y="1524000"/>
            <a:ext cx="3454400" cy="203200"/>
          </a:xfrm>
          <a:prstGeom prst="rect">
            <a:avLst/>
          </a:prstGeom>
          <a:noFill/>
          <a:ln>
            <a:noFill/>
          </a:ln>
        </p:spPr>
        <p:txBody>
          <a:bodyPr lIns="0" rIns="0" tIns="0" bIns="0" wrap="none" rtlCol="0"/>
          <a:lstStyle/>
          <a:p>
            <a:pPr>
              <a:lnSpc>
                <a:spcPct val="120000"/>
              </a:lnSpc>
            </a:pPr>
            <a:r>
              <a:rPr lang="en-US" sz="1150" noProof="1" b="1">
                <a:solidFill>
                  <a:srgbClr val="16365C"/>
                </a:solidFill>
                <a:latin typeface="Liter"/>
                <a:ea typeface="Liter"/>
              </a:rPr>
              <a:t>Stage 1 · Diagnostic</a:t>
            </a:r>
            <a:endParaRPr lang="en-US" sz="1150" noProof="1"/>
          </a:p>
        </p:txBody>
      </p:sp>
      <p:sp>
        <p:nvSpPr>
          <p:cNvPr id="6" name="s1-meta"/>
          <p:cNvSpPr txBox="1"/>
          <p:nvPr/>
        </p:nvSpPr>
        <p:spPr>
          <a:xfrm>
            <a:off x="711200" y="1752600"/>
            <a:ext cx="3454400" cy="177800"/>
          </a:xfrm>
          <a:prstGeom prst="rect">
            <a:avLst/>
          </a:prstGeom>
          <a:noFill/>
          <a:ln>
            <a:noFill/>
          </a:ln>
        </p:spPr>
        <p:txBody>
          <a:bodyPr lIns="0" rIns="0" tIns="0" bIns="0" wrap="none" rtlCol="0"/>
          <a:lstStyle/>
          <a:p>
            <a:pPr>
              <a:lnSpc>
                <a:spcPct val="120000"/>
              </a:lnSpc>
            </a:pPr>
            <a:r>
              <a:rPr lang="en-US" sz="850" noProof="1">
                <a:solidFill>
                  <a:srgbClr val="98A1AD"/>
                </a:solidFill>
                <a:latin typeface="Liter"/>
                <a:ea typeface="Liter"/>
              </a:rPr>
              <a:t>2–3 weeks · no data leaves the network</a:t>
            </a:r>
            <a:endParaRPr lang="en-US" sz="850" noProof="1"/>
          </a:p>
        </p:txBody>
      </p:sp>
      <p:sp>
        <p:nvSpPr>
          <p:cNvPr id="7" name="s1-body"/>
          <p:cNvSpPr txBox="1"/>
          <p:nvPr/>
        </p:nvSpPr>
        <p:spPr>
          <a:xfrm>
            <a:off x="711200" y="2006600"/>
            <a:ext cx="3454400" cy="1371600"/>
          </a:xfrm>
          <a:prstGeom prst="rect">
            <a:avLst/>
          </a:prstGeom>
          <a:noFill/>
          <a:ln>
            <a:noFill/>
          </a:ln>
        </p:spPr>
        <p:txBody>
          <a:bodyPr lIns="0" rIns="0" tIns="0" bIns="0" wrap="square" rtlCol="0"/>
          <a:lstStyle/>
          <a:p>
            <a:pPr>
              <a:lnSpc>
                <a:spcPct val="145000"/>
              </a:lnSpc>
            </a:pPr>
            <a:r>
              <a:rPr lang="en-US" sz="950" noProof="1">
                <a:solidFill>
                  <a:srgbClr val="1A2433"/>
                </a:solidFill>
                <a:latin typeface="Liter"/>
                <a:ea typeface="Liter"/>
              </a:rPr>
              <a:t>• Reassignment, triage and out-of-hours baseline (Q1, Q20)</a:t>
            </a:r>
            <a:endParaRPr lang="en-US" sz="950" noProof="1"/>
          </a:p>
          <a:p>
            <a:pPr>
              <a:lnSpc>
                <a:spcPct val="145000"/>
              </a:lnSpc>
              <a:spcBef>
                <a:spcPts val="500"/>
              </a:spcBef>
            </a:pPr>
            <a:r>
              <a:rPr lang="en-US" sz="950" noProof="1">
                <a:solidFill>
                  <a:srgbClr val="1A2433"/>
                </a:solidFill>
                <a:latin typeface="Liter"/>
                <a:ea typeface="Liter"/>
              </a:rPr>
              <a:t>• What the current licence already does (Q8)</a:t>
            </a:r>
            <a:endParaRPr lang="en-US" sz="950" noProof="1"/>
          </a:p>
          <a:p>
            <a:pPr>
              <a:lnSpc>
                <a:spcPct val="145000"/>
              </a:lnSpc>
              <a:spcBef>
                <a:spcPts val="500"/>
              </a:spcBef>
            </a:pPr>
            <a:r>
              <a:rPr lang="en-US" sz="950" noProof="1">
                <a:solidFill>
                  <a:srgbClr val="1A2433"/>
                </a:solidFill>
                <a:latin typeface="Liter"/>
                <a:ea typeface="Liter"/>
              </a:rPr>
              <a:t>• Ticket and label quality (Q3, Q10)</a:t>
            </a:r>
            <a:endParaRPr lang="en-US" sz="950" noProof="1"/>
          </a:p>
          <a:p>
            <a:pPr>
              <a:lnSpc>
                <a:spcPct val="145000"/>
              </a:lnSpc>
              <a:spcBef>
                <a:spcPts val="500"/>
              </a:spcBef>
            </a:pPr>
            <a:r>
              <a:rPr lang="en-US" sz="950" noProof="1">
                <a:solidFill>
                  <a:srgbClr val="1A2433"/>
                </a:solidFill>
                <a:latin typeface="Liter"/>
                <a:ea typeface="Liter"/>
              </a:rPr>
              <a:t>• Data and security constraints (Q12, Q14)</a:t>
            </a:r>
            <a:endParaRPr lang="en-US" sz="950" noProof="1"/>
          </a:p>
        </p:txBody>
      </p:sp>
      <p:sp>
        <p:nvSpPr>
          <p:cNvPr id="8" name="s1-decision"/>
          <p:cNvSpPr txBox="1"/>
          <p:nvPr/>
        </p:nvSpPr>
        <p:spPr>
          <a:xfrm>
            <a:off x="711200" y="3454400"/>
            <a:ext cx="3454400" cy="406400"/>
          </a:xfrm>
          <a:prstGeom prst="rect">
            <a:avLst/>
          </a:prstGeom>
          <a:noFill/>
          <a:ln>
            <a:noFill/>
          </a:ln>
        </p:spPr>
        <p:txBody>
          <a:bodyPr lIns="0" rIns="0" tIns="0" bIns="0" wrap="square" rtlCol="0"/>
          <a:lstStyle/>
          <a:p>
            <a:pPr>
              <a:lnSpc>
                <a:spcPct val="135000"/>
              </a:lnSpc>
            </a:pPr>
            <a:r>
              <a:rPr lang="en-US" sz="950" noProof="1" b="1">
                <a:solidFill>
                  <a:srgbClr val="16365C"/>
                </a:solidFill>
                <a:latin typeface="Liter"/>
                <a:ea typeface="Liter"/>
              </a:rPr>
              <a:t>Decision: is there a gap worth closing?</a:t>
            </a:r>
            <a:endParaRPr lang="en-US" sz="950" noProof="1"/>
          </a:p>
        </p:txBody>
      </p:sp>
      <p:sp>
        <p:nvSpPr>
          <p:cNvPr id="9" name="ar1"/>
          <p:cNvSpPr/>
          <p:nvPr/>
        </p:nvSpPr>
        <p:spPr>
          <a:xfrm>
            <a:off x="4216400" y="1676400"/>
            <a:ext cx="279400" cy="152400"/>
          </a:xfrm>
          <a:prstGeom prst="rightArrow">
            <a:avLst>
              <a:gd name="adj1" fmla="val 50000"/>
              <a:gd name="adj2" fmla="val 50000"/>
            </a:avLst>
          </a:prstGeom>
          <a:solidFill>
            <a:srgbClr val="CBD9E8"/>
          </a:solidFill>
          <a:ln>
            <a:noFill/>
          </a:ln>
        </p:spPr>
      </p:sp>
      <p:sp>
        <p:nvSpPr>
          <p:cNvPr id="10" name="s2-head"/>
          <p:cNvSpPr txBox="1"/>
          <p:nvPr/>
        </p:nvSpPr>
        <p:spPr>
          <a:xfrm>
            <a:off x="4622800" y="1524000"/>
            <a:ext cx="3454400" cy="203200"/>
          </a:xfrm>
          <a:prstGeom prst="rect">
            <a:avLst/>
          </a:prstGeom>
          <a:noFill/>
          <a:ln>
            <a:noFill/>
          </a:ln>
        </p:spPr>
        <p:txBody>
          <a:bodyPr lIns="0" rIns="0" tIns="0" bIns="0" wrap="none" rtlCol="0"/>
          <a:lstStyle/>
          <a:p>
            <a:pPr>
              <a:lnSpc>
                <a:spcPct val="120000"/>
              </a:lnSpc>
            </a:pPr>
            <a:r>
              <a:rPr lang="en-US" sz="1150" noProof="1" b="1">
                <a:solidFill>
                  <a:srgbClr val="16365C"/>
                </a:solidFill>
                <a:latin typeface="Liter"/>
                <a:ea typeface="Liter"/>
              </a:rPr>
              <a:t>Stage 2 · Offline replay</a:t>
            </a:r>
            <a:endParaRPr lang="en-US" sz="1150" noProof="1"/>
          </a:p>
        </p:txBody>
      </p:sp>
      <p:sp>
        <p:nvSpPr>
          <p:cNvPr id="11" name="s2-meta"/>
          <p:cNvSpPr txBox="1"/>
          <p:nvPr/>
        </p:nvSpPr>
        <p:spPr>
          <a:xfrm>
            <a:off x="4622800" y="1752600"/>
            <a:ext cx="3454400" cy="177800"/>
          </a:xfrm>
          <a:prstGeom prst="rect">
            <a:avLst/>
          </a:prstGeom>
          <a:noFill/>
          <a:ln>
            <a:noFill/>
          </a:ln>
        </p:spPr>
        <p:txBody>
          <a:bodyPr lIns="0" rIns="0" tIns="0" bIns="0" wrap="none" rtlCol="0"/>
          <a:lstStyle/>
          <a:p>
            <a:pPr>
              <a:lnSpc>
                <a:spcPct val="120000"/>
              </a:lnSpc>
            </a:pPr>
            <a:r>
              <a:rPr lang="en-US" sz="850" noProof="1">
                <a:solidFill>
                  <a:srgbClr val="98A1AD"/>
                </a:solidFill>
                <a:latin typeface="Liter"/>
                <a:ea typeface="Liter"/>
              </a:rPr>
              <a:t>3–4 weeks · after DPA and redaction, or self-hosted</a:t>
            </a:r>
            <a:endParaRPr lang="en-US" sz="850" noProof="1"/>
          </a:p>
        </p:txBody>
      </p:sp>
      <p:sp>
        <p:nvSpPr>
          <p:cNvPr id="12" name="s2-body"/>
          <p:cNvSpPr txBox="1"/>
          <p:nvPr/>
        </p:nvSpPr>
        <p:spPr>
          <a:xfrm>
            <a:off x="4622800" y="2006600"/>
            <a:ext cx="3454400" cy="1371600"/>
          </a:xfrm>
          <a:prstGeom prst="rect">
            <a:avLst/>
          </a:prstGeom>
          <a:noFill/>
          <a:ln>
            <a:noFill/>
          </a:ln>
        </p:spPr>
        <p:txBody>
          <a:bodyPr lIns="0" rIns="0" tIns="0" bIns="0" wrap="square" rtlCol="0"/>
          <a:lstStyle/>
          <a:p>
            <a:pPr>
              <a:lnSpc>
                <a:spcPct val="145000"/>
              </a:lnSpc>
            </a:pPr>
            <a:r>
              <a:rPr lang="en-US" sz="950" noProof="1">
                <a:solidFill>
                  <a:srgbClr val="1A2433"/>
                </a:solidFill>
                <a:latin typeface="Liter"/>
                <a:ea typeface="Liter"/>
              </a:rPr>
              <a:t>• 2,000–5,000 closed tickets through the same harness, peak periods and incident surges included</a:t>
            </a:r>
            <a:endParaRPr lang="en-US" sz="950" noProof="1"/>
          </a:p>
          <a:p>
            <a:pPr>
              <a:lnSpc>
                <a:spcPct val="145000"/>
              </a:lnSpc>
              <a:spcBef>
                <a:spcPts val="500"/>
              </a:spcBef>
            </a:pPr>
            <a:r>
              <a:rPr lang="en-US" sz="950" noProof="1">
                <a:solidFill>
                  <a:srgbClr val="1A2433"/>
                </a:solidFill>
                <a:latin typeface="Liter"/>
                <a:ea typeface="Liter"/>
              </a:rPr>
              <a:t>• Compared with current rules and simple alternatives</a:t>
            </a:r>
            <a:endParaRPr lang="en-US" sz="950" noProof="1"/>
          </a:p>
          <a:p>
            <a:pPr>
              <a:lnSpc>
                <a:spcPct val="145000"/>
              </a:lnSpc>
              <a:spcBef>
                <a:spcPts val="500"/>
              </a:spcBef>
            </a:pPr>
            <a:r>
              <a:rPr lang="en-US" sz="950" noProof="1">
                <a:solidFill>
                  <a:srgbClr val="1A2433"/>
                </a:solidFill>
                <a:latin typeface="Liter"/>
                <a:ea typeface="Liter"/>
              </a:rPr>
              <a:t>• Thresholds set on held-out tickets; option order shuffled (Q13)</a:t>
            </a:r>
            <a:endParaRPr lang="en-US" sz="950" noProof="1"/>
          </a:p>
        </p:txBody>
      </p:sp>
      <p:sp>
        <p:nvSpPr>
          <p:cNvPr id="13" name="s2-decision"/>
          <p:cNvSpPr txBox="1"/>
          <p:nvPr/>
        </p:nvSpPr>
        <p:spPr>
          <a:xfrm>
            <a:off x="4622800" y="3454400"/>
            <a:ext cx="3454400" cy="406400"/>
          </a:xfrm>
          <a:prstGeom prst="rect">
            <a:avLst/>
          </a:prstGeom>
          <a:noFill/>
          <a:ln>
            <a:noFill/>
          </a:ln>
        </p:spPr>
        <p:txBody>
          <a:bodyPr lIns="0" rIns="0" tIns="0" bIns="0" wrap="square" rtlCol="0"/>
          <a:lstStyle/>
          <a:p>
            <a:pPr>
              <a:lnSpc>
                <a:spcPct val="135000"/>
              </a:lnSpc>
            </a:pPr>
            <a:r>
              <a:rPr lang="en-US" sz="950" noProof="1" b="1">
                <a:solidFill>
                  <a:srgbClr val="16365C"/>
                </a:solidFill>
                <a:latin typeface="Liter"/>
                <a:ea typeface="Liter"/>
              </a:rPr>
              <a:t>Decision: does it beat what runs today, by enough to matter?</a:t>
            </a:r>
            <a:endParaRPr lang="en-US" sz="950" noProof="1"/>
          </a:p>
        </p:txBody>
      </p:sp>
      <p:sp>
        <p:nvSpPr>
          <p:cNvPr id="14" name="ar2"/>
          <p:cNvSpPr/>
          <p:nvPr/>
        </p:nvSpPr>
        <p:spPr>
          <a:xfrm>
            <a:off x="8128000" y="1676400"/>
            <a:ext cx="279400" cy="152400"/>
          </a:xfrm>
          <a:prstGeom prst="rightArrow">
            <a:avLst>
              <a:gd name="adj1" fmla="val 50000"/>
              <a:gd name="adj2" fmla="val 50000"/>
            </a:avLst>
          </a:prstGeom>
          <a:solidFill>
            <a:srgbClr val="CBD9E8"/>
          </a:solidFill>
          <a:ln>
            <a:noFill/>
          </a:ln>
        </p:spPr>
      </p:sp>
      <p:sp>
        <p:nvSpPr>
          <p:cNvPr id="15" name="s3-head"/>
          <p:cNvSpPr txBox="1"/>
          <p:nvPr/>
        </p:nvSpPr>
        <p:spPr>
          <a:xfrm>
            <a:off x="8534400" y="1524000"/>
            <a:ext cx="2946400" cy="203200"/>
          </a:xfrm>
          <a:prstGeom prst="rect">
            <a:avLst/>
          </a:prstGeom>
          <a:noFill/>
          <a:ln>
            <a:noFill/>
          </a:ln>
        </p:spPr>
        <p:txBody>
          <a:bodyPr lIns="0" rIns="0" tIns="0" bIns="0" wrap="none" rtlCol="0"/>
          <a:lstStyle/>
          <a:p>
            <a:pPr>
              <a:lnSpc>
                <a:spcPct val="120000"/>
              </a:lnSpc>
            </a:pPr>
            <a:r>
              <a:rPr lang="en-US" sz="1150" noProof="1" b="1">
                <a:solidFill>
                  <a:srgbClr val="16365C"/>
                </a:solidFill>
                <a:latin typeface="Liter"/>
                <a:ea typeface="Liter"/>
              </a:rPr>
              <a:t>Stage 3 · Shadow, then assist</a:t>
            </a:r>
            <a:endParaRPr lang="en-US" sz="1150" noProof="1"/>
          </a:p>
        </p:txBody>
      </p:sp>
      <p:sp>
        <p:nvSpPr>
          <p:cNvPr id="16" name="s3-meta"/>
          <p:cNvSpPr txBox="1"/>
          <p:nvPr/>
        </p:nvSpPr>
        <p:spPr>
          <a:xfrm>
            <a:off x="8534400" y="1752600"/>
            <a:ext cx="2946400" cy="177800"/>
          </a:xfrm>
          <a:prstGeom prst="rect">
            <a:avLst/>
          </a:prstGeom>
          <a:noFill/>
          <a:ln>
            <a:noFill/>
          </a:ln>
        </p:spPr>
        <p:txBody>
          <a:bodyPr lIns="0" rIns="0" tIns="0" bIns="0" wrap="none" rtlCol="0"/>
          <a:lstStyle/>
          <a:p>
            <a:pPr>
              <a:lnSpc>
                <a:spcPct val="120000"/>
              </a:lnSpc>
            </a:pPr>
            <a:r>
              <a:rPr lang="en-US" sz="850" noProof="1">
                <a:solidFill>
                  <a:srgbClr val="98A1AD"/>
                </a:solidFill>
                <a:latin typeface="Liter"/>
                <a:ea typeface="Liter"/>
              </a:rPr>
              <a:t>6–8 weeks · inside ServiceNow</a:t>
            </a:r>
            <a:endParaRPr lang="en-US" sz="850" noProof="1"/>
          </a:p>
        </p:txBody>
      </p:sp>
      <p:sp>
        <p:nvSpPr>
          <p:cNvPr id="17" name="s3-body"/>
          <p:cNvSpPr txBox="1"/>
          <p:nvPr/>
        </p:nvSpPr>
        <p:spPr>
          <a:xfrm>
            <a:off x="8534400" y="2006600"/>
            <a:ext cx="2946400" cy="1371600"/>
          </a:xfrm>
          <a:prstGeom prst="rect">
            <a:avLst/>
          </a:prstGeom>
          <a:noFill/>
          <a:ln>
            <a:noFill/>
          </a:ln>
        </p:spPr>
        <p:txBody>
          <a:bodyPr lIns="0" rIns="0" tIns="0" bIns="0" wrap="square" rtlCol="0"/>
          <a:lstStyle/>
          <a:p>
            <a:pPr>
              <a:lnSpc>
                <a:spcPct val="145000"/>
              </a:lnSpc>
            </a:pPr>
            <a:r>
              <a:rPr lang="en-US" sz="950" noProof="1">
                <a:solidFill>
                  <a:srgbClr val="1A2433"/>
                </a:solidFill>
                <a:latin typeface="Liter"/>
                <a:ea typeface="Liter"/>
              </a:rPr>
              <a:t>• Shadow: answers to hidden fields, no actions</a:t>
            </a:r>
            <a:endParaRPr lang="en-US" sz="950" noProof="1"/>
          </a:p>
          <a:p>
            <a:pPr>
              <a:lnSpc>
                <a:spcPct val="145000"/>
              </a:lnSpc>
              <a:spcBef>
                <a:spcPts val="500"/>
              </a:spcBef>
            </a:pPr>
            <a:r>
              <a:rPr lang="en-US" sz="950" noProof="1">
                <a:solidFill>
                  <a:srgbClr val="1A2433"/>
                </a:solidFill>
                <a:latin typeface="Liter"/>
                <a:ea typeface="Liter"/>
              </a:rPr>
              <a:t>• Assist: suggestions with override tracking (Q7)</a:t>
            </a:r>
            <a:endParaRPr lang="en-US" sz="950" noProof="1"/>
          </a:p>
          <a:p>
            <a:pPr>
              <a:lnSpc>
                <a:spcPct val="145000"/>
              </a:lnSpc>
              <a:spcBef>
                <a:spcPts val="500"/>
              </a:spcBef>
            </a:pPr>
            <a:r>
              <a:rPr lang="en-US" sz="950" noProof="1">
                <a:solidFill>
                  <a:srgbClr val="1A2433"/>
                </a:solidFill>
                <a:latin typeface="Liter"/>
                <a:ea typeface="Liter"/>
              </a:rPr>
              <a:t>• Latency and fallback measured in place (Q11)</a:t>
            </a:r>
            <a:endParaRPr lang="en-US" sz="950" noProof="1"/>
          </a:p>
        </p:txBody>
      </p:sp>
      <p:sp>
        <p:nvSpPr>
          <p:cNvPr id="18" name="s3-decision"/>
          <p:cNvSpPr txBox="1"/>
          <p:nvPr/>
        </p:nvSpPr>
        <p:spPr>
          <a:xfrm>
            <a:off x="8534400" y="3454400"/>
            <a:ext cx="2946400" cy="406400"/>
          </a:xfrm>
          <a:prstGeom prst="rect">
            <a:avLst/>
          </a:prstGeom>
          <a:noFill/>
          <a:ln>
            <a:noFill/>
          </a:ln>
        </p:spPr>
        <p:txBody>
          <a:bodyPr lIns="0" rIns="0" tIns="0" bIns="0" wrap="square" rtlCol="0"/>
          <a:lstStyle/>
          <a:p>
            <a:pPr>
              <a:lnSpc>
                <a:spcPct val="135000"/>
              </a:lnSpc>
            </a:pPr>
            <a:r>
              <a:rPr lang="en-US" sz="950" noProof="1" b="1">
                <a:solidFill>
                  <a:srgbClr val="16365C"/>
                </a:solidFill>
                <a:latin typeface="Liter"/>
                <a:ea typeface="Liter"/>
              </a:rPr>
              <a:t>Decision: what autonomy, under which owner (Q22, Q23)?</a:t>
            </a:r>
            <a:endParaRPr lang="en-US" sz="950" noProof="1"/>
          </a:p>
        </p:txBody>
      </p:sp>
      <p:sp>
        <p:nvSpPr>
          <p:cNvPr id="19" name="sep"/>
          <p:cNvSpPr/>
          <p:nvPr/>
        </p:nvSpPr>
        <p:spPr>
          <a:xfrm>
            <a:off x="711200" y="4013200"/>
            <a:ext cx="10769600" cy="9525"/>
          </a:xfrm>
          <a:prstGeom prst="rect">
            <a:avLst/>
          </a:prstGeom>
          <a:solidFill>
            <a:srgbClr val="DCE3EB"/>
          </a:solidFill>
          <a:ln>
            <a:noFill/>
          </a:ln>
        </p:spPr>
      </p:sp>
      <p:sp>
        <p:nvSpPr>
          <p:cNvPr id="20" name="help-bg"/>
          <p:cNvSpPr/>
          <p:nvPr/>
        </p:nvSpPr>
        <p:spPr>
          <a:xfrm>
            <a:off x="711200" y="4191000"/>
            <a:ext cx="10769600" cy="1905000"/>
          </a:xfrm>
          <a:prstGeom prst="rect">
            <a:avLst/>
          </a:prstGeom>
          <a:solidFill>
            <a:srgbClr val="EDF2F8"/>
          </a:solidFill>
          <a:ln>
            <a:noFill/>
          </a:ln>
        </p:spPr>
      </p:sp>
      <p:sp>
        <p:nvSpPr>
          <p:cNvPr id="21" name="help-head"/>
          <p:cNvSpPr txBox="1"/>
          <p:nvPr/>
        </p:nvSpPr>
        <p:spPr>
          <a:xfrm>
            <a:off x="965200" y="4368800"/>
            <a:ext cx="10261600" cy="203200"/>
          </a:xfrm>
          <a:prstGeom prst="rect">
            <a:avLst/>
          </a:prstGeom>
          <a:noFill/>
          <a:ln>
            <a:noFill/>
          </a:ln>
        </p:spPr>
        <p:txBody>
          <a:bodyPr lIns="0" rIns="0" tIns="0" bIns="0" wrap="none" rtlCol="0"/>
          <a:lstStyle/>
          <a:p>
            <a:pPr>
              <a:lnSpc>
                <a:spcPct val="120000"/>
              </a:lnSpc>
            </a:pPr>
            <a:r>
              <a:rPr lang="en-US" sz="1100" noProof="1" b="1">
                <a:solidFill>
                  <a:srgbClr val="16365C"/>
                </a:solidFill>
                <a:latin typeface="Liter"/>
                <a:ea typeface="Liter"/>
              </a:rPr>
              <a:t>Where outside help fits</a:t>
            </a:r>
            <a:endParaRPr lang="en-US" sz="1100" noProof="1"/>
          </a:p>
        </p:txBody>
      </p:sp>
      <p:sp>
        <p:nvSpPr>
          <p:cNvPr id="22" name="help-body"/>
          <p:cNvSpPr txBox="1"/>
          <p:nvPr/>
        </p:nvSpPr>
        <p:spPr>
          <a:xfrm>
            <a:off x="965200" y="4648200"/>
            <a:ext cx="10261600" cy="1320800"/>
          </a:xfrm>
          <a:prstGeom prst="rect">
            <a:avLst/>
          </a:prstGeom>
          <a:noFill/>
          <a:ln>
            <a:noFill/>
          </a:ln>
        </p:spPr>
        <p:txBody>
          <a:bodyPr lIns="0" rIns="0" tIns="0" bIns="0" wrap="square" rtlCol="0"/>
          <a:lstStyle/>
          <a:p>
            <a:pPr>
              <a:lnSpc>
                <a:spcPct val="150000"/>
              </a:lnSpc>
            </a:pPr>
            <a:r>
              <a:rPr lang="en-US" sz="950" noProof="1">
                <a:solidFill>
                  <a:srgbClr val="1A2433"/>
                </a:solidFill>
                <a:latin typeface="Liter"/>
                <a:ea typeface="Liter"/>
              </a:rPr>
              <a:t>• Bring the harness, question design and gate from this demo — it runs any model, so the choice of tool stays with the organisation.</a:t>
            </a:r>
            <a:endParaRPr lang="en-US" sz="950" noProof="1"/>
          </a:p>
          <a:p>
            <a:pPr>
              <a:lnSpc>
                <a:spcPct val="150000"/>
              </a:lnSpc>
              <a:spcBef>
                <a:spcPts val="500"/>
              </a:spcBef>
            </a:pPr>
            <a:r>
              <a:rPr lang="en-US" sz="950" noProof="1">
                <a:solidFill>
                  <a:srgbClr val="1A2433"/>
                </a:solidFill>
                <a:latin typeface="Liter"/>
                <a:ea typeface="Liter"/>
              </a:rPr>
              <a:t>• Baseline the estate's own ServiceNow data: reassignment, triage time and out-of-hours volumes (Q1, Q20).</a:t>
            </a:r>
            <a:endParaRPr lang="en-US" sz="950" noProof="1"/>
          </a:p>
          <a:p>
            <a:pPr>
              <a:lnSpc>
                <a:spcPct val="150000"/>
              </a:lnSpc>
              <a:spcBef>
                <a:spcPts val="500"/>
              </a:spcBef>
            </a:pPr>
            <a:r>
              <a:rPr lang="en-US" sz="950" noProof="1">
                <a:solidFill>
                  <a:srgbClr val="1A2433"/>
                </a:solidFill>
                <a:latin typeface="Liter"/>
                <a:ea typeface="Liter"/>
              </a:rPr>
              <a:t>• Work alongside the platform and data teams on the replay, against current rules and simple alternatives.</a:t>
            </a:r>
            <a:endParaRPr lang="en-US" sz="950" noProof="1"/>
          </a:p>
          <a:p>
            <a:pPr>
              <a:lnSpc>
                <a:spcPct val="150000"/>
              </a:lnSpc>
              <a:spcBef>
                <a:spcPts val="500"/>
              </a:spcBef>
            </a:pPr>
            <a:r>
              <a:rPr lang="en-US" sz="950" noProof="1">
                <a:solidFill>
                  <a:srgbClr val="1A2433"/>
                </a:solidFill>
                <a:latin typeface="Liter"/>
                <a:ea typeface="Liter"/>
              </a:rPr>
              <a:t>• Benchmark what is already licensed against what sector peers are doing with platform AIOps and in-house classifiers.</a:t>
            </a:r>
            <a:endParaRPr lang="en-US" sz="950" noProof="1"/>
          </a:p>
          <a:p>
            <a:pPr>
              <a:lnSpc>
                <a:spcPct val="150000"/>
              </a:lnSpc>
              <a:spcBef>
                <a:spcPts val="500"/>
              </a:spcBef>
            </a:pPr>
            <a:r>
              <a:rPr lang="en-US" sz="950" noProof="1">
                <a:solidFill>
                  <a:srgbClr val="1A2433"/>
                </a:solidFill>
                <a:latin typeface="Liter"/>
                <a:ea typeface="Liter"/>
              </a:rPr>
              <a:t>• Support the compliance and operating-model calls: NIS2, DORA or EU AI Act classification, and who owns the questions and thresholds.</a:t>
            </a:r>
            <a:endParaRPr lang="en-US" sz="950" noProof="1"/>
          </a:p>
        </p:txBody>
      </p:sp>
      <p:sp>
        <p:nvSpPr>
          <p:cNvPr id="23" name="footline"/>
          <p:cNvSpPr/>
          <p:nvPr/>
        </p:nvSpPr>
        <p:spPr>
          <a:xfrm>
            <a:off x="711200" y="6477000"/>
            <a:ext cx="10769600" cy="9525"/>
          </a:xfrm>
          <a:prstGeom prst="rect">
            <a:avLst/>
          </a:prstGeom>
          <a:solidFill>
            <a:srgbClr val="DCE3EB"/>
          </a:solidFill>
          <a:ln>
            <a:noFill/>
          </a:ln>
        </p:spPr>
      </p:sp>
      <p:sp>
        <p:nvSpPr>
          <p:cNvPr id="24"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deliverables/3_open-questions-and-next-steps.md (next steps: a staged way to find out); durations are Judgement. Option detail — appendix A10.</a:t>
            </a:r>
            <a:endParaRPr lang="en-US" sz="750" noProof="1"/>
          </a:p>
        </p:txBody>
      </p:sp>
      <p:sp>
        <p:nvSpPr>
          <p:cNvPr id="25"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15</a:t>
            </a:r>
            <a:endParaRPr lang="en-US" sz="800" noProof="1"/>
          </a:p>
        </p:txBody>
      </p:sp>
    </p:spTree>
  </p:cSld>
  <p:clrMapOvr>
    <a:masterClrMapping/>
  </p:clrMapOvr>
</p:sld>
</file>

<file path=ppt/slides/slide1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A1</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All 23 open questions, by owner</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sp>
        <p:nvSpPr>
          <p:cNvPr id="5" name="col1-head"/>
          <p:cNvSpPr txBox="1"/>
          <p:nvPr/>
        </p:nvSpPr>
        <p:spPr>
          <a:xfrm>
            <a:off x="711200" y="1295400"/>
            <a:ext cx="34290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SRE / operations</a:t>
            </a:r>
            <a:endParaRPr lang="en-US" sz="1000" noProof="1"/>
          </a:p>
        </p:txBody>
      </p:sp>
      <p:sp>
        <p:nvSpPr>
          <p:cNvPr id="6" name="col1-body"/>
          <p:cNvSpPr txBox="1"/>
          <p:nvPr/>
        </p:nvSpPr>
        <p:spPr>
          <a:xfrm>
            <a:off x="711200" y="1524000"/>
            <a:ext cx="3429000" cy="3175000"/>
          </a:xfrm>
          <a:prstGeom prst="rect">
            <a:avLst/>
          </a:prstGeom>
          <a:noFill/>
          <a:ln>
            <a:noFill/>
          </a:ln>
        </p:spPr>
        <p:txBody>
          <a:bodyPr lIns="0" rIns="0" tIns="0" bIns="0" wrap="square" rtlCol="0"/>
          <a:lstStyle/>
          <a:p>
            <a:pPr>
              <a:lnSpc>
                <a:spcPct val="135000"/>
              </a:lnSpc>
            </a:pPr>
            <a:r>
              <a:rPr lang="en-US" sz="800" noProof="1" b="1">
                <a:solidFill>
                  <a:srgbClr val="1A2433"/>
                </a:solidFill>
                <a:latin typeface="Liter"/>
                <a:ea typeface="Liter"/>
              </a:rPr>
              <a:t>Q1</a:t>
            </a:r>
            <a:r>
              <a:rPr lang="en-US" sz="800" noProof="1">
                <a:solidFill>
                  <a:srgbClr val="1A2433"/>
                </a:solidFill>
                <a:latin typeface="Liter"/>
                <a:ea typeface="Liter"/>
              </a:rPr>
              <a:t> How often were P3/P4s reassigned last quarter, and at what cost in time?</a:t>
            </a:r>
            <a:endParaRPr lang="en-US" sz="800" noProof="1"/>
          </a:p>
          <a:p>
            <a:pPr>
              <a:lnSpc>
                <a:spcPct val="135000"/>
              </a:lnSpc>
              <a:spcBef>
                <a:spcPts val="500"/>
              </a:spcBef>
            </a:pPr>
            <a:r>
              <a:rPr lang="en-US" sz="800" noProof="1" b="1">
                <a:solidFill>
                  <a:srgbClr val="1A2433"/>
                </a:solidFill>
                <a:latin typeface="Liter"/>
                <a:ea typeface="Liter"/>
              </a:rPr>
              <a:t>Q2</a:t>
            </a:r>
            <a:r>
              <a:rPr lang="en-US" sz="800" noProof="1">
                <a:solidFill>
                  <a:srgbClr val="1A2433"/>
                </a:solidFill>
                <a:latin typeface="Liter"/>
                <a:ea typeface="Liter"/>
              </a:rPr>
              <a:t> Which first-line decisions are made from text alone, and which need numbers, time windows or live checks?</a:t>
            </a:r>
            <a:endParaRPr lang="en-US" sz="800" noProof="1"/>
          </a:p>
          <a:p>
            <a:pPr>
              <a:lnSpc>
                <a:spcPct val="135000"/>
              </a:lnSpc>
              <a:spcBef>
                <a:spcPts val="500"/>
              </a:spcBef>
            </a:pPr>
            <a:r>
              <a:rPr lang="en-US" sz="800" noProof="1" b="1">
                <a:solidFill>
                  <a:srgbClr val="1A2433"/>
                </a:solidFill>
                <a:latin typeface="Liter"/>
                <a:ea typeface="Liter"/>
              </a:rPr>
              <a:t>Q3</a:t>
            </a:r>
            <a:r>
              <a:rPr lang="en-US" sz="800" noProof="1">
                <a:solidFill>
                  <a:srgbClr val="1A2433"/>
                </a:solidFill>
                <a:latin typeface="Liter"/>
                <a:ea typeface="Liter"/>
              </a:rPr>
              <a:t> What does a ticket contain when it is first routed?</a:t>
            </a:r>
            <a:endParaRPr lang="en-US" sz="800" noProof="1"/>
          </a:p>
          <a:p>
            <a:pPr>
              <a:lnSpc>
                <a:spcPct val="135000"/>
              </a:lnSpc>
              <a:spcBef>
                <a:spcPts val="500"/>
              </a:spcBef>
            </a:pPr>
            <a:r>
              <a:rPr lang="en-US" sz="800" noProof="1" b="1">
                <a:solidFill>
                  <a:srgbClr val="1A2433"/>
                </a:solidFill>
                <a:latin typeface="Liter"/>
                <a:ea typeface="Liter"/>
              </a:rPr>
              <a:t>Q4</a:t>
            </a:r>
            <a:r>
              <a:rPr lang="en-US" sz="800" noProof="1">
                <a:solidFill>
                  <a:srgbClr val="1A2433"/>
                </a:solidFill>
                <a:latin typeface="Liter"/>
                <a:ea typeface="Liter"/>
              </a:rPr>
              <a:t> How many P1/P2 root causes would have been missing from any option list written in advance?</a:t>
            </a:r>
            <a:endParaRPr lang="en-US" sz="800" noProof="1"/>
          </a:p>
          <a:p>
            <a:pPr>
              <a:lnSpc>
                <a:spcPct val="135000"/>
              </a:lnSpc>
              <a:spcBef>
                <a:spcPts val="500"/>
              </a:spcBef>
            </a:pPr>
            <a:r>
              <a:rPr lang="en-US" sz="800" noProof="1" b="1">
                <a:solidFill>
                  <a:srgbClr val="1A2433"/>
                </a:solidFill>
                <a:latin typeface="Liter"/>
                <a:ea typeface="Liter"/>
              </a:rPr>
              <a:t>Q5</a:t>
            </a:r>
            <a:r>
              <a:rPr lang="en-US" sz="800" noProof="1">
                <a:solidFill>
                  <a:srgbClr val="1A2433"/>
                </a:solidFill>
                <a:latin typeface="Liter"/>
                <a:ea typeface="Liter"/>
              </a:rPr>
              <a:t> Which fixes are already automated, and how often do they fail or get reversed?</a:t>
            </a:r>
            <a:endParaRPr lang="en-US" sz="800" noProof="1"/>
          </a:p>
          <a:p>
            <a:pPr>
              <a:lnSpc>
                <a:spcPct val="135000"/>
              </a:lnSpc>
              <a:spcBef>
                <a:spcPts val="500"/>
              </a:spcBef>
            </a:pPr>
            <a:r>
              <a:rPr lang="en-US" sz="800" noProof="1" b="1">
                <a:solidFill>
                  <a:srgbClr val="1A2433"/>
                </a:solidFill>
                <a:latin typeface="Liter"/>
                <a:ea typeface="Liter"/>
              </a:rPr>
              <a:t>Q6</a:t>
            </a:r>
            <a:r>
              <a:rPr lang="en-US" sz="800" noProof="1">
                <a:solidFill>
                  <a:srgbClr val="1A2433"/>
                </a:solidFill>
                <a:latin typeface="Liter"/>
                <a:ea typeface="Liter"/>
              </a:rPr>
              <a:t> What does a missed major incident cost against a misroute or a needless rollback?</a:t>
            </a:r>
            <a:endParaRPr lang="en-US" sz="800" noProof="1"/>
          </a:p>
          <a:p>
            <a:pPr>
              <a:lnSpc>
                <a:spcPct val="135000"/>
              </a:lnSpc>
              <a:spcBef>
                <a:spcPts val="500"/>
              </a:spcBef>
            </a:pPr>
            <a:r>
              <a:rPr lang="en-US" sz="800" noProof="1" b="1">
                <a:solidFill>
                  <a:srgbClr val="1A2433"/>
                </a:solidFill>
                <a:latin typeface="Liter"/>
                <a:ea typeface="Liter"/>
              </a:rPr>
              <a:t>Q7</a:t>
            </a:r>
            <a:r>
              <a:rPr lang="en-US" sz="800" noProof="1">
                <a:solidFill>
                  <a:srgbClr val="1A2433"/>
                </a:solidFill>
                <a:latin typeface="Liter"/>
                <a:ea typeface="Liter"/>
              </a:rPr>
              <a:t> Will on-call act on a probability, and how would we spot rubber-stamping?</a:t>
            </a:r>
            <a:endParaRPr lang="en-US" sz="800" noProof="1"/>
          </a:p>
        </p:txBody>
      </p:sp>
      <p:sp>
        <p:nvSpPr>
          <p:cNvPr id="7" name="col2-head"/>
          <p:cNvSpPr txBox="1"/>
          <p:nvPr/>
        </p:nvSpPr>
        <p:spPr>
          <a:xfrm>
            <a:off x="4381500" y="1295400"/>
            <a:ext cx="34290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ITSM / platform</a:t>
            </a:r>
            <a:endParaRPr lang="en-US" sz="1000" noProof="1"/>
          </a:p>
        </p:txBody>
      </p:sp>
      <p:sp>
        <p:nvSpPr>
          <p:cNvPr id="8" name="col2-body"/>
          <p:cNvSpPr txBox="1"/>
          <p:nvPr/>
        </p:nvSpPr>
        <p:spPr>
          <a:xfrm>
            <a:off x="4381500" y="1524000"/>
            <a:ext cx="3429000" cy="2032000"/>
          </a:xfrm>
          <a:prstGeom prst="rect">
            <a:avLst/>
          </a:prstGeom>
          <a:noFill/>
          <a:ln>
            <a:noFill/>
          </a:ln>
        </p:spPr>
        <p:txBody>
          <a:bodyPr lIns="0" rIns="0" tIns="0" bIns="0" wrap="square" rtlCol="0"/>
          <a:lstStyle/>
          <a:p>
            <a:pPr>
              <a:lnSpc>
                <a:spcPct val="135000"/>
              </a:lnSpc>
            </a:pPr>
            <a:r>
              <a:rPr lang="en-US" sz="800" noProof="1" b="1">
                <a:solidFill>
                  <a:srgbClr val="1A2433"/>
                </a:solidFill>
                <a:latin typeface="Liter"/>
                <a:ea typeface="Liter"/>
              </a:rPr>
              <a:t>Q8</a:t>
            </a:r>
            <a:r>
              <a:rPr lang="en-US" sz="800" noProof="1">
                <a:solidFill>
                  <a:srgbClr val="1A2433"/>
                </a:solidFill>
                <a:latin typeface="Liter"/>
                <a:ea typeface="Liter"/>
              </a:rPr>
              <a:t> What does our licence already do for routing, and how well?</a:t>
            </a:r>
            <a:endParaRPr lang="en-US" sz="800" noProof="1"/>
          </a:p>
          <a:p>
            <a:pPr>
              <a:lnSpc>
                <a:spcPct val="135000"/>
              </a:lnSpc>
              <a:spcBef>
                <a:spcPts val="500"/>
              </a:spcBef>
            </a:pPr>
            <a:r>
              <a:rPr lang="en-US" sz="800" noProof="1" b="1">
                <a:solidFill>
                  <a:srgbClr val="1A2433"/>
                </a:solidFill>
                <a:latin typeface="Liter"/>
                <a:ea typeface="Liter"/>
              </a:rPr>
              <a:t>Q9</a:t>
            </a:r>
            <a:r>
              <a:rPr lang="en-US" sz="800" noProof="1">
                <a:solidFill>
                  <a:srgbClr val="1A2433"/>
                </a:solidFill>
                <a:latin typeface="Liter"/>
                <a:ea typeface="Liter"/>
              </a:rPr>
              <a:t> How many assignment groups are there, and can they be told apart by name and description?</a:t>
            </a:r>
            <a:endParaRPr lang="en-US" sz="800" noProof="1"/>
          </a:p>
          <a:p>
            <a:pPr>
              <a:lnSpc>
                <a:spcPct val="135000"/>
              </a:lnSpc>
              <a:spcBef>
                <a:spcPts val="500"/>
              </a:spcBef>
            </a:pPr>
            <a:r>
              <a:rPr lang="en-US" sz="800" noProof="1" b="1">
                <a:solidFill>
                  <a:srgbClr val="1A2433"/>
                </a:solidFill>
                <a:latin typeface="Liter"/>
                <a:ea typeface="Liter"/>
              </a:rPr>
              <a:t>Q10</a:t>
            </a:r>
            <a:r>
              <a:rPr lang="en-US" sz="800" noProof="1">
                <a:solidFill>
                  <a:srgbClr val="1A2433"/>
                </a:solidFill>
                <a:latin typeface="Liter"/>
                <a:ea typeface="Liter"/>
              </a:rPr>
              <a:t> Are past resolver groups and closure codes accurate enough to score against?</a:t>
            </a:r>
            <a:endParaRPr lang="en-US" sz="800" noProof="1"/>
          </a:p>
          <a:p>
            <a:pPr>
              <a:lnSpc>
                <a:spcPct val="135000"/>
              </a:lnSpc>
              <a:spcBef>
                <a:spcPts val="500"/>
              </a:spcBef>
            </a:pPr>
            <a:r>
              <a:rPr lang="en-US" sz="800" noProof="1" b="1">
                <a:solidFill>
                  <a:srgbClr val="1A2433"/>
                </a:solidFill>
                <a:latin typeface="Liter"/>
                <a:ea typeface="Liter"/>
              </a:rPr>
              <a:t>Q11</a:t>
            </a:r>
            <a:r>
              <a:rPr lang="en-US" sz="800" noProof="1">
                <a:solidFill>
                  <a:srgbClr val="1A2433"/>
                </a:solidFill>
                <a:latin typeface="Liter"/>
                <a:ea typeface="Liter"/>
              </a:rPr>
              <a:t> Where would the call sit, what latency can it afford during an incident storm, and what happens on timeout?</a:t>
            </a:r>
            <a:endParaRPr lang="en-US" sz="800" noProof="1"/>
          </a:p>
        </p:txBody>
      </p:sp>
      <p:sp>
        <p:nvSpPr>
          <p:cNvPr id="9" name="col2b-head"/>
          <p:cNvSpPr txBox="1"/>
          <p:nvPr/>
        </p:nvSpPr>
        <p:spPr>
          <a:xfrm>
            <a:off x="4381500" y="3759200"/>
            <a:ext cx="34290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Leadership</a:t>
            </a:r>
            <a:endParaRPr lang="en-US" sz="1000" noProof="1"/>
          </a:p>
        </p:txBody>
      </p:sp>
      <p:sp>
        <p:nvSpPr>
          <p:cNvPr id="10" name="col2b-body"/>
          <p:cNvSpPr txBox="1"/>
          <p:nvPr/>
        </p:nvSpPr>
        <p:spPr>
          <a:xfrm>
            <a:off x="4381500" y="3987800"/>
            <a:ext cx="3429000" cy="1270000"/>
          </a:xfrm>
          <a:prstGeom prst="rect">
            <a:avLst/>
          </a:prstGeom>
          <a:noFill/>
          <a:ln>
            <a:noFill/>
          </a:ln>
        </p:spPr>
        <p:txBody>
          <a:bodyPr lIns="0" rIns="0" tIns="0" bIns="0" wrap="square" rtlCol="0"/>
          <a:lstStyle/>
          <a:p>
            <a:pPr>
              <a:lnSpc>
                <a:spcPct val="135000"/>
              </a:lnSpc>
            </a:pPr>
            <a:r>
              <a:rPr lang="en-US" sz="800" noProof="1" b="1">
                <a:solidFill>
                  <a:srgbClr val="1A2433"/>
                </a:solidFill>
                <a:latin typeface="Liter"/>
                <a:ea typeface="Liter"/>
              </a:rPr>
              <a:t>Q21</a:t>
            </a:r>
            <a:r>
              <a:rPr lang="en-US" sz="800" noProof="1">
                <a:solidFill>
                  <a:srgbClr val="1A2433"/>
                </a:solidFill>
                <a:latin typeface="Liter"/>
                <a:ea typeface="Liter"/>
              </a:rPr>
              <a:t> Which outcome first, and what result would make us stop?</a:t>
            </a:r>
            <a:endParaRPr lang="en-US" sz="800" noProof="1"/>
          </a:p>
          <a:p>
            <a:pPr>
              <a:lnSpc>
                <a:spcPct val="135000"/>
              </a:lnSpc>
              <a:spcBef>
                <a:spcPts val="500"/>
              </a:spcBef>
            </a:pPr>
            <a:r>
              <a:rPr lang="en-US" sz="800" noProof="1" b="1">
                <a:solidFill>
                  <a:srgbClr val="1A2433"/>
                </a:solidFill>
                <a:latin typeface="Liter"/>
                <a:ea typeface="Liter"/>
              </a:rPr>
              <a:t>Q22</a:t>
            </a:r>
            <a:r>
              <a:rPr lang="en-US" sz="800" noProof="1">
                <a:solidFill>
                  <a:srgbClr val="1A2433"/>
                </a:solidFill>
                <a:latin typeface="Liter"/>
                <a:ea typeface="Liter"/>
              </a:rPr>
              <a:t> How much autonomy for a model launched in September 2026?</a:t>
            </a:r>
            <a:endParaRPr lang="en-US" sz="800" noProof="1"/>
          </a:p>
          <a:p>
            <a:pPr>
              <a:lnSpc>
                <a:spcPct val="135000"/>
              </a:lnSpc>
              <a:spcBef>
                <a:spcPts val="500"/>
              </a:spcBef>
            </a:pPr>
            <a:r>
              <a:rPr lang="en-US" sz="800" noProof="1" b="1">
                <a:solidFill>
                  <a:srgbClr val="1A2433"/>
                </a:solidFill>
                <a:latin typeface="Liter"/>
                <a:ea typeface="Liter"/>
              </a:rPr>
              <a:t>Q23</a:t>
            </a:r>
            <a:r>
              <a:rPr lang="en-US" sz="800" noProof="1">
                <a:solidFill>
                  <a:srgbClr val="1A2433"/>
                </a:solidFill>
                <a:latin typeface="Liter"/>
                <a:ea typeface="Liter"/>
              </a:rPr>
              <a:t> Who owns the questions and thresholds after go-live?</a:t>
            </a:r>
            <a:endParaRPr lang="en-US" sz="800" noProof="1"/>
          </a:p>
        </p:txBody>
      </p:sp>
      <p:sp>
        <p:nvSpPr>
          <p:cNvPr id="11" name="col3-head"/>
          <p:cNvSpPr txBox="1"/>
          <p:nvPr/>
        </p:nvSpPr>
        <p:spPr>
          <a:xfrm>
            <a:off x="8051800" y="1295400"/>
            <a:ext cx="34290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Security</a:t>
            </a:r>
            <a:endParaRPr lang="en-US" sz="1000" noProof="1"/>
          </a:p>
        </p:txBody>
      </p:sp>
      <p:sp>
        <p:nvSpPr>
          <p:cNvPr id="12" name="col3-body"/>
          <p:cNvSpPr txBox="1"/>
          <p:nvPr/>
        </p:nvSpPr>
        <p:spPr>
          <a:xfrm>
            <a:off x="8051800" y="1524000"/>
            <a:ext cx="3429000" cy="1524000"/>
          </a:xfrm>
          <a:prstGeom prst="rect">
            <a:avLst/>
          </a:prstGeom>
          <a:noFill/>
          <a:ln>
            <a:noFill/>
          </a:ln>
        </p:spPr>
        <p:txBody>
          <a:bodyPr lIns="0" rIns="0" tIns="0" bIns="0" wrap="square" rtlCol="0"/>
          <a:lstStyle/>
          <a:p>
            <a:pPr>
              <a:lnSpc>
                <a:spcPct val="135000"/>
              </a:lnSpc>
            </a:pPr>
            <a:r>
              <a:rPr lang="en-US" sz="800" noProof="1" b="1">
                <a:solidFill>
                  <a:srgbClr val="1A2433"/>
                </a:solidFill>
                <a:latin typeface="Liter"/>
                <a:ea typeface="Liter"/>
              </a:rPr>
              <a:t>Q12</a:t>
            </a:r>
            <a:r>
              <a:rPr lang="en-US" sz="800" noProof="1">
                <a:solidFill>
                  <a:srgbClr val="1A2433"/>
                </a:solidFill>
                <a:latin typeface="Liter"/>
                <a:ea typeface="Liter"/>
              </a:rPr>
              <a:t> Which fields can outsiders write, and do they reach a gating question?</a:t>
            </a:r>
            <a:endParaRPr lang="en-US" sz="800" noProof="1"/>
          </a:p>
          <a:p>
            <a:pPr>
              <a:lnSpc>
                <a:spcPct val="135000"/>
              </a:lnSpc>
              <a:spcBef>
                <a:spcPts val="500"/>
              </a:spcBef>
            </a:pPr>
            <a:r>
              <a:rPr lang="en-US" sz="800" noProof="1" b="1">
                <a:solidFill>
                  <a:srgbClr val="1A2433"/>
                </a:solidFill>
                <a:latin typeface="Liter"/>
                <a:ea typeface="Liter"/>
              </a:rPr>
              <a:t>Q13</a:t>
            </a:r>
            <a:r>
              <a:rPr lang="en-US" sz="800" noProof="1">
                <a:solidFill>
                  <a:srgbClr val="1A2433"/>
                </a:solidFill>
                <a:latin typeface="Liter"/>
                <a:ea typeface="Liter"/>
              </a:rPr>
              <a:t> Do answers change when option order is shuffled or the call repeated?</a:t>
            </a:r>
            <a:endParaRPr lang="en-US" sz="800" noProof="1"/>
          </a:p>
          <a:p>
            <a:pPr>
              <a:lnSpc>
                <a:spcPct val="135000"/>
              </a:lnSpc>
              <a:spcBef>
                <a:spcPts val="500"/>
              </a:spcBef>
            </a:pPr>
            <a:r>
              <a:rPr lang="en-US" sz="800" noProof="1" b="1">
                <a:solidFill>
                  <a:srgbClr val="1A2433"/>
                </a:solidFill>
                <a:latin typeface="Liter"/>
                <a:ea typeface="Liter"/>
              </a:rPr>
              <a:t>Q14</a:t>
            </a:r>
            <a:r>
              <a:rPr lang="en-US" sz="800" noProof="1">
                <a:solidFill>
                  <a:srgbClr val="1A2433"/>
                </a:solidFill>
                <a:latin typeface="Liter"/>
                <a:ea typeface="Liter"/>
              </a:rPr>
              <a:t> What leaves the network on each call, and can it be redacted without losing accuracy?</a:t>
            </a:r>
            <a:endParaRPr lang="en-US" sz="800" noProof="1"/>
          </a:p>
        </p:txBody>
      </p:sp>
      <p:sp>
        <p:nvSpPr>
          <p:cNvPr id="13" name="col3b-head"/>
          <p:cNvSpPr txBox="1"/>
          <p:nvPr/>
        </p:nvSpPr>
        <p:spPr>
          <a:xfrm>
            <a:off x="8051800" y="3175000"/>
            <a:ext cx="34290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Risk and compliance</a:t>
            </a:r>
            <a:endParaRPr lang="en-US" sz="1000" noProof="1"/>
          </a:p>
        </p:txBody>
      </p:sp>
      <p:sp>
        <p:nvSpPr>
          <p:cNvPr id="14" name="col3b-body"/>
          <p:cNvSpPr txBox="1"/>
          <p:nvPr/>
        </p:nvSpPr>
        <p:spPr>
          <a:xfrm>
            <a:off x="8051800" y="3403600"/>
            <a:ext cx="3429000" cy="965200"/>
          </a:xfrm>
          <a:prstGeom prst="rect">
            <a:avLst/>
          </a:prstGeom>
          <a:noFill/>
          <a:ln>
            <a:noFill/>
          </a:ln>
        </p:spPr>
        <p:txBody>
          <a:bodyPr lIns="0" rIns="0" tIns="0" bIns="0" wrap="square" rtlCol="0"/>
          <a:lstStyle/>
          <a:p>
            <a:pPr>
              <a:lnSpc>
                <a:spcPct val="135000"/>
              </a:lnSpc>
            </a:pPr>
            <a:r>
              <a:rPr lang="en-US" sz="800" noProof="1" b="1">
                <a:solidFill>
                  <a:srgbClr val="1A2433"/>
                </a:solidFill>
                <a:latin typeface="Liter"/>
                <a:ea typeface="Liter"/>
              </a:rPr>
              <a:t>Q15</a:t>
            </a:r>
            <a:r>
              <a:rPr lang="en-US" sz="800" noProof="1">
                <a:solidFill>
                  <a:srgbClr val="1A2433"/>
                </a:solidFill>
                <a:latin typeface="Liter"/>
                <a:ea typeface="Liter"/>
              </a:rPr>
              <a:t> Is each use high-risk under the EU AI Act?</a:t>
            </a:r>
            <a:endParaRPr lang="en-US" sz="800" noProof="1"/>
          </a:p>
          <a:p>
            <a:pPr>
              <a:lnSpc>
                <a:spcPct val="135000"/>
              </a:lnSpc>
              <a:spcBef>
                <a:spcPts val="500"/>
              </a:spcBef>
            </a:pPr>
            <a:r>
              <a:rPr lang="en-US" sz="800" noProof="1" b="1">
                <a:solidFill>
                  <a:srgbClr val="1A2433"/>
                </a:solidFill>
                <a:latin typeface="Liter"/>
                <a:ea typeface="Liter"/>
              </a:rPr>
              <a:t>Q16</a:t>
            </a:r>
            <a:r>
              <a:rPr lang="en-US" sz="800" noProof="1">
                <a:solidFill>
                  <a:srgbClr val="1A2433"/>
                </a:solidFill>
                <a:latin typeface="Liter"/>
                <a:ea typeface="Liter"/>
              </a:rPr>
              <a:t> What must an audit record hold to explain an action six months later?</a:t>
            </a:r>
            <a:endParaRPr lang="en-US" sz="800" noProof="1"/>
          </a:p>
        </p:txBody>
      </p:sp>
      <p:sp>
        <p:nvSpPr>
          <p:cNvPr id="15" name="col3c-head"/>
          <p:cNvSpPr txBox="1"/>
          <p:nvPr/>
        </p:nvSpPr>
        <p:spPr>
          <a:xfrm>
            <a:off x="8051800" y="4495800"/>
            <a:ext cx="34290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Procurement · Finance</a:t>
            </a:r>
            <a:endParaRPr lang="en-US" sz="1000" noProof="1"/>
          </a:p>
        </p:txBody>
      </p:sp>
      <p:sp>
        <p:nvSpPr>
          <p:cNvPr id="16" name="col3c-body"/>
          <p:cNvSpPr txBox="1"/>
          <p:nvPr/>
        </p:nvSpPr>
        <p:spPr>
          <a:xfrm>
            <a:off x="8051800" y="4724400"/>
            <a:ext cx="3429000" cy="1397000"/>
          </a:xfrm>
          <a:prstGeom prst="rect">
            <a:avLst/>
          </a:prstGeom>
          <a:noFill/>
          <a:ln>
            <a:noFill/>
          </a:ln>
        </p:spPr>
        <p:txBody>
          <a:bodyPr lIns="0" rIns="0" tIns="0" bIns="0" wrap="square" rtlCol="0"/>
          <a:lstStyle/>
          <a:p>
            <a:pPr>
              <a:lnSpc>
                <a:spcPct val="135000"/>
              </a:lnSpc>
            </a:pPr>
            <a:r>
              <a:rPr lang="en-US" sz="800" noProof="1" b="1">
                <a:solidFill>
                  <a:srgbClr val="1A2433"/>
                </a:solidFill>
                <a:latin typeface="Liter"/>
                <a:ea typeface="Liter"/>
              </a:rPr>
              <a:t>Q17</a:t>
            </a:r>
            <a:r>
              <a:rPr lang="en-US" sz="800" noProof="1">
                <a:solidFill>
                  <a:srgbClr val="1A2433"/>
                </a:solidFill>
                <a:latin typeface="Liter"/>
                <a:ea typeface="Liter"/>
              </a:rPr>
              <a:t> Will TypeSafe commit in writing to SOC 2, DPA, regions, SLA, rate limits and version notice?</a:t>
            </a:r>
            <a:endParaRPr lang="en-US" sz="800" noProof="1"/>
          </a:p>
          <a:p>
            <a:pPr>
              <a:lnSpc>
                <a:spcPct val="135000"/>
              </a:lnSpc>
              <a:spcBef>
                <a:spcPts val="500"/>
              </a:spcBef>
            </a:pPr>
            <a:r>
              <a:rPr lang="en-US" sz="800" noProof="1" b="1">
                <a:solidFill>
                  <a:srgbClr val="1A2433"/>
                </a:solidFill>
                <a:latin typeface="Liter"/>
                <a:ea typeface="Liter"/>
              </a:rPr>
              <a:t>Q18</a:t>
            </a:r>
            <a:r>
              <a:rPr lang="en-US" sz="800" noProof="1">
                <a:solidFill>
                  <a:srgbClr val="1A2433"/>
                </a:solidFill>
                <a:latin typeface="Liter"/>
                <a:ea typeface="Liter"/>
              </a:rPr>
              <a:t> How fast could we fall back, or move to a self-hosted model, and at what accuracy?</a:t>
            </a:r>
            <a:endParaRPr lang="en-US" sz="800" noProof="1"/>
          </a:p>
          <a:p>
            <a:pPr>
              <a:lnSpc>
                <a:spcPct val="135000"/>
              </a:lnSpc>
              <a:spcBef>
                <a:spcPts val="500"/>
              </a:spcBef>
            </a:pPr>
            <a:r>
              <a:rPr lang="en-US" sz="800" noProof="1" b="1">
                <a:solidFill>
                  <a:srgbClr val="1A2433"/>
                </a:solidFill>
                <a:latin typeface="Liter"/>
                <a:ea typeface="Liter"/>
              </a:rPr>
              <a:t>Q19</a:t>
            </a:r>
            <a:r>
              <a:rPr lang="en-US" sz="800" noProof="1">
                <a:solidFill>
                  <a:srgbClr val="1A2433"/>
                </a:solidFill>
                <a:latin typeface="Liter"/>
                <a:ea typeface="Liter"/>
              </a:rPr>
              <a:t> What is the fully loaded first-year cost against tuning rules or using what is licensed?</a:t>
            </a:r>
            <a:endParaRPr lang="en-US" sz="800" noProof="1"/>
          </a:p>
          <a:p>
            <a:pPr>
              <a:lnSpc>
                <a:spcPct val="135000"/>
              </a:lnSpc>
              <a:spcBef>
                <a:spcPts val="500"/>
              </a:spcBef>
            </a:pPr>
            <a:r>
              <a:rPr lang="en-US" sz="800" noProof="1" b="1">
                <a:solidFill>
                  <a:srgbClr val="1A2433"/>
                </a:solidFill>
                <a:latin typeface="Liter"/>
                <a:ea typeface="Liter"/>
              </a:rPr>
              <a:t>Q20</a:t>
            </a:r>
            <a:r>
              <a:rPr lang="en-US" sz="800" noProof="1">
                <a:solidFill>
                  <a:srgbClr val="1A2433"/>
                </a:solidFill>
                <a:latin typeface="Liter"/>
                <a:ea typeface="Liter"/>
              </a:rPr>
              <a:t> How many hours go on triage and reassignment, and what is a P1 hour worth?</a:t>
            </a:r>
            <a:endParaRPr lang="en-US" sz="800" noProof="1"/>
          </a:p>
        </p:txBody>
      </p:sp>
      <p:sp>
        <p:nvSpPr>
          <p:cNvPr id="17" name="footline"/>
          <p:cNvSpPr/>
          <p:nvPr/>
        </p:nvSpPr>
        <p:spPr>
          <a:xfrm>
            <a:off x="711200" y="6477000"/>
            <a:ext cx="10769600" cy="9525"/>
          </a:xfrm>
          <a:prstGeom prst="rect">
            <a:avLst/>
          </a:prstGeom>
          <a:solidFill>
            <a:srgbClr val="DCE3EB"/>
          </a:solidFill>
          <a:ln>
            <a:noFill/>
          </a:ln>
        </p:spPr>
      </p:sp>
      <p:sp>
        <p:nvSpPr>
          <p:cNvPr id="18"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deliverables/3_open-questions-and-next-steps.md section 2 (full wording, why it matters and what settles each question).</a:t>
            </a:r>
            <a:endParaRPr lang="en-US" sz="750" noProof="1"/>
          </a:p>
        </p:txBody>
      </p:sp>
      <p:sp>
        <p:nvSpPr>
          <p:cNvPr id="19"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A1</a:t>
            </a:r>
            <a:endParaRPr lang="en-US" sz="800" noProof="1"/>
          </a:p>
        </p:txBody>
      </p:sp>
    </p:spTree>
  </p:cSld>
  <p:clrMapOvr>
    <a:masterClrMapping/>
  </p:clrMapOvr>
</p:sld>
</file>

<file path=ppt/slides/slide1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A2</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Twelve considerations that decide whether a model like this fits an incident estate</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graphicFrame>
        <p:nvGraphicFramePr>
          <p:cNvPr id="5" name="considerations"/>
          <p:cNvGraphicFramePr>
            <a:graphicFrameLocks noGrp="1"/>
          </p:cNvGraphicFramePr>
          <p:nvPr/>
        </p:nvGraphicFramePr>
        <p:xfrm>
          <a:off x="711200" y="1270000"/>
          <a:ext cx="10769600" cy="5029200"/>
        </p:xfrm>
        <a:graphic>
          <a:graphicData uri="http://schemas.openxmlformats.org/drawingml/2006/table">
            <a:tbl>
              <a:tblPr/>
              <a:tblGrid>
                <a:gridCol w="3661664"/>
                <a:gridCol w="7107936"/>
              </a:tblGrid>
              <a:tr h="418932">
                <a:tc>
                  <a:txBody>
                    <a:bodyPr wrap="square" rtlCol="0" anchor="ctr"/>
                    <a:lstStyle/>
                    <a:p>
                      <a:pPr algn="l">
                        <a:lnSpc>
                          <a:spcPct val="125000"/>
                        </a:lnSpc>
                      </a:pPr>
                      <a:r>
                        <a:rPr lang="en-US" sz="800" noProof="1" b="1">
                          <a:solidFill>
                            <a:srgbClr val="1A2433"/>
                          </a:solidFill>
                          <a:latin typeface="Liter"/>
                          <a:ea typeface="Liter"/>
                        </a:rPr>
                        <a:t>C1 · It fits text classification at volume, and little else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Category, owning group, duplicate, "enough to route?"; no arithmetic, dates or generated text.</a:t>
                      </a:r>
                    </a:p>
                  </a:txBody>
                  <a:tcPr marL="91440" marR="91440" marT="45720" marB="45720" anchor="ctr">
                    <a:lnL>
                      <a:noFill/>
                    </a:lnL>
                    <a:lnR>
                      <a:noFill/>
                    </a:lnR>
                    <a:lnT>
                      <a:noFill/>
                    </a:lnT>
                    <a:lnB w="6350">
                      <a:solidFill>
                        <a:srgbClr val="DCE3EB"/>
                      </a:solidFill>
                    </a:lnB>
                    <a:solidFill>
                      <a:srgbClr val="FFFFFF"/>
                    </a:solidFill>
                  </a:tcPr>
                </a:tc>
              </a:tr>
              <a:tr h="418932">
                <a:tc>
                  <a:txBody>
                    <a:bodyPr wrap="square" rtlCol="0" anchor="ctr"/>
                    <a:lstStyle/>
                    <a:p>
                      <a:pPr algn="l">
                        <a:lnSpc>
                          <a:spcPct val="125000"/>
                        </a:lnSpc>
                      </a:pPr>
                      <a:r>
                        <a:rPr lang="en-US" sz="800" noProof="1" b="1">
                          <a:solidFill>
                            <a:srgbClr val="1A2433"/>
                          </a:solidFill>
                          <a:latin typeface="Liter"/>
                          <a:ea typeface="Liter"/>
                        </a:rPr>
                        <a:t>C2 · The value is the gap to what already runs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Worth adding only where today's routing is measurably poor and licensed features don't already fix it.</a:t>
                      </a:r>
                    </a:p>
                  </a:txBody>
                  <a:tcPr marL="91440" marR="91440" marT="45720" marB="45720" anchor="ctr">
                    <a:lnL>
                      <a:noFill/>
                    </a:lnL>
                    <a:lnR>
                      <a:noFill/>
                    </a:lnR>
                    <a:lnT>
                      <a:noFill/>
                    </a:lnT>
                    <a:lnB w="6350">
                      <a:solidFill>
                        <a:srgbClr val="DCE3EB"/>
                      </a:solidFill>
                    </a:lnB>
                    <a:solidFill>
                      <a:srgbClr val="FFFFFF"/>
                    </a:solidFill>
                  </a:tcPr>
                </a:tc>
              </a:tr>
              <a:tr h="418932">
                <a:tc>
                  <a:txBody>
                    <a:bodyPr wrap="square" rtlCol="0" anchor="ctr"/>
                    <a:lstStyle/>
                    <a:p>
                      <a:pPr algn="l">
                        <a:lnSpc>
                          <a:spcPct val="125000"/>
                        </a:lnSpc>
                      </a:pPr>
                      <a:r>
                        <a:rPr lang="en-US" sz="800" noProof="1" b="1">
                          <a:solidFill>
                            <a:srgbClr val="1A2433"/>
                          </a:solidFill>
                          <a:latin typeface="Liter"/>
                          <a:ea typeface="Liter"/>
                        </a:rPr>
                        <a:t>C3 · Results depend on the ticket text at decision time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The demo incidents are 34–45 words with blunt clues; real tickets are thinner or noisier, and long option lists cost accuracy.</a:t>
                      </a:r>
                    </a:p>
                  </a:txBody>
                  <a:tcPr marL="91440" marR="91440" marT="45720" marB="45720" anchor="ctr">
                    <a:lnL>
                      <a:noFill/>
                    </a:lnL>
                    <a:lnR>
                      <a:noFill/>
                    </a:lnR>
                    <a:lnT>
                      <a:noFill/>
                    </a:lnT>
                    <a:lnB w="6350">
                      <a:solidFill>
                        <a:srgbClr val="DCE3EB"/>
                      </a:solidFill>
                    </a:lnB>
                    <a:solidFill>
                      <a:srgbClr val="F4F7FA"/>
                    </a:solidFill>
                  </a:tcPr>
                </a:tc>
              </a:tr>
              <a:tr h="418932">
                <a:tc>
                  <a:txBody>
                    <a:bodyPr wrap="square" rtlCol="0" anchor="ctr"/>
                    <a:lstStyle/>
                    <a:p>
                      <a:pPr algn="l">
                        <a:lnSpc>
                          <a:spcPct val="125000"/>
                        </a:lnSpc>
                      </a:pPr>
                      <a:r>
                        <a:rPr lang="en-US" sz="800" noProof="1" b="1">
                          <a:solidFill>
                            <a:srgbClr val="1A2433"/>
                          </a:solidFill>
                          <a:latin typeface="Liter"/>
                          <a:ea typeface="Liter"/>
                        </a:rPr>
                        <a:t>C4 · Thresholds and calibration must come from own data</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18 of the 22 automated incidents sat just under the paging cut-off; at 0.80 automation falls to 12.</a:t>
                      </a:r>
                    </a:p>
                  </a:txBody>
                  <a:tcPr marL="91440" marR="91440" marT="45720" marB="45720" anchor="ctr">
                    <a:lnL>
                      <a:noFill/>
                    </a:lnL>
                    <a:lnR>
                      <a:noFill/>
                    </a:lnR>
                    <a:lnT>
                      <a:noFill/>
                    </a:lnT>
                    <a:lnB w="6350">
                      <a:solidFill>
                        <a:srgbClr val="DCE3EB"/>
                      </a:solidFill>
                    </a:lnB>
                    <a:solidFill>
                      <a:srgbClr val="FFFFFF"/>
                    </a:solidFill>
                  </a:tcPr>
                </a:tc>
              </a:tr>
              <a:tr h="418932">
                <a:tc>
                  <a:txBody>
                    <a:bodyPr wrap="square" rtlCol="0" anchor="ctr"/>
                    <a:lstStyle/>
                    <a:p>
                      <a:pPr algn="l">
                        <a:lnSpc>
                          <a:spcPct val="125000"/>
                        </a:lnSpc>
                      </a:pPr>
                      <a:r>
                        <a:rPr lang="en-US" sz="800" noProof="1" b="1">
                          <a:solidFill>
                            <a:srgbClr val="1A2433"/>
                          </a:solidFill>
                          <a:latin typeface="Liter"/>
                          <a:ea typeface="Liter"/>
                        </a:rPr>
                        <a:t>C5 · Question wording and option order shape the answer</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Rollback, listed first, was proposed 16 times against 4 labelled; options were never shuffled.</a:t>
                      </a:r>
                    </a:p>
                  </a:txBody>
                  <a:tcPr marL="91440" marR="91440" marT="45720" marB="45720" anchor="ctr">
                    <a:lnL>
                      <a:noFill/>
                    </a:lnL>
                    <a:lnR>
                      <a:noFill/>
                    </a:lnR>
                    <a:lnT>
                      <a:noFill/>
                    </a:lnT>
                    <a:lnB w="6350">
                      <a:solidFill>
                        <a:srgbClr val="DCE3EB"/>
                      </a:solidFill>
                    </a:lnB>
                    <a:solidFill>
                      <a:srgbClr val="F4F7FA"/>
                    </a:solidFill>
                  </a:tcPr>
                </a:tc>
              </a:tr>
              <a:tr h="418932">
                <a:tc>
                  <a:txBody>
                    <a:bodyPr wrap="square" rtlCol="0" anchor="ctr"/>
                    <a:lstStyle/>
                    <a:p>
                      <a:pPr algn="l">
                        <a:lnSpc>
                          <a:spcPct val="125000"/>
                        </a:lnSpc>
                      </a:pPr>
                      <a:r>
                        <a:rPr lang="en-US" sz="800" noProof="1" b="1">
                          <a:solidFill>
                            <a:srgbClr val="1A2433"/>
                          </a:solidFill>
                          <a:latin typeface="Liter"/>
                          <a:ea typeface="Liter"/>
                        </a:rPr>
                        <a:t>C6 · Anyone who can write into a ticket can lean on the answer</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Check Point broke Jev in 25 of 27 runs (Independent); keep untrusted text away from questions that gate actions.</a:t>
                      </a:r>
                    </a:p>
                  </a:txBody>
                  <a:tcPr marL="91440" marR="91440" marT="45720" marB="45720" anchor="ctr">
                    <a:lnL>
                      <a:noFill/>
                    </a:lnL>
                    <a:lnR>
                      <a:noFill/>
                    </a:lnR>
                    <a:lnT>
                      <a:noFill/>
                    </a:lnT>
                    <a:lnB w="6350">
                      <a:solidFill>
                        <a:srgbClr val="DCE3EB"/>
                      </a:solidFill>
                    </a:lnB>
                    <a:solidFill>
                      <a:srgbClr val="FFFFFF"/>
                    </a:solidFill>
                  </a:tcPr>
                </a:tc>
              </a:tr>
              <a:tr h="418932">
                <a:tc>
                  <a:txBody>
                    <a:bodyPr wrap="square" rtlCol="0" anchor="ctr"/>
                    <a:lstStyle/>
                    <a:p>
                      <a:pPr algn="l">
                        <a:lnSpc>
                          <a:spcPct val="125000"/>
                        </a:lnSpc>
                      </a:pPr>
                      <a:r>
                        <a:rPr lang="en-US" sz="800" noProof="1" b="1">
                          <a:solidFill>
                            <a:srgbClr val="1A2433"/>
                          </a:solidFill>
                          <a:latin typeface="Liter"/>
                          <a:ea typeface="Liter"/>
                        </a:rPr>
                        <a:t>C7 · The gate is only as good as what it checks and how it fails</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Blast radius and customer impact are asked but not checked; executors still need locks, approvals and tested rollback.</a:t>
                      </a:r>
                    </a:p>
                  </a:txBody>
                  <a:tcPr marL="91440" marR="91440" marT="45720" marB="45720" anchor="ctr">
                    <a:lnL>
                      <a:noFill/>
                    </a:lnL>
                    <a:lnR>
                      <a:noFill/>
                    </a:lnR>
                    <a:lnT>
                      <a:noFill/>
                    </a:lnT>
                    <a:lnB w="6350">
                      <a:solidFill>
                        <a:srgbClr val="DCE3EB"/>
                      </a:solidFill>
                    </a:lnB>
                    <a:solidFill>
                      <a:srgbClr val="F4F7FA"/>
                    </a:solidFill>
                  </a:tcPr>
                </a:tc>
              </a:tr>
              <a:tr h="418932">
                <a:tc>
                  <a:txBody>
                    <a:bodyPr wrap="square" rtlCol="0" anchor="ctr"/>
                    <a:lstStyle/>
                    <a:p>
                      <a:pPr algn="l">
                        <a:lnSpc>
                          <a:spcPct val="125000"/>
                        </a:lnSpc>
                      </a:pPr>
                      <a:r>
                        <a:rPr lang="en-US" sz="800" noProof="1" b="1">
                          <a:solidFill>
                            <a:srgbClr val="1A2433"/>
                          </a:solidFill>
                          <a:latin typeface="Liter"/>
                          <a:ea typeface="Liter"/>
                        </a:rPr>
                        <a:t>C8 · The vendor is weeks old, in one US region, and the model moves under an alias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Early access since 15 September 2026, one US region; pin versions; DPA and redaction before real tickets.</a:t>
                      </a:r>
                    </a:p>
                  </a:txBody>
                  <a:tcPr marL="91440" marR="91440" marT="45720" marB="45720" anchor="ctr">
                    <a:lnL>
                      <a:noFill/>
                    </a:lnL>
                    <a:lnR>
                      <a:noFill/>
                    </a:lnR>
                    <a:lnT>
                      <a:noFill/>
                    </a:lnT>
                    <a:lnB w="6350">
                      <a:solidFill>
                        <a:srgbClr val="DCE3EB"/>
                      </a:solidFill>
                    </a:lnB>
                    <a:solidFill>
                      <a:srgbClr val="FFFFFF"/>
                    </a:solidFill>
                  </a:tcPr>
                </a:tc>
              </a:tr>
              <a:tr h="418932">
                <a:tc>
                  <a:txBody>
                    <a:bodyPr wrap="square" rtlCol="0" anchor="ctr"/>
                    <a:lstStyle/>
                    <a:p>
                      <a:pPr algn="l">
                        <a:lnSpc>
                          <a:spcPct val="125000"/>
                        </a:lnSpc>
                      </a:pPr>
                      <a:r>
                        <a:rPr lang="en-US" sz="800" noProof="1" b="1">
                          <a:solidFill>
                            <a:srgbClr val="1A2433"/>
                          </a:solidFill>
                          <a:latin typeface="Liter"/>
                          <a:ea typeface="Liter"/>
                        </a:rPr>
                        <a:t>C9 · The API call is the easy part of the integration</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IntegrationHub or MID Server, hidden fields, fallback to rules on timeout; latency inside ServiceNow is unknown.</a:t>
                      </a:r>
                    </a:p>
                  </a:txBody>
                  <a:tcPr marL="91440" marR="91440" marT="45720" marB="45720" anchor="ctr">
                    <a:lnL>
                      <a:noFill/>
                    </a:lnL>
                    <a:lnR>
                      <a:noFill/>
                    </a:lnR>
                    <a:lnT>
                      <a:noFill/>
                    </a:lnT>
                    <a:lnB w="6350">
                      <a:solidFill>
                        <a:srgbClr val="DCE3EB"/>
                      </a:solidFill>
                    </a:lnB>
                    <a:solidFill>
                      <a:srgbClr val="F4F7FA"/>
                    </a:solidFill>
                  </a:tcPr>
                </a:tc>
              </a:tr>
              <a:tr h="418932">
                <a:tc>
                  <a:txBody>
                    <a:bodyPr wrap="square" rtlCol="0" anchor="ctr"/>
                    <a:lstStyle/>
                    <a:p>
                      <a:pPr algn="l">
                        <a:lnSpc>
                          <a:spcPct val="125000"/>
                        </a:lnSpc>
                      </a:pPr>
                      <a:r>
                        <a:rPr lang="en-US" sz="800" noProof="1" b="1">
                          <a:solidFill>
                            <a:srgbClr val="1A2433"/>
                          </a:solidFill>
                          <a:latin typeface="Liter"/>
                          <a:ea typeface="Liter"/>
                        </a:rPr>
                        <a:t>C10 · Inference costs almost nothing; people and alternatives decide the economics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About 6 cents per 1,000 incidents; question design, labels, red-teaming and ownership cost more.</a:t>
                      </a:r>
                    </a:p>
                  </a:txBody>
                  <a:tcPr marL="91440" marR="91440" marT="45720" marB="45720" anchor="ctr">
                    <a:lnL>
                      <a:noFill/>
                    </a:lnL>
                    <a:lnR>
                      <a:noFill/>
                    </a:lnR>
                    <a:lnT>
                      <a:noFill/>
                    </a:lnT>
                    <a:lnB w="6350">
                      <a:solidFill>
                        <a:srgbClr val="DCE3EB"/>
                      </a:solidFill>
                    </a:lnB>
                    <a:solidFill>
                      <a:srgbClr val="FFFFFF"/>
                    </a:solidFill>
                  </a:tcPr>
                </a:tc>
              </a:tr>
              <a:tr h="418932">
                <a:tc>
                  <a:txBody>
                    <a:bodyPr wrap="square" rtlCol="0" anchor="ctr"/>
                    <a:lstStyle/>
                    <a:p>
                      <a:pPr algn="l">
                        <a:lnSpc>
                          <a:spcPct val="125000"/>
                        </a:lnSpc>
                      </a:pPr>
                      <a:r>
                        <a:rPr lang="en-US" sz="800" noProof="1" b="1">
                          <a:solidFill>
                            <a:srgbClr val="1A2433"/>
                          </a:solidFill>
                          <a:latin typeface="Liter"/>
                          <a:ea typeface="Liter"/>
                        </a:rPr>
                        <a:t>C11 · Regulatory duties depend on how each use is classified</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EU AI Act deployer duties apply to high-risk uses; classify each use and log enough to explain an action later.</a:t>
                      </a:r>
                    </a:p>
                  </a:txBody>
                  <a:tcPr marL="91440" marR="91440" marT="45720" marB="45720" anchor="ctr">
                    <a:lnL>
                      <a:noFill/>
                    </a:lnL>
                    <a:lnR>
                      <a:noFill/>
                    </a:lnR>
                    <a:lnT>
                      <a:noFill/>
                    </a:lnT>
                    <a:lnB w="6350">
                      <a:solidFill>
                        <a:srgbClr val="DCE3EB"/>
                      </a:solidFill>
                    </a:lnB>
                    <a:solidFill>
                      <a:srgbClr val="F4F7FA"/>
                    </a:solidFill>
                  </a:tcPr>
                </a:tc>
              </a:tr>
              <a:tr h="420944">
                <a:tc>
                  <a:txBody>
                    <a:bodyPr wrap="square" rtlCol="0" anchor="ctr"/>
                    <a:lstStyle/>
                    <a:p>
                      <a:pPr algn="l">
                        <a:lnSpc>
                          <a:spcPct val="125000"/>
                        </a:lnSpc>
                      </a:pPr>
                      <a:r>
                        <a:rPr lang="en-US" sz="800" noProof="1" b="1">
                          <a:solidFill>
                            <a:srgbClr val="1A2433"/>
                          </a:solidFill>
                          <a:latin typeface="Liter"/>
                          <a:ea typeface="Liter"/>
                        </a:rPr>
                        <a:t>C12 · Someone has to own the questions, the thresholds and on-call trust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A named owner, a change process and a re-test at each model release; on-call trust needs an assist-mode trial.</a:t>
                      </a:r>
                    </a:p>
                  </a:txBody>
                  <a:tcPr marL="91440" marR="91440" marT="45720" marB="45720" anchor="ctr">
                    <a:lnL>
                      <a:noFill/>
                    </a:lnL>
                    <a:lnR>
                      <a:noFill/>
                    </a:lnR>
                    <a:lnT>
                      <a:noFill/>
                    </a:lnT>
                    <a:lnB w="6350">
                      <a:solidFill>
                        <a:srgbClr val="DCE3EB"/>
                      </a:solidFill>
                    </a:lnB>
                    <a:solidFill>
                      <a:srgbClr val="FFFFFF"/>
                    </a:solidFill>
                  </a:tcPr>
                </a:tc>
              </a:tr>
            </a:tbl>
          </a:graphicData>
        </a:graphic>
      </p:graphicFrame>
      <p:sp>
        <p:nvSpPr>
          <p:cNvPr id="6" name="footline"/>
          <p:cNvSpPr/>
          <p:nvPr/>
        </p:nvSpPr>
        <p:spPr>
          <a:xfrm>
            <a:off x="711200" y="6477000"/>
            <a:ext cx="10769600" cy="9525"/>
          </a:xfrm>
          <a:prstGeom prst="rect">
            <a:avLst/>
          </a:prstGeom>
          <a:solidFill>
            <a:srgbClr val="DCE3EB"/>
          </a:solidFill>
          <a:ln>
            <a:noFill/>
          </a:ln>
        </p:spPr>
      </p:sp>
      <p:sp>
        <p:nvSpPr>
          <p:cNvPr id="7"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deliverables/3_open-questions-and-next-steps.md section 1 (full text, sources and labels for each consideration); results/facts.json.</a:t>
            </a:r>
            <a:endParaRPr lang="en-US" sz="750" noProof="1"/>
          </a:p>
        </p:txBody>
      </p:sp>
      <p:sp>
        <p:nvSpPr>
          <p:cNvPr id="8"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A2</a:t>
            </a:r>
            <a:endParaRPr lang="en-US" sz="800" noProof="1"/>
          </a:p>
        </p:txBody>
      </p:sp>
    </p:spTree>
  </p:cSld>
  <p:clrMapOvr>
    <a:masterClrMapping/>
  </p:clrMapOvr>
</p:sld>
</file>

<file path=ppt/slides/slide1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A3</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The twelve questions the demo asks about every incident</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graphicFrame>
        <p:nvGraphicFramePr>
          <p:cNvPr id="5" name="qset"/>
          <p:cNvGraphicFramePr>
            <a:graphicFrameLocks noGrp="1"/>
          </p:cNvGraphicFramePr>
          <p:nvPr/>
        </p:nvGraphicFramePr>
        <p:xfrm>
          <a:off x="711200" y="1244600"/>
          <a:ext cx="10769600" cy="4826000"/>
        </p:xfrm>
        <a:graphic>
          <a:graphicData uri="http://schemas.openxmlformats.org/drawingml/2006/table">
            <a:tbl>
              <a:tblPr/>
              <a:tblGrid>
                <a:gridCol w="1507744"/>
                <a:gridCol w="861568"/>
                <a:gridCol w="3230880"/>
                <a:gridCol w="3661664"/>
                <a:gridCol w="1507744"/>
              </a:tblGrid>
              <a:tr h="371602">
                <a:tc>
                  <a:txBody>
                    <a:bodyPr wrap="square" rtlCol="0" anchor="ctr"/>
                    <a:lstStyle/>
                    <a:p>
                      <a:pPr algn="l">
                        <a:lnSpc>
                          <a:spcPct val="120000"/>
                        </a:lnSpc>
                      </a:pPr>
                      <a:r>
                        <a:rPr lang="en-US" sz="750" noProof="1" b="1">
                          <a:solidFill>
                            <a:srgbClr val="FFFFFF"/>
                          </a:solidFill>
                          <a:latin typeface="Liter"/>
                          <a:ea typeface="Liter"/>
                        </a:rPr>
                        <a:t>Question</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750" noProof="1" b="1">
                          <a:solidFill>
                            <a:srgbClr val="FFFFFF"/>
                          </a:solidFill>
                          <a:latin typeface="Liter"/>
                          <a:ea typeface="Liter"/>
                        </a:rPr>
                        <a:t>Type</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750" noProof="1" b="1">
                          <a:solidFill>
                            <a:srgbClr val="FFFFFF"/>
                          </a:solidFill>
                          <a:latin typeface="Liter"/>
                          <a:ea typeface="Liter"/>
                        </a:rPr>
                        <a:t>What it asks</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750" noProof="1" b="1">
                          <a:solidFill>
                            <a:srgbClr val="FFFFFF"/>
                          </a:solidFill>
                          <a:latin typeface="Liter"/>
                          <a:ea typeface="Liter"/>
                        </a:rPr>
                        <a:t>Answers</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750" noProof="1" b="1">
                          <a:solidFill>
                            <a:srgbClr val="FFFFFF"/>
                          </a:solidFill>
                          <a:latin typeface="Liter"/>
                          <a:ea typeface="Liter"/>
                        </a:rPr>
                        <a:t>Used by gate</a:t>
                      </a:r>
                    </a:p>
                  </a:txBody>
                  <a:tcPr marL="91440" marR="91440" marT="45720" marB="45720" anchor="ctr">
                    <a:lnL>
                      <a:noFill/>
                    </a:lnL>
                    <a:lnR>
                      <a:noFill/>
                    </a:lnR>
                    <a:lnT>
                      <a:noFill/>
                    </a:lnT>
                    <a:lnB>
                      <a:noFill/>
                    </a:lnB>
                    <a:solidFill>
                      <a:srgbClr val="16365C"/>
                    </a:solidFill>
                  </a:tcPr>
                </a:tc>
              </a:tr>
              <a:tr h="371602">
                <a:tc>
                  <a:txBody>
                    <a:bodyPr wrap="square" rtlCol="0" anchor="ctr"/>
                    <a:lstStyle/>
                    <a:p>
                      <a:pPr algn="l">
                        <a:lnSpc>
                          <a:spcPct val="120000"/>
                        </a:lnSpc>
                      </a:pPr>
                      <a:r>
                        <a:rPr lang="en-US" sz="750" noProof="1">
                          <a:solidFill>
                            <a:srgbClr val="1A2433"/>
                          </a:solidFill>
                          <a:latin typeface="Liter"/>
                          <a:ea typeface="Liter"/>
                        </a:rPr>
                        <a:t>real_incident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Yes/no</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Is this a real service-impacting incident rather than a monitoring fluke or planned maintenance?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probability 0–1</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yes</a:t>
                      </a:r>
                    </a:p>
                  </a:txBody>
                  <a:tcPr marL="91440" marR="91440" marT="45720" marB="45720" anchor="ctr">
                    <a:lnL>
                      <a:noFill/>
                    </a:lnL>
                    <a:lnR>
                      <a:noFill/>
                    </a:lnR>
                    <a:lnT>
                      <a:noFill/>
                    </a:lnT>
                    <a:lnB w="6350">
                      <a:solidFill>
                        <a:srgbClr val="DCE3EB"/>
                      </a:solidFill>
                    </a:lnB>
                    <a:solidFill>
                      <a:srgbClr val="FFFFFF"/>
                    </a:solidFill>
                  </a:tcPr>
                </a:tc>
              </a:tr>
              <a:tr h="371602">
                <a:tc>
                  <a:txBody>
                    <a:bodyPr wrap="square" rtlCol="0" anchor="ctr"/>
                    <a:lstStyle/>
                    <a:p>
                      <a:pPr algn="l">
                        <a:lnSpc>
                          <a:spcPct val="120000"/>
                        </a:lnSpc>
                      </a:pPr>
                      <a:r>
                        <a:rPr lang="en-US" sz="750" noProof="1">
                          <a:solidFill>
                            <a:srgbClr val="1A2433"/>
                          </a:solidFill>
                          <a:latin typeface="Liter"/>
                          <a:ea typeface="Liter"/>
                        </a:rPr>
                        <a:t>failure_category</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Pick one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Which failure category best explains the observed signals?</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app · config · capacity · network · security · storage · other</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no</a:t>
                      </a:r>
                    </a:p>
                  </a:txBody>
                  <a:tcPr marL="91440" marR="91440" marT="45720" marB="45720" anchor="ctr">
                    <a:lnL>
                      <a:noFill/>
                    </a:lnL>
                    <a:lnR>
                      <a:noFill/>
                    </a:lnR>
                    <a:lnT>
                      <a:noFill/>
                    </a:lnT>
                    <a:lnB w="6350">
                      <a:solidFill>
                        <a:srgbClr val="DCE3EB"/>
                      </a:solidFill>
                    </a:lnB>
                    <a:solidFill>
                      <a:srgbClr val="F4F7FA"/>
                    </a:solidFill>
                  </a:tcPr>
                </a:tc>
              </a:tr>
              <a:tr h="371602">
                <a:tc>
                  <a:txBody>
                    <a:bodyPr wrap="square" rtlCol="0" anchor="ctr"/>
                    <a:lstStyle/>
                    <a:p>
                      <a:pPr algn="l">
                        <a:lnSpc>
                          <a:spcPct val="120000"/>
                        </a:lnSpc>
                      </a:pPr>
                      <a:r>
                        <a:rPr lang="en-US" sz="750" noProof="1">
                          <a:solidFill>
                            <a:srgbClr val="1A2433"/>
                          </a:solidFill>
                          <a:latin typeface="Liter"/>
                          <a:ea typeface="Liter"/>
                        </a:rPr>
                        <a:t>suspect_component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Pick one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Which component is most likely the origin of the fault?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checkout-api · payment-svc · auth-svc · cart-svc · search-svc · db-primary · redis-cache · ingress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no</a:t>
                      </a:r>
                    </a:p>
                  </a:txBody>
                  <a:tcPr marL="91440" marR="91440" marT="45720" marB="45720" anchor="ctr">
                    <a:lnL>
                      <a:noFill/>
                    </a:lnL>
                    <a:lnR>
                      <a:noFill/>
                    </a:lnR>
                    <a:lnT>
                      <a:noFill/>
                    </a:lnT>
                    <a:lnB w="6350">
                      <a:solidFill>
                        <a:srgbClr val="DCE3EB"/>
                      </a:solidFill>
                    </a:lnB>
                    <a:solidFill>
                      <a:srgbClr val="FFFFFF"/>
                    </a:solidFill>
                  </a:tcPr>
                </a:tc>
              </a:tr>
              <a:tr h="371602">
                <a:tc>
                  <a:txBody>
                    <a:bodyPr wrap="square" rtlCol="0" anchor="ctr"/>
                    <a:lstStyle/>
                    <a:p>
                      <a:pPr algn="l">
                        <a:lnSpc>
                          <a:spcPct val="120000"/>
                        </a:lnSpc>
                      </a:pPr>
                      <a:r>
                        <a:rPr lang="en-US" sz="750" noProof="1">
                          <a:solidFill>
                            <a:srgbClr val="1A2433"/>
                          </a:solidFill>
                          <a:latin typeface="Liter"/>
                          <a:ea typeface="Liter"/>
                        </a:rPr>
                        <a:t>root_cause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Pick one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What is the most likely root cause?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bad_deploy · config_error · resource_exhaustion · network_partition · dns_failure · dependency_outage · certificate_expiry · traffic_spike · data_corruption · security_incident · other</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no</a:t>
                      </a:r>
                    </a:p>
                  </a:txBody>
                  <a:tcPr marL="91440" marR="91440" marT="45720" marB="45720" anchor="ctr">
                    <a:lnL>
                      <a:noFill/>
                    </a:lnL>
                    <a:lnR>
                      <a:noFill/>
                    </a:lnR>
                    <a:lnT>
                      <a:noFill/>
                    </a:lnT>
                    <a:lnB w="6350">
                      <a:solidFill>
                        <a:srgbClr val="DCE3EB"/>
                      </a:solidFill>
                    </a:lnB>
                    <a:solidFill>
                      <a:srgbClr val="F4F7FA"/>
                    </a:solidFill>
                  </a:tcPr>
                </a:tc>
              </a:tr>
              <a:tr h="371602">
                <a:tc>
                  <a:txBody>
                    <a:bodyPr wrap="square" rtlCol="0" anchor="ctr"/>
                    <a:lstStyle/>
                    <a:p>
                      <a:pPr algn="l">
                        <a:lnSpc>
                          <a:spcPct val="120000"/>
                        </a:lnSpc>
                      </a:pPr>
                      <a:r>
                        <a:rPr lang="en-US" sz="750" noProof="1">
                          <a:solidFill>
                            <a:srgbClr val="1A2433"/>
                          </a:solidFill>
                          <a:latin typeface="Liter"/>
                          <a:ea typeface="Liter"/>
                        </a:rPr>
                        <a:t>deploy_correlated</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Yes/no</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Does the timeline suggest a recent change or deploy caused this?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probability 0–1</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rollback only</a:t>
                      </a:r>
                    </a:p>
                  </a:txBody>
                  <a:tcPr marL="91440" marR="91440" marT="45720" marB="45720" anchor="ctr">
                    <a:lnL>
                      <a:noFill/>
                    </a:lnL>
                    <a:lnR>
                      <a:noFill/>
                    </a:lnR>
                    <a:lnT>
                      <a:noFill/>
                    </a:lnT>
                    <a:lnB w="6350">
                      <a:solidFill>
                        <a:srgbClr val="DCE3EB"/>
                      </a:solidFill>
                    </a:lnB>
                    <a:solidFill>
                      <a:srgbClr val="FFFFFF"/>
                    </a:solidFill>
                  </a:tcPr>
                </a:tc>
              </a:tr>
              <a:tr h="371602">
                <a:tc>
                  <a:txBody>
                    <a:bodyPr wrap="square" rtlCol="0" anchor="ctr"/>
                    <a:lstStyle/>
                    <a:p>
                      <a:pPr algn="l">
                        <a:lnSpc>
                          <a:spcPct val="120000"/>
                        </a:lnSpc>
                      </a:pPr>
                      <a:r>
                        <a:rPr lang="en-US" sz="750" noProof="1">
                          <a:solidFill>
                            <a:srgbClr val="1A2433"/>
                          </a:solidFill>
                          <a:latin typeface="Liter"/>
                          <a:ea typeface="Liter"/>
                        </a:rPr>
                        <a:t>severity</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Scale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How severe is the customer impact?</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0–3 — SEV4 cosmetic to SEV1 critical outage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yes</a:t>
                      </a:r>
                    </a:p>
                  </a:txBody>
                  <a:tcPr marL="91440" marR="91440" marT="45720" marB="45720" anchor="ctr">
                    <a:lnL>
                      <a:noFill/>
                    </a:lnL>
                    <a:lnR>
                      <a:noFill/>
                    </a:lnR>
                    <a:lnT>
                      <a:noFill/>
                    </a:lnT>
                    <a:lnB w="6350">
                      <a:solidFill>
                        <a:srgbClr val="DCE3EB"/>
                      </a:solidFill>
                    </a:lnB>
                    <a:solidFill>
                      <a:srgbClr val="F4F7FA"/>
                    </a:solidFill>
                  </a:tcPr>
                </a:tc>
              </a:tr>
              <a:tr h="371602">
                <a:tc>
                  <a:txBody>
                    <a:bodyPr wrap="square" rtlCol="0" anchor="ctr"/>
                    <a:lstStyle/>
                    <a:p>
                      <a:pPr algn="l">
                        <a:lnSpc>
                          <a:spcPct val="120000"/>
                        </a:lnSpc>
                      </a:pPr>
                      <a:r>
                        <a:rPr lang="en-US" sz="750" noProof="1">
                          <a:solidFill>
                            <a:srgbClr val="1A2433"/>
                          </a:solidFill>
                          <a:latin typeface="Liter"/>
                          <a:ea typeface="Liter"/>
                        </a:rPr>
                        <a:t>blast_radius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Scale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How wide is the affected blast radius?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0–3 — single pod to region-wide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no</a:t>
                      </a:r>
                    </a:p>
                  </a:txBody>
                  <a:tcPr marL="91440" marR="91440" marT="45720" marB="45720" anchor="ctr">
                    <a:lnL>
                      <a:noFill/>
                    </a:lnL>
                    <a:lnR>
                      <a:noFill/>
                    </a:lnR>
                    <a:lnT>
                      <a:noFill/>
                    </a:lnT>
                    <a:lnB w="6350">
                      <a:solidFill>
                        <a:srgbClr val="DCE3EB"/>
                      </a:solidFill>
                    </a:lnB>
                    <a:solidFill>
                      <a:srgbClr val="FFFFFF"/>
                    </a:solidFill>
                  </a:tcPr>
                </a:tc>
              </a:tr>
              <a:tr h="371602">
                <a:tc>
                  <a:txBody>
                    <a:bodyPr wrap="square" rtlCol="0" anchor="ctr"/>
                    <a:lstStyle/>
                    <a:p>
                      <a:pPr algn="l">
                        <a:lnSpc>
                          <a:spcPct val="120000"/>
                        </a:lnSpc>
                      </a:pPr>
                      <a:r>
                        <a:rPr lang="en-US" sz="750" noProof="1">
                          <a:solidFill>
                            <a:srgbClr val="1A2433"/>
                          </a:solidFill>
                          <a:latin typeface="Liter"/>
                          <a:ea typeface="Liter"/>
                        </a:rPr>
                        <a:t>customer_impact</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Yes/no</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Are end customers actually experiencing an impairment right now?</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probability 0–1</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no</a:t>
                      </a:r>
                    </a:p>
                  </a:txBody>
                  <a:tcPr marL="91440" marR="91440" marT="45720" marB="45720" anchor="ctr">
                    <a:lnL>
                      <a:noFill/>
                    </a:lnL>
                    <a:lnR>
                      <a:noFill/>
                    </a:lnR>
                    <a:lnT>
                      <a:noFill/>
                    </a:lnT>
                    <a:lnB w="6350">
                      <a:solidFill>
                        <a:srgbClr val="DCE3EB"/>
                      </a:solidFill>
                    </a:lnB>
                    <a:solidFill>
                      <a:srgbClr val="F4F7FA"/>
                    </a:solidFill>
                  </a:tcPr>
                </a:tc>
              </a:tr>
              <a:tr h="371602">
                <a:tc>
                  <a:txBody>
                    <a:bodyPr wrap="square" rtlCol="0" anchor="ctr"/>
                    <a:lstStyle/>
                    <a:p>
                      <a:pPr algn="l">
                        <a:lnSpc>
                          <a:spcPct val="120000"/>
                        </a:lnSpc>
                      </a:pPr>
                      <a:r>
                        <a:rPr lang="en-US" sz="750" noProof="1">
                          <a:solidFill>
                            <a:srgbClr val="1A2433"/>
                          </a:solidFill>
                          <a:latin typeface="Liter"/>
                          <a:ea typeface="Liter"/>
                        </a:rPr>
                        <a:t>safe_to_autorollback</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Yes/no</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If a recent change is responsible, is an automated rollback safe (reversible, no data migration in flight)?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probability 0–1</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rollback only</a:t>
                      </a:r>
                    </a:p>
                  </a:txBody>
                  <a:tcPr marL="91440" marR="91440" marT="45720" marB="45720" anchor="ctr">
                    <a:lnL>
                      <a:noFill/>
                    </a:lnL>
                    <a:lnR>
                      <a:noFill/>
                    </a:lnR>
                    <a:lnT>
                      <a:noFill/>
                    </a:lnT>
                    <a:lnB w="6350">
                      <a:solidFill>
                        <a:srgbClr val="DCE3EB"/>
                      </a:solidFill>
                    </a:lnB>
                    <a:solidFill>
                      <a:srgbClr val="FFFFFF"/>
                    </a:solidFill>
                  </a:tcPr>
                </a:tc>
              </a:tr>
              <a:tr h="371602">
                <a:tc>
                  <a:txBody>
                    <a:bodyPr wrap="square" rtlCol="0" anchor="ctr"/>
                    <a:lstStyle/>
                    <a:p>
                      <a:pPr algn="l">
                        <a:lnSpc>
                          <a:spcPct val="120000"/>
                        </a:lnSpc>
                      </a:pPr>
                      <a:r>
                        <a:rPr lang="en-US" sz="750" noProof="1">
                          <a:solidFill>
                            <a:srgbClr val="1A2433"/>
                          </a:solidFill>
                          <a:latin typeface="Liter"/>
                          <a:ea typeface="Liter"/>
                        </a:rPr>
                        <a:t>proposed_action</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Pick one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Which single remediation action should be taken first?</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rollback (listed first) · patch_config · restart · scale_up · failover · drain · observe · escalate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yes, with its confidence</a:t>
                      </a:r>
                    </a:p>
                  </a:txBody>
                  <a:tcPr marL="91440" marR="91440" marT="45720" marB="45720" anchor="ctr">
                    <a:lnL>
                      <a:noFill/>
                    </a:lnL>
                    <a:lnR>
                      <a:noFill/>
                    </a:lnR>
                    <a:lnT>
                      <a:noFill/>
                    </a:lnT>
                    <a:lnB w="6350">
                      <a:solidFill>
                        <a:srgbClr val="DCE3EB"/>
                      </a:solidFill>
                    </a:lnB>
                    <a:solidFill>
                      <a:srgbClr val="F4F7FA"/>
                    </a:solidFill>
                  </a:tcPr>
                </a:tc>
              </a:tr>
              <a:tr h="371602">
                <a:tc>
                  <a:txBody>
                    <a:bodyPr wrap="square" rtlCol="0" anchor="ctr"/>
                    <a:lstStyle/>
                    <a:p>
                      <a:pPr algn="l">
                        <a:lnSpc>
                          <a:spcPct val="120000"/>
                        </a:lnSpc>
                      </a:pPr>
                      <a:r>
                        <a:rPr lang="en-US" sz="750" noProof="1">
                          <a:solidFill>
                            <a:srgbClr val="1A2433"/>
                          </a:solidFill>
                          <a:latin typeface="Liter"/>
                          <a:ea typeface="Liter"/>
                        </a:rPr>
                        <a:t>action_risk</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Scale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How risky is the proposed remediation action itself?</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0–2 — low (reversible, single service, no data loss) to high (irreversible or wide blast radius)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750" noProof="1">
                          <a:solidFill>
                            <a:srgbClr val="1A2433"/>
                          </a:solidFill>
                          <a:latin typeface="Liter"/>
                          <a:ea typeface="Liter"/>
                        </a:rPr>
                        <a:t>yes</a:t>
                      </a:r>
                    </a:p>
                  </a:txBody>
                  <a:tcPr marL="91440" marR="91440" marT="45720" marB="45720" anchor="ctr">
                    <a:lnL>
                      <a:noFill/>
                    </a:lnL>
                    <a:lnR>
                      <a:noFill/>
                    </a:lnR>
                    <a:lnT>
                      <a:noFill/>
                    </a:lnT>
                    <a:lnB w="6350">
                      <a:solidFill>
                        <a:srgbClr val="DCE3EB"/>
                      </a:solidFill>
                    </a:lnB>
                    <a:solidFill>
                      <a:srgbClr val="FFFFFF"/>
                    </a:solidFill>
                  </a:tcPr>
                </a:tc>
              </a:tr>
              <a:tr h="366776">
                <a:tc>
                  <a:txBody>
                    <a:bodyPr wrap="square" rtlCol="0" anchor="ctr"/>
                    <a:lstStyle/>
                    <a:p>
                      <a:pPr algn="l">
                        <a:lnSpc>
                          <a:spcPct val="120000"/>
                        </a:lnSpc>
                      </a:pPr>
                      <a:r>
                        <a:rPr lang="en-US" sz="750" noProof="1">
                          <a:solidFill>
                            <a:srgbClr val="1A2433"/>
                          </a:solidFill>
                          <a:latin typeface="Liter"/>
                          <a:ea typeface="Liter"/>
                        </a:rPr>
                        <a:t>needs_page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Yes/no</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Should a human be paged immediately, independent of any automated action?</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probability 0–1</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750" noProof="1">
                          <a:solidFill>
                            <a:srgbClr val="1A2433"/>
                          </a:solidFill>
                          <a:latin typeface="Liter"/>
                          <a:ea typeface="Liter"/>
                        </a:rPr>
                        <a:t>yes</a:t>
                      </a:r>
                    </a:p>
                  </a:txBody>
                  <a:tcPr marL="91440" marR="91440" marT="45720" marB="45720" anchor="ctr">
                    <a:lnL>
                      <a:noFill/>
                    </a:lnL>
                    <a:lnR>
                      <a:noFill/>
                    </a:lnR>
                    <a:lnT>
                      <a:noFill/>
                    </a:lnT>
                    <a:lnB w="6350">
                      <a:solidFill>
                        <a:srgbClr val="DCE3EB"/>
                      </a:solidFill>
                    </a:lnB>
                    <a:solidFill>
                      <a:srgbClr val="F4F7FA"/>
                    </a:solidFill>
                  </a:tcPr>
                </a:tc>
              </a:tr>
            </a:tbl>
          </a:graphicData>
        </a:graphic>
      </p:graphicFrame>
      <p:sp>
        <p:nvSpPr>
          <p:cNvPr id="6" name="note"/>
          <p:cNvSpPr txBox="1"/>
          <p:nvPr/>
        </p:nvSpPr>
        <p:spPr>
          <a:xfrm>
            <a:off x="711200" y="6172200"/>
            <a:ext cx="10769600" cy="177800"/>
          </a:xfrm>
          <a:prstGeom prst="rect">
            <a:avLst/>
          </a:prstGeom>
          <a:noFill/>
          <a:ln>
            <a:noFill/>
          </a:ln>
        </p:spPr>
        <p:txBody>
          <a:bodyPr lIns="0" rIns="0" tIns="0" bIns="0" wrap="none" rtlCol="0"/>
          <a:lstStyle/>
          <a:p>
            <a:pPr>
              <a:lnSpc>
                <a:spcPct val="120000"/>
              </a:lnSpc>
            </a:pPr>
            <a:r>
              <a:rPr lang="en-US" sz="900" noProof="1">
                <a:solidFill>
                  <a:srgbClr val="5B6472"/>
                </a:solidFill>
                <a:latin typeface="Liter"/>
                <a:ea typeface="Liter"/>
              </a:rPr>
              <a:t>The same questions go to every model, which is what makes the results comparable.</a:t>
            </a:r>
            <a:endParaRPr lang="en-US" sz="900" noProof="1"/>
          </a:p>
        </p:txBody>
      </p:sp>
      <p:sp>
        <p:nvSpPr>
          <p:cNvPr id="7"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zeroops/schema.py incident_questions(); zeroops/policy.py GATING_QUESTIONS.</a:t>
            </a:r>
            <a:endParaRPr lang="en-US" sz="750" noProof="1"/>
          </a:p>
        </p:txBody>
      </p:sp>
      <p:sp>
        <p:nvSpPr>
          <p:cNvPr id="8"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A3</a:t>
            </a:r>
            <a:endParaRPr lang="en-US" sz="800" noProof="1"/>
          </a:p>
        </p:txBody>
      </p:sp>
    </p:spTree>
  </p:cSld>
  <p:clrMapOvr>
    <a:masterClrMapping/>
  </p:clrMapOvr>
</p:sld>
</file>

<file path=ppt/slides/slide1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A4</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The gate is ordinary Python read top to bottom — Jev's own "escalate" answer decided 12 of the 26 escalations</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graphicFrame>
        <p:nvGraphicFramePr>
          <p:cNvPr id="5" name="gate"/>
          <p:cNvGraphicFramePr>
            <a:graphicFrameLocks noGrp="1"/>
          </p:cNvGraphicFramePr>
          <p:nvPr/>
        </p:nvGraphicFramePr>
        <p:xfrm>
          <a:off x="711200" y="1270000"/>
          <a:ext cx="6604000" cy="4318000"/>
        </p:xfrm>
        <a:graphic>
          <a:graphicData uri="http://schemas.openxmlformats.org/drawingml/2006/table">
            <a:tbl>
              <a:tblPr/>
              <a:tblGrid>
                <a:gridCol w="462280"/>
                <a:gridCol w="3103880"/>
                <a:gridCol w="1320800"/>
                <a:gridCol w="924560"/>
                <a:gridCol w="792480"/>
              </a:tblGrid>
              <a:tr h="431800">
                <a:tc>
                  <a:txBody>
                    <a:bodyPr wrap="square" rtlCol="0" anchor="ctr"/>
                    <a:lstStyle/>
                    <a:p>
                      <a:pPr algn="l">
                        <a:lnSpc>
                          <a:spcPct val="125000"/>
                        </a:lnSpc>
                      </a:pPr>
                      <a:r>
                        <a:rPr lang="en-US" sz="800" noProof="1" b="1">
                          <a:solidFill>
                            <a:srgbClr val="FFFFFF"/>
                          </a:solidFill>
                          <a:latin typeface="Liter"/>
                          <a:ea typeface="Liter"/>
                        </a:rPr>
                        <a:t>#</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00" noProof="1" b="1">
                          <a:solidFill>
                            <a:srgbClr val="FFFFFF"/>
                          </a:solidFill>
                          <a:latin typeface="Liter"/>
                          <a:ea typeface="Liter"/>
                        </a:rPr>
                        <a:t>Check, in order (first failure decides)</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00" noProof="1" b="1">
                          <a:solidFill>
                            <a:srgbClr val="FFFFFF"/>
                          </a:solidFill>
                          <a:latin typeface="Liter"/>
                          <a:ea typeface="Liter"/>
                        </a:rPr>
                        <a:t>Limit</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00" noProof="1" b="1">
                          <a:solidFill>
                            <a:srgbClr val="FFFFFF"/>
                          </a:solidFill>
                          <a:latin typeface="Liter"/>
                          <a:ea typeface="Liter"/>
                        </a:rPr>
                        <a:t>If it fails</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00" noProof="1" b="1">
                          <a:solidFill>
                            <a:srgbClr val="FFFFFF"/>
                          </a:solidFill>
                          <a:latin typeface="Liter"/>
                          <a:ea typeface="Liter"/>
                        </a:rPr>
                        <a:t>Decided (of 26)</a:t>
                      </a:r>
                    </a:p>
                  </a:txBody>
                  <a:tcPr marL="91440" marR="91440" marT="45720" marB="45720" anchor="ctr">
                    <a:lnL>
                      <a:noFill/>
                    </a:lnL>
                    <a:lnR>
                      <a:noFill/>
                    </a:lnR>
                    <a:lnT>
                      <a:noFill/>
                    </a:lnT>
                    <a:lnB>
                      <a:noFill/>
                    </a:lnB>
                    <a:solidFill>
                      <a:srgbClr val="16365C"/>
                    </a:solidFill>
                  </a:tcPr>
                </a:tc>
              </a:tr>
              <a:tr h="431800">
                <a:tc>
                  <a:txBody>
                    <a:bodyPr wrap="square" rtlCol="0" anchor="ctr"/>
                    <a:lstStyle/>
                    <a:p>
                      <a:pPr algn="l">
                        <a:lnSpc>
                          <a:spcPct val="125000"/>
                        </a:lnSpc>
                      </a:pPr>
                      <a:r>
                        <a:rPr lang="en-US" sz="800" noProof="1">
                          <a:solidFill>
                            <a:srgbClr val="1A2433"/>
                          </a:solidFill>
                          <a:latin typeface="Liter"/>
                          <a:ea typeface="Liter"/>
                        </a:rPr>
                        <a:t>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An answer the gate reads is missing or malformed</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Escalate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0</a:t>
                      </a:r>
                    </a:p>
                  </a:txBody>
                  <a:tcPr marL="91440" marR="91440" marT="45720" marB="45720" anchor="ctr">
                    <a:lnL>
                      <a:noFill/>
                    </a:lnL>
                    <a:lnR>
                      <a:noFill/>
                    </a:lnR>
                    <a:lnT>
                      <a:noFill/>
                    </a:lnT>
                    <a:lnB w="6350">
                      <a:solidFill>
                        <a:srgbClr val="DCE3EB"/>
                      </a:solidFill>
                    </a:lnB>
                    <a:solidFill>
                      <a:srgbClr val="FFFFFF"/>
                    </a:solidFill>
                  </a:tcPr>
                </a:tc>
              </a:tr>
              <a:tr h="431800">
                <a:tc>
                  <a:txBody>
                    <a:bodyPr wrap="square" rtlCol="0" anchor="ctr"/>
                    <a:lstStyle/>
                    <a:p>
                      <a:pPr algn="l">
                        <a:lnSpc>
                          <a:spcPct val="125000"/>
                        </a:lnSpc>
                      </a:pPr>
                      <a:r>
                        <a:rPr lang="en-US" sz="800" noProof="1">
                          <a:solidFill>
                            <a:srgbClr val="1A2433"/>
                          </a:solidFill>
                          <a:latin typeface="Liter"/>
                          <a:ea typeface="Liter"/>
                        </a:rPr>
                        <a:t>1</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Jev proposes "escalate"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Escalate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12</a:t>
                      </a:r>
                    </a:p>
                  </a:txBody>
                  <a:tcPr marL="91440" marR="91440" marT="45720" marB="45720" anchor="ctr">
                    <a:lnL>
                      <a:noFill/>
                    </a:lnL>
                    <a:lnR>
                      <a:noFill/>
                    </a:lnR>
                    <a:lnT>
                      <a:noFill/>
                    </a:lnT>
                    <a:lnB w="6350">
                      <a:solidFill>
                        <a:srgbClr val="DCE3EB"/>
                      </a:solidFill>
                    </a:lnB>
                    <a:solidFill>
                      <a:srgbClr val="F4F7FA"/>
                    </a:solidFill>
                  </a:tcPr>
                </a:tc>
              </a:tr>
              <a:tr h="431800">
                <a:tc>
                  <a:txBody>
                    <a:bodyPr wrap="square" rtlCol="0" anchor="ctr"/>
                    <a:lstStyle/>
                    <a:p>
                      <a:pPr algn="l">
                        <a:lnSpc>
                          <a:spcPct val="125000"/>
                        </a:lnSpc>
                      </a:pPr>
                      <a:r>
                        <a:rPr lang="en-US" sz="800" noProof="1">
                          <a:solidFill>
                            <a:srgbClr val="1A2433"/>
                          </a:solidFill>
                          <a:latin typeface="Liter"/>
                          <a:ea typeface="Liter"/>
                        </a:rPr>
                        <a:t>2</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Page a human</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below 0.90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Escalate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4</a:t>
                      </a:r>
                    </a:p>
                  </a:txBody>
                  <a:tcPr marL="91440" marR="91440" marT="45720" marB="45720" anchor="ctr">
                    <a:lnL>
                      <a:noFill/>
                    </a:lnL>
                    <a:lnR>
                      <a:noFill/>
                    </a:lnR>
                    <a:lnT>
                      <a:noFill/>
                    </a:lnT>
                    <a:lnB w="6350">
                      <a:solidFill>
                        <a:srgbClr val="DCE3EB"/>
                      </a:solidFill>
                    </a:lnB>
                    <a:solidFill>
                      <a:srgbClr val="FFFFFF"/>
                    </a:solidFill>
                  </a:tcPr>
                </a:tc>
              </a:tr>
              <a:tr h="431800">
                <a:tc>
                  <a:txBody>
                    <a:bodyPr wrap="square" rtlCol="0" anchor="ctr"/>
                    <a:lstStyle/>
                    <a:p>
                      <a:pPr algn="l">
                        <a:lnSpc>
                          <a:spcPct val="125000"/>
                        </a:lnSpc>
                      </a:pPr>
                      <a:r>
                        <a:rPr lang="en-US" sz="800" noProof="1">
                          <a:solidFill>
                            <a:srgbClr val="1A2433"/>
                          </a:solidFill>
                          <a:latin typeface="Liter"/>
                          <a:ea typeface="Liter"/>
                        </a:rPr>
                        <a:t>3</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Real incident</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at least 0.50</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Log only (OBSERVE)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8 logged, all non-incidents</a:t>
                      </a:r>
                    </a:p>
                  </a:txBody>
                  <a:tcPr marL="91440" marR="91440" marT="45720" marB="45720" anchor="ctr">
                    <a:lnL>
                      <a:noFill/>
                    </a:lnL>
                    <a:lnR>
                      <a:noFill/>
                    </a:lnR>
                    <a:lnT>
                      <a:noFill/>
                    </a:lnT>
                    <a:lnB w="6350">
                      <a:solidFill>
                        <a:srgbClr val="DCE3EB"/>
                      </a:solidFill>
                    </a:lnB>
                    <a:solidFill>
                      <a:srgbClr val="F4F7FA"/>
                    </a:solidFill>
                  </a:tcPr>
                </a:tc>
              </a:tr>
              <a:tr h="431800">
                <a:tc>
                  <a:txBody>
                    <a:bodyPr wrap="square" rtlCol="0" anchor="ctr"/>
                    <a:lstStyle/>
                    <a:p>
                      <a:pPr algn="l">
                        <a:lnSpc>
                          <a:spcPct val="125000"/>
                        </a:lnSpc>
                      </a:pPr>
                      <a:r>
                        <a:rPr lang="en-US" sz="800" noProof="1">
                          <a:solidFill>
                            <a:srgbClr val="1A2433"/>
                          </a:solidFill>
                          <a:latin typeface="Liter"/>
                          <a:ea typeface="Liter"/>
                        </a:rPr>
                        <a:t>4</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Action is rollback, patch_config, restart or scale_up</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in list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Escalate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0</a:t>
                      </a:r>
                    </a:p>
                  </a:txBody>
                  <a:tcPr marL="91440" marR="91440" marT="45720" marB="45720" anchor="ctr">
                    <a:lnL>
                      <a:noFill/>
                    </a:lnL>
                    <a:lnR>
                      <a:noFill/>
                    </a:lnR>
                    <a:lnT>
                      <a:noFill/>
                    </a:lnT>
                    <a:lnB w="6350">
                      <a:solidFill>
                        <a:srgbClr val="DCE3EB"/>
                      </a:solidFill>
                    </a:lnB>
                    <a:solidFill>
                      <a:srgbClr val="FFFFFF"/>
                    </a:solidFill>
                  </a:tcPr>
                </a:tc>
              </a:tr>
              <a:tr h="431800">
                <a:tc>
                  <a:txBody>
                    <a:bodyPr wrap="square" rtlCol="0" anchor="ctr"/>
                    <a:lstStyle/>
                    <a:p>
                      <a:pPr algn="l">
                        <a:lnSpc>
                          <a:spcPct val="125000"/>
                        </a:lnSpc>
                      </a:pPr>
                      <a:r>
                        <a:rPr lang="en-US" sz="800" noProof="1">
                          <a:solidFill>
                            <a:srgbClr val="1A2433"/>
                          </a:solidFill>
                          <a:latin typeface="Liter"/>
                          <a:ea typeface="Liter"/>
                        </a:rPr>
                        <a:t>5</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Confidence in the action</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at least 0.60</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Escalate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3</a:t>
                      </a:r>
                    </a:p>
                  </a:txBody>
                  <a:tcPr marL="91440" marR="91440" marT="45720" marB="45720" anchor="ctr">
                    <a:lnL>
                      <a:noFill/>
                    </a:lnL>
                    <a:lnR>
                      <a:noFill/>
                    </a:lnR>
                    <a:lnT>
                      <a:noFill/>
                    </a:lnT>
                    <a:lnB w="6350">
                      <a:solidFill>
                        <a:srgbClr val="DCE3EB"/>
                      </a:solidFill>
                    </a:lnB>
                    <a:solidFill>
                      <a:srgbClr val="F4F7FA"/>
                    </a:solidFill>
                  </a:tcPr>
                </a:tc>
              </a:tr>
              <a:tr h="431800">
                <a:tc>
                  <a:txBody>
                    <a:bodyPr wrap="square" rtlCol="0" anchor="ctr"/>
                    <a:lstStyle/>
                    <a:p>
                      <a:pPr algn="l">
                        <a:lnSpc>
                          <a:spcPct val="125000"/>
                        </a:lnSpc>
                      </a:pPr>
                      <a:r>
                        <a:rPr lang="en-US" sz="800" noProof="1">
                          <a:solidFill>
                            <a:srgbClr val="1A2433"/>
                          </a:solidFill>
                          <a:latin typeface="Liter"/>
                          <a:ea typeface="Liter"/>
                        </a:rPr>
                        <a:t>6</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Risk of the action (0–2 scale)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at most 1.0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Escalate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1</a:t>
                      </a:r>
                    </a:p>
                  </a:txBody>
                  <a:tcPr marL="91440" marR="91440" marT="45720" marB="45720" anchor="ctr">
                    <a:lnL>
                      <a:noFill/>
                    </a:lnL>
                    <a:lnR>
                      <a:noFill/>
                    </a:lnR>
                    <a:lnT>
                      <a:noFill/>
                    </a:lnT>
                    <a:lnB w="6350">
                      <a:solidFill>
                        <a:srgbClr val="DCE3EB"/>
                      </a:solidFill>
                    </a:lnB>
                    <a:solidFill>
                      <a:srgbClr val="FFFFFF"/>
                    </a:solidFill>
                  </a:tcPr>
                </a:tc>
              </a:tr>
              <a:tr h="431800">
                <a:tc>
                  <a:txBody>
                    <a:bodyPr wrap="square" rtlCol="0" anchor="ctr"/>
                    <a:lstStyle/>
                    <a:p>
                      <a:pPr algn="l">
                        <a:lnSpc>
                          <a:spcPct val="125000"/>
                        </a:lnSpc>
                      </a:pPr>
                      <a:r>
                        <a:rPr lang="en-US" sz="800" noProof="1">
                          <a:solidFill>
                            <a:srgbClr val="1A2433"/>
                          </a:solidFill>
                          <a:latin typeface="Liter"/>
                          <a:ea typeface="Liter"/>
                        </a:rPr>
                        <a:t>7</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Severity (0–3 scale)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at most 2.5</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Escalate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4</a:t>
                      </a:r>
                    </a:p>
                  </a:txBody>
                  <a:tcPr marL="91440" marR="91440" marT="45720" marB="45720" anchor="ctr">
                    <a:lnL>
                      <a:noFill/>
                    </a:lnL>
                    <a:lnR>
                      <a:noFill/>
                    </a:lnR>
                    <a:lnT>
                      <a:noFill/>
                    </a:lnT>
                    <a:lnB w="6350">
                      <a:solidFill>
                        <a:srgbClr val="DCE3EB"/>
                      </a:solidFill>
                    </a:lnB>
                    <a:solidFill>
                      <a:srgbClr val="F4F7FA"/>
                    </a:solidFill>
                  </a:tcPr>
                </a:tc>
              </a:tr>
              <a:tr h="431800">
                <a:tc>
                  <a:txBody>
                    <a:bodyPr wrap="square" rtlCol="0" anchor="ctr"/>
                    <a:lstStyle/>
                    <a:p>
                      <a:pPr algn="l">
                        <a:lnSpc>
                          <a:spcPct val="125000"/>
                        </a:lnSpc>
                      </a:pPr>
                      <a:r>
                        <a:rPr lang="en-US" sz="800" noProof="1">
                          <a:solidFill>
                            <a:srgbClr val="1A2433"/>
                          </a:solidFill>
                          <a:latin typeface="Liter"/>
                          <a:ea typeface="Liter"/>
                        </a:rPr>
                        <a:t>8</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Rollback only — caused by a change; rollback is safe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at least 0.80; 0.70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Escalate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2</a:t>
                      </a:r>
                    </a:p>
                  </a:txBody>
                  <a:tcPr marL="91440" marR="91440" marT="45720" marB="45720" anchor="ctr">
                    <a:lnL>
                      <a:noFill/>
                    </a:lnL>
                    <a:lnR>
                      <a:noFill/>
                    </a:lnR>
                    <a:lnT>
                      <a:noFill/>
                    </a:lnT>
                    <a:lnB w="6350">
                      <a:solidFill>
                        <a:srgbClr val="DCE3EB"/>
                      </a:solidFill>
                    </a:lnB>
                    <a:solidFill>
                      <a:srgbClr val="FFFFFF"/>
                    </a:solidFill>
                  </a:tcPr>
                </a:tc>
              </a:tr>
            </a:tbl>
          </a:graphicData>
        </a:graphic>
      </p:graphicFrame>
      <p:sp>
        <p:nvSpPr>
          <p:cNvPr id="6" name="notes-head"/>
          <p:cNvSpPr txBox="1"/>
          <p:nvPr/>
        </p:nvSpPr>
        <p:spPr>
          <a:xfrm>
            <a:off x="7721600" y="1270000"/>
            <a:ext cx="37592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Things to know</a:t>
            </a:r>
            <a:endParaRPr lang="en-US" sz="1000" noProof="1"/>
          </a:p>
        </p:txBody>
      </p:sp>
      <p:sp>
        <p:nvSpPr>
          <p:cNvPr id="7" name="notes-body"/>
          <p:cNvSpPr txBox="1"/>
          <p:nvPr/>
        </p:nvSpPr>
        <p:spPr>
          <a:xfrm>
            <a:off x="7721600" y="1549400"/>
            <a:ext cx="3759200" cy="4191000"/>
          </a:xfrm>
          <a:prstGeom prst="rect">
            <a:avLst/>
          </a:prstGeom>
          <a:noFill/>
          <a:ln>
            <a:noFill/>
          </a:ln>
        </p:spPr>
        <p:txBody>
          <a:bodyPr lIns="0" rIns="0" tIns="0" bIns="0" wrap="square" rtlCol="0"/>
          <a:lstStyle/>
          <a:p>
            <a:pPr>
              <a:lnSpc>
                <a:spcPct val="140000"/>
              </a:lnSpc>
            </a:pPr>
            <a:r>
              <a:rPr lang="en-US" sz="850" noProof="1">
                <a:solidFill>
                  <a:srgbClr val="1A2433"/>
                </a:solidFill>
                <a:latin typeface="Liter"/>
                <a:ea typeface="Liter"/>
              </a:rPr>
              <a:t>• </a:t>
            </a:r>
            <a:r>
              <a:rPr lang="en-US" sz="850" noProof="1" b="1">
                <a:solidFill>
                  <a:srgbClr val="1A2433"/>
                </a:solidFill>
                <a:latin typeface="Liter"/>
                <a:ea typeface="Liter"/>
              </a:rPr>
              <a:t>No held-out set.</a:t>
            </a:r>
            <a:r>
              <a:rPr lang="en-US" sz="850" noProof="1">
                <a:solidFill>
                  <a:srgbClr val="1A2433"/>
                </a:solidFill>
                <a:latin typeface="Liter"/>
                <a:ea typeface="Liter"/>
              </a:rPr>
              <a:t> 18 of the 22 automated incidents had "page a human" between 0.73 and 0.88; at a 0.80 cut-off the gate automates 12.</a:t>
            </a:r>
            <a:endParaRPr lang="en-US" sz="850" noProof="1"/>
          </a:p>
          <a:p>
            <a:pPr>
              <a:lnSpc>
                <a:spcPct val="140000"/>
              </a:lnSpc>
              <a:spcBef>
                <a:spcPts val="800"/>
              </a:spcBef>
            </a:pPr>
            <a:r>
              <a:rPr lang="en-US" sz="850" noProof="1">
                <a:solidFill>
                  <a:srgbClr val="1A2433"/>
                </a:solidFill>
                <a:latin typeface="Liter"/>
                <a:ea typeface="Liter"/>
              </a:rPr>
              <a:t>• </a:t>
            </a:r>
            <a:r>
              <a:rPr lang="en-US" sz="850" noProof="1" b="1">
                <a:solidFill>
                  <a:srgbClr val="1A2433"/>
                </a:solidFill>
                <a:latin typeface="Liter"/>
                <a:ea typeface="Liter"/>
              </a:rPr>
              <a:t>Blast radius and customer impact are asked but not checked.</a:t>
            </a:r>
            <a:endParaRPr lang="en-US" sz="850" noProof="1"/>
          </a:p>
          <a:p>
            <a:pPr>
              <a:lnSpc>
                <a:spcPct val="140000"/>
              </a:lnSpc>
              <a:spcBef>
                <a:spcPts val="800"/>
              </a:spcBef>
            </a:pPr>
            <a:r>
              <a:rPr lang="en-US" sz="850" noProof="1">
                <a:solidFill>
                  <a:srgbClr val="1A2433"/>
                </a:solidFill>
                <a:latin typeface="Liter"/>
                <a:ea typeface="Liter"/>
              </a:rPr>
              <a:t>• </a:t>
            </a:r>
            <a:r>
              <a:rPr lang="en-US" sz="850" noProof="1" b="1">
                <a:solidFill>
                  <a:srgbClr val="1A2433"/>
                </a:solidFill>
                <a:latin typeface="Liter"/>
                <a:ea typeface="Liter"/>
              </a:rPr>
              <a:t>Taking the severity check out entirely</a:t>
            </a:r>
            <a:r>
              <a:rPr lang="en-US" sz="850" noProof="1">
                <a:solidFill>
                  <a:srgbClr val="1A2433"/>
                </a:solidFill>
                <a:latin typeface="Liter"/>
                <a:ea typeface="Liter"/>
              </a:rPr>
              <a:t> would raise automation to 26, still with none of the unsafe incidents automated — on this set, other checks did that work.</a:t>
            </a:r>
            <a:endParaRPr lang="en-US" sz="850" noProof="1"/>
          </a:p>
          <a:p>
            <a:pPr>
              <a:lnSpc>
                <a:spcPct val="140000"/>
              </a:lnSpc>
              <a:spcBef>
                <a:spcPts val="800"/>
              </a:spcBef>
            </a:pPr>
            <a:r>
              <a:rPr lang="en-US" sz="850" noProof="1">
                <a:solidFill>
                  <a:srgbClr val="1A2433"/>
                </a:solidFill>
                <a:latin typeface="Liter"/>
                <a:ea typeface="Liter"/>
              </a:rPr>
              <a:t>• </a:t>
            </a:r>
            <a:r>
              <a:rPr lang="en-US" sz="850" noProof="1" b="1">
                <a:solidFill>
                  <a:srgbClr val="1A2433"/>
                </a:solidFill>
                <a:latin typeface="Liter"/>
                <a:ea typeface="Liter"/>
              </a:rPr>
              <a:t>A missing or malformed answer now escalates</a:t>
            </a:r>
            <a:r>
              <a:rPr lang="en-US" sz="850" noProof="1">
                <a:solidFill>
                  <a:srgbClr val="1A2433"/>
                </a:solidFill>
                <a:latin typeface="Liter"/>
                <a:ea typeface="Liter"/>
              </a:rPr>
              <a:t> (fail closed). In the first run it was read as 0, which meant "not an incident".</a:t>
            </a:r>
            <a:endParaRPr lang="en-US" sz="850" noProof="1"/>
          </a:p>
        </p:txBody>
      </p:sp>
      <p:sp>
        <p:nvSpPr>
          <p:cNvPr id="8" name="footline"/>
          <p:cNvSpPr/>
          <p:nvPr/>
        </p:nvSpPr>
        <p:spPr>
          <a:xfrm>
            <a:off x="711200" y="6477000"/>
            <a:ext cx="10769600" cy="9525"/>
          </a:xfrm>
          <a:prstGeom prst="rect">
            <a:avLst/>
          </a:prstGeom>
          <a:solidFill>
            <a:srgbClr val="DCE3EB"/>
          </a:solidFill>
          <a:ln>
            <a:noFill/>
          </a:ln>
        </p:spPr>
      </p:sp>
      <p:sp>
        <p:nvSpPr>
          <p:cNvPr id="9"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zeroops/policy.py; counts from decision.rationale in results/decisions_jev_native.jsonl; sensitivity from results/facts.json.</a:t>
            </a:r>
            <a:endParaRPr lang="en-US" sz="750" noProof="1"/>
          </a:p>
        </p:txBody>
      </p:sp>
      <p:sp>
        <p:nvSpPr>
          <p:cNvPr id="10"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A4</a:t>
            </a:r>
            <a:endParaRPr lang="en-US" sz="800" noProof="1"/>
          </a:p>
        </p:txBody>
      </p:sp>
    </p:spTree>
  </p:cSld>
  <p:clrMapOvr>
    <a:masterClrMapping/>
  </p:clrMapOvr>
</p:sld>
</file>

<file path=ppt/slides/slide2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A5</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How the 56 incidents were built — and why they are easier than real ones</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sp>
        <p:nvSpPr>
          <p:cNvPr id="5" name="left-head"/>
          <p:cNvSpPr txBox="1"/>
          <p:nvPr/>
        </p:nvSpPr>
        <p:spPr>
          <a:xfrm>
            <a:off x="711200" y="1295400"/>
            <a:ext cx="5334000" cy="190500"/>
          </a:xfrm>
          <a:prstGeom prst="rect">
            <a:avLst/>
          </a:prstGeom>
          <a:noFill/>
          <a:ln>
            <a:noFill/>
          </a:ln>
        </p:spPr>
        <p:txBody>
          <a:bodyPr lIns="0" rIns="0" tIns="0" bIns="0" wrap="none" rtlCol="0"/>
          <a:lstStyle/>
          <a:p>
            <a:pPr>
              <a:lnSpc>
                <a:spcPct val="120000"/>
              </a:lnSpc>
            </a:pPr>
            <a:r>
              <a:rPr lang="en-US" sz="1050" noProof="1" b="1">
                <a:solidFill>
                  <a:srgbClr val="16365C"/>
                </a:solidFill>
                <a:latin typeface="Liter"/>
                <a:ea typeface="Liter"/>
              </a:rPr>
              <a:t>How they were built</a:t>
            </a:r>
            <a:endParaRPr lang="en-US" sz="1050" noProof="1"/>
          </a:p>
        </p:txBody>
      </p:sp>
      <p:sp>
        <p:nvSpPr>
          <p:cNvPr id="6" name="left-body"/>
          <p:cNvSpPr txBox="1"/>
          <p:nvPr/>
        </p:nvSpPr>
        <p:spPr>
          <a:xfrm>
            <a:off x="711200" y="1574800"/>
            <a:ext cx="5334000" cy="4572000"/>
          </a:xfrm>
          <a:prstGeom prst="rect">
            <a:avLst/>
          </a:prstGeom>
          <a:noFill/>
          <a:ln>
            <a:noFill/>
          </a:ln>
        </p:spPr>
        <p:txBody>
          <a:bodyPr lIns="0" rIns="0" tIns="0" bIns="0" wrap="square" rtlCol="0"/>
          <a:lstStyle/>
          <a:p>
            <a:pPr>
              <a:lnSpc>
                <a:spcPct val="150000"/>
              </a:lnSpc>
            </a:pPr>
            <a:r>
              <a:rPr lang="en-US" sz="950" noProof="1">
                <a:solidFill>
                  <a:srgbClr val="1A2433"/>
                </a:solidFill>
                <a:latin typeface="Liter"/>
                <a:ea typeface="Liter"/>
              </a:rPr>
              <a:t>• 14 incident types we wrote (bad deploy, config drift, CPU saturation, memory leak, dependency outage, network partition, DNS failure, certificate expiry, traffic spike, database saturation, data corruption, security incident, monitoring fluke, planned maintenance), four variants each.</a:t>
            </a:r>
            <a:endParaRPr lang="en-US" sz="950" noProof="1"/>
          </a:p>
          <a:p>
            <a:pPr>
              <a:lnSpc>
                <a:spcPct val="150000"/>
              </a:lnSpc>
              <a:spcBef>
                <a:spcPts val="800"/>
              </a:spcBef>
            </a:pPr>
            <a:r>
              <a:rPr lang="en-US" sz="950" noProof="1">
                <a:solidFill>
                  <a:srgbClr val="1A2433"/>
                </a:solidFill>
                <a:latin typeface="Liter"/>
                <a:ea typeface="Liter"/>
              </a:rPr>
              <a:t>• Variants only swap service names and numbers, so there are far fewer distinct texts than 56. Incidents are 34 to 45 words long (median 39).</a:t>
            </a:r>
            <a:endParaRPr lang="en-US" sz="950" noProof="1"/>
          </a:p>
          <a:p>
            <a:pPr>
              <a:lnSpc>
                <a:spcPct val="150000"/>
              </a:lnSpc>
              <a:spcBef>
                <a:spcPts val="800"/>
              </a:spcBef>
            </a:pPr>
            <a:r>
              <a:rPr lang="en-US" sz="950" noProof="1">
                <a:solidFill>
                  <a:srgbClr val="1A2433"/>
                </a:solidFill>
                <a:latin typeface="Liter"/>
                <a:ea typeface="Liter"/>
              </a:rPr>
              <a:t>• Each has our labels: real or not, category, component, root cause, severity, first action, and whether it may be automated.</a:t>
            </a:r>
            <a:endParaRPr lang="en-US" sz="950" noProof="1"/>
          </a:p>
          <a:p>
            <a:pPr>
              <a:lnSpc>
                <a:spcPct val="150000"/>
              </a:lnSpc>
              <a:spcBef>
                <a:spcPts val="800"/>
              </a:spcBef>
            </a:pPr>
            <a:r>
              <a:rPr lang="en-US" sz="950" noProof="1">
                <a:solidFill>
                  <a:srgbClr val="1A2433"/>
                </a:solidFill>
                <a:latin typeface="Liter"/>
                <a:ea typeface="Liter"/>
              </a:rPr>
              <a:t>• Weaknesses: the clues are explicit; every incident labelled unsafe is also labelled SEV1, so the test can't tell "serious" from "must not be automated"; the labels were written by the person who wrote the incidents.</a:t>
            </a:r>
            <a:endParaRPr lang="en-US" sz="950" noProof="1"/>
          </a:p>
          <a:p>
            <a:pPr>
              <a:lnSpc>
                <a:spcPct val="150000"/>
              </a:lnSpc>
              <a:spcBef>
                <a:spcPts val="800"/>
              </a:spcBef>
            </a:pPr>
            <a:r>
              <a:rPr lang="en-US" sz="950" noProof="1">
                <a:solidFill>
                  <a:srgbClr val="1A2433"/>
                </a:solidFill>
                <a:latin typeface="Liter"/>
                <a:ea typeface="Liter"/>
              </a:rPr>
              <a:t>• All four models get the same request, the same gate and the same corpus version (0b4839761e06).</a:t>
            </a:r>
            <a:endParaRPr lang="en-US" sz="950" noProof="1"/>
          </a:p>
        </p:txBody>
      </p:sp>
      <p:sp>
        <p:nvSpPr>
          <p:cNvPr id="7" name="vline"/>
          <p:cNvSpPr/>
          <p:nvPr/>
        </p:nvSpPr>
        <p:spPr>
          <a:xfrm>
            <a:off x="6350000" y="1295400"/>
            <a:ext cx="9525" cy="4851400"/>
          </a:xfrm>
          <a:prstGeom prst="rect">
            <a:avLst/>
          </a:prstGeom>
          <a:solidFill>
            <a:srgbClr val="DCE3EB"/>
          </a:solidFill>
          <a:ln>
            <a:noFill/>
          </a:ln>
        </p:spPr>
      </p:sp>
      <p:sp>
        <p:nvSpPr>
          <p:cNvPr id="8" name="right-head"/>
          <p:cNvSpPr txBox="1"/>
          <p:nvPr/>
        </p:nvSpPr>
        <p:spPr>
          <a:xfrm>
            <a:off x="6654800" y="1295400"/>
            <a:ext cx="4826000" cy="190500"/>
          </a:xfrm>
          <a:prstGeom prst="rect">
            <a:avLst/>
          </a:prstGeom>
          <a:noFill/>
          <a:ln>
            <a:noFill/>
          </a:ln>
        </p:spPr>
        <p:txBody>
          <a:bodyPr lIns="0" rIns="0" tIns="0" bIns="0" wrap="none" rtlCol="0"/>
          <a:lstStyle/>
          <a:p>
            <a:pPr>
              <a:lnSpc>
                <a:spcPct val="120000"/>
              </a:lnSpc>
            </a:pPr>
            <a:r>
              <a:rPr lang="en-US" sz="1050" noProof="1" b="1">
                <a:solidFill>
                  <a:srgbClr val="16365C"/>
                </a:solidFill>
                <a:latin typeface="Liter"/>
                <a:ea typeface="Liter"/>
              </a:rPr>
              <a:t>What we measured</a:t>
            </a:r>
            <a:endParaRPr lang="en-US" sz="1050" noProof="1"/>
          </a:p>
        </p:txBody>
      </p:sp>
      <p:sp>
        <p:nvSpPr>
          <p:cNvPr id="9" name="right-body"/>
          <p:cNvSpPr txBox="1"/>
          <p:nvPr/>
        </p:nvSpPr>
        <p:spPr>
          <a:xfrm>
            <a:off x="6654800" y="1574800"/>
            <a:ext cx="4826000" cy="4572000"/>
          </a:xfrm>
          <a:prstGeom prst="rect">
            <a:avLst/>
          </a:prstGeom>
          <a:noFill/>
          <a:ln>
            <a:noFill/>
          </a:ln>
        </p:spPr>
        <p:txBody>
          <a:bodyPr lIns="0" rIns="0" tIns="0" bIns="0" wrap="square" rtlCol="0"/>
          <a:lstStyle/>
          <a:p>
            <a:pPr>
              <a:lnSpc>
                <a:spcPct val="150000"/>
              </a:lnSpc>
            </a:pPr>
            <a:r>
              <a:rPr lang="en-US" sz="950" noProof="1">
                <a:solidFill>
                  <a:srgbClr val="1A2433"/>
                </a:solidFill>
                <a:latin typeface="Liter"/>
                <a:ea typeface="Liter"/>
              </a:rPr>
              <a:t>• </a:t>
            </a:r>
            <a:r>
              <a:rPr lang="en-US" sz="950" noProof="1" b="1">
                <a:solidFill>
                  <a:srgbClr val="1A2433"/>
                </a:solidFill>
                <a:latin typeface="Liter"/>
                <a:ea typeface="Liter"/>
              </a:rPr>
              <a:t>Answer quality:</a:t>
            </a:r>
            <a:r>
              <a:rPr lang="en-US" sz="950" noProof="1">
                <a:solidFill>
                  <a:srgbClr val="1A2433"/>
                </a:solidFill>
                <a:latin typeface="Liter"/>
                <a:ea typeface="Liter"/>
              </a:rPr>
              <a:t> category, root cause, exact and acceptable action, severity within one level</a:t>
            </a:r>
            <a:endParaRPr lang="en-US" sz="950" noProof="1"/>
          </a:p>
          <a:p>
            <a:pPr>
              <a:lnSpc>
                <a:spcPct val="150000"/>
              </a:lnSpc>
              <a:spcBef>
                <a:spcPts val="800"/>
              </a:spcBef>
            </a:pPr>
            <a:r>
              <a:rPr lang="en-US" sz="950" noProof="1">
                <a:solidFill>
                  <a:srgbClr val="1A2433"/>
                </a:solidFill>
                <a:latin typeface="Liter"/>
                <a:ea typeface="Liter"/>
              </a:rPr>
              <a:t>• </a:t>
            </a:r>
            <a:r>
              <a:rPr lang="en-US" sz="950" noProof="1" b="1">
                <a:solidFill>
                  <a:srgbClr val="1A2433"/>
                </a:solidFill>
                <a:latin typeface="Liter"/>
                <a:ea typeface="Liter"/>
              </a:rPr>
              <a:t>Gate outcomes:</a:t>
            </a:r>
            <a:r>
              <a:rPr lang="en-US" sz="950" noProof="1">
                <a:solidFill>
                  <a:srgbClr val="1A2433"/>
                </a:solidFill>
                <a:latin typeface="Liter"/>
                <a:ea typeface="Liter"/>
              </a:rPr>
              <a:t> automated, escalated, logged; unsafe automations; real incidents logged as noise</a:t>
            </a:r>
            <a:endParaRPr lang="en-US" sz="950" noProof="1"/>
          </a:p>
          <a:p>
            <a:pPr>
              <a:lnSpc>
                <a:spcPct val="150000"/>
              </a:lnSpc>
              <a:spcBef>
                <a:spcPts val="800"/>
              </a:spcBef>
            </a:pPr>
            <a:r>
              <a:rPr lang="en-US" sz="950" noProof="1">
                <a:solidFill>
                  <a:srgbClr val="1A2433"/>
                </a:solidFill>
                <a:latin typeface="Liter"/>
                <a:ea typeface="Liter"/>
              </a:rPr>
              <a:t>• </a:t>
            </a:r>
            <a:r>
              <a:rPr lang="en-US" sz="950" noProof="1" b="1">
                <a:solidFill>
                  <a:srgbClr val="1A2433"/>
                </a:solidFill>
                <a:latin typeface="Liter"/>
                <a:ea typeface="Liter"/>
              </a:rPr>
              <a:t>Confidence against accuracy,</a:t>
            </a:r>
            <a:r>
              <a:rPr lang="en-US" sz="950" noProof="1">
                <a:solidFill>
                  <a:srgbClr val="1A2433"/>
                </a:solidFill>
                <a:latin typeface="Liter"/>
                <a:ea typeface="Liter"/>
              </a:rPr>
              <a:t> by band (failure category only)</a:t>
            </a:r>
            <a:endParaRPr lang="en-US" sz="950" noProof="1"/>
          </a:p>
          <a:p>
            <a:pPr>
              <a:lnSpc>
                <a:spcPct val="150000"/>
              </a:lnSpc>
              <a:spcBef>
                <a:spcPts val="800"/>
              </a:spcBef>
            </a:pPr>
            <a:r>
              <a:rPr lang="en-US" sz="950" noProof="1">
                <a:solidFill>
                  <a:srgbClr val="1A2433"/>
                </a:solidFill>
                <a:latin typeface="Liter"/>
                <a:ea typeface="Liter"/>
              </a:rPr>
              <a:t>• </a:t>
            </a:r>
            <a:r>
              <a:rPr lang="en-US" sz="950" noProof="1" b="1">
                <a:solidFill>
                  <a:srgbClr val="1A2433"/>
                </a:solidFill>
                <a:latin typeface="Liter"/>
                <a:ea typeface="Liter"/>
              </a:rPr>
              <a:t>Latency:</a:t>
            </a:r>
            <a:r>
              <a:rPr lang="en-US" sz="950" noProof="1">
                <a:solidFill>
                  <a:srgbClr val="1A2433"/>
                </a:solidFill>
                <a:latin typeface="Liter"/>
                <a:ea typeface="Liter"/>
              </a:rPr>
              <a:t> median and 95th percentile per incident, one run, from a workstation</a:t>
            </a:r>
            <a:endParaRPr lang="en-US" sz="950" noProof="1"/>
          </a:p>
          <a:p>
            <a:pPr>
              <a:lnSpc>
                <a:spcPct val="150000"/>
              </a:lnSpc>
              <a:spcBef>
                <a:spcPts val="800"/>
              </a:spcBef>
            </a:pPr>
            <a:r>
              <a:rPr lang="en-US" sz="950" noProof="1">
                <a:solidFill>
                  <a:srgbClr val="1A2433"/>
                </a:solidFill>
                <a:latin typeface="Liter"/>
                <a:ea typeface="Liter"/>
              </a:rPr>
              <a:t>• </a:t>
            </a:r>
            <a:r>
              <a:rPr lang="en-US" sz="950" noProof="1" b="1">
                <a:solidFill>
                  <a:srgbClr val="1A2433"/>
                </a:solidFill>
                <a:latin typeface="Liter"/>
                <a:ea typeface="Liter"/>
              </a:rPr>
              <a:t>Cost per 1,000 incidents:</a:t>
            </a:r>
            <a:r>
              <a:rPr lang="en-US" sz="950" noProof="1">
                <a:solidFill>
                  <a:srgbClr val="1A2433"/>
                </a:solidFill>
                <a:latin typeface="Liter"/>
                <a:ea typeface="Liter"/>
              </a:rPr>
              <a:t> billed on OpenRouter, estimated for the native API</a:t>
            </a:r>
            <a:endParaRPr lang="en-US" sz="950" noProof="1"/>
          </a:p>
        </p:txBody>
      </p:sp>
      <p:sp>
        <p:nvSpPr>
          <p:cNvPr id="10" name="footline"/>
          <p:cNvSpPr/>
          <p:nvPr/>
        </p:nvSpPr>
        <p:spPr>
          <a:xfrm>
            <a:off x="711200" y="6477000"/>
            <a:ext cx="10769600" cy="9525"/>
          </a:xfrm>
          <a:prstGeom prst="rect">
            <a:avLst/>
          </a:prstGeom>
          <a:solidFill>
            <a:srgbClr val="DCE3EB"/>
          </a:solidFill>
          <a:ln>
            <a:noFill/>
          </a:ln>
        </p:spPr>
      </p:sp>
      <p:sp>
        <p:nvSpPr>
          <p:cNvPr id="11"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zeroops/corpus.py; results/facts.json; results/decisions_jev_native.jsonl (word counts).</a:t>
            </a:r>
            <a:endParaRPr lang="en-US" sz="750" noProof="1"/>
          </a:p>
        </p:txBody>
      </p:sp>
      <p:sp>
        <p:nvSpPr>
          <p:cNvPr id="12"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A5</a:t>
            </a:r>
            <a:endParaRPr lang="en-US" sz="800" noProof="1"/>
          </a:p>
        </p:txBody>
      </p:sp>
    </p:spTree>
  </p:cSld>
  <p:clrMapOvr>
    <a:masterClrMapping/>
  </p:clrMapOvr>
</p:sld>
</file>

<file path=ppt/slides/slide2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A6</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Root cause was easy on this set — and only the top confidence band holds enough incidents to read</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graphicFrame>
        <p:nvGraphicFramePr>
          <p:cNvPr id="5" name="acc-chart"/>
          <p:cNvGraphicFramePr/>
          <p:nvPr/>
        </p:nvGraphicFramePr>
        <p:xfrm>
          <a:off x="711200" y="1320800"/>
          <a:ext cx="5334000" cy="3048000"/>
        </p:xfrm>
        <a:graphic>
          <a:graphicData uri="http://schemas.openxmlformats.org/drawingml/2006/chart">
            <c:chart r:id="rId2"/>
          </a:graphicData>
        </a:graphic>
      </p:graphicFrame>
      <p:sp>
        <p:nvSpPr>
          <p:cNvPr id="6" name="chart-note"/>
          <p:cNvSpPr txBox="1"/>
          <p:nvPr/>
        </p:nvSpPr>
        <p:spPr>
          <a:xfrm>
            <a:off x="711200" y="4419600"/>
            <a:ext cx="5334000" cy="381000"/>
          </a:xfrm>
          <a:prstGeom prst="rect">
            <a:avLst/>
          </a:prstGeom>
          <a:noFill/>
          <a:ln>
            <a:noFill/>
          </a:ln>
        </p:spPr>
        <p:txBody>
          <a:bodyPr lIns="0" rIns="0" tIns="0" bIns="0" wrap="square" rtlCol="0"/>
          <a:lstStyle/>
          <a:p>
            <a:pPr>
              <a:lnSpc>
                <a:spcPct val="135000"/>
              </a:lnSpc>
            </a:pPr>
            <a:r>
              <a:rPr lang="en-US" sz="800" noProof="1">
                <a:solidFill>
                  <a:srgbClr val="98A1AD"/>
                </a:solidFill>
                <a:latin typeface="Liter"/>
                <a:ea typeface="Liter"/>
              </a:rPr>
              <a:t>Answer accuracy by model, % of 56 synthetic incidents (our measurement). "Acceptable" counts alternatives agreed after the first run.</a:t>
            </a:r>
            <a:endParaRPr lang="en-US" sz="800" noProof="1"/>
          </a:p>
        </p:txBody>
      </p:sp>
      <p:sp>
        <p:nvSpPr>
          <p:cNvPr id="7" name="lat-head"/>
          <p:cNvSpPr txBox="1"/>
          <p:nvPr/>
        </p:nvSpPr>
        <p:spPr>
          <a:xfrm>
            <a:off x="711200" y="4978400"/>
            <a:ext cx="53340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Latency and cost (our measurement)</a:t>
            </a:r>
            <a:endParaRPr lang="en-US" sz="1000" noProof="1"/>
          </a:p>
        </p:txBody>
      </p:sp>
      <p:sp>
        <p:nvSpPr>
          <p:cNvPr id="8" name="lat-body"/>
          <p:cNvSpPr txBox="1"/>
          <p:nvPr/>
        </p:nvSpPr>
        <p:spPr>
          <a:xfrm>
            <a:off x="711200" y="5207000"/>
            <a:ext cx="5334000" cy="1016000"/>
          </a:xfrm>
          <a:prstGeom prst="rect">
            <a:avLst/>
          </a:prstGeom>
          <a:noFill/>
          <a:ln>
            <a:noFill/>
          </a:ln>
        </p:spPr>
        <p:txBody>
          <a:bodyPr lIns="0" rIns="0" tIns="0" bIns="0" wrap="square" rtlCol="0"/>
          <a:lstStyle/>
          <a:p>
            <a:pPr>
              <a:lnSpc>
                <a:spcPct val="145000"/>
              </a:lnSpc>
            </a:pPr>
            <a:r>
              <a:rPr lang="en-US" sz="900" noProof="1">
                <a:solidFill>
                  <a:srgbClr val="1A2433"/>
                </a:solidFill>
                <a:latin typeface="Liter"/>
                <a:ea typeface="Liter"/>
              </a:rPr>
              <a:t>Jev (TypeSafe API): </a:t>
            </a:r>
            <a:r>
              <a:rPr lang="en-US" sz="900" noProof="1" b="1">
                <a:solidFill>
                  <a:srgbClr val="1A2433"/>
                </a:solidFill>
                <a:latin typeface="Liter"/>
                <a:ea typeface="Liter"/>
              </a:rPr>
              <a:t>91 / 128 ms</a:t>
            </a:r>
            <a:r>
              <a:rPr lang="en-US" sz="900" noProof="1">
                <a:solidFill>
                  <a:srgbClr val="1A2433"/>
                </a:solidFill>
                <a:latin typeface="Liter"/>
                <a:ea typeface="Liter"/>
              </a:rPr>
              <a:t> · Jev via OpenRouter: </a:t>
            </a:r>
            <a:r>
              <a:rPr lang="en-US" sz="900" noProof="1" b="1">
                <a:solidFill>
                  <a:srgbClr val="1A2433"/>
                </a:solidFill>
                <a:latin typeface="Liter"/>
                <a:ea typeface="Liter"/>
              </a:rPr>
              <a:t>134 / 406 ms</a:t>
            </a:r>
            <a:endParaRPr lang="en-US" sz="900" noProof="1"/>
          </a:p>
          <a:p>
            <a:pPr>
              <a:lnSpc>
                <a:spcPct val="145000"/>
              </a:lnSpc>
            </a:pPr>
            <a:r>
              <a:rPr lang="en-US" sz="900" noProof="1">
                <a:solidFill>
                  <a:srgbClr val="1A2433"/>
                </a:solidFill>
                <a:latin typeface="Liter"/>
                <a:ea typeface="Liter"/>
              </a:rPr>
              <a:t>Kev-4B (local GPU): </a:t>
            </a:r>
            <a:r>
              <a:rPr lang="en-US" sz="900" noProof="1" b="1">
                <a:solidFill>
                  <a:srgbClr val="1A2433"/>
                </a:solidFill>
                <a:latin typeface="Liter"/>
                <a:ea typeface="Liter"/>
              </a:rPr>
              <a:t>589 / 609 ms</a:t>
            </a:r>
            <a:r>
              <a:rPr lang="en-US" sz="900" noProof="1">
                <a:solidFill>
                  <a:srgbClr val="1A2433"/>
                </a:solidFill>
                <a:latin typeface="Liter"/>
                <a:ea typeface="Liter"/>
              </a:rPr>
              <a:t> · Laya (local GPU): </a:t>
            </a:r>
            <a:r>
              <a:rPr lang="en-US" sz="900" noProof="1" b="1">
                <a:solidFill>
                  <a:srgbClr val="1A2433"/>
                </a:solidFill>
                <a:latin typeface="Liter"/>
                <a:ea typeface="Liter"/>
              </a:rPr>
              <a:t>91 / 128 ms</a:t>
            </a:r>
            <a:r>
              <a:rPr lang="en-US" sz="900" noProof="1">
                <a:solidFill>
                  <a:srgbClr val="1A2433"/>
                </a:solidFill>
                <a:latin typeface="Liter"/>
                <a:ea typeface="Liter"/>
              </a:rPr>
              <a:t> (slowest call 12 s)</a:t>
            </a:r>
            <a:endParaRPr lang="en-US" sz="900" noProof="1"/>
          </a:p>
          <a:p>
            <a:pPr>
              <a:lnSpc>
                <a:spcPct val="145000"/>
              </a:lnSpc>
              <a:spcBef>
                <a:spcPts val="600"/>
              </a:spcBef>
            </a:pPr>
            <a:r>
              <a:rPr lang="en-US" sz="900" noProof="1">
                <a:solidFill>
                  <a:srgbClr val="5B6472"/>
                </a:solidFill>
                <a:latin typeface="Liter"/>
                <a:ea typeface="Liter"/>
              </a:rPr>
              <a:t>OpenRouter billed 0.3 cents for the 56-incident run. The native API reports no cost; at the same per-token rate, about 6 cents per 1,000 incidents.</a:t>
            </a:r>
            <a:endParaRPr lang="en-US" sz="900" noProof="1"/>
          </a:p>
        </p:txBody>
      </p:sp>
      <p:sp>
        <p:nvSpPr>
          <p:cNvPr id="9" name="vline"/>
          <p:cNvSpPr/>
          <p:nvPr/>
        </p:nvSpPr>
        <p:spPr>
          <a:xfrm>
            <a:off x="6350000" y="1320800"/>
            <a:ext cx="9525" cy="4953000"/>
          </a:xfrm>
          <a:prstGeom prst="rect">
            <a:avLst/>
          </a:prstGeom>
          <a:solidFill>
            <a:srgbClr val="DCE3EB"/>
          </a:solidFill>
          <a:ln>
            <a:noFill/>
          </a:ln>
        </p:spPr>
      </p:sp>
      <p:sp>
        <p:nvSpPr>
          <p:cNvPr id="10" name="band-head"/>
          <p:cNvSpPr txBox="1"/>
          <p:nvPr/>
        </p:nvSpPr>
        <p:spPr>
          <a:xfrm>
            <a:off x="6654800" y="1320800"/>
            <a:ext cx="48260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Category confidence against accuracy — Jev (TypeSafe API)</a:t>
            </a:r>
            <a:endParaRPr lang="en-US" sz="1000" noProof="1"/>
          </a:p>
        </p:txBody>
      </p:sp>
      <p:graphicFrame>
        <p:nvGraphicFramePr>
          <p:cNvPr id="11" name="band-table"/>
          <p:cNvGraphicFramePr>
            <a:graphicFrameLocks noGrp="1"/>
          </p:cNvGraphicFramePr>
          <p:nvPr/>
        </p:nvGraphicFramePr>
        <p:xfrm>
          <a:off x="6654800" y="1600200"/>
          <a:ext cx="4826000" cy="2844800"/>
        </p:xfrm>
        <a:graphic>
          <a:graphicData uri="http://schemas.openxmlformats.org/drawingml/2006/table">
            <a:tbl>
              <a:tblPr/>
              <a:tblGrid>
                <a:gridCol w="1640840"/>
                <a:gridCol w="1592580"/>
                <a:gridCol w="1592580"/>
              </a:tblGrid>
              <a:tr h="421030">
                <a:tc>
                  <a:txBody>
                    <a:bodyPr wrap="square" rtlCol="0" anchor="ctr"/>
                    <a:lstStyle/>
                    <a:p>
                      <a:pPr algn="l">
                        <a:lnSpc>
                          <a:spcPct val="120000"/>
                        </a:lnSpc>
                      </a:pPr>
                      <a:r>
                        <a:rPr lang="en-US" sz="850" noProof="1" b="1">
                          <a:solidFill>
                            <a:srgbClr val="FFFFFF"/>
                          </a:solidFill>
                          <a:latin typeface="Liter"/>
                          <a:ea typeface="Liter"/>
                        </a:rPr>
                        <a:t>Confidence</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850" noProof="1" b="1">
                          <a:solidFill>
                            <a:srgbClr val="FFFFFF"/>
                          </a:solidFill>
                          <a:latin typeface="Liter"/>
                          <a:ea typeface="Liter"/>
                        </a:rPr>
                        <a:t>Incidents</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0000"/>
                        </a:lnSpc>
                      </a:pPr>
                      <a:r>
                        <a:rPr lang="en-US" sz="850" noProof="1" b="1">
                          <a:solidFill>
                            <a:srgbClr val="FFFFFF"/>
                          </a:solidFill>
                          <a:latin typeface="Liter"/>
                          <a:ea typeface="Liter"/>
                        </a:rPr>
                        <a:t>Right</a:t>
                      </a:r>
                    </a:p>
                  </a:txBody>
                  <a:tcPr marL="91440" marR="91440" marT="45720" marB="45720" anchor="ctr">
                    <a:lnL>
                      <a:noFill/>
                    </a:lnL>
                    <a:lnR>
                      <a:noFill/>
                    </a:lnR>
                    <a:lnT>
                      <a:noFill/>
                    </a:lnT>
                    <a:lnB>
                      <a:noFill/>
                    </a:lnB>
                    <a:solidFill>
                      <a:srgbClr val="16365C"/>
                    </a:solidFill>
                  </a:tcPr>
                </a:tc>
              </a:tr>
              <a:tr h="403962">
                <a:tc>
                  <a:txBody>
                    <a:bodyPr wrap="square" rtlCol="0" anchor="ctr"/>
                    <a:lstStyle/>
                    <a:p>
                      <a:pPr algn="l">
                        <a:lnSpc>
                          <a:spcPct val="120000"/>
                        </a:lnSpc>
                      </a:pPr>
                      <a:r>
                        <a:rPr lang="en-US" sz="850" noProof="1">
                          <a:solidFill>
                            <a:srgbClr val="1A2433"/>
                          </a:solidFill>
                          <a:latin typeface="Liter"/>
                          <a:ea typeface="Liter"/>
                        </a:rPr>
                        <a:t>0.9–1.0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850" noProof="1">
                          <a:solidFill>
                            <a:srgbClr val="1A2433"/>
                          </a:solidFill>
                          <a:latin typeface="Liter"/>
                          <a:ea typeface="Liter"/>
                        </a:rPr>
                        <a:t>36</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850" noProof="1">
                          <a:solidFill>
                            <a:srgbClr val="1A2433"/>
                          </a:solidFill>
                          <a:latin typeface="Liter"/>
                          <a:ea typeface="Liter"/>
                        </a:rPr>
                        <a:t>32</a:t>
                      </a:r>
                    </a:p>
                  </a:txBody>
                  <a:tcPr marL="91440" marR="91440" marT="45720" marB="45720" anchor="ctr">
                    <a:lnL>
                      <a:noFill/>
                    </a:lnL>
                    <a:lnR>
                      <a:noFill/>
                    </a:lnR>
                    <a:lnT>
                      <a:noFill/>
                    </a:lnT>
                    <a:lnB w="6350">
                      <a:solidFill>
                        <a:srgbClr val="DCE3EB"/>
                      </a:solidFill>
                    </a:lnB>
                    <a:solidFill>
                      <a:srgbClr val="FFFFFF"/>
                    </a:solidFill>
                  </a:tcPr>
                </a:tc>
              </a:tr>
              <a:tr h="403962">
                <a:tc>
                  <a:txBody>
                    <a:bodyPr wrap="square" rtlCol="0" anchor="ctr"/>
                    <a:lstStyle/>
                    <a:p>
                      <a:pPr algn="l">
                        <a:lnSpc>
                          <a:spcPct val="120000"/>
                        </a:lnSpc>
                      </a:pPr>
                      <a:r>
                        <a:rPr lang="en-US" sz="850" noProof="1">
                          <a:solidFill>
                            <a:srgbClr val="1A2433"/>
                          </a:solidFill>
                          <a:latin typeface="Liter"/>
                          <a:ea typeface="Liter"/>
                        </a:rPr>
                        <a:t>0.8–0.9</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850" noProof="1">
                          <a:solidFill>
                            <a:srgbClr val="1A2433"/>
                          </a:solidFill>
                          <a:latin typeface="Liter"/>
                          <a:ea typeface="Liter"/>
                        </a:rPr>
                        <a:t>4</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850" noProof="1">
                          <a:solidFill>
                            <a:srgbClr val="1A2433"/>
                          </a:solidFill>
                          <a:latin typeface="Liter"/>
                          <a:ea typeface="Liter"/>
                        </a:rPr>
                        <a:t>4</a:t>
                      </a:r>
                    </a:p>
                  </a:txBody>
                  <a:tcPr marL="91440" marR="91440" marT="45720" marB="45720" anchor="ctr">
                    <a:lnL>
                      <a:noFill/>
                    </a:lnL>
                    <a:lnR>
                      <a:noFill/>
                    </a:lnR>
                    <a:lnT>
                      <a:noFill/>
                    </a:lnT>
                    <a:lnB w="6350">
                      <a:solidFill>
                        <a:srgbClr val="DCE3EB"/>
                      </a:solidFill>
                    </a:lnB>
                    <a:solidFill>
                      <a:srgbClr val="F4F7FA"/>
                    </a:solidFill>
                  </a:tcPr>
                </a:tc>
              </a:tr>
              <a:tr h="403962">
                <a:tc>
                  <a:txBody>
                    <a:bodyPr wrap="square" rtlCol="0" anchor="ctr"/>
                    <a:lstStyle/>
                    <a:p>
                      <a:pPr algn="l">
                        <a:lnSpc>
                          <a:spcPct val="120000"/>
                        </a:lnSpc>
                      </a:pPr>
                      <a:r>
                        <a:rPr lang="en-US" sz="850" noProof="1">
                          <a:solidFill>
                            <a:srgbClr val="1A2433"/>
                          </a:solidFill>
                          <a:latin typeface="Liter"/>
                          <a:ea typeface="Liter"/>
                        </a:rPr>
                        <a:t>0.7–0.8</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850" noProof="1">
                          <a:solidFill>
                            <a:srgbClr val="1A2433"/>
                          </a:solidFill>
                          <a:latin typeface="Liter"/>
                          <a:ea typeface="Liter"/>
                        </a:rPr>
                        <a:t>3</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850" noProof="1">
                          <a:solidFill>
                            <a:srgbClr val="1A2433"/>
                          </a:solidFill>
                          <a:latin typeface="Liter"/>
                          <a:ea typeface="Liter"/>
                        </a:rPr>
                        <a:t>2</a:t>
                      </a:r>
                    </a:p>
                  </a:txBody>
                  <a:tcPr marL="91440" marR="91440" marT="45720" marB="45720" anchor="ctr">
                    <a:lnL>
                      <a:noFill/>
                    </a:lnL>
                    <a:lnR>
                      <a:noFill/>
                    </a:lnR>
                    <a:lnT>
                      <a:noFill/>
                    </a:lnT>
                    <a:lnB w="6350">
                      <a:solidFill>
                        <a:srgbClr val="DCE3EB"/>
                      </a:solidFill>
                    </a:lnB>
                    <a:solidFill>
                      <a:srgbClr val="FFFFFF"/>
                    </a:solidFill>
                  </a:tcPr>
                </a:tc>
              </a:tr>
              <a:tr h="403962">
                <a:tc>
                  <a:txBody>
                    <a:bodyPr wrap="square" rtlCol="0" anchor="ctr"/>
                    <a:lstStyle/>
                    <a:p>
                      <a:pPr algn="l">
                        <a:lnSpc>
                          <a:spcPct val="120000"/>
                        </a:lnSpc>
                      </a:pPr>
                      <a:r>
                        <a:rPr lang="en-US" sz="850" noProof="1">
                          <a:solidFill>
                            <a:srgbClr val="1A2433"/>
                          </a:solidFill>
                          <a:latin typeface="Liter"/>
                          <a:ea typeface="Liter"/>
                        </a:rPr>
                        <a:t>0.6–0.7</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850" noProof="1">
                          <a:solidFill>
                            <a:srgbClr val="1A2433"/>
                          </a:solidFill>
                          <a:latin typeface="Liter"/>
                          <a:ea typeface="Liter"/>
                        </a:rPr>
                        <a:t>7</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850" noProof="1">
                          <a:solidFill>
                            <a:srgbClr val="1A2433"/>
                          </a:solidFill>
                          <a:latin typeface="Liter"/>
                          <a:ea typeface="Liter"/>
                        </a:rPr>
                        <a:t>3</a:t>
                      </a:r>
                    </a:p>
                  </a:txBody>
                  <a:tcPr marL="91440" marR="91440" marT="45720" marB="45720" anchor="ctr">
                    <a:lnL>
                      <a:noFill/>
                    </a:lnL>
                    <a:lnR>
                      <a:noFill/>
                    </a:lnR>
                    <a:lnT>
                      <a:noFill/>
                    </a:lnT>
                    <a:lnB w="6350">
                      <a:solidFill>
                        <a:srgbClr val="DCE3EB"/>
                      </a:solidFill>
                    </a:lnB>
                    <a:solidFill>
                      <a:srgbClr val="F4F7FA"/>
                    </a:solidFill>
                  </a:tcPr>
                </a:tc>
              </a:tr>
              <a:tr h="403962">
                <a:tc>
                  <a:txBody>
                    <a:bodyPr wrap="square" rtlCol="0" anchor="ctr"/>
                    <a:lstStyle/>
                    <a:p>
                      <a:pPr algn="l">
                        <a:lnSpc>
                          <a:spcPct val="120000"/>
                        </a:lnSpc>
                      </a:pPr>
                      <a:r>
                        <a:rPr lang="en-US" sz="850" noProof="1">
                          <a:solidFill>
                            <a:srgbClr val="1A2433"/>
                          </a:solidFill>
                          <a:latin typeface="Liter"/>
                          <a:ea typeface="Liter"/>
                        </a:rPr>
                        <a:t>0.5–0.6</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850" noProof="1">
                          <a:solidFill>
                            <a:srgbClr val="1A2433"/>
                          </a:solidFill>
                          <a:latin typeface="Liter"/>
                          <a:ea typeface="Liter"/>
                        </a:rPr>
                        <a:t>5</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0000"/>
                        </a:lnSpc>
                      </a:pPr>
                      <a:r>
                        <a:rPr lang="en-US" sz="850" noProof="1">
                          <a:solidFill>
                            <a:srgbClr val="1A2433"/>
                          </a:solidFill>
                          <a:latin typeface="Liter"/>
                          <a:ea typeface="Liter"/>
                        </a:rPr>
                        <a:t>3</a:t>
                      </a:r>
                    </a:p>
                  </a:txBody>
                  <a:tcPr marL="91440" marR="91440" marT="45720" marB="45720" anchor="ctr">
                    <a:lnL>
                      <a:noFill/>
                    </a:lnL>
                    <a:lnR>
                      <a:noFill/>
                    </a:lnR>
                    <a:lnT>
                      <a:noFill/>
                    </a:lnT>
                    <a:lnB w="6350">
                      <a:solidFill>
                        <a:srgbClr val="DCE3EB"/>
                      </a:solidFill>
                    </a:lnB>
                    <a:solidFill>
                      <a:srgbClr val="FFFFFF"/>
                    </a:solidFill>
                  </a:tcPr>
                </a:tc>
              </a:tr>
              <a:tr h="403962">
                <a:tc>
                  <a:txBody>
                    <a:bodyPr wrap="square" rtlCol="0" anchor="ctr"/>
                    <a:lstStyle/>
                    <a:p>
                      <a:pPr algn="l">
                        <a:lnSpc>
                          <a:spcPct val="120000"/>
                        </a:lnSpc>
                      </a:pPr>
                      <a:r>
                        <a:rPr lang="en-US" sz="850" noProof="1">
                          <a:solidFill>
                            <a:srgbClr val="1A2433"/>
                          </a:solidFill>
                          <a:latin typeface="Liter"/>
                          <a:ea typeface="Liter"/>
                        </a:rPr>
                        <a:t>0.4–0.5</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850" noProof="1">
                          <a:solidFill>
                            <a:srgbClr val="1A2433"/>
                          </a:solidFill>
                          <a:latin typeface="Liter"/>
                          <a:ea typeface="Liter"/>
                        </a:rPr>
                        <a:t>1</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0000"/>
                        </a:lnSpc>
                      </a:pPr>
                      <a:r>
                        <a:rPr lang="en-US" sz="850" noProof="1">
                          <a:solidFill>
                            <a:srgbClr val="1A2433"/>
                          </a:solidFill>
                          <a:latin typeface="Liter"/>
                          <a:ea typeface="Liter"/>
                        </a:rPr>
                        <a:t>1</a:t>
                      </a:r>
                    </a:p>
                  </a:txBody>
                  <a:tcPr marL="91440" marR="91440" marT="45720" marB="45720" anchor="ctr">
                    <a:lnL>
                      <a:noFill/>
                    </a:lnL>
                    <a:lnR>
                      <a:noFill/>
                    </a:lnR>
                    <a:lnT>
                      <a:noFill/>
                    </a:lnT>
                    <a:lnB w="6350">
                      <a:solidFill>
                        <a:srgbClr val="DCE3EB"/>
                      </a:solidFill>
                    </a:lnB>
                    <a:solidFill>
                      <a:srgbClr val="F4F7FA"/>
                    </a:solidFill>
                  </a:tcPr>
                </a:tc>
              </a:tr>
            </a:tbl>
          </a:graphicData>
        </a:graphic>
      </p:graphicFrame>
      <p:sp>
        <p:nvSpPr>
          <p:cNvPr id="12" name="band-note"/>
          <p:cNvSpPr txBox="1"/>
          <p:nvPr/>
        </p:nvSpPr>
        <p:spPr>
          <a:xfrm>
            <a:off x="6654800" y="4572000"/>
            <a:ext cx="4826000" cy="558800"/>
          </a:xfrm>
          <a:prstGeom prst="rect">
            <a:avLst/>
          </a:prstGeom>
          <a:noFill/>
          <a:ln>
            <a:noFill/>
          </a:ln>
        </p:spPr>
        <p:txBody>
          <a:bodyPr lIns="0" rIns="0" tIns="0" bIns="0" wrap="square" rtlCol="0"/>
          <a:lstStyle/>
          <a:p>
            <a:pPr>
              <a:lnSpc>
                <a:spcPct val="140000"/>
              </a:lnSpc>
            </a:pPr>
            <a:r>
              <a:rPr lang="en-US" sz="900" noProof="1">
                <a:solidFill>
                  <a:srgbClr val="5B6472"/>
                </a:solidFill>
                <a:latin typeface="Liter"/>
                <a:ea typeface="Liter"/>
              </a:rPr>
              <a:t>Accuracy doesn't rise steadily with confidence, and below 0.9 the bands hold 1 to 7 incidents each.</a:t>
            </a:r>
            <a:endParaRPr lang="en-US" sz="900" noProof="1"/>
          </a:p>
        </p:txBody>
      </p:sp>
      <p:sp>
        <p:nvSpPr>
          <p:cNvPr id="13" name="sev-note"/>
          <p:cNvSpPr txBox="1"/>
          <p:nvPr/>
        </p:nvSpPr>
        <p:spPr>
          <a:xfrm>
            <a:off x="6654800" y="5207000"/>
            <a:ext cx="4826000" cy="762000"/>
          </a:xfrm>
          <a:prstGeom prst="rect">
            <a:avLst/>
          </a:prstGeom>
          <a:noFill/>
          <a:ln>
            <a:noFill/>
          </a:ln>
        </p:spPr>
        <p:txBody>
          <a:bodyPr lIns="0" rIns="0" tIns="0" bIns="0" wrap="square" rtlCol="0"/>
          <a:lstStyle/>
          <a:p>
            <a:pPr>
              <a:lnSpc>
                <a:spcPct val="145000"/>
              </a:lnSpc>
            </a:pPr>
            <a:r>
              <a:rPr lang="en-US" sz="900" noProof="1" b="1">
                <a:solidFill>
                  <a:srgbClr val="1A2433"/>
                </a:solidFill>
                <a:latin typeface="Liter"/>
                <a:ea typeface="Liter"/>
              </a:rPr>
              <a:t>Severity within one level:</a:t>
            </a:r>
            <a:r>
              <a:rPr lang="en-US" sz="900" noProof="1">
                <a:solidFill>
                  <a:srgbClr val="1A2433"/>
                </a:solidFill>
                <a:latin typeface="Liter"/>
                <a:ea typeface="Liter"/>
              </a:rPr>
              <a:t> Jev (TypeSafe API) 80% · Jev via OpenRouter 79% · Kev-4B (local GPU) 71% · Laya (local GPU) 75%</a:t>
            </a:r>
            <a:endParaRPr lang="en-US" sz="900" noProof="1"/>
          </a:p>
        </p:txBody>
      </p:sp>
      <p:sp>
        <p:nvSpPr>
          <p:cNvPr id="14" name="footline"/>
          <p:cNvSpPr/>
          <p:nvPr/>
        </p:nvSpPr>
        <p:spPr>
          <a:xfrm>
            <a:off x="711200" y="6477000"/>
            <a:ext cx="10769600" cy="9525"/>
          </a:xfrm>
          <a:prstGeom prst="rect">
            <a:avLst/>
          </a:prstGeom>
          <a:solidFill>
            <a:srgbClr val="DCE3EB"/>
          </a:solidFill>
          <a:ln>
            <a:noFill/>
          </a:ln>
        </p:spPr>
      </p:sp>
      <p:sp>
        <p:nvSpPr>
          <p:cNvPr id="15"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results/facts.json, results/metrics.json. Same corpus version for all four models.</a:t>
            </a:r>
            <a:endParaRPr lang="en-US" sz="750" noProof="1"/>
          </a:p>
        </p:txBody>
      </p:sp>
      <p:sp>
        <p:nvSpPr>
          <p:cNvPr id="16"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A6</a:t>
            </a:r>
            <a:endParaRPr lang="en-US" sz="800" noProof="1"/>
          </a:p>
        </p:txBody>
      </p:sp>
    </p:spTree>
  </p:cSld>
  <p:clrMapOvr>
    <a:masterClrMapping/>
  </p:clrMapOvr>
</p:sld>
</file>

<file path=ppt/slides/slide2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A7</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What is known about the vendor, as of October 2026</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sp>
        <p:nvSpPr>
          <p:cNvPr id="5" name="vendor-body"/>
          <p:cNvSpPr txBox="1"/>
          <p:nvPr/>
        </p:nvSpPr>
        <p:spPr>
          <a:xfrm>
            <a:off x="711200" y="1346200"/>
            <a:ext cx="7112000" cy="4826000"/>
          </a:xfrm>
          <a:prstGeom prst="rect">
            <a:avLst/>
          </a:prstGeom>
          <a:noFill/>
          <a:ln>
            <a:noFill/>
          </a:ln>
        </p:spPr>
        <p:txBody>
          <a:bodyPr lIns="0" rIns="0" tIns="0" bIns="0" wrap="square" rtlCol="0"/>
          <a:lstStyle/>
          <a:p>
            <a:pPr>
              <a:lnSpc>
                <a:spcPct val="150000"/>
              </a:lnSpc>
            </a:pPr>
            <a:r>
              <a:rPr lang="en-US" sz="1000" noProof="1">
                <a:solidFill>
                  <a:srgbClr val="1A2433"/>
                </a:solidFill>
                <a:latin typeface="Liter"/>
                <a:ea typeface="Liter"/>
              </a:rPr>
              <a:t>• </a:t>
            </a:r>
            <a:r>
              <a:rPr lang="en-US" sz="1000" noProof="1" b="1">
                <a:solidFill>
                  <a:srgbClr val="1A2433"/>
                </a:solidFill>
                <a:latin typeface="Liter"/>
                <a:ea typeface="Liter"/>
              </a:rPr>
              <a:t>Early access since 15 September 2026.</a:t>
            </a:r>
            <a:r>
              <a:rPr lang="en-US" sz="1000" noProof="1">
                <a:solidFill>
                  <a:srgbClr val="1A2433"/>
                </a:solidFill>
                <a:latin typeface="Liter"/>
                <a:ea typeface="Liter"/>
              </a:rPr>
              <a:t> Our runs pinned jev-1.13.0 (TypeSafe API) and typesafe/jev-1.13-20260917 (OpenRouter); the jev-latest alias moves with each release. </a:t>
            </a:r>
            <a:r>
              <a:rPr lang="en-US" sz="1000" noProof="1">
                <a:solidFill>
                  <a:srgbClr val="98A1AD"/>
                </a:solidFill>
                <a:latin typeface="Liter"/>
                <a:ea typeface="Liter"/>
              </a:rPr>
              <a:t>(Independent; our measurement)</a:t>
            </a:r>
            <a:endParaRPr lang="en-US" sz="1000" noProof="1"/>
          </a:p>
          <a:p>
            <a:pPr>
              <a:lnSpc>
                <a:spcPct val="150000"/>
              </a:lnSpc>
              <a:spcBef>
                <a:spcPts val="1000"/>
              </a:spcBef>
            </a:pPr>
            <a:r>
              <a:rPr lang="en-US" sz="1000" noProof="1">
                <a:solidFill>
                  <a:srgbClr val="1A2433"/>
                </a:solidFill>
                <a:latin typeface="Liter"/>
                <a:ea typeface="Liter"/>
              </a:rPr>
              <a:t>• </a:t>
            </a:r>
            <a:r>
              <a:rPr lang="en-US" sz="1000" noProof="1" b="1">
                <a:solidFill>
                  <a:srgbClr val="1A2433"/>
                </a:solidFill>
                <a:latin typeface="Liter"/>
                <a:ea typeface="Liter"/>
              </a:rPr>
              <a:t>Hosted only, served from the US West Coast;</a:t>
            </a:r>
            <a:r>
              <a:rPr lang="en-US" sz="1000" noProof="1">
                <a:solidFill>
                  <a:srgbClr val="1A2433"/>
                </a:solidFill>
                <a:latin typeface="Liter"/>
                <a:ea typeface="Liter"/>
              </a:rPr>
              <a:t> no documented EU region, no on-premises option. </a:t>
            </a:r>
            <a:r>
              <a:rPr lang="en-US" sz="1000" noProof="1">
                <a:solidFill>
                  <a:srgbClr val="98A1AD"/>
                </a:solidFill>
                <a:latin typeface="Liter"/>
                <a:ea typeface="Liter"/>
              </a:rPr>
              <a:t>(Independent)</a:t>
            </a:r>
            <a:endParaRPr lang="en-US" sz="1000" noProof="1"/>
          </a:p>
          <a:p>
            <a:pPr>
              <a:lnSpc>
                <a:spcPct val="150000"/>
              </a:lnSpc>
              <a:spcBef>
                <a:spcPts val="1000"/>
              </a:spcBef>
            </a:pPr>
            <a:r>
              <a:rPr lang="en-US" sz="1000" noProof="1">
                <a:solidFill>
                  <a:srgbClr val="1A2433"/>
                </a:solidFill>
                <a:latin typeface="Liter"/>
                <a:ea typeface="Liter"/>
              </a:rPr>
              <a:t>• </a:t>
            </a:r>
            <a:r>
              <a:rPr lang="en-US" sz="1000" noProof="1" b="1">
                <a:solidFill>
                  <a:srgbClr val="1A2433"/>
                </a:solidFill>
                <a:latin typeface="Liter"/>
                <a:ea typeface="Liter"/>
              </a:rPr>
              <a:t>$0.042 per million input tokens, output free;</a:t>
            </a:r>
            <a:r>
              <a:rPr lang="en-US" sz="1000" noProof="1">
                <a:solidFill>
                  <a:srgbClr val="1A2433"/>
                </a:solidFill>
                <a:latin typeface="Liter"/>
                <a:ea typeface="Liter"/>
              </a:rPr>
              <a:t> quoted latency 70–500 ms. </a:t>
            </a:r>
            <a:r>
              <a:rPr lang="en-US" sz="1000" noProof="1">
                <a:solidFill>
                  <a:srgbClr val="98A1AD"/>
                </a:solidFill>
                <a:latin typeface="Liter"/>
                <a:ea typeface="Liter"/>
              </a:rPr>
              <a:t>(Vendor claim)</a:t>
            </a:r>
            <a:endParaRPr lang="en-US" sz="1000" noProof="1"/>
          </a:p>
          <a:p>
            <a:pPr>
              <a:lnSpc>
                <a:spcPct val="150000"/>
              </a:lnSpc>
              <a:spcBef>
                <a:spcPts val="1000"/>
              </a:spcBef>
            </a:pPr>
            <a:r>
              <a:rPr lang="en-US" sz="1000" noProof="1">
                <a:solidFill>
                  <a:srgbClr val="1A2433"/>
                </a:solidFill>
                <a:latin typeface="Liter"/>
                <a:ea typeface="Liter"/>
              </a:rPr>
              <a:t>• </a:t>
            </a:r>
            <a:r>
              <a:rPr lang="en-US" sz="1000" noProof="1" b="1">
                <a:solidFill>
                  <a:srgbClr val="1A2433"/>
                </a:solidFill>
                <a:latin typeface="Liter"/>
                <a:ea typeface="Liter"/>
              </a:rPr>
              <a:t>DPA with EU SCCs; zero retention for enterprise customers on request;</a:t>
            </a:r>
            <a:r>
              <a:rPr lang="en-US" sz="1000" noProof="1">
                <a:solidFill>
                  <a:srgbClr val="1A2433"/>
                </a:solidFill>
                <a:latin typeface="Liter"/>
                <a:ea typeface="Liter"/>
              </a:rPr>
              <a:t> a SOC 2 Type II report appears to be listed but is not verified; no HIPAA BAA. Reports on rate limits conflict. </a:t>
            </a:r>
            <a:r>
              <a:rPr lang="en-US" sz="1000" noProof="1">
                <a:solidFill>
                  <a:srgbClr val="98A1AD"/>
                </a:solidFill>
                <a:latin typeface="Liter"/>
                <a:ea typeface="Liter"/>
              </a:rPr>
              <a:t>(Independent, to be confirmed with TypeSafe)</a:t>
            </a:r>
            <a:endParaRPr lang="en-US" sz="1000" noProof="1"/>
          </a:p>
          <a:p>
            <a:pPr>
              <a:lnSpc>
                <a:spcPct val="150000"/>
              </a:lnSpc>
              <a:spcBef>
                <a:spcPts val="1000"/>
              </a:spcBef>
            </a:pPr>
            <a:r>
              <a:rPr lang="en-US" sz="1000" noProof="1">
                <a:solidFill>
                  <a:srgbClr val="1A2433"/>
                </a:solidFill>
                <a:latin typeface="Liter"/>
                <a:ea typeface="Liter"/>
              </a:rPr>
              <a:t>• </a:t>
            </a:r>
            <a:r>
              <a:rPr lang="en-US" sz="1000" noProof="1" b="1">
                <a:solidFill>
                  <a:srgbClr val="1A2433"/>
                </a:solidFill>
                <a:latin typeface="Liter"/>
                <a:ea typeface="Liter"/>
              </a:rPr>
              <a:t>Same model, two endpoints:</a:t>
            </a:r>
            <a:r>
              <a:rPr lang="en-US" sz="1000" noProof="1">
                <a:solidFill>
                  <a:srgbClr val="1A2433"/>
                </a:solidFill>
                <a:latin typeface="Liter"/>
                <a:ea typeface="Liter"/>
              </a:rPr>
              <a:t> probabilities differed on 56 of 56 incidents, and two gate outcomes flipped (INC-0016, INC-0044). </a:t>
            </a:r>
            <a:r>
              <a:rPr lang="en-US" sz="1000" noProof="1">
                <a:solidFill>
                  <a:srgbClr val="98A1AD"/>
                </a:solidFill>
                <a:latin typeface="Liter"/>
                <a:ea typeface="Liter"/>
              </a:rPr>
              <a:t>(Our measurement)</a:t>
            </a:r>
            <a:endParaRPr lang="en-US" sz="1000" noProof="1"/>
          </a:p>
          <a:p>
            <a:pPr>
              <a:lnSpc>
                <a:spcPct val="150000"/>
              </a:lnSpc>
              <a:spcBef>
                <a:spcPts val="1000"/>
              </a:spcBef>
            </a:pPr>
            <a:r>
              <a:rPr lang="en-US" sz="1000" noProof="1">
                <a:solidFill>
                  <a:srgbClr val="1A2433"/>
                </a:solidFill>
                <a:latin typeface="Liter"/>
                <a:ea typeface="Liter"/>
              </a:rPr>
              <a:t>• </a:t>
            </a:r>
            <a:r>
              <a:rPr lang="en-US" sz="1000" noProof="1" b="1">
                <a:solidFill>
                  <a:srgbClr val="1A2433"/>
                </a:solidFill>
                <a:latin typeface="Liter"/>
                <a:ea typeface="Liter"/>
              </a:rPr>
              <a:t>In early tests, OpenRouter's chat endpoint for typesafe/jev-router served other models;</a:t>
            </a:r>
            <a:r>
              <a:rPr lang="en-US" sz="1000" noProof="1">
                <a:solidFill>
                  <a:srgbClr val="1A2433"/>
                </a:solidFill>
                <a:latin typeface="Liter"/>
                <a:ea typeface="Liter"/>
              </a:rPr>
              <a:t> only /api/v1/systemone returned Jev's typed answers. Not re-checked in this run. </a:t>
            </a:r>
            <a:r>
              <a:rPr lang="en-US" sz="1000" noProof="1">
                <a:solidFill>
                  <a:srgbClr val="98A1AD"/>
                </a:solidFill>
                <a:latin typeface="Liter"/>
                <a:ea typeface="Liter"/>
              </a:rPr>
              <a:t>(Our measurement)</a:t>
            </a:r>
            <a:endParaRPr lang="en-US" sz="1000" noProof="1"/>
          </a:p>
          <a:p>
            <a:pPr>
              <a:lnSpc>
                <a:spcPct val="150000"/>
              </a:lnSpc>
              <a:spcBef>
                <a:spcPts val="1000"/>
              </a:spcBef>
            </a:pPr>
            <a:r>
              <a:rPr lang="en-US" sz="1000" noProof="1">
                <a:solidFill>
                  <a:srgbClr val="1A2433"/>
                </a:solidFill>
                <a:latin typeface="Liter"/>
                <a:ea typeface="Liter"/>
              </a:rPr>
              <a:t>• </a:t>
            </a:r>
            <a:r>
              <a:rPr lang="en-US" sz="1000" noProof="1" b="1">
                <a:solidFill>
                  <a:srgbClr val="1A2433"/>
                </a:solidFill>
                <a:latin typeface="Liter"/>
                <a:ea typeface="Liter"/>
              </a:rPr>
              <a:t>No named production customer in IT operations found.</a:t>
            </a:r>
            <a:r>
              <a:rPr lang="en-US" sz="1000" noProof="1">
                <a:solidFill>
                  <a:srgbClr val="1A2433"/>
                </a:solidFill>
                <a:latin typeface="Liter"/>
                <a:ea typeface="Liter"/>
              </a:rPr>
              <a:t> </a:t>
            </a:r>
            <a:r>
              <a:rPr lang="en-US" sz="1000" noProof="1">
                <a:solidFill>
                  <a:srgbClr val="98A1AD"/>
                </a:solidFill>
                <a:latin typeface="Liter"/>
                <a:ea typeface="Liter"/>
              </a:rPr>
              <a:t>(Independent)</a:t>
            </a:r>
            <a:endParaRPr lang="en-US" sz="1000" noProof="1"/>
          </a:p>
        </p:txBody>
      </p:sp>
      <p:sp>
        <p:nvSpPr>
          <p:cNvPr id="6" name="vline"/>
          <p:cNvSpPr/>
          <p:nvPr/>
        </p:nvSpPr>
        <p:spPr>
          <a:xfrm>
            <a:off x="8128000" y="1346200"/>
            <a:ext cx="9525" cy="4826000"/>
          </a:xfrm>
          <a:prstGeom prst="rect">
            <a:avLst/>
          </a:prstGeom>
          <a:solidFill>
            <a:srgbClr val="DCE3EB"/>
          </a:solidFill>
          <a:ln>
            <a:noFill/>
          </a:ln>
        </p:spPr>
      </p:sp>
      <p:sp>
        <p:nvSpPr>
          <p:cNvPr id="7" name="imp-head"/>
          <p:cNvSpPr txBox="1"/>
          <p:nvPr/>
        </p:nvSpPr>
        <p:spPr>
          <a:xfrm>
            <a:off x="8432800" y="1346200"/>
            <a:ext cx="3048000" cy="190500"/>
          </a:xfrm>
          <a:prstGeom prst="rect">
            <a:avLst/>
          </a:prstGeom>
          <a:noFill/>
          <a:ln>
            <a:noFill/>
          </a:ln>
        </p:spPr>
        <p:txBody>
          <a:bodyPr lIns="0" rIns="0" tIns="0" bIns="0" wrap="none" rtlCol="0"/>
          <a:lstStyle/>
          <a:p>
            <a:pPr>
              <a:lnSpc>
                <a:spcPct val="120000"/>
              </a:lnSpc>
            </a:pPr>
            <a:r>
              <a:rPr lang="en-US" sz="1050" noProof="1" b="1">
                <a:solidFill>
                  <a:srgbClr val="16365C"/>
                </a:solidFill>
                <a:latin typeface="Liter"/>
                <a:ea typeface="Liter"/>
              </a:rPr>
              <a:t>What this means for a pilot</a:t>
            </a:r>
            <a:endParaRPr lang="en-US" sz="1050" noProof="1"/>
          </a:p>
        </p:txBody>
      </p:sp>
      <p:sp>
        <p:nvSpPr>
          <p:cNvPr id="8" name="imp-body"/>
          <p:cNvSpPr txBox="1"/>
          <p:nvPr/>
        </p:nvSpPr>
        <p:spPr>
          <a:xfrm>
            <a:off x="8432800" y="1625600"/>
            <a:ext cx="3048000" cy="4318000"/>
          </a:xfrm>
          <a:prstGeom prst="rect">
            <a:avLst/>
          </a:prstGeom>
          <a:noFill/>
          <a:ln>
            <a:noFill/>
          </a:ln>
        </p:spPr>
        <p:txBody>
          <a:bodyPr lIns="0" rIns="0" tIns="0" bIns="0" wrap="square" rtlCol="0"/>
          <a:lstStyle/>
          <a:p>
            <a:pPr>
              <a:lnSpc>
                <a:spcPct val="145000"/>
              </a:lnSpc>
            </a:pPr>
            <a:r>
              <a:rPr lang="en-US" sz="950" noProof="1">
                <a:solidFill>
                  <a:srgbClr val="1A2433"/>
                </a:solidFill>
                <a:latin typeface="Liter"/>
                <a:ea typeface="Liter"/>
              </a:rPr>
              <a:t>A young vendor is a reason to structure the pilot so it survives the vendor: pin model versions, keep the gate and questions in owned code, hold a self-hosted fallback option, and put the contractual asks (Q17) in writing before real tickets flow.</a:t>
            </a:r>
            <a:endParaRPr lang="en-US" sz="950" noProof="1"/>
          </a:p>
          <a:p>
            <a:pPr>
              <a:lnSpc>
                <a:spcPct val="145000"/>
              </a:lnSpc>
              <a:spcBef>
                <a:spcPts val="1000"/>
              </a:spcBef>
            </a:pPr>
            <a:r>
              <a:rPr lang="en-US" sz="950" noProof="1">
                <a:solidFill>
                  <a:srgbClr val="5B6472"/>
                </a:solidFill>
                <a:latin typeface="Liter"/>
                <a:ea typeface="Liter"/>
              </a:rPr>
              <a:t>None of this blocks a synthetic or replay-stage test; it shapes what Stage 3 is allowed to touch.</a:t>
            </a:r>
            <a:endParaRPr lang="en-US" sz="950" noProof="1"/>
          </a:p>
        </p:txBody>
      </p:sp>
      <p:sp>
        <p:nvSpPr>
          <p:cNvPr id="9" name="footline"/>
          <p:cNvSpPr/>
          <p:nvPr/>
        </p:nvSpPr>
        <p:spPr>
          <a:xfrm>
            <a:off x="711200" y="6477000"/>
            <a:ext cx="10769600" cy="9525"/>
          </a:xfrm>
          <a:prstGeom prst="rect">
            <a:avLst/>
          </a:prstGeom>
          <a:solidFill>
            <a:srgbClr val="DCE3EB"/>
          </a:solidFill>
          <a:ln>
            <a:noFill/>
          </a:ln>
        </p:spPr>
      </p:sp>
      <p:sp>
        <p:nvSpPr>
          <p:cNvPr id="10"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research/independent-review-claude.md (profile, caveats); results/facts.json (models, endpoints); zeroops/adapters.py.</a:t>
            </a:r>
            <a:endParaRPr lang="en-US" sz="750" noProof="1"/>
          </a:p>
        </p:txBody>
      </p:sp>
      <p:sp>
        <p:nvSpPr>
          <p:cNvPr id="11"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A7</a:t>
            </a:r>
            <a:endParaRPr lang="en-US" sz="800" noProof="1"/>
          </a:p>
        </p:txBody>
      </p:sp>
    </p:spTree>
  </p:cSld>
  <p:clrMapOvr>
    <a:masterClrMapping/>
  </p:clrMapOvr>
</p:sld>
</file>

<file path=ppt/slides/slide2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A8</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Risks, security and compliance — and how each could be contained</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graphicFrame>
        <p:nvGraphicFramePr>
          <p:cNvPr id="5" name="risks"/>
          <p:cNvGraphicFramePr>
            <a:graphicFrameLocks noGrp="1"/>
          </p:cNvGraphicFramePr>
          <p:nvPr/>
        </p:nvGraphicFramePr>
        <p:xfrm>
          <a:off x="711200" y="1270000"/>
          <a:ext cx="10769600" cy="4978400"/>
        </p:xfrm>
        <a:graphic>
          <a:graphicData uri="http://schemas.openxmlformats.org/drawingml/2006/table">
            <a:tbl>
              <a:tblPr/>
              <a:tblGrid>
                <a:gridCol w="2907792"/>
                <a:gridCol w="3230880"/>
                <a:gridCol w="4630928"/>
              </a:tblGrid>
              <a:tr h="448056">
                <a:tc>
                  <a:txBody>
                    <a:bodyPr wrap="square" rtlCol="0" anchor="ctr"/>
                    <a:lstStyle/>
                    <a:p>
                      <a:pPr algn="l">
                        <a:lnSpc>
                          <a:spcPct val="125000"/>
                        </a:lnSpc>
                      </a:pPr>
                      <a:r>
                        <a:rPr lang="en-US" sz="800" noProof="1" b="1">
                          <a:solidFill>
                            <a:srgbClr val="FFFFFF"/>
                          </a:solidFill>
                          <a:latin typeface="Liter"/>
                          <a:ea typeface="Liter"/>
                        </a:rPr>
                        <a:t>Risk</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00" noProof="1" b="1">
                          <a:solidFill>
                            <a:srgbClr val="FFFFFF"/>
                          </a:solidFill>
                          <a:latin typeface="Liter"/>
                          <a:ea typeface="Liter"/>
                        </a:rPr>
                        <a:t>Source</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00" noProof="1" b="1">
                          <a:solidFill>
                            <a:srgbClr val="FFFFFF"/>
                          </a:solidFill>
                          <a:latin typeface="Liter"/>
                          <a:ea typeface="Liter"/>
                        </a:rPr>
                        <a:t>How it could be contained</a:t>
                      </a:r>
                    </a:p>
                  </a:txBody>
                  <a:tcPr marL="91440" marR="91440" marT="45720" marB="45720" anchor="ctr">
                    <a:lnL>
                      <a:noFill/>
                    </a:lnL>
                    <a:lnR>
                      <a:noFill/>
                    </a:lnR>
                    <a:lnT>
                      <a:noFill/>
                    </a:lnT>
                    <a:lnB>
                      <a:noFill/>
                    </a:lnB>
                    <a:solidFill>
                      <a:srgbClr val="16365C"/>
                    </a:solidFill>
                  </a:tcPr>
                </a:tc>
              </a:tr>
              <a:tr h="647192">
                <a:tc>
                  <a:txBody>
                    <a:bodyPr wrap="square" rtlCol="0" anchor="ctr"/>
                    <a:lstStyle/>
                    <a:p>
                      <a:pPr algn="l">
                        <a:lnSpc>
                          <a:spcPct val="125000"/>
                        </a:lnSpc>
                      </a:pPr>
                      <a:r>
                        <a:rPr lang="en-US" sz="800" noProof="1" b="1">
                          <a:solidFill>
                            <a:srgbClr val="1A2433"/>
                          </a:solidFill>
                          <a:latin typeface="Liter"/>
                          <a:ea typeface="Liter"/>
                        </a:rPr>
                        <a:t>Text in tickets, logs or email moves answers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Independent (Check Point — 25 of 27 runs)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Build the input from structured fields; strip instruction-like text; give the model no action rights; red-team before use</a:t>
                      </a:r>
                    </a:p>
                  </a:txBody>
                  <a:tcPr marL="91440" marR="91440" marT="45720" marB="45720" anchor="ctr">
                    <a:lnL>
                      <a:noFill/>
                    </a:lnL>
                    <a:lnR>
                      <a:noFill/>
                    </a:lnR>
                    <a:lnT>
                      <a:noFill/>
                    </a:lnT>
                    <a:lnB w="6350">
                      <a:solidFill>
                        <a:srgbClr val="DCE3EB"/>
                      </a:solidFill>
                    </a:lnB>
                    <a:solidFill>
                      <a:srgbClr val="FFFFFF"/>
                    </a:solidFill>
                  </a:tcPr>
                </a:tc>
              </a:tr>
              <a:tr h="647192">
                <a:tc>
                  <a:txBody>
                    <a:bodyPr wrap="square" rtlCol="0" anchor="ctr"/>
                    <a:lstStyle/>
                    <a:p>
                      <a:pPr algn="l">
                        <a:lnSpc>
                          <a:spcPct val="125000"/>
                        </a:lnSpc>
                      </a:pPr>
                      <a:r>
                        <a:rPr lang="en-US" sz="800" noProof="1" b="1">
                          <a:solidFill>
                            <a:srgbClr val="1A2433"/>
                          </a:solidFill>
                          <a:latin typeface="Liter"/>
                          <a:ea typeface="Liter"/>
                        </a:rPr>
                        <a:t>Leans to the first option</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Vendor claim; our measurement (rollback, listed first, proposed 16 times vs 4 labelled)</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Shuffle option order per call, or run two orders and require agreement</a:t>
                      </a:r>
                    </a:p>
                  </a:txBody>
                  <a:tcPr marL="91440" marR="91440" marT="45720" marB="45720" anchor="ctr">
                    <a:lnL>
                      <a:noFill/>
                    </a:lnL>
                    <a:lnR>
                      <a:noFill/>
                    </a:lnR>
                    <a:lnT>
                      <a:noFill/>
                    </a:lnT>
                    <a:lnB w="6350">
                      <a:solidFill>
                        <a:srgbClr val="DCE3EB"/>
                      </a:solidFill>
                    </a:lnB>
                    <a:solidFill>
                      <a:srgbClr val="F4F7FA"/>
                    </a:solidFill>
                  </a:tcPr>
                </a:tc>
              </a:tr>
              <a:tr h="647192">
                <a:tc>
                  <a:txBody>
                    <a:bodyPr wrap="square" rtlCol="0" anchor="ctr"/>
                    <a:lstStyle/>
                    <a:p>
                      <a:pPr algn="l">
                        <a:lnSpc>
                          <a:spcPct val="125000"/>
                        </a:lnSpc>
                      </a:pPr>
                      <a:r>
                        <a:rPr lang="en-US" sz="800" noProof="1" b="1">
                          <a:solidFill>
                            <a:srgbClr val="1A2433"/>
                          </a:solidFill>
                          <a:latin typeface="Liter"/>
                          <a:ea typeface="Liter"/>
                        </a:rPr>
                        <a:t>No arithmetic or dates; worse with long input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Vendor claim</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Keep detection numeric and outside Jev; trim the input</a:t>
                      </a:r>
                    </a:p>
                  </a:txBody>
                  <a:tcPr marL="91440" marR="91440" marT="45720" marB="45720" anchor="ctr">
                    <a:lnL>
                      <a:noFill/>
                    </a:lnL>
                    <a:lnR>
                      <a:noFill/>
                    </a:lnR>
                    <a:lnT>
                      <a:noFill/>
                    </a:lnT>
                    <a:lnB w="6350">
                      <a:solidFill>
                        <a:srgbClr val="DCE3EB"/>
                      </a:solidFill>
                    </a:lnB>
                    <a:solidFill>
                      <a:srgbClr val="FFFFFF"/>
                    </a:solidFill>
                  </a:tcPr>
                </a:tc>
              </a:tr>
              <a:tr h="647192">
                <a:tc>
                  <a:txBody>
                    <a:bodyPr wrap="square" rtlCol="0" anchor="ctr"/>
                    <a:lstStyle/>
                    <a:p>
                      <a:pPr algn="l">
                        <a:lnSpc>
                          <a:spcPct val="125000"/>
                        </a:lnSpc>
                      </a:pPr>
                      <a:r>
                        <a:rPr lang="en-US" sz="800" noProof="1" b="1">
                          <a:solidFill>
                            <a:srgbClr val="1A2433"/>
                          </a:solidFill>
                          <a:latin typeface="Liter"/>
                          <a:ea typeface="Liter"/>
                        </a:rPr>
                        <a:t>Confident wrong call on an unfamiliar incident</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Our measurement (data corruption rated 1.23–1.35 on a 0–3 scale, labelled SEV1)</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Per-action checks; human approval for anything irreversible</a:t>
                      </a:r>
                    </a:p>
                  </a:txBody>
                  <a:tcPr marL="91440" marR="91440" marT="45720" marB="45720" anchor="ctr">
                    <a:lnL>
                      <a:noFill/>
                    </a:lnL>
                    <a:lnR>
                      <a:noFill/>
                    </a:lnR>
                    <a:lnT>
                      <a:noFill/>
                    </a:lnT>
                    <a:lnB w="6350">
                      <a:solidFill>
                        <a:srgbClr val="DCE3EB"/>
                      </a:solidFill>
                    </a:lnB>
                    <a:solidFill>
                      <a:srgbClr val="F4F7FA"/>
                    </a:solidFill>
                  </a:tcPr>
                </a:tc>
              </a:tr>
              <a:tr h="647192">
                <a:tc>
                  <a:txBody>
                    <a:bodyPr wrap="square" rtlCol="0" anchor="ctr"/>
                    <a:lstStyle/>
                    <a:p>
                      <a:pPr algn="l">
                        <a:lnSpc>
                          <a:spcPct val="125000"/>
                        </a:lnSpc>
                      </a:pPr>
                      <a:r>
                        <a:rPr lang="en-US" sz="800" noProof="1" b="1">
                          <a:solidFill>
                            <a:srgbClr val="1A2433"/>
                          </a:solidFill>
                          <a:latin typeface="Liter"/>
                          <a:ea typeface="Liter"/>
                        </a:rPr>
                        <a:t>Automation swings with one threshold; no held-out check</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Our measurement (22 automated at 0.90, 12 at 0.80)</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Set and check thresholds on held-out history; re-run at each release</a:t>
                      </a:r>
                    </a:p>
                  </a:txBody>
                  <a:tcPr marL="91440" marR="91440" marT="45720" marB="45720" anchor="ctr">
                    <a:lnL>
                      <a:noFill/>
                    </a:lnL>
                    <a:lnR>
                      <a:noFill/>
                    </a:lnR>
                    <a:lnT>
                      <a:noFill/>
                    </a:lnT>
                    <a:lnB w="6350">
                      <a:solidFill>
                        <a:srgbClr val="DCE3EB"/>
                      </a:solidFill>
                    </a:lnB>
                    <a:solidFill>
                      <a:srgbClr val="FFFFFF"/>
                    </a:solidFill>
                  </a:tcPr>
                </a:tc>
              </a:tr>
              <a:tr h="647192">
                <a:tc>
                  <a:txBody>
                    <a:bodyPr wrap="square" rtlCol="0" anchor="ctr"/>
                    <a:lstStyle/>
                    <a:p>
                      <a:pPr algn="l">
                        <a:lnSpc>
                          <a:spcPct val="125000"/>
                        </a:lnSpc>
                      </a:pPr>
                      <a:r>
                        <a:rPr lang="en-US" sz="800" noProof="1" b="1">
                          <a:solidFill>
                            <a:srgbClr val="1A2433"/>
                          </a:solidFill>
                          <a:latin typeface="Liter"/>
                          <a:ea typeface="Liter"/>
                        </a:rPr>
                        <a:t>"Page a human" doesn't separate cases</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Our measurement (mean 0.77 vs 0.77)</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Don't gate on one probability alone; test question wording on held-out history</a:t>
                      </a:r>
                    </a:p>
                  </a:txBody>
                  <a:tcPr marL="91440" marR="91440" marT="45720" marB="45720" anchor="ctr">
                    <a:lnL>
                      <a:noFill/>
                    </a:lnL>
                    <a:lnR>
                      <a:noFill/>
                    </a:lnR>
                    <a:lnT>
                      <a:noFill/>
                    </a:lnT>
                    <a:lnB w="6350">
                      <a:solidFill>
                        <a:srgbClr val="DCE3EB"/>
                      </a:solidFill>
                    </a:lnB>
                    <a:solidFill>
                      <a:srgbClr val="F4F7FA"/>
                    </a:solidFill>
                  </a:tcPr>
                </a:tc>
              </a:tr>
              <a:tr h="647192">
                <a:tc>
                  <a:txBody>
                    <a:bodyPr wrap="square" rtlCol="0" anchor="ctr"/>
                    <a:lstStyle/>
                    <a:p>
                      <a:pPr algn="l">
                        <a:lnSpc>
                          <a:spcPct val="125000"/>
                        </a:lnSpc>
                      </a:pPr>
                      <a:r>
                        <a:rPr lang="en-US" sz="800" noProof="1" b="1">
                          <a:solidFill>
                            <a:srgbClr val="1A2433"/>
                          </a:solidFill>
                          <a:latin typeface="Liter"/>
                          <a:ea typeface="Liter"/>
                        </a:rPr>
                        <a:t>The model changes under you, or the service is down; data protection and EU AI Act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Independent; our measurement (same model, two endpoints — two outcomes differ); Judgement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Pin the version (done in the demo); time out and fall back to existing rules; keep PHI/PCI out; DPA and zero retention; classify each use; log input hash, model version, option order, probabilities, threshold version</a:t>
                      </a:r>
                    </a:p>
                  </a:txBody>
                  <a:tcPr marL="91440" marR="91440" marT="45720" marB="45720" anchor="ctr">
                    <a:lnL>
                      <a:noFill/>
                    </a:lnL>
                    <a:lnR>
                      <a:noFill/>
                    </a:lnR>
                    <a:lnT>
                      <a:noFill/>
                    </a:lnT>
                    <a:lnB w="6350">
                      <a:solidFill>
                        <a:srgbClr val="DCE3EB"/>
                      </a:solidFill>
                    </a:lnB>
                    <a:solidFill>
                      <a:srgbClr val="FFFFFF"/>
                    </a:solidFill>
                  </a:tcPr>
                </a:tc>
              </a:tr>
            </a:tbl>
          </a:graphicData>
        </a:graphic>
      </p:graphicFrame>
      <p:sp>
        <p:nvSpPr>
          <p:cNvPr id="6" name="footline"/>
          <p:cNvSpPr/>
          <p:nvPr/>
        </p:nvSpPr>
        <p:spPr>
          <a:xfrm>
            <a:off x="711200" y="6477000"/>
            <a:ext cx="10769600" cy="9525"/>
          </a:xfrm>
          <a:prstGeom prst="rect">
            <a:avLst/>
          </a:prstGeom>
          <a:solidFill>
            <a:srgbClr val="DCE3EB"/>
          </a:solidFill>
          <a:ln>
            <a:noFill/>
          </a:ln>
        </p:spPr>
      </p:sp>
      <p:sp>
        <p:nvSpPr>
          <p:cNvPr id="7"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research/independent-review-claude.md; deliverables/3_open-questions-and-next-steps.md C6, C7, C11; zeroops/policy.py; results/facts.json.</a:t>
            </a:r>
            <a:endParaRPr lang="en-US" sz="750" noProof="1"/>
          </a:p>
        </p:txBody>
      </p:sp>
      <p:sp>
        <p:nvSpPr>
          <p:cNvPr id="8"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A8</a:t>
            </a:r>
            <a:endParaRPr lang="en-US" sz="800" noProof="1"/>
          </a:p>
        </p:txBody>
      </p:sp>
    </p:spTree>
  </p:cSld>
  <p:clrMapOvr>
    <a:masterClrMapping/>
  </p:clrMapOvr>
</p:sld>
</file>

<file path=ppt/slides/slide2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A9</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Where a typed model fits, component by component</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graphicFrame>
        <p:nvGraphicFramePr>
          <p:cNvPr id="5" name="compmap"/>
          <p:cNvGraphicFramePr>
            <a:graphicFrameLocks noGrp="1"/>
          </p:cNvGraphicFramePr>
          <p:nvPr/>
        </p:nvGraphicFramePr>
        <p:xfrm>
          <a:off x="711200" y="1270000"/>
          <a:ext cx="10769600" cy="4978400"/>
        </p:xfrm>
        <a:graphic>
          <a:graphicData uri="http://schemas.openxmlformats.org/drawingml/2006/table">
            <a:tbl>
              <a:tblPr/>
              <a:tblGrid>
                <a:gridCol w="2800096"/>
                <a:gridCol w="3661664"/>
                <a:gridCol w="4307840"/>
              </a:tblGrid>
              <a:tr h="448056">
                <a:tc>
                  <a:txBody>
                    <a:bodyPr wrap="square" rtlCol="0" anchor="ctr"/>
                    <a:lstStyle/>
                    <a:p>
                      <a:pPr algn="l">
                        <a:lnSpc>
                          <a:spcPct val="125000"/>
                        </a:lnSpc>
                      </a:pPr>
                      <a:r>
                        <a:rPr lang="en-US" sz="800" noProof="1" b="1">
                          <a:solidFill>
                            <a:srgbClr val="FFFFFF"/>
                          </a:solidFill>
                          <a:latin typeface="Liter"/>
                          <a:ea typeface="Liter"/>
                        </a:rPr>
                        <a:t>Component</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00" noProof="1" b="1">
                          <a:solidFill>
                            <a:srgbClr val="FFFFFF"/>
                          </a:solidFill>
                          <a:latin typeface="Liter"/>
                          <a:ea typeface="Liter"/>
                        </a:rPr>
                        <a:t>Build or buy</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800" noProof="1" b="1">
                          <a:solidFill>
                            <a:srgbClr val="FFFFFF"/>
                          </a:solidFill>
                          <a:latin typeface="Liter"/>
                          <a:ea typeface="Liter"/>
                        </a:rPr>
                        <a:t>Where a typed model fits</a:t>
                      </a:r>
                    </a:p>
                  </a:txBody>
                  <a:tcPr marL="91440" marR="91440" marT="45720" marB="45720" anchor="ctr">
                    <a:lnL>
                      <a:noFill/>
                    </a:lnL>
                    <a:lnR>
                      <a:noFill/>
                    </a:lnR>
                    <a:lnT>
                      <a:noFill/>
                    </a:lnT>
                    <a:lnB>
                      <a:noFill/>
                    </a:lnB>
                    <a:solidFill>
                      <a:srgbClr val="16365C"/>
                    </a:solidFill>
                  </a:tcPr>
                </a:tc>
              </a:tr>
              <a:tr h="453034">
                <a:tc>
                  <a:txBody>
                    <a:bodyPr wrap="square" rtlCol="0" anchor="ctr"/>
                    <a:lstStyle/>
                    <a:p>
                      <a:pPr algn="l">
                        <a:lnSpc>
                          <a:spcPct val="125000"/>
                        </a:lnSpc>
                      </a:pPr>
                      <a:r>
                        <a:rPr lang="en-US" sz="800" noProof="1" b="1">
                          <a:solidFill>
                            <a:srgbClr val="1A2433"/>
                          </a:solidFill>
                          <a:latin typeface="Liter"/>
                          <a:ea typeface="Liter"/>
                        </a:rPr>
                        <a:t>Ingestion / observability</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Build (OTel + Prometheus/Grafana) or buy</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None</a:t>
                      </a:r>
                    </a:p>
                  </a:txBody>
                  <a:tcPr marL="91440" marR="91440" marT="45720" marB="45720" anchor="ctr">
                    <a:lnL>
                      <a:noFill/>
                    </a:lnL>
                    <a:lnR>
                      <a:noFill/>
                    </a:lnR>
                    <a:lnT>
                      <a:noFill/>
                    </a:lnT>
                    <a:lnB w="6350">
                      <a:solidFill>
                        <a:srgbClr val="DCE3EB"/>
                      </a:solidFill>
                    </a:lnB>
                    <a:solidFill>
                      <a:srgbClr val="FFFFFF"/>
                    </a:solidFill>
                  </a:tcPr>
                </a:tc>
              </a:tr>
              <a:tr h="453034">
                <a:tc>
                  <a:txBody>
                    <a:bodyPr wrap="square" rtlCol="0" anchor="ctr"/>
                    <a:lstStyle/>
                    <a:p>
                      <a:pPr algn="l">
                        <a:lnSpc>
                          <a:spcPct val="125000"/>
                        </a:lnSpc>
                      </a:pPr>
                      <a:r>
                        <a:rPr lang="en-US" sz="800" noProof="1" b="1">
                          <a:solidFill>
                            <a:srgbClr val="1A2433"/>
                          </a:solidFill>
                          <a:latin typeface="Liter"/>
                          <a:ea typeface="Liter"/>
                        </a:rPr>
                        <a:t>Anomaly detection</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Buy or keep; keep it numeric</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No fit (weak at numbers)</a:t>
                      </a:r>
                    </a:p>
                  </a:txBody>
                  <a:tcPr marL="91440" marR="91440" marT="45720" marB="45720" anchor="ctr">
                    <a:lnL>
                      <a:noFill/>
                    </a:lnL>
                    <a:lnR>
                      <a:noFill/>
                    </a:lnR>
                    <a:lnT>
                      <a:noFill/>
                    </a:lnT>
                    <a:lnB w="6350">
                      <a:solidFill>
                        <a:srgbClr val="DCE3EB"/>
                      </a:solidFill>
                    </a:lnB>
                    <a:solidFill>
                      <a:srgbClr val="F4F7FA"/>
                    </a:solidFill>
                  </a:tcPr>
                </a:tc>
              </a:tr>
              <a:tr h="453034">
                <a:tc>
                  <a:txBody>
                    <a:bodyPr wrap="square" rtlCol="0" anchor="ctr"/>
                    <a:lstStyle/>
                    <a:p>
                      <a:pPr algn="l">
                        <a:lnSpc>
                          <a:spcPct val="125000"/>
                        </a:lnSpc>
                      </a:pPr>
                      <a:r>
                        <a:rPr lang="en-US" sz="800" noProof="1" b="1">
                          <a:solidFill>
                            <a:srgbClr val="1A2433"/>
                          </a:solidFill>
                          <a:latin typeface="Liter"/>
                          <a:ea typeface="Liter"/>
                        </a:rPr>
                        <a:t>Correlation and dedup</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Hybrid — open-source fingerprinting + commercial ML</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A yes/no "same incident?" after dedup</a:t>
                      </a:r>
                    </a:p>
                  </a:txBody>
                  <a:tcPr marL="91440" marR="91440" marT="45720" marB="45720" anchor="ctr">
                    <a:lnL>
                      <a:noFill/>
                    </a:lnL>
                    <a:lnR>
                      <a:noFill/>
                    </a:lnR>
                    <a:lnT>
                      <a:noFill/>
                    </a:lnT>
                    <a:lnB w="6350">
                      <a:solidFill>
                        <a:srgbClr val="DCE3EB"/>
                      </a:solidFill>
                    </a:lnB>
                    <a:solidFill>
                      <a:srgbClr val="FFFFFF"/>
                    </a:solidFill>
                  </a:tcPr>
                </a:tc>
              </a:tr>
              <a:tr h="453034">
                <a:tc>
                  <a:txBody>
                    <a:bodyPr wrap="square" rtlCol="0" anchor="ctr"/>
                    <a:lstStyle/>
                    <a:p>
                      <a:pPr algn="l">
                        <a:lnSpc>
                          <a:spcPct val="125000"/>
                        </a:lnSpc>
                      </a:pPr>
                      <a:r>
                        <a:rPr lang="en-US" sz="800" noProof="1" b="1">
                          <a:solidFill>
                            <a:srgbClr val="1A2433"/>
                          </a:solidFill>
                          <a:latin typeface="Liter"/>
                          <a:ea typeface="Liter"/>
                        </a:rPr>
                        <a:t>CMDB / topology (system of record)</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Buy or keep — ServiceNow</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Map free text to a CI or team (pick one)</a:t>
                      </a:r>
                    </a:p>
                  </a:txBody>
                  <a:tcPr marL="91440" marR="91440" marT="45720" marB="45720" anchor="ctr">
                    <a:lnL>
                      <a:noFill/>
                    </a:lnL>
                    <a:lnR>
                      <a:noFill/>
                    </a:lnR>
                    <a:lnT>
                      <a:noFill/>
                    </a:lnT>
                    <a:lnB w="6350">
                      <a:solidFill>
                        <a:srgbClr val="DCE3EB"/>
                      </a:solidFill>
                    </a:lnB>
                    <a:solidFill>
                      <a:srgbClr val="F4F7FA"/>
                    </a:solidFill>
                  </a:tcPr>
                </a:tc>
              </a:tr>
              <a:tr h="453034">
                <a:tc>
                  <a:txBody>
                    <a:bodyPr wrap="square" rtlCol="0" anchor="ctr"/>
                    <a:lstStyle/>
                    <a:p>
                      <a:pPr algn="l">
                        <a:lnSpc>
                          <a:spcPct val="125000"/>
                        </a:lnSpc>
                      </a:pPr>
                      <a:r>
                        <a:rPr lang="en-US" sz="800" noProof="1" b="1">
                          <a:solidFill>
                            <a:srgbClr val="1A2433"/>
                          </a:solidFill>
                          <a:latin typeface="Liter"/>
                          <a:ea typeface="Liter"/>
                        </a:rPr>
                        <a:t>Root cause analysis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Buy topology RCA or test an AI SRE agent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Rank candidates; check evidence before a diagnosis</a:t>
                      </a:r>
                    </a:p>
                  </a:txBody>
                  <a:tcPr marL="91440" marR="91440" marT="45720" marB="45720" anchor="ctr">
                    <a:lnL>
                      <a:noFill/>
                    </a:lnL>
                    <a:lnR>
                      <a:noFill/>
                    </a:lnR>
                    <a:lnT>
                      <a:noFill/>
                    </a:lnT>
                    <a:lnB w="6350">
                      <a:solidFill>
                        <a:srgbClr val="DCE3EB"/>
                      </a:solidFill>
                    </a:lnB>
                    <a:solidFill>
                      <a:srgbClr val="FFFFFF"/>
                    </a:solidFill>
                  </a:tcPr>
                </a:tc>
              </a:tr>
              <a:tr h="453034">
                <a:tc>
                  <a:txBody>
                    <a:bodyPr wrap="square" rtlCol="0" anchor="ctr"/>
                    <a:lstStyle/>
                    <a:p>
                      <a:pPr algn="l">
                        <a:lnSpc>
                          <a:spcPct val="125000"/>
                        </a:lnSpc>
                      </a:pPr>
                      <a:r>
                        <a:rPr lang="en-US" sz="800" noProof="1" b="1">
                          <a:solidFill>
                            <a:srgbClr val="1A2433"/>
                          </a:solidFill>
                          <a:latin typeface="Liter"/>
                          <a:ea typeface="Liter"/>
                        </a:rPr>
                        <a:t>Triage / prioritisation / routing</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Strongest build candidate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Best candidate to test first (pick one, scale, yes/no)</a:t>
                      </a:r>
                    </a:p>
                  </a:txBody>
                  <a:tcPr marL="91440" marR="91440" marT="45720" marB="45720" anchor="ctr">
                    <a:lnL>
                      <a:noFill/>
                    </a:lnL>
                    <a:lnR>
                      <a:noFill/>
                    </a:lnR>
                    <a:lnT>
                      <a:noFill/>
                    </a:lnT>
                    <a:lnB w="6350">
                      <a:solidFill>
                        <a:srgbClr val="DCE3EB"/>
                      </a:solidFill>
                    </a:lnB>
                    <a:solidFill>
                      <a:srgbClr val="F4F7FA"/>
                    </a:solidFill>
                  </a:tcPr>
                </a:tc>
              </a:tr>
              <a:tr h="453034">
                <a:tc>
                  <a:txBody>
                    <a:bodyPr wrap="square" rtlCol="0" anchor="ctr"/>
                    <a:lstStyle/>
                    <a:p>
                      <a:pPr algn="l">
                        <a:lnSpc>
                          <a:spcPct val="125000"/>
                        </a:lnSpc>
                      </a:pPr>
                      <a:r>
                        <a:rPr lang="en-US" sz="800" noProof="1" b="1">
                          <a:solidFill>
                            <a:srgbClr val="1A2433"/>
                          </a:solidFill>
                          <a:latin typeface="Liter"/>
                          <a:ea typeface="Liter"/>
                        </a:rPr>
                        <a:t>ITSM workflow integration</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Keep ServiceNow as system of record</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Called from Flow Designer / IntegrationHub</a:t>
                      </a:r>
                    </a:p>
                  </a:txBody>
                  <a:tcPr marL="91440" marR="91440" marT="45720" marB="45720" anchor="ctr">
                    <a:lnL>
                      <a:noFill/>
                    </a:lnL>
                    <a:lnR>
                      <a:noFill/>
                    </a:lnR>
                    <a:lnT>
                      <a:noFill/>
                    </a:lnT>
                    <a:lnB w="6350">
                      <a:solidFill>
                        <a:srgbClr val="DCE3EB"/>
                      </a:solidFill>
                    </a:lnB>
                    <a:solidFill>
                      <a:srgbClr val="FFFFFF"/>
                    </a:solidFill>
                  </a:tcPr>
                </a:tc>
              </a:tr>
              <a:tr h="453034">
                <a:tc>
                  <a:txBody>
                    <a:bodyPr wrap="square" rtlCol="0" anchor="ctr"/>
                    <a:lstStyle/>
                    <a:p>
                      <a:pPr algn="l">
                        <a:lnSpc>
                          <a:spcPct val="125000"/>
                        </a:lnSpc>
                      </a:pPr>
                      <a:r>
                        <a:rPr lang="en-US" sz="800" noProof="1" b="1">
                          <a:solidFill>
                            <a:srgbClr val="1A2433"/>
                          </a:solidFill>
                          <a:latin typeface="Liter"/>
                          <a:ea typeface="Liter"/>
                        </a:rPr>
                        <a:t>On-call and communication</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Buy (safety-critical)</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Minor (shadow only)</a:t>
                      </a:r>
                    </a:p>
                  </a:txBody>
                  <a:tcPr marL="91440" marR="91440" marT="45720" marB="45720" anchor="ctr">
                    <a:lnL>
                      <a:noFill/>
                    </a:lnL>
                    <a:lnR>
                      <a:noFill/>
                    </a:lnR>
                    <a:lnT>
                      <a:noFill/>
                    </a:lnT>
                    <a:lnB w="6350">
                      <a:solidFill>
                        <a:srgbClr val="DCE3EB"/>
                      </a:solidFill>
                    </a:lnB>
                    <a:solidFill>
                      <a:srgbClr val="F4F7FA"/>
                    </a:solidFill>
                  </a:tcPr>
                </a:tc>
              </a:tr>
              <a:tr h="453034">
                <a:tc>
                  <a:txBody>
                    <a:bodyPr wrap="square" rtlCol="0" anchor="ctr"/>
                    <a:lstStyle/>
                    <a:p>
                      <a:pPr algn="l">
                        <a:lnSpc>
                          <a:spcPct val="125000"/>
                        </a:lnSpc>
                      </a:pPr>
                      <a:r>
                        <a:rPr lang="en-US" sz="800" noProof="1" b="1">
                          <a:solidFill>
                            <a:srgbClr val="1A2433"/>
                          </a:solidFill>
                          <a:latin typeface="Liter"/>
                          <a:ea typeface="Liter"/>
                        </a:rPr>
                        <a:t>Remediation / runbooks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Build viable (Rundeck / AWX / StackStorm)</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800" noProof="1">
                          <a:solidFill>
                            <a:srgbClr val="1A2433"/>
                          </a:solidFill>
                          <a:latin typeface="Liter"/>
                          <a:ea typeface="Liter"/>
                        </a:rPr>
                        <a:t>One input to a go/no-go check; the runbook tool keeps execution rights</a:t>
                      </a:r>
                    </a:p>
                  </a:txBody>
                  <a:tcPr marL="91440" marR="91440" marT="45720" marB="45720" anchor="ctr">
                    <a:lnL>
                      <a:noFill/>
                    </a:lnL>
                    <a:lnR>
                      <a:noFill/>
                    </a:lnR>
                    <a:lnT>
                      <a:noFill/>
                    </a:lnT>
                    <a:lnB w="6350">
                      <a:solidFill>
                        <a:srgbClr val="DCE3EB"/>
                      </a:solidFill>
                    </a:lnB>
                    <a:solidFill>
                      <a:srgbClr val="FFFFFF"/>
                    </a:solidFill>
                  </a:tcPr>
                </a:tc>
              </a:tr>
              <a:tr h="453034">
                <a:tc>
                  <a:txBody>
                    <a:bodyPr wrap="square" rtlCol="0" anchor="ctr"/>
                    <a:lstStyle/>
                    <a:p>
                      <a:pPr algn="l">
                        <a:lnSpc>
                          <a:spcPct val="125000"/>
                        </a:lnSpc>
                      </a:pPr>
                      <a:r>
                        <a:rPr lang="en-US" sz="800" noProof="1" b="1">
                          <a:solidFill>
                            <a:srgbClr val="1A2433"/>
                          </a:solidFill>
                          <a:latin typeface="Liter"/>
                          <a:ea typeface="Liter"/>
                        </a:rPr>
                        <a:t>GenAI assistants (summaries, postmortems)</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Buy summaries; test agents</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800" noProof="1">
                          <a:solidFill>
                            <a:srgbClr val="1A2433"/>
                          </a:solidFill>
                          <a:latin typeface="Liter"/>
                          <a:ea typeface="Liter"/>
                        </a:rPr>
                        <a:t>Cheap router or judge inside an agent</a:t>
                      </a:r>
                    </a:p>
                  </a:txBody>
                  <a:tcPr marL="91440" marR="91440" marT="45720" marB="45720" anchor="ctr">
                    <a:lnL>
                      <a:noFill/>
                    </a:lnL>
                    <a:lnR>
                      <a:noFill/>
                    </a:lnR>
                    <a:lnT>
                      <a:noFill/>
                    </a:lnT>
                    <a:lnB w="6350">
                      <a:solidFill>
                        <a:srgbClr val="DCE3EB"/>
                      </a:solidFill>
                    </a:lnB>
                    <a:solidFill>
                      <a:srgbClr val="F4F7FA"/>
                    </a:solidFill>
                  </a:tcPr>
                </a:tc>
              </a:tr>
            </a:tbl>
          </a:graphicData>
        </a:graphic>
      </p:graphicFrame>
      <p:sp>
        <p:nvSpPr>
          <p:cNvPr id="6" name="footline"/>
          <p:cNvSpPr/>
          <p:nvPr/>
        </p:nvSpPr>
        <p:spPr>
          <a:xfrm>
            <a:off x="711200" y="6477000"/>
            <a:ext cx="10769600" cy="9525"/>
          </a:xfrm>
          <a:prstGeom prst="rect">
            <a:avLst/>
          </a:prstGeom>
          <a:solidFill>
            <a:srgbClr val="DCE3EB"/>
          </a:solidFill>
          <a:ln>
            <a:noFill/>
          </a:ln>
        </p:spPr>
      </p:sp>
      <p:sp>
        <p:nvSpPr>
          <p:cNvPr id="7"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research/independent-review-claude.md (component-by-component analysis). Judgement.</a:t>
            </a:r>
            <a:endParaRPr lang="en-US" sz="750" noProof="1"/>
          </a:p>
        </p:txBody>
      </p:sp>
      <p:sp>
        <p:nvSpPr>
          <p:cNvPr id="8"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A9</a:t>
            </a:r>
            <a:endParaRPr lang="en-US" sz="800" noProof="1"/>
          </a:p>
        </p:txBody>
      </p:sp>
    </p:spTree>
  </p:cSld>
  <p:clrMapOvr>
    <a:masterClrMapping/>
  </p:clrMapOvr>
</p:sld>
</file>

<file path=ppt/slides/slide2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A10</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Ways to extend the demo, mapped to the three stages</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graphicFrame>
        <p:nvGraphicFramePr>
          <p:cNvPr id="5" name="options"/>
          <p:cNvGraphicFramePr>
            <a:graphicFrameLocks noGrp="1"/>
          </p:cNvGraphicFramePr>
          <p:nvPr/>
        </p:nvGraphicFramePr>
        <p:xfrm>
          <a:off x="711200" y="1270000"/>
          <a:ext cx="10769600" cy="3200400"/>
        </p:xfrm>
        <a:graphic>
          <a:graphicData uri="http://schemas.openxmlformats.org/drawingml/2006/table">
            <a:tbl>
              <a:tblPr/>
              <a:tblGrid>
                <a:gridCol w="3661664"/>
                <a:gridCol w="1615440"/>
                <a:gridCol w="2153920"/>
                <a:gridCol w="1292352"/>
                <a:gridCol w="2046224"/>
              </a:tblGrid>
              <a:tr h="384048">
                <a:tc>
                  <a:txBody>
                    <a:bodyPr wrap="square" rtlCol="0" anchor="ctr"/>
                    <a:lstStyle/>
                    <a:p>
                      <a:pPr algn="l">
                        <a:lnSpc>
                          <a:spcPct val="125000"/>
                        </a:lnSpc>
                      </a:pPr>
                      <a:r>
                        <a:rPr lang="en-US" sz="750" noProof="1" b="1">
                          <a:solidFill>
                            <a:srgbClr val="FFFFFF"/>
                          </a:solidFill>
                          <a:latin typeface="Liter"/>
                          <a:ea typeface="Liter"/>
                        </a:rPr>
                        <a:t>Option</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750" noProof="1" b="1">
                          <a:solidFill>
                            <a:srgbClr val="FFFFFF"/>
                          </a:solidFill>
                          <a:latin typeface="Liter"/>
                          <a:ea typeface="Liter"/>
                        </a:rPr>
                        <a:t>When</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750" noProof="1" b="1">
                          <a:solidFill>
                            <a:srgbClr val="FFFFFF"/>
                          </a:solidFill>
                          <a:latin typeface="Liter"/>
                          <a:ea typeface="Liter"/>
                        </a:rPr>
                        <a:t>Questions it informs</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750" noProof="1" b="1">
                          <a:solidFill>
                            <a:srgbClr val="FFFFFF"/>
                          </a:solidFill>
                          <a:latin typeface="Liter"/>
                          <a:ea typeface="Liter"/>
                        </a:rPr>
                        <a:t>Rough effort</a:t>
                      </a:r>
                    </a:p>
                  </a:txBody>
                  <a:tcPr marL="91440" marR="91440" marT="45720" marB="45720" anchor="ctr">
                    <a:lnL>
                      <a:noFill/>
                    </a:lnL>
                    <a:lnR>
                      <a:noFill/>
                    </a:lnR>
                    <a:lnT>
                      <a:noFill/>
                    </a:lnT>
                    <a:lnB>
                      <a:noFill/>
                    </a:lnB>
                    <a:solidFill>
                      <a:srgbClr val="16365C"/>
                    </a:solidFill>
                  </a:tcPr>
                </a:tc>
                <a:tc>
                  <a:txBody>
                    <a:bodyPr wrap="square" rtlCol="0" anchor="ctr"/>
                    <a:lstStyle/>
                    <a:p>
                      <a:pPr algn="l">
                        <a:lnSpc>
                          <a:spcPct val="125000"/>
                        </a:lnSpc>
                      </a:pPr>
                      <a:r>
                        <a:rPr lang="en-US" sz="750" noProof="1" b="1">
                          <a:solidFill>
                            <a:srgbClr val="FFFFFF"/>
                          </a:solidFill>
                          <a:latin typeface="Liter"/>
                          <a:ea typeface="Liter"/>
                        </a:rPr>
                        <a:t>Notes</a:t>
                      </a:r>
                    </a:p>
                  </a:txBody>
                  <a:tcPr marL="91440" marR="91440" marT="45720" marB="45720" anchor="ctr">
                    <a:lnL>
                      <a:noFill/>
                    </a:lnL>
                    <a:lnR>
                      <a:noFill/>
                    </a:lnR>
                    <a:lnT>
                      <a:noFill/>
                    </a:lnT>
                    <a:lnB>
                      <a:noFill/>
                    </a:lnB>
                    <a:solidFill>
                      <a:srgbClr val="16365C"/>
                    </a:solidFill>
                  </a:tcPr>
                </a:tc>
              </a:tr>
              <a:tr h="470459">
                <a:tc>
                  <a:txBody>
                    <a:bodyPr wrap="square" rtlCol="0" anchor="ctr"/>
                    <a:lstStyle/>
                    <a:p>
                      <a:pPr algn="l">
                        <a:lnSpc>
                          <a:spcPct val="125000"/>
                        </a:lnSpc>
                      </a:pPr>
                      <a:r>
                        <a:rPr lang="en-US" sz="750" noProof="1">
                          <a:solidFill>
                            <a:srgbClr val="1A2433"/>
                          </a:solidFill>
                          <a:latin typeface="Liter"/>
                          <a:ea typeface="Liter"/>
                        </a:rPr>
                        <a:t>A. Held-out split for thresholds; log option order, threshold version and input hash</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Before Stage 2</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Credibility of later results; Q16 in part</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1–2 days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Fail-closed gate and pinned model version already done</a:t>
                      </a:r>
                    </a:p>
                  </a:txBody>
                  <a:tcPr marL="91440" marR="91440" marT="45720" marB="45720" anchor="ctr">
                    <a:lnL>
                      <a:noFill/>
                    </a:lnL>
                    <a:lnR>
                      <a:noFill/>
                    </a:lnR>
                    <a:lnT>
                      <a:noFill/>
                    </a:lnT>
                    <a:lnB w="6350">
                      <a:solidFill>
                        <a:srgbClr val="DCE3EB"/>
                      </a:solidFill>
                    </a:lnB>
                    <a:solidFill>
                      <a:srgbClr val="FFFFFF"/>
                    </a:solidFill>
                  </a:tcPr>
                </a:tc>
              </a:tr>
              <a:tr h="470459">
                <a:tc>
                  <a:txBody>
                    <a:bodyPr wrap="square" rtlCol="0" anchor="ctr"/>
                    <a:lstStyle/>
                    <a:p>
                      <a:pPr algn="l">
                        <a:lnSpc>
                          <a:spcPct val="125000"/>
                        </a:lnSpc>
                      </a:pPr>
                      <a:r>
                        <a:rPr lang="en-US" sz="750" noProof="1">
                          <a:solidFill>
                            <a:srgbClr val="1A2433"/>
                          </a:solidFill>
                          <a:latin typeface="Liter"/>
                          <a:ea typeface="Liter"/>
                        </a:rPr>
                        <a:t>B. Shuffle option order and repeat, on the existing 56</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Now, on the demo</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Q13 (mechanism only)</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1–2 days</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Inference cost: cents</a:t>
                      </a:r>
                    </a:p>
                  </a:txBody>
                  <a:tcPr marL="91440" marR="91440" marT="45720" marB="45720" anchor="ctr">
                    <a:lnL>
                      <a:noFill/>
                    </a:lnL>
                    <a:lnR>
                      <a:noFill/>
                    </a:lnR>
                    <a:lnT>
                      <a:noFill/>
                    </a:lnT>
                    <a:lnB w="6350">
                      <a:solidFill>
                        <a:srgbClr val="DCE3EB"/>
                      </a:solidFill>
                    </a:lnB>
                    <a:solidFill>
                      <a:srgbClr val="F4F7FA"/>
                    </a:solidFill>
                  </a:tcPr>
                </a:tc>
              </a:tr>
              <a:tr h="470459">
                <a:tc>
                  <a:txBody>
                    <a:bodyPr wrap="square" rtlCol="0" anchor="ctr"/>
                    <a:lstStyle/>
                    <a:p>
                      <a:pPr algn="l">
                        <a:lnSpc>
                          <a:spcPct val="125000"/>
                        </a:lnSpc>
                      </a:pPr>
                      <a:r>
                        <a:rPr lang="en-US" sz="750" noProof="1">
                          <a:solidFill>
                            <a:srgbClr val="1A2433"/>
                          </a:solidFill>
                          <a:latin typeface="Liter"/>
                          <a:ea typeface="Liter"/>
                        </a:rPr>
                        <a:t>C. 30–50 variants with instructions planted in logs and descriptions; measure how far gating answers move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Now, on the demo</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Q12 (mechanism only)</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3–5 days</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Synthetic, so indicative only</a:t>
                      </a:r>
                    </a:p>
                  </a:txBody>
                  <a:tcPr marL="91440" marR="91440" marT="45720" marB="45720" anchor="ctr">
                    <a:lnL>
                      <a:noFill/>
                    </a:lnL>
                    <a:lnR>
                      <a:noFill/>
                    </a:lnR>
                    <a:lnT>
                      <a:noFill/>
                    </a:lnT>
                    <a:lnB w="6350">
                      <a:solidFill>
                        <a:srgbClr val="DCE3EB"/>
                      </a:solidFill>
                    </a:lnB>
                    <a:solidFill>
                      <a:srgbClr val="FFFFFF"/>
                    </a:solidFill>
                  </a:tcPr>
                </a:tc>
              </a:tr>
              <a:tr h="470459">
                <a:tc>
                  <a:txBody>
                    <a:bodyPr wrap="square" rtlCol="0" anchor="ctr"/>
                    <a:lstStyle/>
                    <a:p>
                      <a:pPr algn="l">
                        <a:lnSpc>
                          <a:spcPct val="125000"/>
                        </a:lnSpc>
                      </a:pPr>
                      <a:r>
                        <a:rPr lang="en-US" sz="750" noProof="1">
                          <a:solidFill>
                            <a:srgbClr val="1A2433"/>
                          </a:solidFill>
                          <a:latin typeface="Liter"/>
                          <a:ea typeface="Liter"/>
                        </a:rPr>
                        <a:t>D. Replay 2,000–5,000 closed tickets — routing question from active groups, scored against the resolving group, next to current rules and a simple classifier</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Stage 2</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Q3, Q8, Q9, Q10, Q13 on real data; Q19 in part</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3–4 weeks, mostly data extraction and redaction</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DPA and redaction first (Q14, Q17), or a self-hosted first pass; Jev inference about 28 cents</a:t>
                      </a:r>
                    </a:p>
                  </a:txBody>
                  <a:tcPr marL="91440" marR="91440" marT="45720" marB="45720" anchor="ctr">
                    <a:lnL>
                      <a:noFill/>
                    </a:lnL>
                    <a:lnR>
                      <a:noFill/>
                    </a:lnR>
                    <a:lnT>
                      <a:noFill/>
                    </a:lnT>
                    <a:lnB w="6350">
                      <a:solidFill>
                        <a:srgbClr val="DCE3EB"/>
                      </a:solidFill>
                    </a:lnB>
                    <a:solidFill>
                      <a:srgbClr val="F4F7FA"/>
                    </a:solidFill>
                  </a:tcPr>
                </a:tc>
              </a:tr>
              <a:tr h="467258">
                <a:tc>
                  <a:txBody>
                    <a:bodyPr wrap="square" rtlCol="0" anchor="ctr"/>
                    <a:lstStyle/>
                    <a:p>
                      <a:pPr algn="l">
                        <a:lnSpc>
                          <a:spcPct val="125000"/>
                        </a:lnSpc>
                      </a:pPr>
                      <a:r>
                        <a:rPr lang="en-US" sz="750" noProof="1">
                          <a:solidFill>
                            <a:srgbClr val="1A2433"/>
                          </a:solidFill>
                          <a:latin typeface="Liter"/>
                          <a:ea typeface="Liter"/>
                        </a:rPr>
                        <a:t>E. Shadow mode — IntegrationHub or MID Server call writing hidden fields; routing unchanged</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Stage 3</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Q11, drift, real coverage</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6–8 weeks with F</a:t>
                      </a:r>
                    </a:p>
                  </a:txBody>
                  <a:tcPr marL="91440" marR="91440" marT="45720" marB="45720" anchor="ctr">
                    <a:lnL>
                      <a:noFill/>
                    </a:lnL>
                    <a:lnR>
                      <a:noFill/>
                    </a:lnR>
                    <a:lnT>
                      <a:noFill/>
                    </a:lnT>
                    <a:lnB w="6350">
                      <a:solidFill>
                        <a:srgbClr val="DCE3EB"/>
                      </a:solidFill>
                    </a:lnB>
                    <a:solidFill>
                      <a:srgbClr val="FFFFFF"/>
                    </a:solidFill>
                  </a:tcPr>
                </a:tc>
                <a:tc>
                  <a:txBody>
                    <a:bodyPr wrap="square" rtlCol="0" anchor="ctr"/>
                    <a:lstStyle/>
                    <a:p>
                      <a:pPr algn="l">
                        <a:lnSpc>
                          <a:spcPct val="125000"/>
                        </a:lnSpc>
                      </a:pPr>
                      <a:r>
                        <a:rPr lang="en-US" sz="750" noProof="1">
                          <a:solidFill>
                            <a:srgbClr val="1A2433"/>
                          </a:solidFill>
                          <a:latin typeface="Liter"/>
                          <a:ea typeface="Liter"/>
                        </a:rPr>
                        <a:t>Security review and Q15 classification first</a:t>
                      </a:r>
                    </a:p>
                  </a:txBody>
                  <a:tcPr marL="91440" marR="91440" marT="45720" marB="45720" anchor="ctr">
                    <a:lnL>
                      <a:noFill/>
                    </a:lnL>
                    <a:lnR>
                      <a:noFill/>
                    </a:lnR>
                    <a:lnT>
                      <a:noFill/>
                    </a:lnT>
                    <a:lnB w="6350">
                      <a:solidFill>
                        <a:srgbClr val="DCE3EB"/>
                      </a:solidFill>
                    </a:lnB>
                    <a:solidFill>
                      <a:srgbClr val="FFFFFF"/>
                    </a:solidFill>
                  </a:tcPr>
                </a:tc>
              </a:tr>
              <a:tr h="467258">
                <a:tc>
                  <a:txBody>
                    <a:bodyPr wrap="square" rtlCol="0" anchor="ctr"/>
                    <a:lstStyle/>
                    <a:p>
                      <a:pPr algn="l">
                        <a:lnSpc>
                          <a:spcPct val="125000"/>
                        </a:lnSpc>
                      </a:pPr>
                      <a:r>
                        <a:rPr lang="en-US" sz="750" noProof="1">
                          <a:solidFill>
                            <a:srgbClr val="1A2433"/>
                          </a:solidFill>
                          <a:latin typeface="Liter"/>
                          <a:ea typeface="Liter"/>
                        </a:rPr>
                        <a:t>F. Assist mode with override tracking, after 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Stage 3</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Q7, Q21 with E</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a:t>
                      </a:r>
                    </a:p>
                  </a:txBody>
                  <a:tcPr marL="91440" marR="91440" marT="45720" marB="45720" anchor="ctr">
                    <a:lnL>
                      <a:noFill/>
                    </a:lnL>
                    <a:lnR>
                      <a:noFill/>
                    </a:lnR>
                    <a:lnT>
                      <a:noFill/>
                    </a:lnT>
                    <a:lnB w="6350">
                      <a:solidFill>
                        <a:srgbClr val="DCE3EB"/>
                      </a:solidFill>
                    </a:lnB>
                    <a:solidFill>
                      <a:srgbClr val="F4F7FA"/>
                    </a:solidFill>
                  </a:tcPr>
                </a:tc>
                <a:tc>
                  <a:txBody>
                    <a:bodyPr wrap="square" rtlCol="0" anchor="ctr"/>
                    <a:lstStyle/>
                    <a:p>
                      <a:pPr algn="l">
                        <a:lnSpc>
                          <a:spcPct val="125000"/>
                        </a:lnSpc>
                      </a:pPr>
                      <a:r>
                        <a:rPr lang="en-US" sz="750" noProof="1">
                          <a:solidFill>
                            <a:srgbClr val="1A2433"/>
                          </a:solidFill>
                          <a:latin typeface="Liter"/>
                          <a:ea typeface="Liter"/>
                        </a:rPr>
                        <a:t>Needs an owner for thresholds (Q23)</a:t>
                      </a:r>
                    </a:p>
                  </a:txBody>
                  <a:tcPr marL="91440" marR="91440" marT="45720" marB="45720" anchor="ctr">
                    <a:lnL>
                      <a:noFill/>
                    </a:lnL>
                    <a:lnR>
                      <a:noFill/>
                    </a:lnR>
                    <a:lnT>
                      <a:noFill/>
                    </a:lnT>
                    <a:lnB w="6350">
                      <a:solidFill>
                        <a:srgbClr val="DCE3EB"/>
                      </a:solidFill>
                    </a:lnB>
                    <a:solidFill>
                      <a:srgbClr val="F4F7FA"/>
                    </a:solidFill>
                  </a:tcPr>
                </a:tc>
              </a:tr>
            </a:tbl>
          </a:graphicData>
        </a:graphic>
      </p:graphicFrame>
      <p:sp>
        <p:nvSpPr>
          <p:cNvPr id="6" name="bars-head"/>
          <p:cNvSpPr txBox="1"/>
          <p:nvPr/>
        </p:nvSpPr>
        <p:spPr>
          <a:xfrm>
            <a:off x="711200" y="4673600"/>
            <a:ext cx="63500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Independent review's pass bars (Independent)</a:t>
            </a:r>
            <a:endParaRPr lang="en-US" sz="1000" noProof="1"/>
          </a:p>
        </p:txBody>
      </p:sp>
      <p:sp>
        <p:nvSpPr>
          <p:cNvPr id="7" name="bars-body"/>
          <p:cNvSpPr txBox="1"/>
          <p:nvPr/>
        </p:nvSpPr>
        <p:spPr>
          <a:xfrm>
            <a:off x="711200" y="4927600"/>
            <a:ext cx="6604000" cy="1270000"/>
          </a:xfrm>
          <a:prstGeom prst="rect">
            <a:avLst/>
          </a:prstGeom>
          <a:noFill/>
          <a:ln>
            <a:noFill/>
          </a:ln>
        </p:spPr>
        <p:txBody>
          <a:bodyPr lIns="0" rIns="0" tIns="0" bIns="0" wrap="square" rtlCol="0"/>
          <a:lstStyle/>
          <a:p>
            <a:pPr>
              <a:lnSpc>
                <a:spcPct val="145000"/>
              </a:lnSpc>
            </a:pPr>
            <a:r>
              <a:rPr lang="en-US" sz="900" noProof="1">
                <a:solidFill>
                  <a:srgbClr val="1A2433"/>
                </a:solidFill>
                <a:latin typeface="Liter"/>
                <a:ea typeface="Liter"/>
              </a:rPr>
              <a:t>• Routing accuracy at least as good as current rules, and 90% or better above threshold; accuracy rises with confidence, high-confidence bands 95% right or better</a:t>
            </a:r>
            <a:endParaRPr lang="en-US" sz="900" noProof="1"/>
          </a:p>
          <a:p>
            <a:pPr>
              <a:lnSpc>
                <a:spcPct val="145000"/>
              </a:lnSpc>
              <a:spcBef>
                <a:spcPts val="500"/>
              </a:spcBef>
            </a:pPr>
            <a:r>
              <a:rPr lang="en-US" sz="900" noProof="1">
                <a:solidFill>
                  <a:srgbClr val="1A2433"/>
                </a:solidFill>
                <a:latin typeface="Liter"/>
                <a:ea typeface="Liter"/>
              </a:rPr>
              <a:t>• Major-incident recall 95% or better; false merges under 2%</a:t>
            </a:r>
            <a:endParaRPr lang="en-US" sz="900" noProof="1"/>
          </a:p>
          <a:p>
            <a:pPr>
              <a:lnSpc>
                <a:spcPct val="145000"/>
              </a:lnSpc>
              <a:spcBef>
                <a:spcPts val="500"/>
              </a:spcBef>
            </a:pPr>
            <a:r>
              <a:rPr lang="en-US" sz="900" noProof="1">
                <a:solidFill>
                  <a:srgbClr val="1A2433"/>
                </a:solidFill>
                <a:latin typeface="Liter"/>
                <a:ea typeface="Liter"/>
              </a:rPr>
              <a:t>• Option-order flips under 5%; no successful injection on routing-critical fields; p95 latency under 1 s; accuracy drift under 2 points across releases</a:t>
            </a:r>
            <a:endParaRPr lang="en-US" sz="900" noProof="1"/>
          </a:p>
        </p:txBody>
      </p:sp>
      <p:sp>
        <p:nvSpPr>
          <p:cNvPr id="8" name="demo-note"/>
          <p:cNvSpPr txBox="1"/>
          <p:nvPr/>
        </p:nvSpPr>
        <p:spPr>
          <a:xfrm>
            <a:off x="7620000" y="4927600"/>
            <a:ext cx="3860800" cy="762000"/>
          </a:xfrm>
          <a:prstGeom prst="rect">
            <a:avLst/>
          </a:prstGeom>
          <a:noFill/>
          <a:ln>
            <a:noFill/>
          </a:ln>
        </p:spPr>
        <p:txBody>
          <a:bodyPr lIns="0" rIns="0" tIns="0" bIns="0" wrap="square" rtlCol="0"/>
          <a:lstStyle/>
          <a:p>
            <a:pPr>
              <a:lnSpc>
                <a:spcPct val="145000"/>
              </a:lnSpc>
            </a:pPr>
            <a:r>
              <a:rPr lang="en-US" sz="900" noProof="1" b="1">
                <a:solidFill>
                  <a:srgbClr val="B97A10"/>
                </a:solidFill>
                <a:latin typeface="Liter"/>
                <a:ea typeface="Liter"/>
              </a:rPr>
              <a:t>The demo data would fail the confidence bar:</a:t>
            </a:r>
            <a:r>
              <a:rPr lang="en-US" sz="900" noProof="1">
                <a:solidFill>
                  <a:srgbClr val="B97A10"/>
                </a:solidFill>
                <a:latin typeface="Liter"/>
                <a:ea typeface="Liter"/>
              </a:rPr>
              <a:t> the top band was 89% right.</a:t>
            </a:r>
            <a:endParaRPr lang="en-US" sz="900" noProof="1"/>
          </a:p>
        </p:txBody>
      </p:sp>
      <p:sp>
        <p:nvSpPr>
          <p:cNvPr id="9" name="note"/>
          <p:cNvSpPr txBox="1"/>
          <p:nvPr/>
        </p:nvSpPr>
        <p:spPr>
          <a:xfrm>
            <a:off x="711200" y="6096000"/>
            <a:ext cx="10769600" cy="177800"/>
          </a:xfrm>
          <a:prstGeom prst="rect">
            <a:avLst/>
          </a:prstGeom>
          <a:noFill/>
          <a:ln>
            <a:noFill/>
          </a:ln>
        </p:spPr>
        <p:txBody>
          <a:bodyPr lIns="0" rIns="0" tIns="0" bIns="0" wrap="none" rtlCol="0"/>
          <a:lstStyle/>
          <a:p>
            <a:pPr>
              <a:lnSpc>
                <a:spcPct val="120000"/>
              </a:lnSpc>
            </a:pPr>
            <a:r>
              <a:rPr lang="en-US" sz="850" noProof="1">
                <a:solidFill>
                  <a:srgbClr val="5B6472"/>
                </a:solidFill>
                <a:latin typeface="Liter"/>
                <a:ea typeface="Liter"/>
              </a:rPr>
              <a:t>Options A–C use what the demo already has; D–F are the work inside Stages 2 and 3. Effort figures are a judgement.</a:t>
            </a:r>
            <a:endParaRPr lang="en-US" sz="850" noProof="1"/>
          </a:p>
        </p:txBody>
      </p:sp>
      <p:sp>
        <p:nvSpPr>
          <p:cNvPr id="10" name="footline"/>
          <p:cNvSpPr/>
          <p:nvPr/>
        </p:nvSpPr>
        <p:spPr>
          <a:xfrm>
            <a:off x="711200" y="6477000"/>
            <a:ext cx="10769600" cy="9525"/>
          </a:xfrm>
          <a:prstGeom prst="rect">
            <a:avLst/>
          </a:prstGeom>
          <a:solidFill>
            <a:srgbClr val="DCE3EB"/>
          </a:solidFill>
          <a:ln>
            <a:noFill/>
          </a:ln>
        </p:spPr>
      </p:sp>
      <p:sp>
        <p:nvSpPr>
          <p:cNvPr id="11"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deliverables/3_open-questions-and-next-steps.md section 3 (next steps and options); research/independent-review-claude.md (pilot evaluation framework).</a:t>
            </a:r>
            <a:endParaRPr lang="en-US" sz="750" noProof="1"/>
          </a:p>
        </p:txBody>
      </p:sp>
      <p:sp>
        <p:nvSpPr>
          <p:cNvPr id="12"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A10</a:t>
            </a:r>
            <a:endParaRPr lang="en-US" sz="800" noProof="1"/>
          </a:p>
        </p:txBody>
      </p:sp>
    </p:spTree>
  </p:cSld>
  <p:clrMapOvr>
    <a:masterClrMapping/>
  </p:clrMapOvr>
</p:sld>
</file>

<file path=ppt/slides/slide2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711200" y="279400"/>
            <a:ext cx="6350000" cy="177800"/>
          </a:xfrm>
          <a:prstGeom prst="rect">
            <a:avLst/>
          </a:prstGeom>
          <a:noFill/>
          <a:ln>
            <a:noFill/>
          </a:ln>
        </p:spPr>
        <p:txBody>
          <a:bodyPr lIns="0" rIns="0" tIns="0" bIns="0" wrap="none" rtlCol="0"/>
          <a:lstStyle/>
          <a:p>
            <a:pPr>
              <a:lnSpc>
                <a:spcPct val="120000"/>
              </a:lnSpc>
            </a:pPr>
            <a:r>
              <a:rPr lang="en-US" sz="950" noProof="1" b="1" spc="250" kern="0">
                <a:solidFill>
                  <a:srgbClr val="16365C"/>
                </a:solidFill>
                <a:latin typeface="Liter"/>
                <a:ea typeface="Liter"/>
              </a:rPr>
              <a:t>APPENDIX · A11</a:t>
            </a:r>
            <a:endParaRPr lang="en-US" sz="950" noProof="1"/>
          </a:p>
        </p:txBody>
      </p:sp>
      <p:sp>
        <p:nvSpPr>
          <p:cNvPr id="3" name="title"/>
          <p:cNvSpPr txBox="1"/>
          <p:nvPr/>
        </p:nvSpPr>
        <p:spPr>
          <a:xfrm>
            <a:off x="711200" y="508000"/>
            <a:ext cx="10769600" cy="508000"/>
          </a:xfrm>
          <a:prstGeom prst="rect">
            <a:avLst/>
          </a:prstGeom>
          <a:noFill/>
          <a:ln>
            <a:noFill/>
          </a:ln>
        </p:spPr>
        <p:txBody>
          <a:bodyPr lIns="0" rIns="0" tIns="0" bIns="0" wrap="square" rtlCol="0"/>
          <a:lstStyle/>
          <a:p>
            <a:pPr>
              <a:lnSpc>
                <a:spcPct val="112000"/>
              </a:lnSpc>
            </a:pPr>
            <a:r>
              <a:rPr lang="en-US" sz="2200" noProof="1" b="1">
                <a:solidFill>
                  <a:srgbClr val="1A2433"/>
                </a:solidFill>
                <a:latin typeface="EB Garamond"/>
                <a:ea typeface="EB Garamond"/>
              </a:rPr>
              <a:t>Sources</a:t>
            </a:r>
            <a:endParaRPr lang="en-US" sz="2200" noProof="1"/>
          </a:p>
        </p:txBody>
      </p:sp>
      <p:sp>
        <p:nvSpPr>
          <p:cNvPr id="4" name="headline"/>
          <p:cNvSpPr/>
          <p:nvPr/>
        </p:nvSpPr>
        <p:spPr>
          <a:xfrm>
            <a:off x="711200" y="1104900"/>
            <a:ext cx="10769600" cy="9525"/>
          </a:xfrm>
          <a:prstGeom prst="rect">
            <a:avLst/>
          </a:prstGeom>
          <a:solidFill>
            <a:srgbClr val="CBD9E8"/>
          </a:solidFill>
          <a:ln>
            <a:noFill/>
          </a:ln>
        </p:spPr>
      </p:sp>
      <p:sp>
        <p:nvSpPr>
          <p:cNvPr id="5" name="labels-head"/>
          <p:cNvSpPr txBox="1"/>
          <p:nvPr/>
        </p:nvSpPr>
        <p:spPr>
          <a:xfrm>
            <a:off x="711200" y="1346200"/>
            <a:ext cx="10769600" cy="1905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Labels</a:t>
            </a:r>
            <a:endParaRPr lang="en-US" sz="1000" noProof="1"/>
          </a:p>
        </p:txBody>
      </p:sp>
      <p:sp>
        <p:nvSpPr>
          <p:cNvPr id="6" name="labels-body"/>
          <p:cNvSpPr txBox="1"/>
          <p:nvPr/>
        </p:nvSpPr>
        <p:spPr>
          <a:xfrm>
            <a:off x="711200" y="1574800"/>
            <a:ext cx="10769600" cy="406400"/>
          </a:xfrm>
          <a:prstGeom prst="rect">
            <a:avLst/>
          </a:prstGeom>
          <a:noFill/>
          <a:ln>
            <a:noFill/>
          </a:ln>
        </p:spPr>
        <p:txBody>
          <a:bodyPr lIns="0" rIns="0" tIns="0" bIns="0" wrap="square" rtlCol="0"/>
          <a:lstStyle/>
          <a:p>
            <a:pPr>
              <a:lnSpc>
                <a:spcPct val="145000"/>
              </a:lnSpc>
            </a:pPr>
            <a:r>
              <a:rPr lang="en-US" sz="950" noProof="1">
                <a:solidFill>
                  <a:srgbClr val="1A2433"/>
                </a:solidFill>
                <a:latin typeface="Liter"/>
                <a:ea typeface="Liter"/>
              </a:rPr>
              <a:t>Our measurement (results/ and zeroops/ in this repo) · Vendor claim (TypeSafe) · Independent (third-party testing or reporting) · Judgement (ours)</a:t>
            </a:r>
            <a:endParaRPr lang="en-US" sz="950" noProof="1"/>
          </a:p>
        </p:txBody>
      </p:sp>
      <p:sp>
        <p:nvSpPr>
          <p:cNvPr id="7" name="s1-head"/>
          <p:cNvSpPr txBox="1"/>
          <p:nvPr/>
        </p:nvSpPr>
        <p:spPr>
          <a:xfrm>
            <a:off x="711200" y="2184400"/>
            <a:ext cx="5080000" cy="1778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Own evidence</a:t>
            </a:r>
            <a:endParaRPr lang="en-US" sz="1000" noProof="1"/>
          </a:p>
        </p:txBody>
      </p:sp>
      <p:sp>
        <p:nvSpPr>
          <p:cNvPr id="8" name="s1-body"/>
          <p:cNvSpPr txBox="1"/>
          <p:nvPr/>
        </p:nvSpPr>
        <p:spPr>
          <a:xfrm>
            <a:off x="711200" y="2413000"/>
            <a:ext cx="5080000" cy="965200"/>
          </a:xfrm>
          <a:prstGeom prst="rect">
            <a:avLst/>
          </a:prstGeom>
          <a:noFill/>
          <a:ln>
            <a:noFill/>
          </a:ln>
        </p:spPr>
        <p:txBody>
          <a:bodyPr lIns="0" rIns="0" tIns="0" bIns="0" wrap="square" rtlCol="0"/>
          <a:lstStyle/>
          <a:p>
            <a:pPr>
              <a:lnSpc>
                <a:spcPct val="140000"/>
              </a:lnSpc>
            </a:pPr>
            <a:r>
              <a:rPr lang="en-US" sz="900" noProof="1">
                <a:solidFill>
                  <a:srgbClr val="1A2433"/>
                </a:solidFill>
                <a:latin typeface="Liter"/>
                <a:ea typeface="Liter"/>
              </a:rPr>
              <a:t>results/facts.json, results/metrics.json, results/decisions_*.jsonl (56 synthetic incidents, 14 templates, four models, corpus 0b4839761e06); zeroops/policy.py; zeroops/schema.py</a:t>
            </a:r>
            <a:endParaRPr lang="en-US" sz="900" noProof="1"/>
          </a:p>
        </p:txBody>
      </p:sp>
      <p:sp>
        <p:nvSpPr>
          <p:cNvPr id="9" name="s2-head"/>
          <p:cNvSpPr txBox="1"/>
          <p:nvPr/>
        </p:nvSpPr>
        <p:spPr>
          <a:xfrm>
            <a:off x="711200" y="3556000"/>
            <a:ext cx="5080000" cy="1778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Considerations and questions</a:t>
            </a:r>
            <a:endParaRPr lang="en-US" sz="1000" noProof="1"/>
          </a:p>
        </p:txBody>
      </p:sp>
      <p:sp>
        <p:nvSpPr>
          <p:cNvPr id="10" name="s2-body"/>
          <p:cNvSpPr txBox="1"/>
          <p:nvPr/>
        </p:nvSpPr>
        <p:spPr>
          <a:xfrm>
            <a:off x="711200" y="3784600"/>
            <a:ext cx="5080000" cy="508000"/>
          </a:xfrm>
          <a:prstGeom prst="rect">
            <a:avLst/>
          </a:prstGeom>
          <a:noFill/>
          <a:ln>
            <a:noFill/>
          </a:ln>
        </p:spPr>
        <p:txBody>
          <a:bodyPr lIns="0" rIns="0" tIns="0" bIns="0" wrap="square" rtlCol="0"/>
          <a:lstStyle/>
          <a:p>
            <a:pPr>
              <a:lnSpc>
                <a:spcPct val="140000"/>
              </a:lnSpc>
            </a:pPr>
            <a:r>
              <a:rPr lang="en-US" sz="900" noProof="1">
                <a:solidFill>
                  <a:srgbClr val="1A2433"/>
                </a:solidFill>
                <a:latin typeface="Liter"/>
                <a:ea typeface="Liter"/>
              </a:rPr>
              <a:t>C1–C12 and Q1–Q23 as numbered in deliverables/3_open-questions-and-next-steps.md</a:t>
            </a:r>
            <a:endParaRPr lang="en-US" sz="900" noProof="1"/>
          </a:p>
        </p:txBody>
      </p:sp>
      <p:sp>
        <p:nvSpPr>
          <p:cNvPr id="11" name="s3-head"/>
          <p:cNvSpPr txBox="1"/>
          <p:nvPr/>
        </p:nvSpPr>
        <p:spPr>
          <a:xfrm>
            <a:off x="711200" y="4470400"/>
            <a:ext cx="5080000" cy="1778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Vendor and independent</a:t>
            </a:r>
            <a:endParaRPr lang="en-US" sz="1000" noProof="1"/>
          </a:p>
        </p:txBody>
      </p:sp>
      <p:sp>
        <p:nvSpPr>
          <p:cNvPr id="12" name="s3-body"/>
          <p:cNvSpPr txBox="1"/>
          <p:nvPr/>
        </p:nvSpPr>
        <p:spPr>
          <a:xfrm>
            <a:off x="711200" y="4699000"/>
            <a:ext cx="5080000" cy="762000"/>
          </a:xfrm>
          <a:prstGeom prst="rect">
            <a:avLst/>
          </a:prstGeom>
          <a:noFill/>
          <a:ln>
            <a:noFill/>
          </a:ln>
        </p:spPr>
        <p:txBody>
          <a:bodyPr lIns="0" rIns="0" tIns="0" bIns="0" wrap="square" rtlCol="0"/>
          <a:lstStyle/>
          <a:p>
            <a:pPr>
              <a:lnSpc>
                <a:spcPct val="140000"/>
              </a:lnSpc>
            </a:pPr>
            <a:r>
              <a:rPr lang="en-US" sz="900" noProof="1">
                <a:solidFill>
                  <a:srgbClr val="1A2433"/>
                </a:solidFill>
                <a:latin typeface="Liter"/>
                <a:ea typeface="Liter"/>
              </a:rPr>
              <a:t>research/independent-review-claude.md (TypeSafe profile, Check Point, Octomind, Cribl, SREGym, pilot evaluation framework); research/landscape-synthesis.md</a:t>
            </a:r>
            <a:endParaRPr lang="en-US" sz="900" noProof="1"/>
          </a:p>
        </p:txBody>
      </p:sp>
      <p:sp>
        <p:nvSpPr>
          <p:cNvPr id="13" name="s4-head"/>
          <p:cNvSpPr txBox="1"/>
          <p:nvPr/>
        </p:nvSpPr>
        <p:spPr>
          <a:xfrm>
            <a:off x="6350000" y="2184400"/>
            <a:ext cx="5130800" cy="1778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Industry examples</a:t>
            </a:r>
            <a:endParaRPr lang="en-US" sz="1000" noProof="1"/>
          </a:p>
        </p:txBody>
      </p:sp>
      <p:sp>
        <p:nvSpPr>
          <p:cNvPr id="14" name="s4-body"/>
          <p:cNvSpPr txBox="1"/>
          <p:nvPr/>
        </p:nvSpPr>
        <p:spPr>
          <a:xfrm>
            <a:off x="6350000" y="2413000"/>
            <a:ext cx="5130800" cy="1143000"/>
          </a:xfrm>
          <a:prstGeom prst="rect">
            <a:avLst/>
          </a:prstGeom>
          <a:noFill/>
          <a:ln>
            <a:noFill/>
          </a:ln>
        </p:spPr>
        <p:txBody>
          <a:bodyPr lIns="0" rIns="0" tIns="0" bIns="0" wrap="square" rtlCol="0"/>
          <a:lstStyle/>
          <a:p>
            <a:pPr>
              <a:lnSpc>
                <a:spcPct val="140000"/>
              </a:lnSpc>
            </a:pPr>
            <a:r>
              <a:rPr lang="en-US" sz="900" noProof="1">
                <a:solidFill>
                  <a:srgbClr val="1A2433"/>
                </a:solidFill>
                <a:latin typeface="Liter"/>
                <a:ea typeface="Liter"/>
              </a:rPr>
              <a:t>Microsoft Azure SRE Agent GA coverage (March 2026; internal scale figures vendor-reported); PagerDuty incident-cost study (2024, vendor-commissioned, 500 IT leaders); Splunk / Oxford Economics downtime research; Gartner agentic-AI projection and April 2026 I&amp;O survey as reported in secondary coverage; Traversal / DigitalOcean case coverage; incident.io customer reporting; BigPanda press materials (Fortune 500 deployments); 2026 SRE Report (toil share)</a:t>
            </a:r>
            <a:endParaRPr lang="en-US" sz="900" noProof="1"/>
          </a:p>
        </p:txBody>
      </p:sp>
      <p:sp>
        <p:nvSpPr>
          <p:cNvPr id="15" name="s5-head"/>
          <p:cNvSpPr txBox="1"/>
          <p:nvPr/>
        </p:nvSpPr>
        <p:spPr>
          <a:xfrm>
            <a:off x="6350000" y="3733800"/>
            <a:ext cx="5130800" cy="177800"/>
          </a:xfrm>
          <a:prstGeom prst="rect">
            <a:avLst/>
          </a:prstGeom>
          <a:noFill/>
          <a:ln>
            <a:noFill/>
          </a:ln>
        </p:spPr>
        <p:txBody>
          <a:bodyPr lIns="0" rIns="0" tIns="0" bIns="0" wrap="none" rtlCol="0"/>
          <a:lstStyle/>
          <a:p>
            <a:pPr>
              <a:lnSpc>
                <a:spcPct val="120000"/>
              </a:lnSpc>
            </a:pPr>
            <a:r>
              <a:rPr lang="en-US" sz="1000" noProof="1" b="1">
                <a:solidFill>
                  <a:srgbClr val="16365C"/>
                </a:solidFill>
                <a:latin typeface="Liter"/>
                <a:ea typeface="Liter"/>
              </a:rPr>
              <a:t>Benchmarks and platforms</a:t>
            </a:r>
            <a:endParaRPr lang="en-US" sz="1000" noProof="1"/>
          </a:p>
        </p:txBody>
      </p:sp>
      <p:sp>
        <p:nvSpPr>
          <p:cNvPr id="16" name="s5-body"/>
          <p:cNvSpPr txBox="1"/>
          <p:nvPr/>
        </p:nvSpPr>
        <p:spPr>
          <a:xfrm>
            <a:off x="6350000" y="3962400"/>
            <a:ext cx="5130800" cy="1498600"/>
          </a:xfrm>
          <a:prstGeom prst="rect">
            <a:avLst/>
          </a:prstGeom>
          <a:noFill/>
          <a:ln>
            <a:noFill/>
          </a:ln>
        </p:spPr>
        <p:txBody>
          <a:bodyPr lIns="0" rIns="0" tIns="0" bIns="0" wrap="square" rtlCol="0"/>
          <a:lstStyle/>
          <a:p>
            <a:pPr>
              <a:lnSpc>
                <a:spcPct val="140000"/>
              </a:lnSpc>
            </a:pPr>
            <a:r>
              <a:rPr lang="en-US" sz="900" noProof="1">
                <a:solidFill>
                  <a:srgbClr val="1A2433"/>
                </a:solidFill>
                <a:latin typeface="Liter"/>
                <a:ea typeface="Liter"/>
              </a:rPr>
              <a:t>Benchmarks: ITBench (IBM, ICML'25); AIOpsLab (Microsoft, MLSys'25); RCAEval</a:t>
            </a:r>
            <a:endParaRPr lang="en-US" sz="900" noProof="1"/>
          </a:p>
          <a:p>
            <a:pPr>
              <a:lnSpc>
                <a:spcPct val="140000"/>
              </a:lnSpc>
              <a:spcBef>
                <a:spcPts val="600"/>
              </a:spcBef>
            </a:pPr>
            <a:r>
              <a:rPr lang="en-US" sz="900" noProof="1">
                <a:solidFill>
                  <a:srgbClr val="1A2433"/>
                </a:solidFill>
                <a:latin typeface="Liter"/>
                <a:ea typeface="Liter"/>
              </a:rPr>
              <a:t>ServiceNow: Event Management data sheet; alert correlation and grouping; alert priority; Now Assist for ITOM; Predictive AIOps. Also Dynatrace, Datadog, Splunk ITSI, PagerDuty AIOps and SRE Agent, BigPanda</a:t>
            </a:r>
            <a:endParaRPr lang="en-US" sz="900" noProof="1"/>
          </a:p>
          <a:p>
            <a:pPr>
              <a:lnSpc>
                <a:spcPct val="140000"/>
              </a:lnSpc>
              <a:spcBef>
                <a:spcPts val="600"/>
              </a:spcBef>
            </a:pPr>
            <a:r>
              <a:rPr lang="en-US" sz="900" noProof="1">
                <a:solidFill>
                  <a:srgbClr val="1A2433"/>
                </a:solidFill>
                <a:latin typeface="Liter"/>
                <a:ea typeface="Liter"/>
              </a:rPr>
              <a:t>Runbook and automation: Rundeck (PagerDuty), StackStorm, Red Hat Event-Driven Ansible, Torq, Tines</a:t>
            </a:r>
            <a:endParaRPr lang="en-US" sz="900" noProof="1"/>
          </a:p>
        </p:txBody>
      </p:sp>
      <p:sp>
        <p:nvSpPr>
          <p:cNvPr id="17" name="urls"/>
          <p:cNvSpPr txBox="1"/>
          <p:nvPr/>
        </p:nvSpPr>
        <p:spPr>
          <a:xfrm>
            <a:off x="6350000" y="5664200"/>
            <a:ext cx="5130800" cy="381000"/>
          </a:xfrm>
          <a:prstGeom prst="rect">
            <a:avLst/>
          </a:prstGeom>
          <a:noFill/>
          <a:ln>
            <a:noFill/>
          </a:ln>
        </p:spPr>
        <p:txBody>
          <a:bodyPr lIns="0" rIns="0" tIns="0" bIns="0" wrap="square" rtlCol="0"/>
          <a:lstStyle/>
          <a:p>
            <a:pPr>
              <a:lnSpc>
                <a:spcPct val="135000"/>
              </a:lnSpc>
            </a:pPr>
            <a:r>
              <a:rPr lang="en-US" sz="850" noProof="1">
                <a:solidFill>
                  <a:srgbClr val="98A1AD"/>
                </a:solidFill>
                <a:latin typeface="Liter"/>
                <a:ea typeface="Liter"/>
              </a:rPr>
              <a:t>Full URL list: research/landscape-synthesis.md and research/independent-review-claude.md</a:t>
            </a:r>
            <a:endParaRPr lang="en-US" sz="850" noProof="1"/>
          </a:p>
        </p:txBody>
      </p:sp>
      <p:sp>
        <p:nvSpPr>
          <p:cNvPr id="18" name="footline"/>
          <p:cNvSpPr/>
          <p:nvPr/>
        </p:nvSpPr>
        <p:spPr>
          <a:xfrm>
            <a:off x="711200" y="6477000"/>
            <a:ext cx="10769600" cy="9525"/>
          </a:xfrm>
          <a:prstGeom prst="rect">
            <a:avLst/>
          </a:prstGeom>
          <a:solidFill>
            <a:srgbClr val="DCE3EB"/>
          </a:solidFill>
          <a:ln>
            <a:noFill/>
          </a:ln>
        </p:spPr>
      </p:sp>
      <p:sp>
        <p:nvSpPr>
          <p:cNvPr id="19" name="source"/>
          <p:cNvSpPr txBox="1"/>
          <p:nvPr/>
        </p:nvSpPr>
        <p:spPr>
          <a:xfrm>
            <a:off x="711200" y="6553200"/>
            <a:ext cx="9906000" cy="254000"/>
          </a:xfrm>
          <a:prstGeom prst="rect">
            <a:avLst/>
          </a:prstGeom>
          <a:noFill/>
          <a:ln>
            <a:noFill/>
          </a:ln>
        </p:spPr>
        <p:txBody>
          <a:bodyPr lIns="0" rIns="0" tIns="0" bIns="0" wrap="square" rtlCol="0"/>
          <a:lstStyle/>
          <a:p>
            <a:pPr>
              <a:lnSpc>
                <a:spcPct val="130000"/>
              </a:lnSpc>
            </a:pPr>
            <a:r>
              <a:rPr lang="en-US" sz="750" noProof="1">
                <a:solidFill>
                  <a:srgbClr val="98A1AD"/>
                </a:solidFill>
                <a:latin typeface="Liter"/>
                <a:ea typeface="Liter"/>
              </a:rPr>
              <a:t>Source: research/ (see research/README.md).</a:t>
            </a:r>
            <a:endParaRPr lang="en-US" sz="750" noProof="1"/>
          </a:p>
        </p:txBody>
      </p:sp>
      <p:sp>
        <p:nvSpPr>
          <p:cNvPr id="20" name="pagenum"/>
          <p:cNvSpPr txBox="1"/>
          <p:nvPr/>
        </p:nvSpPr>
        <p:spPr>
          <a:xfrm>
            <a:off x="11176000" y="6553200"/>
            <a:ext cx="304800" cy="177800"/>
          </a:xfrm>
          <a:prstGeom prst="rect">
            <a:avLst/>
          </a:prstGeom>
          <a:noFill/>
          <a:ln>
            <a:noFill/>
          </a:ln>
        </p:spPr>
        <p:txBody>
          <a:bodyPr lIns="0" rIns="0" tIns="0" bIns="0" wrap="none" rtlCol="0" anchor="t"/>
          <a:lstStyle/>
          <a:p>
            <a:pPr algn="r">
              <a:lnSpc>
                <a:spcPct val="120000"/>
              </a:lnSpc>
            </a:pPr>
            <a:r>
              <a:rPr lang="en-US" sz="800" noProof="1">
                <a:solidFill>
                  <a:srgbClr val="98A1AD"/>
                </a:solidFill>
                <a:latin typeface="Liter"/>
                <a:ea typeface="Liter"/>
              </a:rPr>
              <a:t>A11</a:t>
            </a:r>
            <a:endParaRPr lang="en-US" sz="8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Slides>26</Slides>
</Properties>
</file>

<file path=docProps/core.xml><?xml version="1.0" encoding="utf-8"?>
<cp:coreProperties xmlns:dc="http://purl.org/dc/elements/1.1/" xmlns:cp="http://schemas.openxmlformats.org/package/2006/metadata/core-properties">
  <dc:title>ZeroOps for Utility Operations</dc:title>
</cp:coreProperties>
</file>

<file path=docProps/custom.xml><?xml version="1.0" encoding="utf-8"?>
<Properties xmlns:vt="http://schemas.openxmlformats.org/officeDocument/2006/docPropsVTypes" xmlns="http://schemas.openxmlformats.org/officeDocument/2006/custom-properties">
  <property fmtid="{D5CDD505-2E9C-101B-9397-08002B2CF9AE}" pid="4" name="AIGC">
    <vt:lpwstr/>
  </property>
</Properties>
</file>